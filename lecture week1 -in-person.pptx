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7" r:id="rId2"/>
    <p:sldId id="306" r:id="rId3"/>
    <p:sldId id="264" r:id="rId4"/>
    <p:sldId id="258" r:id="rId5"/>
    <p:sldId id="259" r:id="rId6"/>
    <p:sldId id="260" r:id="rId7"/>
    <p:sldId id="261" r:id="rId8"/>
    <p:sldId id="263" r:id="rId9"/>
    <p:sldId id="307" r:id="rId10"/>
    <p:sldId id="308" r:id="rId11"/>
    <p:sldId id="309" r:id="rId12"/>
    <p:sldId id="310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82" r:id="rId25"/>
    <p:sldId id="276" r:id="rId26"/>
    <p:sldId id="283" r:id="rId27"/>
    <p:sldId id="284" r:id="rId28"/>
    <p:sldId id="285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311" r:id="rId37"/>
    <p:sldId id="312" r:id="rId38"/>
    <p:sldId id="315" r:id="rId39"/>
    <p:sldId id="316" r:id="rId40"/>
    <p:sldId id="317" r:id="rId41"/>
    <p:sldId id="318" r:id="rId42"/>
    <p:sldId id="319" r:id="rId43"/>
    <p:sldId id="320" r:id="rId44"/>
    <p:sldId id="322" r:id="rId45"/>
    <p:sldId id="323" r:id="rId46"/>
    <p:sldId id="324" r:id="rId47"/>
    <p:sldId id="325" r:id="rId48"/>
    <p:sldId id="326" r:id="rId49"/>
    <p:sldId id="327" r:id="rId50"/>
    <p:sldId id="328" r:id="rId51"/>
    <p:sldId id="329" r:id="rId52"/>
    <p:sldId id="330" r:id="rId53"/>
    <p:sldId id="331" r:id="rId54"/>
    <p:sldId id="332" r:id="rId55"/>
    <p:sldId id="333" r:id="rId56"/>
    <p:sldId id="334" r:id="rId57"/>
    <p:sldId id="335" r:id="rId58"/>
    <p:sldId id="336" r:id="rId59"/>
    <p:sldId id="337" r:id="rId60"/>
    <p:sldId id="338" r:id="rId61"/>
    <p:sldId id="339" r:id="rId62"/>
    <p:sldId id="340" r:id="rId63"/>
    <p:sldId id="341" r:id="rId64"/>
    <p:sldId id="343" r:id="rId65"/>
    <p:sldId id="345" r:id="rId66"/>
    <p:sldId id="346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82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21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B12E0B-E621-461F-BCC6-9F693EAD0E8A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E4A419-2E13-47AC-AE25-1F31554A32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60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/>
              <a:t>To the surprise of many, the search box has become the preferred method of information access.</a:t>
            </a:r>
          </a:p>
          <a:p>
            <a:pPr>
              <a:spcBef>
                <a:spcPct val="0"/>
              </a:spcBef>
            </a:pPr>
            <a:r>
              <a:rPr lang="en-US" altLang="en-US"/>
              <a:t>Customers ask: Why can’t I search my database in the same way?</a:t>
            </a: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D9981FF-2EC4-4655-8480-D06262EB9EC0}" type="slidenum">
              <a:rPr lang="en-US" altLang="en-US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97883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>
                <a:ea typeface="ＭＳ Ｐゴシック" panose="020B0600070205080204" pitchFamily="34" charset="-128"/>
              </a:rPr>
              <a:t>Grep is line-oriented; IR is document oriented.</a:t>
            </a:r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507563E-5ECE-4971-A8D3-6276B8ED0219}" type="slidenum">
              <a:rPr lang="en-US" altLang="en-US" sz="11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en-US" sz="1100">
              <a:latin typeface="Lucida Sans" panose="020B0602030504020204" pitchFamily="34" charset="0"/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7938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altLang="en-US"/>
              <a:t>Wikimedia commons picture of Shake</a:t>
            </a:r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EAF811C-9883-4D26-8CC4-3A33540EB797}" type="slidenum">
              <a:rPr lang="en-US" altLang="en-US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1533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36370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083266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0727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25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082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878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0534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59503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39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58108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5568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85918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249830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4119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9052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53738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84814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78818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8425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49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46998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40122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96161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89635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78664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32528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63587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625066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57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098327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58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27199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59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032115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60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89013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61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35050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62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52017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63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05670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64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658117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65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71729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10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fld id="{7877EAF2-EF67-4E70-95E3-8FCEFB74D208}" type="slidenum">
              <a:rPr lang="en-US" smtClean="0">
                <a:ea typeface="ＭＳ Ｐゴシック" charset="-128"/>
              </a:rPr>
              <a:pPr/>
              <a:t>66</a:t>
            </a:fld>
            <a:endParaRPr lang="en-US">
              <a:ea typeface="ＭＳ Ｐゴシック" charset="-128"/>
            </a:endParaRPr>
          </a:p>
        </p:txBody>
      </p:sp>
      <p:sp>
        <p:nvSpPr>
          <p:cNvPr id="29184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57200" y="720725"/>
            <a:ext cx="6400800" cy="3600450"/>
          </a:xfrm>
          <a:solidFill>
            <a:srgbClr val="FFFFFF"/>
          </a:solidFill>
          <a:ln/>
        </p:spPr>
      </p:sp>
      <p:sp>
        <p:nvSpPr>
          <p:cNvPr id="29184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0988" cy="4316412"/>
          </a:xfrm>
          <a:noFill/>
          <a:ln/>
        </p:spPr>
        <p:txBody>
          <a:bodyPr wrap="none" anchor="ctr"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2255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811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26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065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675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11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621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26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3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10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23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868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Pr>
        <a:solidFill>
          <a:srgbClr val="2333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1445685" y="1981201"/>
            <a:ext cx="301217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>
                <a:solidFill>
                  <a:srgbClr val="FBFCFF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Introduction 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304800"/>
          </a:xfrm>
          <a:prstGeom prst="rect">
            <a:avLst/>
          </a:prstGeom>
          <a:solidFill>
            <a:srgbClr val="139C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rgbClr val="FFFFFF"/>
              </a:solidFill>
              <a:ea typeface="Arial Unicode MS" charset="0"/>
              <a:cs typeface="Arial Unicode MS" charset="0"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1107018" y="2590801"/>
            <a:ext cx="564410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800" b="1">
                <a:solidFill>
                  <a:srgbClr val="139CB7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Information Retrieval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2362200"/>
          </a:xfrm>
        </p:spPr>
        <p:txBody>
          <a:bodyPr/>
          <a:lstStyle>
            <a:lvl1pPr marL="0" indent="0" algn="ctr">
              <a:buNone/>
              <a:defRPr>
                <a:solidFill>
                  <a:srgbClr val="437085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437085"/>
                </a:solidFill>
              </a:defRPr>
            </a:lvl1pPr>
          </a:lstStyle>
          <a:p>
            <a:fld id="{2B2637B1-D771-4BEC-AC37-64AB67AA22F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058587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A1740-BFDB-43B4-A021-0A2F32171078}" type="datetimeFigureOut">
              <a:rPr lang="en-US" smtClean="0"/>
              <a:t>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D9099-C904-4803-99A2-DB534E4DD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921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3.png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3886200"/>
            <a:ext cx="7010400" cy="2362200"/>
          </a:xfrm>
        </p:spPr>
        <p:txBody>
          <a:bodyPr/>
          <a:lstStyle/>
          <a:p>
            <a:r>
              <a:rPr lang="en-US" altLang="en-US" dirty="0" smtClean="0">
                <a:ea typeface="ＭＳ Ｐゴシック" panose="020B0600070205080204" pitchFamily="34" charset="-128"/>
                <a:cs typeface="Times New Roman" panose="02020603050405020304" pitchFamily="18" charset="0"/>
              </a:rPr>
              <a:t>Instructor</a:t>
            </a:r>
            <a:r>
              <a:rPr lang="en-US" altLang="en-US" dirty="0">
                <a:ea typeface="ＭＳ Ｐゴシック" panose="020B0600070205080204" pitchFamily="34" charset="-128"/>
                <a:cs typeface="Times New Roman" panose="02020603050405020304" pitchFamily="18" charset="0"/>
              </a:rPr>
              <a:t>: Dingding Wang</a:t>
            </a:r>
          </a:p>
        </p:txBody>
      </p:sp>
    </p:spTree>
    <p:extLst>
      <p:ext uri="{BB962C8B-B14F-4D97-AF65-F5344CB8AC3E}">
        <p14:creationId xmlns:p14="http://schemas.microsoft.com/office/powerpoint/2010/main" val="19607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Tue/Thu 12:30pm </a:t>
            </a:r>
            <a:r>
              <a:rPr lang="en-US"/>
              <a:t>– </a:t>
            </a:r>
            <a:r>
              <a:rPr lang="en-US" smtClean="0"/>
              <a:t>1</a:t>
            </a:r>
            <a:r>
              <a:rPr lang="en-US" smtClean="0"/>
              <a:t>:50pm  </a:t>
            </a:r>
            <a:endParaRPr lang="en-US" dirty="0" smtClean="0"/>
          </a:p>
          <a:p>
            <a:r>
              <a:rPr lang="en-US" dirty="0" smtClean="0"/>
              <a:t>Office </a:t>
            </a:r>
            <a:r>
              <a:rPr lang="en-US" dirty="0"/>
              <a:t>hour: </a:t>
            </a:r>
            <a:r>
              <a:rPr lang="en-US" dirty="0" smtClean="0"/>
              <a:t>virtual and by appointment</a:t>
            </a:r>
            <a:endParaRPr lang="en-US" dirty="0"/>
          </a:p>
          <a:p>
            <a:r>
              <a:rPr lang="en-US" altLang="zh-CN" dirty="0" smtClean="0"/>
              <a:t>3 </a:t>
            </a:r>
            <a:r>
              <a:rPr lang="en-US" dirty="0" smtClean="0"/>
              <a:t>assignments </a:t>
            </a:r>
            <a:r>
              <a:rPr lang="en-US" dirty="0"/>
              <a:t>(tool based</a:t>
            </a:r>
            <a:r>
              <a:rPr lang="en-US" dirty="0" smtClean="0"/>
              <a:t>) and maybe written-based topic discussions</a:t>
            </a:r>
            <a:endParaRPr lang="en-US" dirty="0"/>
          </a:p>
          <a:p>
            <a:r>
              <a:rPr lang="en-US" dirty="0"/>
              <a:t>1 presentation: Show how to use an IR tool or survey on an interesting topic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5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Text preprocessing and representations</a:t>
            </a:r>
          </a:p>
          <a:p>
            <a:r>
              <a:rPr lang="en-US" dirty="0"/>
              <a:t>Scoring, term weighting, and the vector space model</a:t>
            </a:r>
          </a:p>
          <a:p>
            <a:r>
              <a:rPr lang="en-US" dirty="0"/>
              <a:t>Natural language processing </a:t>
            </a:r>
          </a:p>
          <a:p>
            <a:r>
              <a:rPr lang="en-US" dirty="0"/>
              <a:t>Relevance feedback and query expansion</a:t>
            </a:r>
          </a:p>
          <a:p>
            <a:r>
              <a:rPr lang="en-US" dirty="0"/>
              <a:t>IR system evaluation</a:t>
            </a:r>
          </a:p>
          <a:p>
            <a:r>
              <a:rPr lang="en-US" dirty="0"/>
              <a:t>Text classification and clustering</a:t>
            </a:r>
          </a:p>
          <a:p>
            <a:r>
              <a:rPr lang="en-US" dirty="0"/>
              <a:t>Text summarization</a:t>
            </a:r>
          </a:p>
          <a:p>
            <a:r>
              <a:rPr lang="en-US" dirty="0"/>
              <a:t>Web search</a:t>
            </a:r>
          </a:p>
          <a:p>
            <a:r>
              <a:rPr lang="en-US" dirty="0"/>
              <a:t>Recommendation systems</a:t>
            </a:r>
          </a:p>
          <a:p>
            <a:r>
              <a:rPr lang="en-US"/>
              <a:t>Other </a:t>
            </a:r>
            <a:r>
              <a:rPr lang="en-US" smtClean="0"/>
              <a:t>trending </a:t>
            </a:r>
            <a:r>
              <a:rPr lang="en-US" dirty="0"/>
              <a:t>topics</a:t>
            </a:r>
          </a:p>
        </p:txBody>
      </p:sp>
    </p:spTree>
    <p:extLst>
      <p:ext uri="{BB962C8B-B14F-4D97-AF65-F5344CB8AC3E}">
        <p14:creationId xmlns:p14="http://schemas.microsoft.com/office/powerpoint/2010/main" val="176967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Information Retrieval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Clr>
                <a:srgbClr val="357E69"/>
              </a:buCl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Information Retrieval (IR) is </a:t>
            </a:r>
            <a:r>
              <a:rPr lang="en-US" dirty="0">
                <a:solidFill>
                  <a:srgbClr val="357E69"/>
                </a:solidFill>
                <a:ea typeface="ＭＳ Ｐゴシック" charset="0"/>
                <a:cs typeface="ＭＳ Ｐゴシック" charset="0"/>
              </a:rPr>
              <a:t>finding material</a:t>
            </a:r>
            <a:r>
              <a:rPr lang="en-US" dirty="0">
                <a:ea typeface="ＭＳ Ｐゴシック" charset="0"/>
                <a:cs typeface="ＭＳ Ｐゴシック" charset="0"/>
              </a:rPr>
              <a:t> (usually documents) of an </a:t>
            </a:r>
            <a:r>
              <a:rPr lang="en-US" dirty="0">
                <a:solidFill>
                  <a:srgbClr val="357E69"/>
                </a:solidFill>
                <a:ea typeface="ＭＳ Ｐゴシック" charset="0"/>
                <a:cs typeface="ＭＳ Ｐゴシック" charset="0"/>
              </a:rPr>
              <a:t>unstructured</a:t>
            </a:r>
            <a:r>
              <a:rPr lang="en-US" dirty="0">
                <a:ea typeface="ＭＳ Ｐゴシック" charset="0"/>
                <a:cs typeface="ＭＳ Ｐゴシック" charset="0"/>
              </a:rPr>
              <a:t> nature (usually text) that satisfies an </a:t>
            </a:r>
            <a:r>
              <a:rPr lang="en-US" dirty="0">
                <a:solidFill>
                  <a:srgbClr val="357E69"/>
                </a:solidFill>
                <a:ea typeface="ＭＳ Ｐゴシック" charset="0"/>
                <a:cs typeface="ＭＳ Ｐゴシック" charset="0"/>
              </a:rPr>
              <a:t>information need</a:t>
            </a:r>
            <a:r>
              <a:rPr lang="en-US" dirty="0">
                <a:ea typeface="ＭＳ Ｐゴシック" charset="0"/>
                <a:cs typeface="ＭＳ Ｐゴシック" charset="0"/>
              </a:rPr>
              <a:t> from within </a:t>
            </a:r>
            <a:r>
              <a:rPr lang="en-US" dirty="0">
                <a:solidFill>
                  <a:srgbClr val="357E69"/>
                </a:solidFill>
                <a:ea typeface="ＭＳ Ｐゴシック" charset="0"/>
                <a:cs typeface="ＭＳ Ｐゴシック" charset="0"/>
              </a:rPr>
              <a:t>large collections</a:t>
            </a:r>
            <a:r>
              <a:rPr lang="en-US" dirty="0">
                <a:ea typeface="ＭＳ Ｐゴシック" charset="0"/>
                <a:cs typeface="ＭＳ Ｐゴシック" charset="0"/>
              </a:rPr>
              <a:t> (usually stored on computers).</a:t>
            </a:r>
          </a:p>
          <a:p>
            <a:pPr>
              <a:buClr>
                <a:srgbClr val="357E69"/>
              </a:buClr>
              <a:buFont typeface="Arial"/>
              <a:buChar char="•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These days we frequently think first of </a:t>
            </a: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web search</a:t>
            </a:r>
            <a:r>
              <a:rPr lang="en-US" dirty="0">
                <a:ea typeface="ＭＳ Ｐゴシック" charset="0"/>
                <a:cs typeface="ＭＳ Ｐゴシック" charset="0"/>
              </a:rPr>
              <a:t>, but there are many other cases: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E-mail search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Searching your laptop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Corporate knowledge bases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solidFill>
                  <a:schemeClr val="accent3"/>
                </a:solidFill>
                <a:ea typeface="ＭＳ Ｐゴシック" charset="0"/>
                <a:cs typeface="ＭＳ Ｐゴシック" charset="0"/>
              </a:rPr>
              <a:t>Legal information retrieval</a:t>
            </a: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55A19A7-916F-4A95-8314-48F805949040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4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2654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ＭＳ Ｐゴシック" charset="0"/>
              </a:rPr>
              <a:t>Unstructured (text) vs. structured (database) data in the mid-nineties</a:t>
            </a:r>
          </a:p>
        </p:txBody>
      </p:sp>
      <p:sp>
        <p:nvSpPr>
          <p:cNvPr id="614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EEA525F-A603-40A5-B81B-4A289B15E4BE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5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graphicFrame>
        <p:nvGraphicFramePr>
          <p:cNvPr id="6148" name="Object 3"/>
          <p:cNvGraphicFramePr>
            <a:graphicFrameLocks noChangeAspect="1"/>
          </p:cNvGraphicFramePr>
          <p:nvPr/>
        </p:nvGraphicFramePr>
        <p:xfrm>
          <a:off x="2209800" y="1914525"/>
          <a:ext cx="7772400" cy="45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r:id="rId3" imgW="7773074" imgH="4554107" progId="Excel.Chart.8">
                  <p:embed/>
                </p:oleObj>
              </mc:Choice>
              <mc:Fallback>
                <p:oleObj r:id="rId3" imgW="7773074" imgH="4554107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1914525"/>
                        <a:ext cx="7772400" cy="455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7951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 dirty="0">
                <a:ea typeface="ＭＳ Ｐゴシック" charset="0"/>
                <a:cs typeface="ＭＳ Ｐゴシック" charset="0"/>
              </a:rPr>
              <a:t>Unstructured (text) vs. structured (database) data today</a:t>
            </a:r>
          </a:p>
        </p:txBody>
      </p:sp>
      <p:sp>
        <p:nvSpPr>
          <p:cNvPr id="717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77026AF-E343-4737-A8EB-9742BFB0B95D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6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graphicFrame>
        <p:nvGraphicFramePr>
          <p:cNvPr id="7172" name="Object 3"/>
          <p:cNvGraphicFramePr>
            <a:graphicFrameLocks noGrp="1" noChangeAspect="1"/>
          </p:cNvGraphicFramePr>
          <p:nvPr>
            <p:ph type="chart" idx="4294967295"/>
          </p:nvPr>
        </p:nvGraphicFramePr>
        <p:xfrm>
          <a:off x="1473200" y="1914525"/>
          <a:ext cx="7772400" cy="455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r:id="rId4" imgW="7773074" imgH="4554107" progId="Excel.Chart.8">
                  <p:embed/>
                </p:oleObj>
              </mc:Choice>
              <mc:Fallback>
                <p:oleObj r:id="rId4" imgW="7773074" imgH="4554107" progId="Excel.Char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3200" y="1914525"/>
                        <a:ext cx="7772400" cy="455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438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>
                <a:ea typeface="ＭＳ Ｐゴシック" panose="020B0600070205080204" pitchFamily="34" charset="-128"/>
              </a:rPr>
              <a:t>Basic assumptions of Information Retrieval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357E69"/>
              </a:buClr>
            </a:pPr>
            <a:r>
              <a:rPr lang="en-US" altLang="en-US">
                <a:solidFill>
                  <a:srgbClr val="357E69"/>
                </a:solidFill>
                <a:ea typeface="ＭＳ Ｐゴシック" panose="020B0600070205080204" pitchFamily="34" charset="-128"/>
              </a:rPr>
              <a:t>Collection</a:t>
            </a:r>
            <a:r>
              <a:rPr lang="en-US" altLang="en-US">
                <a:ea typeface="ＭＳ Ｐゴシック" panose="020B0600070205080204" pitchFamily="34" charset="-128"/>
              </a:rPr>
              <a:t>: A set of documents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Assume it is a static collection for the moment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solidFill>
                  <a:srgbClr val="357E69"/>
                </a:solidFill>
                <a:ea typeface="ＭＳ Ｐゴシック" panose="020B0600070205080204" pitchFamily="34" charset="-128"/>
              </a:rPr>
              <a:t>Goal</a:t>
            </a:r>
            <a:r>
              <a:rPr lang="en-US" altLang="en-US">
                <a:ea typeface="ＭＳ Ｐゴシック" panose="020B0600070205080204" pitchFamily="34" charset="-128"/>
              </a:rPr>
              <a:t>: Retrieve documents with information that is </a:t>
            </a:r>
            <a:r>
              <a:rPr lang="en-US" altLang="en-US">
                <a:solidFill>
                  <a:schemeClr val="accent2"/>
                </a:solidFill>
                <a:ea typeface="ＭＳ Ｐゴシック" panose="020B0600070205080204" pitchFamily="34" charset="-128"/>
              </a:rPr>
              <a:t>relevant</a:t>
            </a:r>
            <a:r>
              <a:rPr lang="en-US" altLang="en-US">
                <a:ea typeface="ＭＳ Ｐゴシック" panose="020B0600070205080204" pitchFamily="34" charset="-128"/>
              </a:rPr>
              <a:t> to the user’s </a:t>
            </a:r>
            <a:r>
              <a:rPr lang="en-US" altLang="en-US">
                <a:solidFill>
                  <a:srgbClr val="C0504D"/>
                </a:solidFill>
                <a:ea typeface="ＭＳ Ｐゴシック" panose="020B0600070205080204" pitchFamily="34" charset="-128"/>
              </a:rPr>
              <a:t>information need</a:t>
            </a:r>
            <a:r>
              <a:rPr lang="en-US" altLang="en-US">
                <a:solidFill>
                  <a:schemeClr val="hlink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>
                <a:solidFill>
                  <a:srgbClr val="0D0D0D"/>
                </a:solidFill>
                <a:ea typeface="ＭＳ Ｐゴシック" panose="020B0600070205080204" pitchFamily="34" charset="-128"/>
              </a:rPr>
              <a:t>and helps the user complete a </a:t>
            </a:r>
            <a:r>
              <a:rPr lang="en-US" altLang="en-US">
                <a:solidFill>
                  <a:schemeClr val="accent2"/>
                </a:solidFill>
                <a:ea typeface="ＭＳ Ｐゴシック" panose="020B0600070205080204" pitchFamily="34" charset="-128"/>
              </a:rPr>
              <a:t>task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EE472B3-F9B6-4FAA-81F9-90444005FA77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7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197" name="TextBox 5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20241973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How good are the retrieved docs?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Font typeface="Wingdings" charset="2"/>
              <a:buChar char="§"/>
              <a:defRPr/>
            </a:pPr>
            <a:r>
              <a:rPr lang="en-US" i="1" dirty="0">
                <a:solidFill>
                  <a:schemeClr val="accent5"/>
                </a:solidFill>
                <a:ea typeface="ＭＳ Ｐゴシック" charset="-128"/>
                <a:cs typeface="ＭＳ Ｐゴシック" charset="-128"/>
              </a:rPr>
              <a:t>Precision </a:t>
            </a:r>
            <a:r>
              <a:rPr lang="en-US" dirty="0">
                <a:ea typeface="ＭＳ Ｐゴシック" charset="-128"/>
                <a:cs typeface="ＭＳ Ｐゴシック" charset="-128"/>
              </a:rPr>
              <a:t>: Fraction of retrieved docs that are relevant to the user’s </a:t>
            </a:r>
            <a:r>
              <a:rPr lang="en-US" dirty="0">
                <a:solidFill>
                  <a:schemeClr val="accent2"/>
                </a:solidFill>
                <a:ea typeface="ＭＳ Ｐゴシック" charset="-128"/>
                <a:cs typeface="ＭＳ Ｐゴシック" charset="-128"/>
              </a:rPr>
              <a:t>information need</a:t>
            </a:r>
          </a:p>
          <a:p>
            <a:pPr>
              <a:buFont typeface="Wingdings" charset="2"/>
              <a:buChar char="§"/>
              <a:defRPr/>
            </a:pPr>
            <a:r>
              <a:rPr lang="en-US" i="1" dirty="0">
                <a:solidFill>
                  <a:srgbClr val="139CB7"/>
                </a:solidFill>
                <a:ea typeface="ＭＳ Ｐゴシック" charset="-128"/>
                <a:cs typeface="ＭＳ Ｐゴシック" charset="-128"/>
              </a:rPr>
              <a:t>Recall</a:t>
            </a:r>
            <a:r>
              <a:rPr lang="en-US" dirty="0">
                <a:solidFill>
                  <a:srgbClr val="139CB7"/>
                </a:solidFill>
                <a:ea typeface="ＭＳ Ｐゴシック" charset="-128"/>
                <a:cs typeface="ＭＳ Ｐゴシック" charset="-128"/>
              </a:rPr>
              <a:t> </a:t>
            </a:r>
            <a:r>
              <a:rPr lang="en-US" dirty="0">
                <a:ea typeface="ＭＳ Ｐゴシック" charset="-128"/>
                <a:cs typeface="ＭＳ Ｐゴシック" charset="-128"/>
              </a:rPr>
              <a:t>: Fraction of relevant docs in collection that are retrieved</a:t>
            </a:r>
          </a:p>
          <a:p>
            <a:pPr>
              <a:buFont typeface="Wingdings" charset="2"/>
              <a:buChar char="§"/>
              <a:defRPr/>
            </a:pPr>
            <a:endParaRPr lang="en-US" dirty="0">
              <a:ea typeface="ＭＳ Ｐゴシック" charset="-128"/>
              <a:cs typeface="ＭＳ Ｐゴシック" charset="-128"/>
            </a:endParaRPr>
          </a:p>
          <a:p>
            <a:pPr lvl="1">
              <a:buFont typeface="Wingdings" charset="2"/>
              <a:buChar char="§"/>
              <a:defRPr/>
            </a:pPr>
            <a:r>
              <a:rPr lang="en-US" dirty="0">
                <a:ea typeface="ＭＳ Ｐゴシック" charset="-128"/>
                <a:cs typeface="ＭＳ Ｐゴシック" charset="-128"/>
              </a:rPr>
              <a:t>More precise definitions and measurements to follow later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4EB691E-BFA2-4115-9A32-18477C865258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8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0245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2726259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3886200"/>
            <a:ext cx="7010400" cy="23622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Structured vs. Unstructured Data</a:t>
            </a:r>
          </a:p>
        </p:txBody>
      </p:sp>
    </p:spTree>
    <p:extLst>
      <p:ext uri="{BB962C8B-B14F-4D97-AF65-F5344CB8AC3E}">
        <p14:creationId xmlns:p14="http://schemas.microsoft.com/office/powerpoint/2010/main" val="204272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3600">
                <a:ea typeface="ＭＳ Ｐゴシック" charset="0"/>
                <a:cs typeface="ＭＳ Ｐゴシック" charset="0"/>
              </a:rPr>
              <a:t>IR vs. databases:</a:t>
            </a:r>
            <a:br>
              <a:rPr lang="en-US" sz="3600">
                <a:ea typeface="ＭＳ Ｐゴシック" charset="0"/>
                <a:cs typeface="ＭＳ Ｐゴシック" charset="0"/>
              </a:rPr>
            </a:br>
            <a:r>
              <a:rPr lang="en-US" sz="3600">
                <a:ea typeface="ＭＳ Ｐゴシック" charset="0"/>
                <a:cs typeface="ＭＳ Ｐゴシック" charset="0"/>
              </a:rPr>
              <a:t>Structured vs unstructured data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Structured data tends to refer to information in “tables”</a:t>
            </a:r>
          </a:p>
        </p:txBody>
      </p:sp>
      <p:sp>
        <p:nvSpPr>
          <p:cNvPr id="593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539F40C-8904-4C8F-ACA9-766D47615EB4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10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3048000" y="2667000"/>
            <a:ext cx="6172200" cy="22098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3048000" y="3200400"/>
            <a:ext cx="6172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3048000" y="3733800"/>
            <a:ext cx="61722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auto">
          <a:xfrm>
            <a:off x="4953000" y="2667000"/>
            <a:ext cx="2362200" cy="2209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59401" name="Text Box 8"/>
          <p:cNvSpPr txBox="1">
            <a:spLocks noChangeArrowheads="1"/>
          </p:cNvSpPr>
          <p:nvPr/>
        </p:nvSpPr>
        <p:spPr bwMode="auto">
          <a:xfrm>
            <a:off x="3146398" y="2740969"/>
            <a:ext cx="161454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Employee</a:t>
            </a:r>
          </a:p>
        </p:txBody>
      </p:sp>
      <p:sp>
        <p:nvSpPr>
          <p:cNvPr id="59402" name="Text Box 9"/>
          <p:cNvSpPr txBox="1">
            <a:spLocks noChangeArrowheads="1"/>
          </p:cNvSpPr>
          <p:nvPr/>
        </p:nvSpPr>
        <p:spPr bwMode="auto">
          <a:xfrm>
            <a:off x="5428333" y="2740969"/>
            <a:ext cx="1470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Manager</a:t>
            </a:r>
          </a:p>
        </p:txBody>
      </p:sp>
      <p:sp>
        <p:nvSpPr>
          <p:cNvPr id="59403" name="Text Box 10"/>
          <p:cNvSpPr txBox="1">
            <a:spLocks noChangeArrowheads="1"/>
          </p:cNvSpPr>
          <p:nvPr/>
        </p:nvSpPr>
        <p:spPr bwMode="auto">
          <a:xfrm>
            <a:off x="7698823" y="2740969"/>
            <a:ext cx="10663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Salary</a:t>
            </a:r>
          </a:p>
        </p:txBody>
      </p:sp>
      <p:sp>
        <p:nvSpPr>
          <p:cNvPr id="59404" name="Text Box 11"/>
          <p:cNvSpPr txBox="1">
            <a:spLocks noChangeArrowheads="1"/>
          </p:cNvSpPr>
          <p:nvPr/>
        </p:nvSpPr>
        <p:spPr bwMode="auto">
          <a:xfrm>
            <a:off x="3143655" y="3274369"/>
            <a:ext cx="1032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Smith</a:t>
            </a:r>
          </a:p>
        </p:txBody>
      </p:sp>
      <p:sp>
        <p:nvSpPr>
          <p:cNvPr id="59405" name="Text Box 12"/>
          <p:cNvSpPr txBox="1">
            <a:spLocks noChangeArrowheads="1"/>
          </p:cNvSpPr>
          <p:nvPr/>
        </p:nvSpPr>
        <p:spPr bwMode="auto">
          <a:xfrm>
            <a:off x="5410200" y="3276600"/>
            <a:ext cx="9985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Jones</a:t>
            </a:r>
          </a:p>
        </p:txBody>
      </p:sp>
      <p:sp>
        <p:nvSpPr>
          <p:cNvPr id="59406" name="Text Box 13"/>
          <p:cNvSpPr txBox="1">
            <a:spLocks noChangeArrowheads="1"/>
          </p:cNvSpPr>
          <p:nvPr/>
        </p:nvSpPr>
        <p:spPr bwMode="auto">
          <a:xfrm>
            <a:off x="7669029" y="3274369"/>
            <a:ext cx="11544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50000</a:t>
            </a:r>
          </a:p>
        </p:txBody>
      </p:sp>
      <p:sp>
        <p:nvSpPr>
          <p:cNvPr id="59407" name="Text Box 14"/>
          <p:cNvSpPr txBox="1">
            <a:spLocks noChangeArrowheads="1"/>
          </p:cNvSpPr>
          <p:nvPr/>
        </p:nvSpPr>
        <p:spPr bwMode="auto">
          <a:xfrm>
            <a:off x="3154241" y="3807769"/>
            <a:ext cx="114165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Chang</a:t>
            </a:r>
          </a:p>
        </p:txBody>
      </p:sp>
      <p:sp>
        <p:nvSpPr>
          <p:cNvPr id="59408" name="Text Box 15"/>
          <p:cNvSpPr txBox="1">
            <a:spLocks noChangeArrowheads="1"/>
          </p:cNvSpPr>
          <p:nvPr/>
        </p:nvSpPr>
        <p:spPr bwMode="auto">
          <a:xfrm>
            <a:off x="5402668" y="3807769"/>
            <a:ext cx="1032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Smith</a:t>
            </a:r>
          </a:p>
        </p:txBody>
      </p:sp>
      <p:sp>
        <p:nvSpPr>
          <p:cNvPr id="60433" name="Rectangle 16"/>
          <p:cNvSpPr>
            <a:spLocks noChangeArrowheads="1"/>
          </p:cNvSpPr>
          <p:nvPr/>
        </p:nvSpPr>
        <p:spPr bwMode="auto">
          <a:xfrm>
            <a:off x="3048000" y="3200400"/>
            <a:ext cx="6172200" cy="76200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59410" name="Text Box 17"/>
          <p:cNvSpPr txBox="1">
            <a:spLocks noChangeArrowheads="1"/>
          </p:cNvSpPr>
          <p:nvPr/>
        </p:nvSpPr>
        <p:spPr bwMode="auto">
          <a:xfrm>
            <a:off x="7669029" y="3807769"/>
            <a:ext cx="11544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60000</a:t>
            </a:r>
          </a:p>
        </p:txBody>
      </p:sp>
      <p:sp>
        <p:nvSpPr>
          <p:cNvPr id="59411" name="Text Box 18"/>
          <p:cNvSpPr txBox="1">
            <a:spLocks noChangeArrowheads="1"/>
          </p:cNvSpPr>
          <p:nvPr/>
        </p:nvSpPr>
        <p:spPr bwMode="auto">
          <a:xfrm>
            <a:off x="7669029" y="4341169"/>
            <a:ext cx="11544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50000</a:t>
            </a:r>
          </a:p>
        </p:txBody>
      </p:sp>
      <p:sp>
        <p:nvSpPr>
          <p:cNvPr id="59412" name="Text Box 19"/>
          <p:cNvSpPr txBox="1">
            <a:spLocks noChangeArrowheads="1"/>
          </p:cNvSpPr>
          <p:nvPr/>
        </p:nvSpPr>
        <p:spPr bwMode="auto">
          <a:xfrm>
            <a:off x="3191031" y="4341169"/>
            <a:ext cx="5918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Ivy</a:t>
            </a:r>
          </a:p>
        </p:txBody>
      </p:sp>
      <p:sp>
        <p:nvSpPr>
          <p:cNvPr id="59413" name="Text Box 20"/>
          <p:cNvSpPr txBox="1">
            <a:spLocks noChangeArrowheads="1"/>
          </p:cNvSpPr>
          <p:nvPr/>
        </p:nvSpPr>
        <p:spPr bwMode="auto">
          <a:xfrm>
            <a:off x="5402668" y="4341169"/>
            <a:ext cx="10326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Smith</a:t>
            </a:r>
          </a:p>
        </p:txBody>
      </p:sp>
      <p:sp>
        <p:nvSpPr>
          <p:cNvPr id="59414" name="Text Box 21"/>
          <p:cNvSpPr txBox="1">
            <a:spLocks noChangeArrowheads="1"/>
          </p:cNvSpPr>
          <p:nvPr/>
        </p:nvSpPr>
        <p:spPr bwMode="auto">
          <a:xfrm>
            <a:off x="2362201" y="5283200"/>
            <a:ext cx="7618413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Typically allows numerical range and exact match</a:t>
            </a:r>
          </a:p>
          <a:p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(for text) queries, e.g.,</a:t>
            </a:r>
          </a:p>
          <a:p>
            <a:r>
              <a:rPr lang="en-US" altLang="en-US" sz="2400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   Salary &lt; 60000 AND Manager = Smith</a:t>
            </a:r>
            <a:r>
              <a:rPr lang="en-US" altLang="en-US" sz="24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1090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Unstructured data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Typically refers to free text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Allows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Keyword queries including operators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More sophisticated “concept” queries e.g.,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find all web pages dealing with </a:t>
            </a:r>
            <a:r>
              <a:rPr lang="en-US" altLang="en-US" i="1">
                <a:ea typeface="ＭＳ Ｐゴシック" panose="020B0600070205080204" pitchFamily="34" charset="-128"/>
              </a:rPr>
              <a:t>drug abuse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Classic model for searching text documents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endParaRPr lang="en-US" altLang="en-US" sz="2000">
              <a:ea typeface="ＭＳ Ｐゴシック" panose="020B0600070205080204" pitchFamily="34" charset="-128"/>
            </a:endParaRPr>
          </a:p>
        </p:txBody>
      </p:sp>
      <p:sp>
        <p:nvSpPr>
          <p:cNvPr id="604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83079CEC-07AC-46D4-A9C5-81B14B5B591C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11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5823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Semi-structured data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In fact almost no data is “unstructured”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E.g., this slide has distinctly identified zones such as the </a:t>
            </a:r>
            <a:r>
              <a:rPr lang="en-US" i="1" dirty="0">
                <a:ea typeface="ＭＳ Ｐゴシック" charset="0"/>
                <a:cs typeface="ＭＳ Ｐゴシック" charset="0"/>
              </a:rPr>
              <a:t>Title</a:t>
            </a:r>
            <a:r>
              <a:rPr lang="en-US" dirty="0">
                <a:ea typeface="ＭＳ Ｐゴシック" charset="0"/>
                <a:cs typeface="ＭＳ Ｐゴシック" charset="0"/>
              </a:rPr>
              <a:t> and </a:t>
            </a:r>
            <a:r>
              <a:rPr lang="en-US" i="1" dirty="0">
                <a:ea typeface="ＭＳ Ｐゴシック" charset="0"/>
                <a:cs typeface="ＭＳ Ｐゴシック" charset="0"/>
              </a:rPr>
              <a:t>Bullets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ea typeface="ＭＳ Ｐゴシック" charset="0"/>
              </a:rPr>
              <a:t>… to say nothing of linguistic structure</a:t>
            </a:r>
            <a:endParaRPr lang="en-US" i="1" dirty="0">
              <a:ea typeface="ＭＳ Ｐゴシック" charset="0"/>
              <a:cs typeface="ＭＳ Ｐゴシック" charset="0"/>
            </a:endParaRPr>
          </a:p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Facilitates “semi-structured” search such as</a:t>
            </a:r>
          </a:p>
          <a:p>
            <a:pPr lvl="1">
              <a:buFont typeface="Arial"/>
              <a:buChar char="–"/>
              <a:defRPr/>
            </a:pPr>
            <a:r>
              <a:rPr lang="en-US" i="1" dirty="0">
                <a:ea typeface="ＭＳ Ｐゴシック" charset="0"/>
              </a:rPr>
              <a:t>Title</a:t>
            </a:r>
            <a:r>
              <a:rPr lang="en-US" dirty="0">
                <a:ea typeface="ＭＳ Ｐゴシック" charset="0"/>
              </a:rPr>
              <a:t> contains </a:t>
            </a:r>
            <a:r>
              <a:rPr lang="en-US" u="sng" dirty="0">
                <a:ea typeface="ＭＳ Ｐゴシック" charset="0"/>
              </a:rPr>
              <a:t>data</a:t>
            </a:r>
            <a:r>
              <a:rPr lang="en-US" dirty="0">
                <a:ea typeface="ＭＳ Ｐゴシック" charset="0"/>
              </a:rPr>
              <a:t> AND </a:t>
            </a:r>
            <a:r>
              <a:rPr lang="en-US" i="1" dirty="0">
                <a:ea typeface="ＭＳ Ｐゴシック" charset="0"/>
              </a:rPr>
              <a:t>Bullets</a:t>
            </a:r>
            <a:r>
              <a:rPr lang="en-US" dirty="0">
                <a:ea typeface="ＭＳ Ｐゴシック" charset="0"/>
              </a:rPr>
              <a:t> contain </a:t>
            </a:r>
            <a:r>
              <a:rPr lang="en-US" u="sng" dirty="0">
                <a:ea typeface="ＭＳ Ｐゴシック" charset="0"/>
              </a:rPr>
              <a:t>search</a:t>
            </a:r>
          </a:p>
          <a:p>
            <a:pPr>
              <a:buFont typeface="Arial"/>
              <a:buChar char="•"/>
              <a:defRPr/>
            </a:pPr>
            <a:r>
              <a:rPr lang="en-US" dirty="0"/>
              <a:t>Or even</a:t>
            </a:r>
          </a:p>
          <a:p>
            <a:pPr lvl="1">
              <a:buFont typeface="Arial"/>
              <a:buChar char="–"/>
              <a:defRPr/>
            </a:pPr>
            <a:r>
              <a:rPr lang="en-US" i="1" dirty="0"/>
              <a:t>Title</a:t>
            </a:r>
            <a:r>
              <a:rPr lang="en-US" dirty="0"/>
              <a:t> is about </a:t>
            </a:r>
            <a:r>
              <a:rPr lang="en-US" u="sng" dirty="0"/>
              <a:t>Object Oriented Programming</a:t>
            </a:r>
            <a:r>
              <a:rPr lang="en-US" dirty="0"/>
              <a:t> AND </a:t>
            </a:r>
            <a:r>
              <a:rPr lang="en-US" i="1" dirty="0"/>
              <a:t>Author</a:t>
            </a:r>
            <a:r>
              <a:rPr lang="en-US" dirty="0"/>
              <a:t>  something like </a:t>
            </a:r>
            <a:r>
              <a:rPr lang="en-US" u="sng" dirty="0" err="1"/>
              <a:t>stro</a:t>
            </a:r>
            <a:r>
              <a:rPr lang="en-US" u="sng" dirty="0"/>
              <a:t>*</a:t>
            </a:r>
            <a:r>
              <a:rPr lang="en-US" u="sng" dirty="0" err="1"/>
              <a:t>rup</a:t>
            </a:r>
            <a:r>
              <a:rPr lang="en-US" dirty="0"/>
              <a:t> </a:t>
            </a:r>
          </a:p>
          <a:p>
            <a:pPr lvl="1">
              <a:buFont typeface="Arial"/>
              <a:buChar char="–"/>
              <a:defRPr/>
            </a:pPr>
            <a:r>
              <a:rPr lang="en-US" dirty="0"/>
              <a:t>where * is the wild-card operator</a:t>
            </a:r>
          </a:p>
          <a:p>
            <a:pPr>
              <a:buFont typeface="Arial"/>
              <a:buChar char="•"/>
              <a:defRPr/>
            </a:pPr>
            <a:endParaRPr lang="en-US" u="sng" dirty="0">
              <a:ea typeface="ＭＳ Ｐゴシック" charset="0"/>
            </a:endParaRPr>
          </a:p>
          <a:p>
            <a:pPr lvl="1">
              <a:buFont typeface="Arial"/>
              <a:buChar char="–"/>
              <a:defRPr/>
            </a:pPr>
            <a:endParaRPr lang="en-US" u="sng" dirty="0">
              <a:ea typeface="ＭＳ Ｐゴシック" charset="0"/>
            </a:endParaRPr>
          </a:p>
        </p:txBody>
      </p:sp>
      <p:sp>
        <p:nvSpPr>
          <p:cNvPr id="6144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CCD3AEFB-1FB2-4FAC-92DF-07A87100C898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12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1054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3886200"/>
            <a:ext cx="7010400" cy="23622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Term-document incidence matrices</a:t>
            </a:r>
            <a:endParaRPr lang="en-US" altLang="en-US">
              <a:ea typeface="ＭＳ Ｐゴシック" panose="020B0600070205080204" pitchFamily="34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47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Unstructured data in 1620</a:t>
            </a:r>
          </a:p>
        </p:txBody>
      </p:sp>
      <p:sp>
        <p:nvSpPr>
          <p:cNvPr id="105475" name="Rectangle 1027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382000" cy="4953000"/>
          </a:xfrm>
        </p:spPr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Which plays of Shakespeare contain the words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Brutus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i="1" dirty="0">
                <a:ea typeface="ＭＳ Ｐゴシック" charset="0"/>
                <a:cs typeface="ＭＳ Ｐゴシック" charset="0"/>
              </a:rPr>
              <a:t>AND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Caesar</a:t>
            </a:r>
            <a:r>
              <a:rPr lang="en-US" dirty="0">
                <a:ea typeface="ＭＳ Ｐゴシック" charset="0"/>
                <a:cs typeface="ＭＳ Ｐゴシック" charset="0"/>
              </a:rPr>
              <a:t>  but </a:t>
            </a:r>
            <a:r>
              <a:rPr lang="en-US" i="1" dirty="0">
                <a:ea typeface="ＭＳ Ｐゴシック" charset="0"/>
                <a:cs typeface="ＭＳ Ｐゴシック" charset="0"/>
              </a:rPr>
              <a:t>NOT</a:t>
            </a: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Calpurnia</a:t>
            </a:r>
            <a:r>
              <a:rPr lang="en-US" dirty="0">
                <a:ea typeface="ＭＳ Ｐゴシック" charset="0"/>
                <a:cs typeface="ＭＳ Ｐゴシック" charset="0"/>
              </a:rPr>
              <a:t>?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One could </a:t>
            </a:r>
            <a:r>
              <a:rPr lang="en-US" dirty="0" err="1">
                <a:latin typeface="Lucida Sans Typewriter" charset="0"/>
                <a:ea typeface="ＭＳ Ｐゴシック" charset="0"/>
                <a:cs typeface="Lucida Sans Typewriter" charset="0"/>
              </a:rPr>
              <a:t>grep</a:t>
            </a:r>
            <a:r>
              <a:rPr lang="en-US" dirty="0">
                <a:ea typeface="ＭＳ Ｐゴシック" charset="0"/>
                <a:cs typeface="ＭＳ Ｐゴシック" charset="0"/>
              </a:rPr>
              <a:t> all of Shakespeare’s plays for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Brutus</a:t>
            </a:r>
            <a:r>
              <a:rPr lang="en-US" dirty="0">
                <a:ea typeface="ＭＳ Ｐゴシック" charset="0"/>
                <a:cs typeface="ＭＳ Ｐゴシック" charset="0"/>
              </a:rPr>
              <a:t> and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Caesar,</a:t>
            </a:r>
            <a:r>
              <a:rPr lang="en-US" dirty="0">
                <a:ea typeface="ＭＳ Ｐゴシック" charset="0"/>
                <a:cs typeface="ＭＳ Ｐゴシック" charset="0"/>
              </a:rPr>
              <a:t> then strip out lines containing </a:t>
            </a:r>
            <a:r>
              <a:rPr lang="en-US" b="1" i="1" dirty="0">
                <a:ea typeface="ＭＳ Ｐゴシック" charset="0"/>
                <a:cs typeface="ＭＳ Ｐゴシック" charset="0"/>
              </a:rPr>
              <a:t>Calpurnia</a:t>
            </a:r>
            <a:r>
              <a:rPr lang="en-US" dirty="0">
                <a:ea typeface="ＭＳ Ｐゴシック" charset="0"/>
                <a:cs typeface="ＭＳ Ｐゴシック" charset="0"/>
              </a:rPr>
              <a:t>?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Why is that not the answer?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Slow (for large corpora)</a:t>
            </a:r>
          </a:p>
          <a:p>
            <a:pPr lvl="1">
              <a:buFont typeface="Arial"/>
              <a:buChar char="–"/>
              <a:defRPr/>
            </a:pPr>
            <a:r>
              <a:rPr lang="en-US" i="1" u="sng" dirty="0">
                <a:ea typeface="ＭＳ Ｐゴシック" charset="0"/>
              </a:rPr>
              <a:t>NOT</a:t>
            </a:r>
            <a:r>
              <a:rPr lang="en-US" dirty="0">
                <a:ea typeface="ＭＳ Ｐゴシック" charset="0"/>
              </a:rPr>
              <a:t> </a:t>
            </a:r>
            <a:r>
              <a:rPr lang="en-US" b="1" i="1" dirty="0">
                <a:ea typeface="ＭＳ Ｐゴシック" charset="0"/>
              </a:rPr>
              <a:t>Calpurnia</a:t>
            </a:r>
            <a:r>
              <a:rPr lang="en-US" dirty="0">
                <a:ea typeface="ＭＳ Ｐゴシック" charset="0"/>
              </a:rPr>
              <a:t> is non-trivial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Other operations (e.g., find the word </a:t>
            </a:r>
            <a:r>
              <a:rPr lang="en-US" b="1" i="1" dirty="0">
                <a:ea typeface="ＭＳ Ｐゴシック" charset="0"/>
              </a:rPr>
              <a:t>Romans </a:t>
            </a:r>
            <a:r>
              <a:rPr lang="en-US" dirty="0">
                <a:ea typeface="ＭＳ Ｐゴシック" charset="0"/>
              </a:rPr>
              <a:t>near</a:t>
            </a:r>
            <a:r>
              <a:rPr lang="en-US" b="1" dirty="0">
                <a:ea typeface="ＭＳ Ｐゴシック" charset="0"/>
              </a:rPr>
              <a:t> </a:t>
            </a:r>
            <a:r>
              <a:rPr lang="en-US" b="1" i="1" dirty="0">
                <a:ea typeface="ＭＳ Ｐゴシック" charset="0"/>
              </a:rPr>
              <a:t>countrymen</a:t>
            </a:r>
            <a:r>
              <a:rPr lang="en-US" dirty="0">
                <a:ea typeface="ＭＳ Ｐゴシック" charset="0"/>
              </a:rPr>
              <a:t>) not feasible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Ranked retrieval (best documents to return)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ea typeface="ＭＳ Ｐゴシック" charset="0"/>
              </a:rPr>
              <a:t>Later lectures</a:t>
            </a:r>
          </a:p>
        </p:txBody>
      </p:sp>
      <p:sp>
        <p:nvSpPr>
          <p:cNvPr id="1229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826A30E-26D6-455B-A0C7-E030EEF423B3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14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293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2163693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Term-document incidence matrices</a:t>
            </a:r>
          </a:p>
        </p:txBody>
      </p:sp>
      <p:graphicFrame>
        <p:nvGraphicFramePr>
          <p:cNvPr id="13315" name="Object 1028"/>
          <p:cNvGraphicFramePr>
            <a:graphicFrameLocks noGrp="1" noChangeAspect="1"/>
          </p:cNvGraphicFramePr>
          <p:nvPr>
            <p:ph idx="1"/>
          </p:nvPr>
        </p:nvGraphicFramePr>
        <p:xfrm>
          <a:off x="2286001" y="2525714"/>
          <a:ext cx="7637463" cy="235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Worksheet" r:id="rId3" imgW="10888920" imgH="3355200" progId="Excel.Sheet.8">
                  <p:embed/>
                </p:oleObj>
              </mc:Choice>
              <mc:Fallback>
                <p:oleObj name="Worksheet" r:id="rId3" imgW="10888920" imgH="3355200" progId="Excel.Sheet.8">
                  <p:embed/>
                  <p:pic>
                    <p:nvPicPr>
                      <p:cNvPr id="0" name="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1" y="2525714"/>
                        <a:ext cx="7637463" cy="235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6" name="Text Box 3"/>
          <p:cNvSpPr txBox="1">
            <a:spLocks noChangeArrowheads="1"/>
          </p:cNvSpPr>
          <p:nvPr/>
        </p:nvSpPr>
        <p:spPr bwMode="auto">
          <a:xfrm>
            <a:off x="7162800" y="5568950"/>
            <a:ext cx="2819400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1 if </a:t>
            </a:r>
            <a:r>
              <a:rPr lang="en-US" altLang="en-US" sz="240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play</a:t>
            </a:r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contains </a:t>
            </a:r>
            <a:r>
              <a:rPr lang="en-US" altLang="en-US" sz="2400">
                <a:solidFill>
                  <a:srgbClr val="990033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word</a:t>
            </a:r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, 0 otherwise</a:t>
            </a:r>
          </a:p>
        </p:txBody>
      </p:sp>
      <p:sp>
        <p:nvSpPr>
          <p:cNvPr id="13317" name="Line 5"/>
          <p:cNvSpPr>
            <a:spLocks noChangeShapeType="1"/>
          </p:cNvSpPr>
          <p:nvPr/>
        </p:nvSpPr>
        <p:spPr bwMode="auto">
          <a:xfrm flipH="1" flipV="1">
            <a:off x="5791200" y="3733800"/>
            <a:ext cx="1371600" cy="1828800"/>
          </a:xfrm>
          <a:prstGeom prst="line">
            <a:avLst/>
          </a:prstGeom>
          <a:noFill/>
          <a:ln w="19050">
            <a:solidFill>
              <a:srgbClr val="00008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8"/>
          <p:cNvSpPr txBox="1">
            <a:spLocks noChangeArrowheads="1"/>
          </p:cNvSpPr>
          <p:nvPr/>
        </p:nvSpPr>
        <p:spPr bwMode="auto">
          <a:xfrm>
            <a:off x="2286001" y="5715001"/>
            <a:ext cx="3978275" cy="70167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000" b="1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Brutus</a:t>
            </a:r>
            <a:r>
              <a:rPr lang="en-US" altLang="en-US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000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AND</a:t>
            </a:r>
            <a:r>
              <a:rPr lang="en-US" altLang="en-US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000" b="1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Caesar</a:t>
            </a:r>
            <a:r>
              <a:rPr lang="en-US" altLang="en-US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000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BUT</a:t>
            </a:r>
            <a:r>
              <a:rPr lang="en-US" altLang="en-US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000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NOT</a:t>
            </a:r>
            <a:r>
              <a:rPr lang="en-US" altLang="en-US" sz="2000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en-US" sz="2000" b="1" i="1"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Calpurnia</a:t>
            </a:r>
          </a:p>
        </p:txBody>
      </p:sp>
      <p:sp>
        <p:nvSpPr>
          <p:cNvPr id="13319" name="TextBox 6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3204199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Incidence vectors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So we have a 0/1 vector for each term.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To answer query: take the vectors for </a:t>
            </a:r>
            <a:r>
              <a:rPr lang="en-US" altLang="en-US" b="1" i="1">
                <a:ea typeface="ＭＳ Ｐゴシック" panose="020B0600070205080204" pitchFamily="34" charset="-128"/>
              </a:rPr>
              <a:t>Brutus, Caesar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 b="1" i="1">
                <a:ea typeface="ＭＳ Ｐゴシック" panose="020B0600070205080204" pitchFamily="34" charset="-128"/>
              </a:rPr>
              <a:t>Calpurnia</a:t>
            </a:r>
            <a:r>
              <a:rPr lang="en-US" altLang="en-US">
                <a:ea typeface="ＭＳ Ｐゴシック" panose="020B0600070205080204" pitchFamily="34" charset="-128"/>
              </a:rPr>
              <a:t> (complemented) </a:t>
            </a:r>
            <a:r>
              <a:rPr lang="en-US" altLang="en-US">
                <a:ea typeface="ＭＳ Ｐゴシック" panose="020B0600070205080204" pitchFamily="34" charset="-128"/>
                <a:sym typeface="Wingdings" panose="05000000000000000000" pitchFamily="2" charset="2"/>
              </a:rPr>
              <a:t>  b</a:t>
            </a:r>
            <a:r>
              <a:rPr lang="en-US" altLang="en-US">
                <a:ea typeface="ＭＳ Ｐゴシック" panose="020B0600070205080204" pitchFamily="34" charset="-128"/>
              </a:rPr>
              <a:t>itwise </a:t>
            </a:r>
            <a:r>
              <a:rPr lang="en-US" altLang="en-US" i="1">
                <a:ea typeface="ＭＳ Ｐゴシック" panose="020B0600070205080204" pitchFamily="34" charset="-128"/>
              </a:rPr>
              <a:t>AND</a:t>
            </a:r>
            <a:r>
              <a:rPr lang="en-US" altLang="en-US">
                <a:ea typeface="ＭＳ Ｐゴシック" panose="020B0600070205080204" pitchFamily="34" charset="-128"/>
              </a:rPr>
              <a:t>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110100 </a:t>
            </a:r>
            <a:r>
              <a:rPr lang="en-US" altLang="en-US" i="1">
                <a:ea typeface="ＭＳ Ｐゴシック" panose="020B0600070205080204" pitchFamily="34" charset="-128"/>
              </a:rPr>
              <a:t>AND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110111 </a:t>
            </a:r>
            <a:r>
              <a:rPr lang="en-US" altLang="en-US" i="1">
                <a:ea typeface="ＭＳ Ｐゴシック" panose="020B0600070205080204" pitchFamily="34" charset="-128"/>
              </a:rPr>
              <a:t>AND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101111 = </a:t>
            </a:r>
          </a:p>
          <a:p>
            <a:pPr lvl="1"/>
            <a:r>
              <a:rPr lang="en-US" altLang="en-US" b="1">
                <a:ea typeface="ＭＳ Ｐゴシック" panose="020B0600070205080204" pitchFamily="34" charset="-128"/>
              </a:rPr>
              <a:t>100100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B25CDAF-993D-48A7-B53E-C9B6FEA44467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16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  <p:graphicFrame>
        <p:nvGraphicFramePr>
          <p:cNvPr id="14342" name="Object 10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8852049"/>
              </p:ext>
            </p:extLst>
          </p:nvPr>
        </p:nvGraphicFramePr>
        <p:xfrm>
          <a:off x="3399451" y="3297382"/>
          <a:ext cx="8792549" cy="2715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8" name="Worksheet" r:id="rId3" imgW="10888920" imgH="3355200" progId="Excel.Sheet.8">
                  <p:embed/>
                </p:oleObj>
              </mc:Choice>
              <mc:Fallback>
                <p:oleObj name="Worksheet" r:id="rId3" imgW="10888920" imgH="335520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99451" y="3297382"/>
                        <a:ext cx="8792549" cy="2715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64856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Answers to query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8077200" cy="4876800"/>
          </a:xfrm>
        </p:spPr>
        <p:txBody>
          <a:bodyPr/>
          <a:lstStyle/>
          <a:p>
            <a:r>
              <a:rPr lang="en-US" altLang="en-US" sz="3400">
                <a:latin typeface="Arial" panose="020B0604020202020204" pitchFamily="34" charset="0"/>
                <a:ea typeface="ＭＳ Ｐゴシック" panose="020B0600070205080204" pitchFamily="34" charset="-128"/>
              </a:rPr>
              <a:t>Antony and Cleopatra,</a:t>
            </a:r>
            <a:r>
              <a:rPr lang="en-US" altLang="en-US" sz="3400">
                <a:ea typeface="ＭＳ Ｐゴシック" panose="020B0600070205080204" pitchFamily="34" charset="-128"/>
              </a:rPr>
              <a:t> </a:t>
            </a:r>
            <a:r>
              <a:rPr lang="en-US" altLang="en-US" sz="3400">
                <a:latin typeface="Arial" panose="020B0604020202020204" pitchFamily="34" charset="0"/>
                <a:ea typeface="ＭＳ Ｐゴシック" panose="020B0600070205080204" pitchFamily="34" charset="-128"/>
              </a:rPr>
              <a:t>Act III, Scene ii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i="1">
                <a:latin typeface="Arial" panose="020B0604020202020204" pitchFamily="34" charset="0"/>
                <a:ea typeface="ＭＳ Ｐゴシック" panose="020B0600070205080204" pitchFamily="34" charset="-128"/>
              </a:rPr>
              <a:t>Agrippa</a:t>
            </a: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[Aside to DOMITIUS ENOBARBUS]: Why, Enobarbus,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When Antony found Julius </a:t>
            </a:r>
            <a:r>
              <a:rPr lang="en-US" altLang="en-US" sz="18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Caesar</a:t>
            </a: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dead,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He cried almost to roaring; and he wept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    When at Philippi he found </a:t>
            </a:r>
            <a:r>
              <a:rPr lang="en-US" altLang="en-US" sz="18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Brutus</a:t>
            </a: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slain.</a:t>
            </a:r>
          </a:p>
          <a:p>
            <a:endParaRPr lang="en-US" altLang="en-US" sz="18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r>
              <a:rPr lang="en-US" altLang="en-US" sz="3400">
                <a:latin typeface="Arial" panose="020B0604020202020204" pitchFamily="34" charset="0"/>
                <a:ea typeface="ＭＳ Ｐゴシック" panose="020B0600070205080204" pitchFamily="34" charset="-128"/>
              </a:rPr>
              <a:t>Hamlet, Act III, Scene ii</a:t>
            </a:r>
            <a:endParaRPr lang="en-US" altLang="en-US" sz="1700">
              <a:latin typeface="Arial" panose="020B0604020202020204" pitchFamily="34" charset="0"/>
              <a:ea typeface="ＭＳ Ｐゴシック" panose="020B0600070205080204" pitchFamily="34" charset="-128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 i="1">
                <a:latin typeface="Arial" panose="020B0604020202020204" pitchFamily="34" charset="0"/>
                <a:ea typeface="ＭＳ Ｐゴシック" panose="020B0600070205080204" pitchFamily="34" charset="-128"/>
              </a:rPr>
              <a:t>Lord Polonius:</a:t>
            </a: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I did enact Julius </a:t>
            </a:r>
            <a:r>
              <a:rPr lang="en-US" altLang="en-US" sz="18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Caesar</a:t>
            </a: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I was killed i’ the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                      Capitol; </a:t>
            </a:r>
            <a:r>
              <a:rPr lang="en-US" altLang="en-US" sz="1800" b="1" i="1">
                <a:latin typeface="Arial" panose="020B0604020202020204" pitchFamily="34" charset="0"/>
                <a:ea typeface="ＭＳ Ｐゴシック" panose="020B0600070205080204" pitchFamily="34" charset="-128"/>
              </a:rPr>
              <a:t>Brutus</a:t>
            </a:r>
            <a:r>
              <a:rPr lang="en-US" altLang="en-US" sz="1800">
                <a:latin typeface="Arial" panose="020B0604020202020204" pitchFamily="34" charset="0"/>
                <a:ea typeface="ＭＳ Ｐゴシック" panose="020B0600070205080204" pitchFamily="34" charset="-128"/>
              </a:rPr>
              <a:t> killed me.</a:t>
            </a:r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807C075-A6FC-4F2E-9E76-5C0606FA1878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17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5365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  <p:pic>
        <p:nvPicPr>
          <p:cNvPr id="1536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3962400"/>
            <a:ext cx="19748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27953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Bigger collections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Consider </a:t>
            </a:r>
            <a:r>
              <a:rPr lang="en-US" altLang="en-US" i="1">
                <a:ea typeface="ＭＳ Ｐゴシック" panose="020B0600070205080204" pitchFamily="34" charset="-128"/>
              </a:rPr>
              <a:t>N </a:t>
            </a:r>
            <a:r>
              <a:rPr lang="en-US" altLang="en-US">
                <a:ea typeface="ＭＳ Ｐゴシック" panose="020B0600070205080204" pitchFamily="34" charset="-128"/>
              </a:rPr>
              <a:t>= 1 million documents, each with about 1000 words.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Avg 6 bytes/word including spaces/punctuation 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6GB of data in the documents.</a:t>
            </a:r>
          </a:p>
          <a:p>
            <a:r>
              <a:rPr lang="en-US" altLang="en-US">
                <a:ea typeface="ＭＳ Ｐゴシック" panose="020B0600070205080204" pitchFamily="34" charset="-128"/>
              </a:rPr>
              <a:t>Say there are </a:t>
            </a:r>
            <a:r>
              <a:rPr lang="en-US" altLang="en-US" i="1">
                <a:ea typeface="ＭＳ Ｐゴシック" panose="020B0600070205080204" pitchFamily="34" charset="-128"/>
              </a:rPr>
              <a:t>M </a:t>
            </a:r>
            <a:r>
              <a:rPr lang="en-US" altLang="en-US">
                <a:ea typeface="ＭＳ Ｐゴシック" panose="020B0600070205080204" pitchFamily="34" charset="-128"/>
              </a:rPr>
              <a:t>= 500K </a:t>
            </a:r>
            <a:r>
              <a:rPr lang="en-US" altLang="en-US" i="1">
                <a:solidFill>
                  <a:srgbClr val="139CB7"/>
                </a:solidFill>
                <a:ea typeface="ＭＳ Ｐゴシック" panose="020B0600070205080204" pitchFamily="34" charset="-128"/>
              </a:rPr>
              <a:t>distinct</a:t>
            </a:r>
            <a:r>
              <a:rPr lang="en-US" altLang="en-US">
                <a:ea typeface="ＭＳ Ｐゴシック" panose="020B0600070205080204" pitchFamily="34" charset="-128"/>
              </a:rPr>
              <a:t> terms among these.</a:t>
            </a:r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5948203F-2B92-434C-A9FE-10554974D627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18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389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997640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Can’t build the matrix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500K x 1M matrix has half-a-trillion 0’s and 1’s.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But it has no more than one billion 1’s.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matrix is extremely sparse.</a:t>
            </a:r>
          </a:p>
          <a:p>
            <a:pPr lvl="1"/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What’s a better representation?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We only record the 1 positions.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29FFFA0-0900-46A5-BE25-B5FA92E9DABC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19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2773" name="AutoShape 4"/>
          <p:cNvSpPr>
            <a:spLocks noChangeArrowheads="1"/>
          </p:cNvSpPr>
          <p:nvPr/>
        </p:nvSpPr>
        <p:spPr bwMode="auto">
          <a:xfrm>
            <a:off x="8915400" y="2667000"/>
            <a:ext cx="1447800" cy="609600"/>
          </a:xfrm>
          <a:prstGeom prst="leftArrowCallout">
            <a:avLst>
              <a:gd name="adj1" fmla="val 25000"/>
              <a:gd name="adj2" fmla="val 25000"/>
              <a:gd name="adj3" fmla="val 39583"/>
              <a:gd name="adj4" fmla="val 66667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Why?</a:t>
            </a:r>
          </a:p>
        </p:txBody>
      </p:sp>
      <p:sp>
        <p:nvSpPr>
          <p:cNvPr id="17414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1.1</a:t>
            </a:r>
          </a:p>
        </p:txBody>
      </p:sp>
    </p:spTree>
    <p:extLst>
      <p:ext uri="{BB962C8B-B14F-4D97-AF65-F5344CB8AC3E}">
        <p14:creationId xmlns:p14="http://schemas.microsoft.com/office/powerpoint/2010/main" val="152531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  <p:bldP spid="3277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Inverted Index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95406" y="1928802"/>
            <a:ext cx="8429684" cy="5715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en-US" dirty="0">
                <a:latin typeface="+mj-lt"/>
              </a:rPr>
              <a:t>For each term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, we store a list of all documents that contain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pic>
        <p:nvPicPr>
          <p:cNvPr id="9" name="Picture 8" descr="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84" y="2428869"/>
            <a:ext cx="8402196" cy="33299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66910" y="5786456"/>
            <a:ext cx="78581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dictionary							  postings </a:t>
            </a:r>
            <a:endParaRPr lang="de-DE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27817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Inverted Index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95406" y="1928802"/>
            <a:ext cx="8429684" cy="5715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en-US" dirty="0">
                <a:latin typeface="+mj-lt"/>
              </a:rPr>
              <a:t>For each term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, we store a list of all documents that contain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pic>
        <p:nvPicPr>
          <p:cNvPr id="9" name="Picture 8" descr="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84" y="2428869"/>
            <a:ext cx="8402196" cy="33299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66910" y="5786456"/>
            <a:ext cx="78581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>
                <a:solidFill>
                  <a:srgbClr val="FF0000"/>
                </a:solidFill>
                <a:latin typeface="+mj-lt"/>
              </a:rPr>
              <a:t>dictionary</a:t>
            </a:r>
            <a:r>
              <a:rPr lang="en-US" sz="2800" dirty="0">
                <a:latin typeface="+mj-lt"/>
              </a:rPr>
              <a:t>							  postings </a:t>
            </a:r>
            <a:endParaRPr lang="de-DE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4150288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Inverted Index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95406" y="1928802"/>
            <a:ext cx="8429684" cy="5715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en-US" dirty="0">
                <a:latin typeface="+mj-lt"/>
              </a:rPr>
              <a:t>For each term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, we store a list of all documents that contain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pic>
        <p:nvPicPr>
          <p:cNvPr id="9" name="Picture 8" descr="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84" y="2428869"/>
            <a:ext cx="8402196" cy="33299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66910" y="5786456"/>
            <a:ext cx="7858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dictionary			</a:t>
            </a:r>
            <a:r>
              <a:rPr lang="en-US" sz="2800">
                <a:latin typeface="+mj-lt"/>
              </a:rPr>
              <a:t>	</a:t>
            </a:r>
            <a:r>
              <a:rPr lang="en-US" sz="2800">
                <a:solidFill>
                  <a:srgbClr val="FF0000"/>
                </a:solidFill>
                <a:latin typeface="+mj-lt"/>
              </a:rPr>
              <a:t>postings </a:t>
            </a:r>
            <a:endParaRPr lang="de-DE" sz="2800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967669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1738313" y="104776"/>
            <a:ext cx="8223250" cy="1306513"/>
          </a:xfrm>
        </p:spPr>
        <p:txBody>
          <a:bodyPr/>
          <a:lstStyle/>
          <a:p>
            <a:r>
              <a:rPr lang="en-US" dirty="0"/>
              <a:t>Inverted index construction</a:t>
            </a:r>
            <a:endParaRPr lang="de-DE" dirty="0"/>
          </a:p>
        </p:txBody>
      </p:sp>
      <p:sp>
        <p:nvSpPr>
          <p:cNvPr id="80899" name="Text Box 3"/>
          <p:cNvSpPr txBox="1">
            <a:spLocks noChangeArrowheads="1"/>
          </p:cNvSpPr>
          <p:nvPr/>
        </p:nvSpPr>
        <p:spPr bwMode="auto">
          <a:xfrm>
            <a:off x="1662114" y="1500174"/>
            <a:ext cx="8505825" cy="47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75000"/>
              <a:buFont typeface="Calibri" charset="0"/>
              <a:buChar char="❶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dirty="0">
                <a:latin typeface="+mj-lt"/>
              </a:rPr>
              <a:t>Collect the documents to be indexed: 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7500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dirty="0">
              <a:latin typeface="+mj-lt"/>
            </a:endParaRP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75000"/>
              <a:buFont typeface="Calibri" charset="0"/>
              <a:buChar char="❷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r>
              <a:rPr lang="en-US" dirty="0">
                <a:latin typeface="+mj-lt"/>
              </a:rPr>
              <a:t>Tokenize the text, turning each document into a list of tokens:</a:t>
            </a: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7500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dirty="0">
              <a:latin typeface="+mj-lt"/>
            </a:endParaRPr>
          </a:p>
          <a:p>
            <a:pPr>
              <a:buClr>
                <a:srgbClr val="336699"/>
              </a:buClr>
              <a:buSzPct val="75000"/>
              <a:buFont typeface="Calibri" pitchFamily="34" charset="0"/>
              <a:buChar char="❸"/>
            </a:pPr>
            <a:r>
              <a:rPr lang="en-US" dirty="0">
                <a:latin typeface="+mj-lt"/>
              </a:rPr>
              <a:t> 	 Do linguistic preprocessing, producing a list of normalized tokens, which are the indexing terms:</a:t>
            </a:r>
          </a:p>
          <a:p>
            <a:pPr>
              <a:buClr>
                <a:srgbClr val="336699"/>
              </a:buClr>
              <a:buSzPct val="75000"/>
            </a:pPr>
            <a:endParaRPr lang="en-US" dirty="0">
              <a:latin typeface="+mj-lt"/>
            </a:endParaRPr>
          </a:p>
          <a:p>
            <a:pPr>
              <a:buClr>
                <a:srgbClr val="336699"/>
              </a:buClr>
              <a:buSzPct val="75000"/>
            </a:pPr>
            <a:endParaRPr lang="en-US" dirty="0">
              <a:latin typeface="+mj-lt"/>
            </a:endParaRPr>
          </a:p>
          <a:p>
            <a:pPr>
              <a:buClr>
                <a:srgbClr val="336699"/>
              </a:buClr>
              <a:buSzPct val="75000"/>
              <a:buFont typeface="Calibri" pitchFamily="34" charset="0"/>
              <a:buChar char="❹"/>
            </a:pPr>
            <a:r>
              <a:rPr lang="en-US" dirty="0">
                <a:latin typeface="+mj-lt"/>
              </a:rPr>
              <a:t> 	 Index the documents that each term occurs in by creating an</a:t>
            </a:r>
          </a:p>
          <a:p>
            <a:pPr>
              <a:buClr>
                <a:srgbClr val="336699"/>
              </a:buClr>
              <a:buSzPct val="75000"/>
            </a:pPr>
            <a:r>
              <a:rPr lang="en-US" dirty="0">
                <a:latin typeface="+mj-lt"/>
              </a:rPr>
              <a:t>inverted index, consisting of a dictionary and postings.</a:t>
            </a:r>
          </a:p>
          <a:p>
            <a:pPr>
              <a:buClr>
                <a:srgbClr val="336699"/>
              </a:buClr>
              <a:buSzPct val="75000"/>
            </a:pPr>
            <a:endParaRPr lang="en-US" dirty="0">
              <a:latin typeface="+mj-lt"/>
            </a:endParaRPr>
          </a:p>
          <a:p>
            <a:pPr marL="514350" indent="-514350">
              <a:lnSpc>
                <a:spcPct val="150000"/>
              </a:lnSpc>
              <a:spcBef>
                <a:spcPts val="700"/>
              </a:spcBef>
              <a:buClr>
                <a:srgbClr val="336699"/>
              </a:buClr>
              <a:buSzPct val="80000"/>
              <a:tabLst>
                <a:tab pos="336550" algn="l"/>
                <a:tab pos="784225" algn="l"/>
                <a:tab pos="1233488" algn="l"/>
                <a:tab pos="1682750" algn="l"/>
                <a:tab pos="2132013" algn="l"/>
                <a:tab pos="2581275" algn="l"/>
                <a:tab pos="3030538" algn="l"/>
                <a:tab pos="3479800" algn="l"/>
                <a:tab pos="3929063" algn="l"/>
                <a:tab pos="4378325" algn="l"/>
                <a:tab pos="4827588" algn="l"/>
                <a:tab pos="5276850" algn="l"/>
                <a:tab pos="5726113" algn="l"/>
                <a:tab pos="6175375" algn="l"/>
                <a:tab pos="6624638" algn="l"/>
                <a:tab pos="7073900" algn="l"/>
                <a:tab pos="7523163" algn="l"/>
                <a:tab pos="7972425" algn="l"/>
                <a:tab pos="8421688" algn="l"/>
                <a:tab pos="8870950" algn="l"/>
                <a:tab pos="9320213" algn="l"/>
              </a:tabLst>
            </a:pPr>
            <a:endParaRPr lang="en-US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6231DFBC-2454-451B-9C42-04D7F724382E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pic>
        <p:nvPicPr>
          <p:cNvPr id="5" name="Picture 4" descr="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48" y="2071679"/>
            <a:ext cx="7416575" cy="571505"/>
          </a:xfrm>
          <a:prstGeom prst="rect">
            <a:avLst/>
          </a:prstGeom>
        </p:spPr>
      </p:pic>
      <p:pic>
        <p:nvPicPr>
          <p:cNvPr id="6" name="Picture 5" descr="12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974879"/>
            <a:ext cx="5000660" cy="549944"/>
          </a:xfrm>
          <a:prstGeom prst="rect">
            <a:avLst/>
          </a:prstGeom>
        </p:spPr>
      </p:pic>
      <p:pic>
        <p:nvPicPr>
          <p:cNvPr id="7" name="Picture 6" descr="12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8713" y="4003755"/>
            <a:ext cx="2000264" cy="588312"/>
          </a:xfrm>
          <a:prstGeom prst="rect">
            <a:avLst/>
          </a:prstGeom>
        </p:spPr>
      </p:pic>
      <p:pic>
        <p:nvPicPr>
          <p:cNvPr id="8" name="Picture 7" descr="12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977" y="3994819"/>
            <a:ext cx="2714644" cy="60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821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Initial stages of text processing</a:t>
            </a:r>
          </a:p>
        </p:txBody>
      </p:sp>
      <p:sp>
        <p:nvSpPr>
          <p:cNvPr id="37891" name="Rectangle 2051"/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>
              <a:buFont typeface="Arial"/>
              <a:buChar char="•"/>
              <a:defRPr/>
            </a:pPr>
            <a:r>
              <a:rPr lang="en-US" dirty="0">
                <a:sym typeface="Symbol" charset="2"/>
              </a:rPr>
              <a:t>Tokenization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sym typeface="Symbol" charset="2"/>
              </a:rPr>
              <a:t>Cut character sequence into word tokens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sym typeface="Symbol" charset="2"/>
              </a:rPr>
              <a:t>Deal with </a:t>
            </a:r>
            <a:r>
              <a:rPr lang="en-US" b="1" i="1" dirty="0">
                <a:sym typeface="Symbol" charset="2"/>
              </a:rPr>
              <a:t>“John’s”</a:t>
            </a:r>
            <a:r>
              <a:rPr lang="en-US" dirty="0">
                <a:sym typeface="Symbol" charset="2"/>
              </a:rPr>
              <a:t>, </a:t>
            </a:r>
            <a:r>
              <a:rPr lang="en-US" b="1" i="1" dirty="0">
                <a:sym typeface="Symbol" charset="2"/>
              </a:rPr>
              <a:t>a state-of-the-art solution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ym typeface="Symbol" charset="2"/>
              </a:rPr>
              <a:t>Normalization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sym typeface="Symbol" charset="2"/>
              </a:rPr>
              <a:t>Map text and query term to same form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sym typeface="Symbol" charset="2"/>
              </a:rPr>
              <a:t>You want </a:t>
            </a:r>
            <a:r>
              <a:rPr lang="en-US" b="1" i="1" dirty="0">
                <a:sym typeface="Symbol" charset="2"/>
              </a:rPr>
              <a:t>U.S.A.</a:t>
            </a:r>
            <a:r>
              <a:rPr lang="en-US" dirty="0">
                <a:sym typeface="Symbol" charset="2"/>
              </a:rPr>
              <a:t> and </a:t>
            </a:r>
            <a:r>
              <a:rPr lang="en-US" b="1" i="1" dirty="0">
                <a:sym typeface="Symbol" charset="2"/>
              </a:rPr>
              <a:t>USA </a:t>
            </a:r>
            <a:r>
              <a:rPr lang="en-US" dirty="0">
                <a:sym typeface="Symbol" charset="2"/>
              </a:rPr>
              <a:t>to match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ym typeface="Symbol" charset="2"/>
              </a:rPr>
              <a:t>Stemming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sym typeface="Symbol" charset="2"/>
              </a:rPr>
              <a:t>We may wish different forms of a root to match</a:t>
            </a:r>
          </a:p>
          <a:p>
            <a:pPr lvl="2">
              <a:buFont typeface="Arial"/>
              <a:buChar char="•"/>
              <a:defRPr/>
            </a:pPr>
            <a:r>
              <a:rPr lang="en-US" b="1" i="1" dirty="0">
                <a:sym typeface="Symbol" charset="2"/>
              </a:rPr>
              <a:t>authorize</a:t>
            </a:r>
            <a:r>
              <a:rPr lang="en-US" dirty="0">
                <a:sym typeface="Symbol" charset="2"/>
              </a:rPr>
              <a:t>,</a:t>
            </a:r>
            <a:r>
              <a:rPr lang="en-US" b="1" i="1" dirty="0">
                <a:sym typeface="Symbol" charset="2"/>
              </a:rPr>
              <a:t> authorization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ym typeface="Symbol" charset="2"/>
              </a:rPr>
              <a:t>Stop words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sym typeface="Symbol" charset="2"/>
              </a:rPr>
              <a:t>We may omit very common words (or not)</a:t>
            </a:r>
          </a:p>
          <a:p>
            <a:pPr lvl="2">
              <a:buFont typeface="Arial"/>
              <a:buChar char="•"/>
              <a:defRPr/>
            </a:pPr>
            <a:r>
              <a:rPr lang="en-US" b="1" i="1" dirty="0">
                <a:sym typeface="Symbol" charset="2"/>
              </a:rPr>
              <a:t>the, a, to, of</a:t>
            </a:r>
          </a:p>
        </p:txBody>
      </p:sp>
    </p:spTree>
    <p:extLst>
      <p:ext uri="{BB962C8B-B14F-4D97-AF65-F5344CB8AC3E}">
        <p14:creationId xmlns:p14="http://schemas.microsoft.com/office/powerpoint/2010/main" val="333256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25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Tokenizing and preprocessing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81158" y="2286016"/>
            <a:ext cx="8429684" cy="3571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sz="22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pic>
        <p:nvPicPr>
          <p:cNvPr id="8" name="Picture 7" descr="1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72" y="1643050"/>
            <a:ext cx="7892374" cy="16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038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Indexer steps: Token sequence</a:t>
            </a:r>
          </a:p>
        </p:txBody>
      </p:sp>
      <p:sp>
        <p:nvSpPr>
          <p:cNvPr id="23555" name="Rectangle 2"/>
          <p:cNvSpPr>
            <a:spLocks noGrp="1" noChangeArrowheads="1"/>
          </p:cNvSpPr>
          <p:nvPr>
            <p:ph idx="1"/>
          </p:nvPr>
        </p:nvSpPr>
        <p:spPr>
          <a:xfrm>
            <a:off x="1981200" y="1752600"/>
            <a:ext cx="6781800" cy="914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>
                <a:ea typeface="ＭＳ Ｐゴシック" panose="020B0600070205080204" pitchFamily="34" charset="-128"/>
              </a:rPr>
              <a:t>Sequence of (Modified token, Document ID) pairs.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1955393" y="4505236"/>
            <a:ext cx="2185214" cy="1200329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I did enact Julius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Caesar I was killed 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i’ the Capitol; 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Brutus killed me.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2819401" y="3581401"/>
            <a:ext cx="989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Doc 1</a:t>
            </a:r>
          </a:p>
        </p:txBody>
      </p:sp>
      <p:sp>
        <p:nvSpPr>
          <p:cNvPr id="23558" name="Rectangle 5"/>
          <p:cNvSpPr>
            <a:spLocks noChangeArrowheads="1"/>
          </p:cNvSpPr>
          <p:nvPr/>
        </p:nvSpPr>
        <p:spPr bwMode="auto">
          <a:xfrm>
            <a:off x="5060035" y="4581436"/>
            <a:ext cx="2454518" cy="1200329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latin typeface="Arial" panose="020B0604020202020204" pitchFamily="34" charset="0"/>
              </a:rPr>
              <a:t>So let it be with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Caesar. The noble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Brutus hath told you</a:t>
            </a:r>
          </a:p>
          <a:p>
            <a:pPr algn="ctr"/>
            <a:r>
              <a:rPr lang="en-US" altLang="en-US">
                <a:latin typeface="Arial" panose="020B0604020202020204" pitchFamily="34" charset="0"/>
              </a:rPr>
              <a:t>Caesar was ambitious</a:t>
            </a: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5410201" y="3581401"/>
            <a:ext cx="98937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latin typeface="Arial" panose="020B0604020202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Doc 2</a:t>
            </a:r>
          </a:p>
        </p:txBody>
      </p:sp>
      <p:graphicFrame>
        <p:nvGraphicFramePr>
          <p:cNvPr id="23560" name="Object 4"/>
          <p:cNvGraphicFramePr>
            <a:graphicFrameLocks noChangeAspect="1"/>
          </p:cNvGraphicFramePr>
          <p:nvPr/>
        </p:nvGraphicFramePr>
        <p:xfrm>
          <a:off x="8851901" y="1782764"/>
          <a:ext cx="1319213" cy="4929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2" name="Worksheet" r:id="rId3" imgW="2717460" imgH="10158730" progId="Excel.Sheet.8">
                  <p:embed/>
                </p:oleObj>
              </mc:Choice>
              <mc:Fallback>
                <p:oleObj name="Worksheet" r:id="rId3" imgW="2717460" imgH="1015873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1901" y="1782764"/>
                        <a:ext cx="1319213" cy="4929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1" name="Line 8"/>
          <p:cNvSpPr>
            <a:spLocks noChangeShapeType="1"/>
          </p:cNvSpPr>
          <p:nvPr/>
        </p:nvSpPr>
        <p:spPr bwMode="auto">
          <a:xfrm>
            <a:off x="7391400" y="3886200"/>
            <a:ext cx="13716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2" name="TextBox 9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1.2</a:t>
            </a:r>
          </a:p>
        </p:txBody>
      </p:sp>
    </p:spTree>
    <p:extLst>
      <p:ext uri="{BB962C8B-B14F-4D97-AF65-F5344CB8AC3E}">
        <p14:creationId xmlns:p14="http://schemas.microsoft.com/office/powerpoint/2010/main" val="3219139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Indexer steps: Sort</a:t>
            </a:r>
          </a:p>
        </p:txBody>
      </p:sp>
      <p:sp>
        <p:nvSpPr>
          <p:cNvPr id="38917" name="Rectangle 2"/>
          <p:cNvSpPr>
            <a:spLocks noGrp="1" noChangeArrowheads="1"/>
          </p:cNvSpPr>
          <p:nvPr>
            <p:ph idx="1"/>
          </p:nvPr>
        </p:nvSpPr>
        <p:spPr>
          <a:xfrm>
            <a:off x="1981200" y="1676400"/>
            <a:ext cx="4572000" cy="609600"/>
          </a:xfrm>
        </p:spPr>
        <p:txBody>
          <a:bodyPr rtlCol="0">
            <a:normAutofit fontScale="77500" lnSpcReduction="20000"/>
          </a:bodyPr>
          <a:lstStyle/>
          <a:p>
            <a:pPr>
              <a:buFont typeface="Arial"/>
              <a:buChar char="•"/>
              <a:defRPr/>
            </a:pPr>
            <a:r>
              <a:rPr lang="en-US" sz="3400">
                <a:ea typeface="ＭＳ Ｐゴシック" charset="0"/>
                <a:cs typeface="ＭＳ Ｐゴシック" charset="0"/>
              </a:rPr>
              <a:t>Sort by terms</a:t>
            </a:r>
          </a:p>
          <a:p>
            <a:pPr lvl="1">
              <a:buFont typeface="Arial"/>
              <a:buChar char="–"/>
              <a:defRPr/>
            </a:pPr>
            <a:r>
              <a:rPr lang="en-US" sz="1800">
                <a:ea typeface="ＭＳ Ｐゴシック" charset="0"/>
                <a:cs typeface="ＭＳ Ｐゴシック" charset="0"/>
              </a:rPr>
              <a:t>And then docID </a:t>
            </a:r>
          </a:p>
        </p:txBody>
      </p:sp>
      <p:graphicFrame>
        <p:nvGraphicFramePr>
          <p:cNvPr id="24580" name="Object 2"/>
          <p:cNvGraphicFramePr>
            <a:graphicFrameLocks noChangeAspect="1"/>
          </p:cNvGraphicFramePr>
          <p:nvPr/>
        </p:nvGraphicFramePr>
        <p:xfrm>
          <a:off x="9086851" y="1782764"/>
          <a:ext cx="1217613" cy="492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6" name="Worksheet" r:id="rId3" imgW="2717460" imgH="10844444" progId="Excel.Sheet.8">
                  <p:embed/>
                </p:oleObj>
              </mc:Choice>
              <mc:Fallback>
                <p:oleObj name="Worksheet" r:id="rId3" imgW="2717460" imgH="1084444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6851" y="1782764"/>
                        <a:ext cx="1217613" cy="4922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1" name="Line 4"/>
          <p:cNvSpPr>
            <a:spLocks noChangeShapeType="1"/>
          </p:cNvSpPr>
          <p:nvPr/>
        </p:nvSpPr>
        <p:spPr bwMode="auto">
          <a:xfrm>
            <a:off x="8686800" y="3886200"/>
            <a:ext cx="3810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4582" name="Object 3"/>
          <p:cNvGraphicFramePr>
            <a:graphicFrameLocks noChangeAspect="1"/>
          </p:cNvGraphicFramePr>
          <p:nvPr/>
        </p:nvGraphicFramePr>
        <p:xfrm>
          <a:off x="7404100" y="1733551"/>
          <a:ext cx="1352550" cy="504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07" name="Worksheet" r:id="rId5" imgW="2717460" imgH="10082540" progId="Excel.Sheet.8">
                  <p:embed/>
                </p:oleObj>
              </mc:Choice>
              <mc:Fallback>
                <p:oleObj name="Worksheet" r:id="rId5" imgW="2717460" imgH="10082540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4100" y="1733551"/>
                        <a:ext cx="1352550" cy="5045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2438401" y="3124200"/>
            <a:ext cx="2932113" cy="781050"/>
          </a:xfrm>
          <a:prstGeom prst="upArrowCallout">
            <a:avLst>
              <a:gd name="adj1" fmla="val 105218"/>
              <a:gd name="adj2" fmla="val 105235"/>
              <a:gd name="adj3" fmla="val 16667"/>
              <a:gd name="adj4" fmla="val 66667"/>
            </a:avLst>
          </a:prstGeom>
          <a:solidFill>
            <a:srgbClr val="83ADC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800" b="1"/>
              <a:t>Core indexing step</a:t>
            </a:r>
          </a:p>
        </p:txBody>
      </p:sp>
      <p:sp>
        <p:nvSpPr>
          <p:cNvPr id="24584" name="TextBox 7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1.2</a:t>
            </a:r>
          </a:p>
        </p:txBody>
      </p:sp>
    </p:spTree>
    <p:extLst>
      <p:ext uri="{BB962C8B-B14F-4D97-AF65-F5344CB8AC3E}">
        <p14:creationId xmlns:p14="http://schemas.microsoft.com/office/powerpoint/2010/main" val="213061234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229600" cy="114300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Indexer steps: Dictionary &amp; Postings</a:t>
            </a:r>
          </a:p>
        </p:txBody>
      </p:sp>
      <p:sp>
        <p:nvSpPr>
          <p:cNvPr id="39940" name="Rectangle 2"/>
          <p:cNvSpPr>
            <a:spLocks noGrp="1" noChangeArrowheads="1"/>
          </p:cNvSpPr>
          <p:nvPr>
            <p:ph idx="1"/>
          </p:nvPr>
        </p:nvSpPr>
        <p:spPr>
          <a:xfrm>
            <a:off x="1752600" y="1676400"/>
            <a:ext cx="3429000" cy="2590800"/>
          </a:xfrm>
        </p:spPr>
        <p:txBody>
          <a:bodyPr rtlCol="0">
            <a:normAutofit fontScale="92500" lnSpcReduction="10000"/>
          </a:bodyPr>
          <a:lstStyle/>
          <a:p>
            <a:pPr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Multiple term entries in a single document are merged.</a:t>
            </a:r>
          </a:p>
          <a:p>
            <a:pPr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Split into Dictionary and Postings</a:t>
            </a:r>
          </a:p>
          <a:p>
            <a:pPr>
              <a:buFont typeface="Arial"/>
              <a:buChar char="•"/>
              <a:defRPr/>
            </a:pPr>
            <a:r>
              <a:rPr lang="en-US">
                <a:ea typeface="ＭＳ Ｐゴシック" charset="0"/>
                <a:cs typeface="ＭＳ Ｐゴシック" charset="0"/>
              </a:rPr>
              <a:t>Doc. frequency information is added.</a:t>
            </a:r>
          </a:p>
        </p:txBody>
      </p:sp>
      <p:sp>
        <p:nvSpPr>
          <p:cNvPr id="25604" name="Line 4"/>
          <p:cNvSpPr>
            <a:spLocks noChangeShapeType="1"/>
          </p:cNvSpPr>
          <p:nvPr/>
        </p:nvSpPr>
        <p:spPr bwMode="auto">
          <a:xfrm>
            <a:off x="6858000" y="3657600"/>
            <a:ext cx="685800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5605" name="Object 35"/>
          <p:cNvGraphicFramePr>
            <a:graphicFrameLocks noChangeAspect="1"/>
          </p:cNvGraphicFramePr>
          <p:nvPr/>
        </p:nvGraphicFramePr>
        <p:xfrm>
          <a:off x="5486401" y="1827213"/>
          <a:ext cx="1217613" cy="492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0" name="Worksheet" r:id="rId3" imgW="2717460" imgH="10844444" progId="Excel.Sheet.8">
                  <p:embed/>
                </p:oleObj>
              </mc:Choice>
              <mc:Fallback>
                <p:oleObj name="Worksheet" r:id="rId3" imgW="2717460" imgH="10844444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1" y="1827213"/>
                        <a:ext cx="1217613" cy="4921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671" name="AutoShape 7"/>
          <p:cNvSpPr>
            <a:spLocks noChangeArrowheads="1"/>
          </p:cNvSpPr>
          <p:nvPr/>
        </p:nvSpPr>
        <p:spPr bwMode="auto">
          <a:xfrm>
            <a:off x="2476733" y="5449928"/>
            <a:ext cx="1783885" cy="965121"/>
          </a:xfrm>
          <a:prstGeom prst="upArrowCallout">
            <a:avLst>
              <a:gd name="adj1" fmla="val 57860"/>
              <a:gd name="adj2" fmla="val 57860"/>
              <a:gd name="adj3" fmla="val 16667"/>
              <a:gd name="adj4" fmla="val 66667"/>
            </a:avLst>
          </a:prstGeom>
          <a:solidFill>
            <a:srgbClr val="83ADC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Why frequency?</a:t>
            </a:r>
          </a:p>
          <a:p>
            <a:pPr algn="ctr"/>
            <a:r>
              <a:rPr lang="en-US" altLang="en-US">
                <a:ea typeface="Arial Unicode MS" panose="020B0604020202020204" pitchFamily="34" charset="-128"/>
                <a:cs typeface="Arial Unicode MS" panose="020B0604020202020204" pitchFamily="34" charset="-128"/>
              </a:rPr>
              <a:t>Will discuss later.</a:t>
            </a:r>
          </a:p>
        </p:txBody>
      </p:sp>
      <p:sp>
        <p:nvSpPr>
          <p:cNvPr id="25607" name="TextBox 7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1.2</a:t>
            </a:r>
          </a:p>
        </p:txBody>
      </p:sp>
      <p:pic>
        <p:nvPicPr>
          <p:cNvPr id="25608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1600200"/>
            <a:ext cx="2801938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6020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71" grpId="0" animBg="1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2590800" y="3886200"/>
            <a:ext cx="7010400" cy="2362200"/>
          </a:xfrm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Query processing with an inverted index</a:t>
            </a:r>
          </a:p>
        </p:txBody>
      </p:sp>
    </p:spTree>
    <p:extLst>
      <p:ext uri="{BB962C8B-B14F-4D97-AF65-F5344CB8AC3E}">
        <p14:creationId xmlns:p14="http://schemas.microsoft.com/office/powerpoint/2010/main" val="26264671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index we just built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How do we process a query?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Later - what kinds of queries can we process?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DF98D53C-8515-47B5-83BF-442F25DBBD77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30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26981" name="AutoShape 5"/>
          <p:cNvSpPr>
            <a:spLocks noChangeArrowheads="1"/>
          </p:cNvSpPr>
          <p:nvPr/>
        </p:nvSpPr>
        <p:spPr bwMode="auto">
          <a:xfrm>
            <a:off x="8307388" y="1798915"/>
            <a:ext cx="2055812" cy="369332"/>
          </a:xfrm>
          <a:prstGeom prst="leftArrowCallout">
            <a:avLst>
              <a:gd name="adj1" fmla="val 25000"/>
              <a:gd name="adj2" fmla="val 34824"/>
              <a:gd name="adj3" fmla="val 41164"/>
              <a:gd name="adj4" fmla="val 72736"/>
            </a:avLst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/>
              <a:t>Our focus</a:t>
            </a:r>
          </a:p>
        </p:txBody>
      </p:sp>
      <p:sp>
        <p:nvSpPr>
          <p:cNvPr id="28678" name="TextBox 5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1.3</a:t>
            </a:r>
          </a:p>
        </p:txBody>
      </p:sp>
    </p:spTree>
    <p:extLst>
      <p:ext uri="{BB962C8B-B14F-4D97-AF65-F5344CB8AC3E}">
        <p14:creationId xmlns:p14="http://schemas.microsoft.com/office/powerpoint/2010/main" val="380577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1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05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Query processing: AND</a:t>
            </a:r>
          </a:p>
        </p:txBody>
      </p:sp>
      <p:sp>
        <p:nvSpPr>
          <p:cNvPr id="29699" name="Rectangle 2051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Consider processing the query: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b="1" i="1">
                <a:ea typeface="ＭＳ Ｐゴシック" panose="020B0600070205080204" pitchFamily="34" charset="-128"/>
              </a:rPr>
              <a:t>Brutus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 i="1">
                <a:ea typeface="ＭＳ Ｐゴシック" panose="020B0600070205080204" pitchFamily="34" charset="-128"/>
              </a:rPr>
              <a:t>AND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r>
              <a:rPr lang="en-US" altLang="en-US" b="1" i="1">
                <a:ea typeface="ＭＳ Ｐゴシック" panose="020B0600070205080204" pitchFamily="34" charset="-128"/>
              </a:rPr>
              <a:t>Caesar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Locate </a:t>
            </a:r>
            <a:r>
              <a:rPr lang="en-US" altLang="en-US" b="1" i="1">
                <a:ea typeface="ＭＳ Ｐゴシック" panose="020B0600070205080204" pitchFamily="34" charset="-128"/>
              </a:rPr>
              <a:t>Brutus</a:t>
            </a:r>
            <a:r>
              <a:rPr lang="en-US" altLang="en-US">
                <a:ea typeface="ＭＳ Ｐゴシック" panose="020B0600070205080204" pitchFamily="34" charset="-128"/>
              </a:rPr>
              <a:t> in the Dictionary;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Retrieve its postings.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Locate </a:t>
            </a:r>
            <a:r>
              <a:rPr lang="en-US" altLang="en-US" b="1" i="1">
                <a:ea typeface="ＭＳ Ｐゴシック" panose="020B0600070205080204" pitchFamily="34" charset="-128"/>
              </a:rPr>
              <a:t>Caesar</a:t>
            </a:r>
            <a:r>
              <a:rPr lang="en-US" altLang="en-US">
                <a:ea typeface="ＭＳ Ｐゴシック" panose="020B0600070205080204" pitchFamily="34" charset="-128"/>
              </a:rPr>
              <a:t> in the Dictionary;</a:t>
            </a:r>
          </a:p>
          <a:p>
            <a:pPr lvl="2"/>
            <a:r>
              <a:rPr lang="en-US" altLang="en-US">
                <a:ea typeface="ＭＳ Ｐゴシック" panose="020B0600070205080204" pitchFamily="34" charset="-128"/>
              </a:rPr>
              <a:t>Retrieve its postings.</a:t>
            </a:r>
          </a:p>
          <a:p>
            <a:pPr lvl="1"/>
            <a:r>
              <a:rPr lang="en-US" altLang="en-US">
                <a:ea typeface="ＭＳ Ｐゴシック" panose="020B0600070205080204" pitchFamily="34" charset="-128"/>
              </a:rPr>
              <a:t>“Merge” the two postings (intersect the document sets):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59946BC-6E1A-4987-BEA6-3C7F5311272F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31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29701" name="Text Box 2058"/>
          <p:cNvSpPr txBox="1">
            <a:spLocks noChangeArrowheads="1"/>
          </p:cNvSpPr>
          <p:nvPr/>
        </p:nvSpPr>
        <p:spPr bwMode="auto">
          <a:xfrm>
            <a:off x="8402638" y="5019676"/>
            <a:ext cx="703262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latin typeface="Arial Unicode MS" panose="020B0604020202020204" pitchFamily="34" charset="-128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128</a:t>
            </a:r>
          </a:p>
        </p:txBody>
      </p:sp>
      <p:sp>
        <p:nvSpPr>
          <p:cNvPr id="29702" name="Text Box 2065"/>
          <p:cNvSpPr txBox="1">
            <a:spLocks noChangeArrowheads="1"/>
          </p:cNvSpPr>
          <p:nvPr/>
        </p:nvSpPr>
        <p:spPr bwMode="auto">
          <a:xfrm>
            <a:off x="8707438" y="5553076"/>
            <a:ext cx="533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latin typeface="Arial Unicode MS" panose="020B0604020202020204" pitchFamily="34" charset="-128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34</a:t>
            </a:r>
          </a:p>
        </p:txBody>
      </p:sp>
      <p:grpSp>
        <p:nvGrpSpPr>
          <p:cNvPr id="29703" name="Group 2083"/>
          <p:cNvGrpSpPr>
            <a:grpSpLocks/>
          </p:cNvGrpSpPr>
          <p:nvPr/>
        </p:nvGrpSpPr>
        <p:grpSpPr bwMode="auto">
          <a:xfrm>
            <a:off x="4038600" y="5019676"/>
            <a:ext cx="647700" cy="466725"/>
            <a:chOff x="1584" y="3162"/>
            <a:chExt cx="408" cy="294"/>
          </a:xfrm>
        </p:grpSpPr>
        <p:sp>
          <p:nvSpPr>
            <p:cNvPr id="29744" name="Text Box 2052"/>
            <p:cNvSpPr txBox="1">
              <a:spLocks noChangeArrowheads="1"/>
            </p:cNvSpPr>
            <p:nvPr/>
          </p:nvSpPr>
          <p:spPr bwMode="auto">
            <a:xfrm>
              <a:off x="1584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2</a:t>
              </a:r>
            </a:p>
          </p:txBody>
        </p:sp>
        <p:cxnSp>
          <p:nvCxnSpPr>
            <p:cNvPr id="29745" name="AutoShape 2066"/>
            <p:cNvCxnSpPr>
              <a:cxnSpLocks noChangeShapeType="1"/>
              <a:stCxn id="29744" idx="3"/>
              <a:endCxn id="29742" idx="1"/>
            </p:cNvCxnSpPr>
            <p:nvPr/>
          </p:nvCxnSpPr>
          <p:spPr bwMode="auto">
            <a:xfrm>
              <a:off x="1813" y="3309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4" name="Group 2084"/>
          <p:cNvGrpSpPr>
            <a:grpSpLocks/>
          </p:cNvGrpSpPr>
          <p:nvPr/>
        </p:nvGrpSpPr>
        <p:grpSpPr bwMode="auto">
          <a:xfrm>
            <a:off x="4686300" y="5019676"/>
            <a:ext cx="668338" cy="466725"/>
            <a:chOff x="1992" y="3162"/>
            <a:chExt cx="421" cy="294"/>
          </a:xfrm>
        </p:grpSpPr>
        <p:sp>
          <p:nvSpPr>
            <p:cNvPr id="29742" name="Text Box 2053"/>
            <p:cNvSpPr txBox="1">
              <a:spLocks noChangeArrowheads="1"/>
            </p:cNvSpPr>
            <p:nvPr/>
          </p:nvSpPr>
          <p:spPr bwMode="auto">
            <a:xfrm>
              <a:off x="1992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4</a:t>
              </a:r>
            </a:p>
          </p:txBody>
        </p:sp>
        <p:cxnSp>
          <p:nvCxnSpPr>
            <p:cNvPr id="29743" name="AutoShape 2067"/>
            <p:cNvCxnSpPr>
              <a:cxnSpLocks noChangeShapeType="1"/>
              <a:stCxn id="29742" idx="3"/>
              <a:endCxn id="29740" idx="1"/>
            </p:cNvCxnSpPr>
            <p:nvPr/>
          </p:nvCxnSpPr>
          <p:spPr bwMode="auto">
            <a:xfrm>
              <a:off x="222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5" name="Group 2085"/>
          <p:cNvGrpSpPr>
            <a:grpSpLocks/>
          </p:cNvGrpSpPr>
          <p:nvPr/>
        </p:nvGrpSpPr>
        <p:grpSpPr bwMode="auto">
          <a:xfrm>
            <a:off x="5354638" y="5019676"/>
            <a:ext cx="609600" cy="466725"/>
            <a:chOff x="2413" y="3162"/>
            <a:chExt cx="384" cy="294"/>
          </a:xfrm>
        </p:grpSpPr>
        <p:sp>
          <p:nvSpPr>
            <p:cNvPr id="29740" name="Text Box 2054"/>
            <p:cNvSpPr txBox="1">
              <a:spLocks noChangeArrowheads="1"/>
            </p:cNvSpPr>
            <p:nvPr/>
          </p:nvSpPr>
          <p:spPr bwMode="auto">
            <a:xfrm>
              <a:off x="2413" y="3162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8</a:t>
              </a:r>
            </a:p>
          </p:txBody>
        </p:sp>
        <p:cxnSp>
          <p:nvCxnSpPr>
            <p:cNvPr id="29741" name="AutoShape 2068"/>
            <p:cNvCxnSpPr>
              <a:cxnSpLocks noChangeShapeType="1"/>
              <a:stCxn id="29740" idx="3"/>
              <a:endCxn id="29738" idx="1"/>
            </p:cNvCxnSpPr>
            <p:nvPr/>
          </p:nvCxnSpPr>
          <p:spPr bwMode="auto">
            <a:xfrm>
              <a:off x="2642" y="3309"/>
              <a:ext cx="155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6" name="Group 2086"/>
          <p:cNvGrpSpPr>
            <a:grpSpLocks/>
          </p:cNvGrpSpPr>
          <p:nvPr/>
        </p:nvGrpSpPr>
        <p:grpSpPr bwMode="auto">
          <a:xfrm>
            <a:off x="5964238" y="5019676"/>
            <a:ext cx="762000" cy="466725"/>
            <a:chOff x="2797" y="3162"/>
            <a:chExt cx="480" cy="294"/>
          </a:xfrm>
        </p:grpSpPr>
        <p:sp>
          <p:nvSpPr>
            <p:cNvPr id="29738" name="Text Box 2055"/>
            <p:cNvSpPr txBox="1">
              <a:spLocks noChangeArrowheads="1"/>
            </p:cNvSpPr>
            <p:nvPr/>
          </p:nvSpPr>
          <p:spPr bwMode="auto">
            <a:xfrm>
              <a:off x="279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16</a:t>
              </a:r>
            </a:p>
          </p:txBody>
        </p:sp>
        <p:cxnSp>
          <p:nvCxnSpPr>
            <p:cNvPr id="29739" name="AutoShape 2069"/>
            <p:cNvCxnSpPr>
              <a:cxnSpLocks noChangeShapeType="1"/>
              <a:stCxn id="29738" idx="3"/>
              <a:endCxn id="29736" idx="1"/>
            </p:cNvCxnSpPr>
            <p:nvPr/>
          </p:nvCxnSpPr>
          <p:spPr bwMode="auto">
            <a:xfrm>
              <a:off x="3133" y="3309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7" name="Group 2087"/>
          <p:cNvGrpSpPr>
            <a:grpSpLocks/>
          </p:cNvGrpSpPr>
          <p:nvPr/>
        </p:nvGrpSpPr>
        <p:grpSpPr bwMode="auto">
          <a:xfrm>
            <a:off x="6726238" y="5019676"/>
            <a:ext cx="838200" cy="466725"/>
            <a:chOff x="3277" y="3162"/>
            <a:chExt cx="528" cy="294"/>
          </a:xfrm>
        </p:grpSpPr>
        <p:sp>
          <p:nvSpPr>
            <p:cNvPr id="29736" name="Text Box 2056"/>
            <p:cNvSpPr txBox="1">
              <a:spLocks noChangeArrowheads="1"/>
            </p:cNvSpPr>
            <p:nvPr/>
          </p:nvSpPr>
          <p:spPr bwMode="auto">
            <a:xfrm>
              <a:off x="3277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32</a:t>
              </a:r>
            </a:p>
          </p:txBody>
        </p:sp>
        <p:cxnSp>
          <p:nvCxnSpPr>
            <p:cNvPr id="29737" name="AutoShape 2070"/>
            <p:cNvCxnSpPr>
              <a:cxnSpLocks noChangeShapeType="1"/>
              <a:stCxn id="29736" idx="3"/>
              <a:endCxn id="29734" idx="1"/>
            </p:cNvCxnSpPr>
            <p:nvPr/>
          </p:nvCxnSpPr>
          <p:spPr bwMode="auto">
            <a:xfrm>
              <a:off x="3613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8" name="Group 2088"/>
          <p:cNvGrpSpPr>
            <a:grpSpLocks/>
          </p:cNvGrpSpPr>
          <p:nvPr/>
        </p:nvGrpSpPr>
        <p:grpSpPr bwMode="auto">
          <a:xfrm>
            <a:off x="7564438" y="5019676"/>
            <a:ext cx="838200" cy="466725"/>
            <a:chOff x="3805" y="3162"/>
            <a:chExt cx="528" cy="294"/>
          </a:xfrm>
        </p:grpSpPr>
        <p:sp>
          <p:nvSpPr>
            <p:cNvPr id="29734" name="Text Box 2057"/>
            <p:cNvSpPr txBox="1">
              <a:spLocks noChangeArrowheads="1"/>
            </p:cNvSpPr>
            <p:nvPr/>
          </p:nvSpPr>
          <p:spPr bwMode="auto">
            <a:xfrm>
              <a:off x="3805" y="3162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64</a:t>
              </a:r>
            </a:p>
          </p:txBody>
        </p:sp>
        <p:cxnSp>
          <p:nvCxnSpPr>
            <p:cNvPr id="29735" name="AutoShape 2071"/>
            <p:cNvCxnSpPr>
              <a:cxnSpLocks noChangeShapeType="1"/>
              <a:stCxn id="29734" idx="3"/>
              <a:endCxn id="29701" idx="1"/>
            </p:cNvCxnSpPr>
            <p:nvPr/>
          </p:nvCxnSpPr>
          <p:spPr bwMode="auto">
            <a:xfrm>
              <a:off x="4141" y="3309"/>
              <a:ext cx="192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09" name="Group 2089"/>
          <p:cNvGrpSpPr>
            <a:grpSpLocks/>
          </p:cNvGrpSpPr>
          <p:nvPr/>
        </p:nvGrpSpPr>
        <p:grpSpPr bwMode="auto">
          <a:xfrm>
            <a:off x="4059238" y="5553076"/>
            <a:ext cx="647700" cy="466725"/>
            <a:chOff x="1597" y="3498"/>
            <a:chExt cx="408" cy="294"/>
          </a:xfrm>
        </p:grpSpPr>
        <p:sp>
          <p:nvSpPr>
            <p:cNvPr id="29732" name="Text Box 2072"/>
            <p:cNvSpPr txBox="1">
              <a:spLocks noChangeArrowheads="1"/>
            </p:cNvSpPr>
            <p:nvPr/>
          </p:nvSpPr>
          <p:spPr bwMode="auto">
            <a:xfrm>
              <a:off x="1597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</a:t>
              </a:r>
            </a:p>
          </p:txBody>
        </p:sp>
        <p:cxnSp>
          <p:nvCxnSpPr>
            <p:cNvPr id="29733" name="AutoShape 2073"/>
            <p:cNvCxnSpPr>
              <a:cxnSpLocks noChangeShapeType="1"/>
              <a:stCxn id="29732" idx="3"/>
              <a:endCxn id="29730" idx="1"/>
            </p:cNvCxnSpPr>
            <p:nvPr/>
          </p:nvCxnSpPr>
          <p:spPr bwMode="auto">
            <a:xfrm>
              <a:off x="1826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10" name="Group 2090"/>
          <p:cNvGrpSpPr>
            <a:grpSpLocks/>
          </p:cNvGrpSpPr>
          <p:nvPr/>
        </p:nvGrpSpPr>
        <p:grpSpPr bwMode="auto">
          <a:xfrm>
            <a:off x="4706938" y="5553076"/>
            <a:ext cx="647700" cy="466725"/>
            <a:chOff x="2005" y="3498"/>
            <a:chExt cx="408" cy="294"/>
          </a:xfrm>
        </p:grpSpPr>
        <p:sp>
          <p:nvSpPr>
            <p:cNvPr id="29730" name="Text Box 2059"/>
            <p:cNvSpPr txBox="1">
              <a:spLocks noChangeArrowheads="1"/>
            </p:cNvSpPr>
            <p:nvPr/>
          </p:nvSpPr>
          <p:spPr bwMode="auto">
            <a:xfrm>
              <a:off x="2005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2</a:t>
              </a:r>
            </a:p>
          </p:txBody>
        </p:sp>
        <p:cxnSp>
          <p:nvCxnSpPr>
            <p:cNvPr id="29731" name="AutoShape 2074"/>
            <p:cNvCxnSpPr>
              <a:cxnSpLocks noChangeShapeType="1"/>
              <a:stCxn id="29730" idx="3"/>
              <a:endCxn id="29728" idx="1"/>
            </p:cNvCxnSpPr>
            <p:nvPr/>
          </p:nvCxnSpPr>
          <p:spPr bwMode="auto">
            <a:xfrm>
              <a:off x="2234" y="3645"/>
              <a:ext cx="179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11" name="Group 2091"/>
          <p:cNvGrpSpPr>
            <a:grpSpLocks/>
          </p:cNvGrpSpPr>
          <p:nvPr/>
        </p:nvGrpSpPr>
        <p:grpSpPr bwMode="auto">
          <a:xfrm>
            <a:off x="5354639" y="5553076"/>
            <a:ext cx="630237" cy="466725"/>
            <a:chOff x="2413" y="3498"/>
            <a:chExt cx="397" cy="294"/>
          </a:xfrm>
        </p:grpSpPr>
        <p:sp>
          <p:nvSpPr>
            <p:cNvPr id="29728" name="Text Box 2060"/>
            <p:cNvSpPr txBox="1">
              <a:spLocks noChangeArrowheads="1"/>
            </p:cNvSpPr>
            <p:nvPr/>
          </p:nvSpPr>
          <p:spPr bwMode="auto">
            <a:xfrm>
              <a:off x="2413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3</a:t>
              </a:r>
            </a:p>
          </p:txBody>
        </p:sp>
        <p:cxnSp>
          <p:nvCxnSpPr>
            <p:cNvPr id="29729" name="AutoShape 2075"/>
            <p:cNvCxnSpPr>
              <a:cxnSpLocks noChangeShapeType="1"/>
              <a:stCxn id="29728" idx="3"/>
              <a:endCxn id="29726" idx="1"/>
            </p:cNvCxnSpPr>
            <p:nvPr/>
          </p:nvCxnSpPr>
          <p:spPr bwMode="auto">
            <a:xfrm>
              <a:off x="2642" y="3645"/>
              <a:ext cx="168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12" name="Group 2092"/>
          <p:cNvGrpSpPr>
            <a:grpSpLocks/>
          </p:cNvGrpSpPr>
          <p:nvPr/>
        </p:nvGrpSpPr>
        <p:grpSpPr bwMode="auto">
          <a:xfrm>
            <a:off x="5984876" y="5553076"/>
            <a:ext cx="606425" cy="466725"/>
            <a:chOff x="2810" y="3498"/>
            <a:chExt cx="382" cy="294"/>
          </a:xfrm>
        </p:grpSpPr>
        <p:sp>
          <p:nvSpPr>
            <p:cNvPr id="29726" name="Text Box 2061"/>
            <p:cNvSpPr txBox="1">
              <a:spLocks noChangeArrowheads="1"/>
            </p:cNvSpPr>
            <p:nvPr/>
          </p:nvSpPr>
          <p:spPr bwMode="auto">
            <a:xfrm>
              <a:off x="2810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5</a:t>
              </a:r>
            </a:p>
          </p:txBody>
        </p:sp>
        <p:cxnSp>
          <p:nvCxnSpPr>
            <p:cNvPr id="29727" name="AutoShape 2076"/>
            <p:cNvCxnSpPr>
              <a:cxnSpLocks noChangeShapeType="1"/>
              <a:stCxn id="29726" idx="3"/>
              <a:endCxn id="29724" idx="1"/>
            </p:cNvCxnSpPr>
            <p:nvPr/>
          </p:nvCxnSpPr>
          <p:spPr bwMode="auto">
            <a:xfrm>
              <a:off x="3039" y="3645"/>
              <a:ext cx="153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13" name="Group 2093"/>
          <p:cNvGrpSpPr>
            <a:grpSpLocks/>
          </p:cNvGrpSpPr>
          <p:nvPr/>
        </p:nvGrpSpPr>
        <p:grpSpPr bwMode="auto">
          <a:xfrm>
            <a:off x="6591300" y="5553076"/>
            <a:ext cx="592138" cy="466725"/>
            <a:chOff x="3192" y="3498"/>
            <a:chExt cx="373" cy="294"/>
          </a:xfrm>
        </p:grpSpPr>
        <p:sp>
          <p:nvSpPr>
            <p:cNvPr id="29724" name="Text Box 2062"/>
            <p:cNvSpPr txBox="1">
              <a:spLocks noChangeArrowheads="1"/>
            </p:cNvSpPr>
            <p:nvPr/>
          </p:nvSpPr>
          <p:spPr bwMode="auto">
            <a:xfrm>
              <a:off x="3192" y="3498"/>
              <a:ext cx="229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8</a:t>
              </a:r>
            </a:p>
          </p:txBody>
        </p:sp>
        <p:cxnSp>
          <p:nvCxnSpPr>
            <p:cNvPr id="29725" name="AutoShape 2077"/>
            <p:cNvCxnSpPr>
              <a:cxnSpLocks noChangeShapeType="1"/>
              <a:stCxn id="29724" idx="3"/>
              <a:endCxn id="29722" idx="1"/>
            </p:cNvCxnSpPr>
            <p:nvPr/>
          </p:nvCxnSpPr>
          <p:spPr bwMode="auto">
            <a:xfrm>
              <a:off x="342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14" name="Group 2094"/>
          <p:cNvGrpSpPr>
            <a:grpSpLocks/>
          </p:cNvGrpSpPr>
          <p:nvPr/>
        </p:nvGrpSpPr>
        <p:grpSpPr bwMode="auto">
          <a:xfrm>
            <a:off x="7183438" y="5553076"/>
            <a:ext cx="762000" cy="466725"/>
            <a:chOff x="3565" y="3498"/>
            <a:chExt cx="480" cy="294"/>
          </a:xfrm>
        </p:grpSpPr>
        <p:sp>
          <p:nvSpPr>
            <p:cNvPr id="29722" name="Text Box 2063"/>
            <p:cNvSpPr txBox="1">
              <a:spLocks noChangeArrowheads="1"/>
            </p:cNvSpPr>
            <p:nvPr/>
          </p:nvSpPr>
          <p:spPr bwMode="auto">
            <a:xfrm>
              <a:off x="3565" y="349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13</a:t>
              </a:r>
            </a:p>
          </p:txBody>
        </p:sp>
        <p:cxnSp>
          <p:nvCxnSpPr>
            <p:cNvPr id="29723" name="AutoShape 2078"/>
            <p:cNvCxnSpPr>
              <a:cxnSpLocks noChangeShapeType="1"/>
              <a:stCxn id="29722" idx="3"/>
              <a:endCxn id="29720" idx="1"/>
            </p:cNvCxnSpPr>
            <p:nvPr/>
          </p:nvCxnSpPr>
          <p:spPr bwMode="auto">
            <a:xfrm>
              <a:off x="390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715" name="Group 2095"/>
          <p:cNvGrpSpPr>
            <a:grpSpLocks/>
          </p:cNvGrpSpPr>
          <p:nvPr/>
        </p:nvGrpSpPr>
        <p:grpSpPr bwMode="auto">
          <a:xfrm>
            <a:off x="7945438" y="5553076"/>
            <a:ext cx="762000" cy="466725"/>
            <a:chOff x="4045" y="3498"/>
            <a:chExt cx="480" cy="294"/>
          </a:xfrm>
        </p:grpSpPr>
        <p:sp>
          <p:nvSpPr>
            <p:cNvPr id="29720" name="Text Box 2064"/>
            <p:cNvSpPr txBox="1">
              <a:spLocks noChangeArrowheads="1"/>
            </p:cNvSpPr>
            <p:nvPr/>
          </p:nvSpPr>
          <p:spPr bwMode="auto">
            <a:xfrm>
              <a:off x="4045" y="3498"/>
              <a:ext cx="33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21</a:t>
              </a:r>
            </a:p>
          </p:txBody>
        </p:sp>
        <p:cxnSp>
          <p:nvCxnSpPr>
            <p:cNvPr id="29721" name="AutoShape 2079"/>
            <p:cNvCxnSpPr>
              <a:cxnSpLocks noChangeShapeType="1"/>
              <a:stCxn id="29720" idx="3"/>
              <a:endCxn id="29702" idx="1"/>
            </p:cNvCxnSpPr>
            <p:nvPr/>
          </p:nvCxnSpPr>
          <p:spPr bwMode="auto">
            <a:xfrm>
              <a:off x="4381" y="3645"/>
              <a:ext cx="144" cy="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9716" name="Text Box 2080"/>
          <p:cNvSpPr txBox="1">
            <a:spLocks noChangeArrowheads="1"/>
          </p:cNvSpPr>
          <p:nvPr/>
        </p:nvSpPr>
        <p:spPr bwMode="auto">
          <a:xfrm>
            <a:off x="9296401" y="5038725"/>
            <a:ext cx="1065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 i="1">
                <a:latin typeface="Arial Unicode MS" panose="020B0604020202020204" pitchFamily="34" charset="-128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Brutus</a:t>
            </a:r>
          </a:p>
        </p:txBody>
      </p:sp>
      <p:sp>
        <p:nvSpPr>
          <p:cNvPr id="29717" name="Text Box 2081"/>
          <p:cNvSpPr txBox="1">
            <a:spLocks noChangeArrowheads="1"/>
          </p:cNvSpPr>
          <p:nvPr/>
        </p:nvSpPr>
        <p:spPr bwMode="auto">
          <a:xfrm>
            <a:off x="9296400" y="5495925"/>
            <a:ext cx="116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 i="1">
                <a:latin typeface="Arial Unicode MS" panose="020B0604020202020204" pitchFamily="34" charset="-128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Caesar</a:t>
            </a:r>
          </a:p>
        </p:txBody>
      </p:sp>
      <p:sp>
        <p:nvSpPr>
          <p:cNvPr id="29718" name="AutoShape 2082"/>
          <p:cNvSpPr>
            <a:spLocks noChangeArrowheads="1"/>
          </p:cNvSpPr>
          <p:nvPr/>
        </p:nvSpPr>
        <p:spPr bwMode="auto">
          <a:xfrm rot="10800000">
            <a:off x="3289872" y="5181482"/>
            <a:ext cx="368747" cy="733663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050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9719" name="TextBox 48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1.3</a:t>
            </a:r>
          </a:p>
        </p:txBody>
      </p:sp>
    </p:spTree>
    <p:extLst>
      <p:ext uri="{BB962C8B-B14F-4D97-AF65-F5344CB8AC3E}">
        <p14:creationId xmlns:p14="http://schemas.microsoft.com/office/powerpoint/2010/main" val="37362715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The merge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Walk through the two postings simultaneously, in time linear in the total number of postings entries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D4A86A4-B835-41A6-A655-9D022EC730E7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32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30725" name="Group 99"/>
          <p:cNvGrpSpPr>
            <a:grpSpLocks/>
          </p:cNvGrpSpPr>
          <p:nvPr/>
        </p:nvGrpSpPr>
        <p:grpSpPr bwMode="auto">
          <a:xfrm>
            <a:off x="4038600" y="3429000"/>
            <a:ext cx="5202238" cy="1009650"/>
            <a:chOff x="1584" y="3264"/>
            <a:chExt cx="3277" cy="636"/>
          </a:xfrm>
        </p:grpSpPr>
        <p:sp>
          <p:nvSpPr>
            <p:cNvPr id="30732" name="Text Box 54"/>
            <p:cNvSpPr txBox="1">
              <a:spLocks noChangeArrowheads="1"/>
            </p:cNvSpPr>
            <p:nvPr/>
          </p:nvSpPr>
          <p:spPr bwMode="auto">
            <a:xfrm>
              <a:off x="4525" y="3600"/>
              <a:ext cx="336" cy="294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34</a:t>
              </a:r>
            </a:p>
          </p:txBody>
        </p:sp>
        <p:grpSp>
          <p:nvGrpSpPr>
            <p:cNvPr id="30733" name="Group 96"/>
            <p:cNvGrpSpPr>
              <a:grpSpLocks/>
            </p:cNvGrpSpPr>
            <p:nvPr/>
          </p:nvGrpSpPr>
          <p:grpSpPr bwMode="auto">
            <a:xfrm>
              <a:off x="1584" y="3264"/>
              <a:ext cx="3179" cy="300"/>
              <a:chOff x="1584" y="3060"/>
              <a:chExt cx="3179" cy="300"/>
            </a:xfrm>
          </p:grpSpPr>
          <p:sp>
            <p:nvSpPr>
              <p:cNvPr id="30754" name="Text Box 53"/>
              <p:cNvSpPr txBox="1">
                <a:spLocks noChangeArrowheads="1"/>
              </p:cNvSpPr>
              <p:nvPr/>
            </p:nvSpPr>
            <p:spPr bwMode="auto">
              <a:xfrm>
                <a:off x="4320" y="3060"/>
                <a:ext cx="443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128</a:t>
                </a:r>
              </a:p>
            </p:txBody>
          </p:sp>
          <p:grpSp>
            <p:nvGrpSpPr>
              <p:cNvPr id="30755" name="Group 55"/>
              <p:cNvGrpSpPr>
                <a:grpSpLocks/>
              </p:cNvGrpSpPr>
              <p:nvPr/>
            </p:nvGrpSpPr>
            <p:grpSpPr bwMode="auto">
              <a:xfrm>
                <a:off x="1584" y="3060"/>
                <a:ext cx="408" cy="294"/>
                <a:chOff x="1584" y="3162"/>
                <a:chExt cx="408" cy="294"/>
              </a:xfrm>
            </p:grpSpPr>
            <p:sp>
              <p:nvSpPr>
                <p:cNvPr id="30771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584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2400">
                      <a:latin typeface="Arial Unicode MS" panose="020B0604020202020204" pitchFamily="34" charset="-128"/>
                      <a:ea typeface="ＭＳ Ｐゴシック" panose="020B0600070205080204" pitchFamily="34" charset="-128"/>
                      <a:cs typeface="Arial Unicode MS" panose="020B0604020202020204" pitchFamily="34" charset="-128"/>
                    </a:rPr>
                    <a:t>2</a:t>
                  </a:r>
                </a:p>
              </p:txBody>
            </p:sp>
            <p:cxnSp>
              <p:nvCxnSpPr>
                <p:cNvPr id="30772" name="AutoShape 57"/>
                <p:cNvCxnSpPr>
                  <a:cxnSpLocks noChangeShapeType="1"/>
                  <a:stCxn id="30771" idx="3"/>
                  <a:endCxn id="30769" idx="1"/>
                </p:cNvCxnSpPr>
                <p:nvPr/>
              </p:nvCxnSpPr>
              <p:spPr bwMode="auto">
                <a:xfrm>
                  <a:off x="1813" y="3309"/>
                  <a:ext cx="179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0756" name="Group 58"/>
              <p:cNvGrpSpPr>
                <a:grpSpLocks/>
              </p:cNvGrpSpPr>
              <p:nvPr/>
            </p:nvGrpSpPr>
            <p:grpSpPr bwMode="auto">
              <a:xfrm>
                <a:off x="1992" y="3060"/>
                <a:ext cx="421" cy="294"/>
                <a:chOff x="1992" y="3162"/>
                <a:chExt cx="421" cy="294"/>
              </a:xfrm>
            </p:grpSpPr>
            <p:sp>
              <p:nvSpPr>
                <p:cNvPr id="30769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1992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2400">
                      <a:latin typeface="Arial Unicode MS" panose="020B0604020202020204" pitchFamily="34" charset="-128"/>
                      <a:ea typeface="ＭＳ Ｐゴシック" panose="020B0600070205080204" pitchFamily="34" charset="-128"/>
                      <a:cs typeface="Arial Unicode MS" panose="020B0604020202020204" pitchFamily="34" charset="-128"/>
                    </a:rPr>
                    <a:t>4</a:t>
                  </a:r>
                </a:p>
              </p:txBody>
            </p:sp>
            <p:cxnSp>
              <p:nvCxnSpPr>
                <p:cNvPr id="30770" name="AutoShape 60"/>
                <p:cNvCxnSpPr>
                  <a:cxnSpLocks noChangeShapeType="1"/>
                  <a:stCxn id="30769" idx="3"/>
                  <a:endCxn id="30767" idx="1"/>
                </p:cNvCxnSpPr>
                <p:nvPr/>
              </p:nvCxnSpPr>
              <p:spPr bwMode="auto">
                <a:xfrm>
                  <a:off x="222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0757" name="Group 61"/>
              <p:cNvGrpSpPr>
                <a:grpSpLocks/>
              </p:cNvGrpSpPr>
              <p:nvPr/>
            </p:nvGrpSpPr>
            <p:grpSpPr bwMode="auto">
              <a:xfrm>
                <a:off x="2413" y="3060"/>
                <a:ext cx="384" cy="294"/>
                <a:chOff x="2413" y="3162"/>
                <a:chExt cx="384" cy="294"/>
              </a:xfrm>
            </p:grpSpPr>
            <p:sp>
              <p:nvSpPr>
                <p:cNvPr id="30767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2413" y="3162"/>
                  <a:ext cx="229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2400">
                      <a:latin typeface="Arial Unicode MS" panose="020B0604020202020204" pitchFamily="34" charset="-128"/>
                      <a:ea typeface="ＭＳ Ｐゴシック" panose="020B0600070205080204" pitchFamily="34" charset="-128"/>
                      <a:cs typeface="Arial Unicode MS" panose="020B0604020202020204" pitchFamily="34" charset="-128"/>
                    </a:rPr>
                    <a:t>8</a:t>
                  </a:r>
                </a:p>
              </p:txBody>
            </p:sp>
            <p:cxnSp>
              <p:nvCxnSpPr>
                <p:cNvPr id="30768" name="AutoShape 63"/>
                <p:cNvCxnSpPr>
                  <a:cxnSpLocks noChangeShapeType="1"/>
                  <a:stCxn id="30767" idx="3"/>
                  <a:endCxn id="30765" idx="1"/>
                </p:cNvCxnSpPr>
                <p:nvPr/>
              </p:nvCxnSpPr>
              <p:spPr bwMode="auto">
                <a:xfrm>
                  <a:off x="2642" y="3309"/>
                  <a:ext cx="155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0758" name="Group 64"/>
              <p:cNvGrpSpPr>
                <a:grpSpLocks/>
              </p:cNvGrpSpPr>
              <p:nvPr/>
            </p:nvGrpSpPr>
            <p:grpSpPr bwMode="auto">
              <a:xfrm>
                <a:off x="2797" y="3060"/>
                <a:ext cx="480" cy="294"/>
                <a:chOff x="2797" y="3162"/>
                <a:chExt cx="480" cy="294"/>
              </a:xfrm>
            </p:grpSpPr>
            <p:sp>
              <p:nvSpPr>
                <p:cNvPr id="30765" name="Text Box 65"/>
                <p:cNvSpPr txBox="1">
                  <a:spLocks noChangeArrowheads="1"/>
                </p:cNvSpPr>
                <p:nvPr/>
              </p:nvSpPr>
              <p:spPr bwMode="auto">
                <a:xfrm>
                  <a:off x="279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2400">
                      <a:latin typeface="Arial Unicode MS" panose="020B0604020202020204" pitchFamily="34" charset="-128"/>
                      <a:ea typeface="ＭＳ Ｐゴシック" panose="020B0600070205080204" pitchFamily="34" charset="-128"/>
                      <a:cs typeface="Arial Unicode MS" panose="020B0604020202020204" pitchFamily="34" charset="-128"/>
                    </a:rPr>
                    <a:t>16</a:t>
                  </a:r>
                </a:p>
              </p:txBody>
            </p:sp>
            <p:cxnSp>
              <p:nvCxnSpPr>
                <p:cNvPr id="30766" name="AutoShape 66"/>
                <p:cNvCxnSpPr>
                  <a:cxnSpLocks noChangeShapeType="1"/>
                  <a:stCxn id="30765" idx="3"/>
                  <a:endCxn id="30763" idx="1"/>
                </p:cNvCxnSpPr>
                <p:nvPr/>
              </p:nvCxnSpPr>
              <p:spPr bwMode="auto">
                <a:xfrm>
                  <a:off x="3133" y="3309"/>
                  <a:ext cx="144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0759" name="Group 67"/>
              <p:cNvGrpSpPr>
                <a:grpSpLocks/>
              </p:cNvGrpSpPr>
              <p:nvPr/>
            </p:nvGrpSpPr>
            <p:grpSpPr bwMode="auto">
              <a:xfrm>
                <a:off x="3277" y="3066"/>
                <a:ext cx="528" cy="294"/>
                <a:chOff x="3277" y="3162"/>
                <a:chExt cx="528" cy="294"/>
              </a:xfrm>
            </p:grpSpPr>
            <p:sp>
              <p:nvSpPr>
                <p:cNvPr id="30763" name="Text Box 68"/>
                <p:cNvSpPr txBox="1">
                  <a:spLocks noChangeArrowheads="1"/>
                </p:cNvSpPr>
                <p:nvPr/>
              </p:nvSpPr>
              <p:spPr bwMode="auto">
                <a:xfrm>
                  <a:off x="3277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2400">
                      <a:latin typeface="Arial Unicode MS" panose="020B0604020202020204" pitchFamily="34" charset="-128"/>
                      <a:ea typeface="ＭＳ Ｐゴシック" panose="020B0600070205080204" pitchFamily="34" charset="-128"/>
                      <a:cs typeface="Arial Unicode MS" panose="020B0604020202020204" pitchFamily="34" charset="-128"/>
                    </a:rPr>
                    <a:t>32</a:t>
                  </a:r>
                </a:p>
              </p:txBody>
            </p:sp>
            <p:cxnSp>
              <p:nvCxnSpPr>
                <p:cNvPr id="30764" name="AutoShape 69"/>
                <p:cNvCxnSpPr>
                  <a:cxnSpLocks noChangeShapeType="1"/>
                  <a:stCxn id="30763" idx="3"/>
                  <a:endCxn id="30761" idx="1"/>
                </p:cNvCxnSpPr>
                <p:nvPr/>
              </p:nvCxnSpPr>
              <p:spPr bwMode="auto">
                <a:xfrm>
                  <a:off x="3613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grpSp>
            <p:nvGrpSpPr>
              <p:cNvPr id="30760" name="Group 70"/>
              <p:cNvGrpSpPr>
                <a:grpSpLocks/>
              </p:cNvGrpSpPr>
              <p:nvPr/>
            </p:nvGrpSpPr>
            <p:grpSpPr bwMode="auto">
              <a:xfrm>
                <a:off x="3805" y="3066"/>
                <a:ext cx="528" cy="294"/>
                <a:chOff x="3805" y="3162"/>
                <a:chExt cx="528" cy="294"/>
              </a:xfrm>
            </p:grpSpPr>
            <p:sp>
              <p:nvSpPr>
                <p:cNvPr id="30761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3805" y="3162"/>
                  <a:ext cx="336" cy="294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defTabSz="4572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r>
                    <a:rPr lang="en-US" altLang="en-US" sz="2400">
                      <a:latin typeface="Arial Unicode MS" panose="020B0604020202020204" pitchFamily="34" charset="-128"/>
                      <a:ea typeface="ＭＳ Ｐゴシック" panose="020B0600070205080204" pitchFamily="34" charset="-128"/>
                      <a:cs typeface="Arial Unicode MS" panose="020B0604020202020204" pitchFamily="34" charset="-128"/>
                    </a:rPr>
                    <a:t>64</a:t>
                  </a:r>
                </a:p>
              </p:txBody>
            </p:sp>
            <p:cxnSp>
              <p:nvCxnSpPr>
                <p:cNvPr id="30762" name="AutoShape 72"/>
                <p:cNvCxnSpPr>
                  <a:cxnSpLocks noChangeShapeType="1"/>
                  <a:stCxn id="30761" idx="3"/>
                  <a:endCxn id="30754" idx="1"/>
                </p:cNvCxnSpPr>
                <p:nvPr/>
              </p:nvCxnSpPr>
              <p:spPr bwMode="auto">
                <a:xfrm>
                  <a:off x="4141" y="3309"/>
                  <a:ext cx="192" cy="0"/>
                </a:xfrm>
                <a:prstGeom prst="straightConnector1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grpSp>
          <p:nvGrpSpPr>
            <p:cNvPr id="30734" name="Group 73"/>
            <p:cNvGrpSpPr>
              <a:grpSpLocks/>
            </p:cNvGrpSpPr>
            <p:nvPr/>
          </p:nvGrpSpPr>
          <p:grpSpPr bwMode="auto">
            <a:xfrm>
              <a:off x="1597" y="3600"/>
              <a:ext cx="408" cy="294"/>
              <a:chOff x="1597" y="3498"/>
              <a:chExt cx="408" cy="294"/>
            </a:xfrm>
          </p:grpSpPr>
          <p:sp>
            <p:nvSpPr>
              <p:cNvPr id="30752" name="Text Box 74"/>
              <p:cNvSpPr txBox="1">
                <a:spLocks noChangeArrowheads="1"/>
              </p:cNvSpPr>
              <p:nvPr/>
            </p:nvSpPr>
            <p:spPr bwMode="auto">
              <a:xfrm>
                <a:off x="1597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1</a:t>
                </a:r>
              </a:p>
            </p:txBody>
          </p:sp>
          <p:cxnSp>
            <p:nvCxnSpPr>
              <p:cNvPr id="30753" name="AutoShape 75"/>
              <p:cNvCxnSpPr>
                <a:cxnSpLocks noChangeShapeType="1"/>
                <a:stCxn id="30752" idx="3"/>
                <a:endCxn id="30750" idx="1"/>
              </p:cNvCxnSpPr>
              <p:nvPr/>
            </p:nvCxnSpPr>
            <p:spPr bwMode="auto">
              <a:xfrm>
                <a:off x="1826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0735" name="Group 76"/>
            <p:cNvGrpSpPr>
              <a:grpSpLocks/>
            </p:cNvGrpSpPr>
            <p:nvPr/>
          </p:nvGrpSpPr>
          <p:grpSpPr bwMode="auto">
            <a:xfrm>
              <a:off x="2005" y="3600"/>
              <a:ext cx="408" cy="294"/>
              <a:chOff x="2005" y="3498"/>
              <a:chExt cx="408" cy="294"/>
            </a:xfrm>
          </p:grpSpPr>
          <p:sp>
            <p:nvSpPr>
              <p:cNvPr id="30750" name="Text Box 77"/>
              <p:cNvSpPr txBox="1">
                <a:spLocks noChangeArrowheads="1"/>
              </p:cNvSpPr>
              <p:nvPr/>
            </p:nvSpPr>
            <p:spPr bwMode="auto">
              <a:xfrm>
                <a:off x="2005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2</a:t>
                </a:r>
              </a:p>
            </p:txBody>
          </p:sp>
          <p:cxnSp>
            <p:nvCxnSpPr>
              <p:cNvPr id="30751" name="AutoShape 78"/>
              <p:cNvCxnSpPr>
                <a:cxnSpLocks noChangeShapeType="1"/>
                <a:stCxn id="30750" idx="3"/>
                <a:endCxn id="30748" idx="1"/>
              </p:cNvCxnSpPr>
              <p:nvPr/>
            </p:nvCxnSpPr>
            <p:spPr bwMode="auto">
              <a:xfrm>
                <a:off x="2234" y="3645"/>
                <a:ext cx="179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0736" name="Group 79"/>
            <p:cNvGrpSpPr>
              <a:grpSpLocks/>
            </p:cNvGrpSpPr>
            <p:nvPr/>
          </p:nvGrpSpPr>
          <p:grpSpPr bwMode="auto">
            <a:xfrm>
              <a:off x="2413" y="3606"/>
              <a:ext cx="397" cy="294"/>
              <a:chOff x="2413" y="3498"/>
              <a:chExt cx="397" cy="294"/>
            </a:xfrm>
          </p:grpSpPr>
          <p:sp>
            <p:nvSpPr>
              <p:cNvPr id="30748" name="Text Box 80"/>
              <p:cNvSpPr txBox="1">
                <a:spLocks noChangeArrowheads="1"/>
              </p:cNvSpPr>
              <p:nvPr/>
            </p:nvSpPr>
            <p:spPr bwMode="auto">
              <a:xfrm>
                <a:off x="2413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3</a:t>
                </a:r>
              </a:p>
            </p:txBody>
          </p:sp>
          <p:cxnSp>
            <p:nvCxnSpPr>
              <p:cNvPr id="30749" name="AutoShape 81"/>
              <p:cNvCxnSpPr>
                <a:cxnSpLocks noChangeShapeType="1"/>
                <a:stCxn id="30748" idx="3"/>
                <a:endCxn id="30746" idx="1"/>
              </p:cNvCxnSpPr>
              <p:nvPr/>
            </p:nvCxnSpPr>
            <p:spPr bwMode="auto">
              <a:xfrm>
                <a:off x="2642" y="3645"/>
                <a:ext cx="168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0737" name="Group 82"/>
            <p:cNvGrpSpPr>
              <a:grpSpLocks/>
            </p:cNvGrpSpPr>
            <p:nvPr/>
          </p:nvGrpSpPr>
          <p:grpSpPr bwMode="auto">
            <a:xfrm>
              <a:off x="2810" y="3600"/>
              <a:ext cx="382" cy="294"/>
              <a:chOff x="2810" y="3498"/>
              <a:chExt cx="382" cy="294"/>
            </a:xfrm>
          </p:grpSpPr>
          <p:sp>
            <p:nvSpPr>
              <p:cNvPr id="30746" name="Text Box 83"/>
              <p:cNvSpPr txBox="1">
                <a:spLocks noChangeArrowheads="1"/>
              </p:cNvSpPr>
              <p:nvPr/>
            </p:nvSpPr>
            <p:spPr bwMode="auto">
              <a:xfrm>
                <a:off x="2810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5</a:t>
                </a:r>
              </a:p>
            </p:txBody>
          </p:sp>
          <p:cxnSp>
            <p:nvCxnSpPr>
              <p:cNvPr id="30747" name="AutoShape 84"/>
              <p:cNvCxnSpPr>
                <a:cxnSpLocks noChangeShapeType="1"/>
                <a:stCxn id="30746" idx="3"/>
                <a:endCxn id="30744" idx="1"/>
              </p:cNvCxnSpPr>
              <p:nvPr/>
            </p:nvCxnSpPr>
            <p:spPr bwMode="auto">
              <a:xfrm>
                <a:off x="3039" y="3645"/>
                <a:ext cx="153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30738" name="Group 85"/>
            <p:cNvGrpSpPr>
              <a:grpSpLocks/>
            </p:cNvGrpSpPr>
            <p:nvPr/>
          </p:nvGrpSpPr>
          <p:grpSpPr bwMode="auto">
            <a:xfrm>
              <a:off x="3192" y="3600"/>
              <a:ext cx="373" cy="294"/>
              <a:chOff x="3192" y="3498"/>
              <a:chExt cx="373" cy="294"/>
            </a:xfrm>
          </p:grpSpPr>
          <p:sp>
            <p:nvSpPr>
              <p:cNvPr id="30744" name="Text Box 86"/>
              <p:cNvSpPr txBox="1">
                <a:spLocks noChangeArrowheads="1"/>
              </p:cNvSpPr>
              <p:nvPr/>
            </p:nvSpPr>
            <p:spPr bwMode="auto">
              <a:xfrm>
                <a:off x="3192" y="3498"/>
                <a:ext cx="229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8</a:t>
                </a:r>
              </a:p>
            </p:txBody>
          </p:sp>
          <p:cxnSp>
            <p:nvCxnSpPr>
              <p:cNvPr id="30745" name="AutoShape 87"/>
              <p:cNvCxnSpPr>
                <a:cxnSpLocks noChangeShapeType="1"/>
                <a:stCxn id="30744" idx="3"/>
                <a:endCxn id="30739" idx="1"/>
              </p:cNvCxnSpPr>
              <p:nvPr/>
            </p:nvCxnSpPr>
            <p:spPr bwMode="auto">
              <a:xfrm>
                <a:off x="342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30739" name="Text Box 89"/>
            <p:cNvSpPr txBox="1">
              <a:spLocks noChangeArrowheads="1"/>
            </p:cNvSpPr>
            <p:nvPr/>
          </p:nvSpPr>
          <p:spPr bwMode="auto">
            <a:xfrm>
              <a:off x="3565" y="3600"/>
              <a:ext cx="371" cy="294"/>
            </a:xfrm>
            <a:prstGeom prst="rect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13</a:t>
              </a:r>
            </a:p>
          </p:txBody>
        </p:sp>
        <p:cxnSp>
          <p:nvCxnSpPr>
            <p:cNvPr id="30740" name="AutoShape 90"/>
            <p:cNvCxnSpPr>
              <a:cxnSpLocks noChangeShapeType="1"/>
              <a:stCxn id="30739" idx="3"/>
              <a:endCxn id="30742" idx="1"/>
            </p:cNvCxnSpPr>
            <p:nvPr/>
          </p:nvCxnSpPr>
          <p:spPr bwMode="auto">
            <a:xfrm>
              <a:off x="3936" y="3747"/>
              <a:ext cx="109" cy="0"/>
            </a:xfrm>
            <a:prstGeom prst="straightConnector1">
              <a:avLst/>
            </a:prstGeom>
            <a:noFill/>
            <a:ln w="9525">
              <a:solidFill>
                <a:schemeClr val="accent2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30741" name="Group 91"/>
            <p:cNvGrpSpPr>
              <a:grpSpLocks/>
            </p:cNvGrpSpPr>
            <p:nvPr/>
          </p:nvGrpSpPr>
          <p:grpSpPr bwMode="auto">
            <a:xfrm>
              <a:off x="4045" y="3600"/>
              <a:ext cx="480" cy="294"/>
              <a:chOff x="4045" y="3498"/>
              <a:chExt cx="480" cy="294"/>
            </a:xfrm>
          </p:grpSpPr>
          <p:sp>
            <p:nvSpPr>
              <p:cNvPr id="30742" name="Text Box 92"/>
              <p:cNvSpPr txBox="1">
                <a:spLocks noChangeArrowheads="1"/>
              </p:cNvSpPr>
              <p:nvPr/>
            </p:nvSpPr>
            <p:spPr bwMode="auto">
              <a:xfrm>
                <a:off x="4045" y="3498"/>
                <a:ext cx="336" cy="294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defTabSz="4572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US" altLang="en-US" sz="2400">
                    <a:latin typeface="Arial Unicode MS" panose="020B0604020202020204" pitchFamily="34" charset="-128"/>
                    <a:ea typeface="ＭＳ Ｐゴシック" panose="020B0600070205080204" pitchFamily="34" charset="-128"/>
                    <a:cs typeface="Arial Unicode MS" panose="020B0604020202020204" pitchFamily="34" charset="-128"/>
                  </a:rPr>
                  <a:t>21</a:t>
                </a:r>
              </a:p>
            </p:txBody>
          </p:sp>
          <p:cxnSp>
            <p:nvCxnSpPr>
              <p:cNvPr id="30743" name="AutoShape 93"/>
              <p:cNvCxnSpPr>
                <a:cxnSpLocks noChangeShapeType="1"/>
                <a:stCxn id="30742" idx="3"/>
                <a:endCxn id="30732" idx="1"/>
              </p:cNvCxnSpPr>
              <p:nvPr/>
            </p:nvCxnSpPr>
            <p:spPr bwMode="auto">
              <a:xfrm>
                <a:off x="4381" y="3645"/>
                <a:ext cx="144" cy="0"/>
              </a:xfrm>
              <a:prstGeom prst="straightConnector1">
                <a:avLst/>
              </a:prstGeom>
              <a:noFill/>
              <a:ln w="9525">
                <a:solidFill>
                  <a:schemeClr val="accent2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grpSp>
        <p:nvGrpSpPr>
          <p:cNvPr id="30726" name="Group 52"/>
          <p:cNvGrpSpPr>
            <a:grpSpLocks/>
          </p:cNvGrpSpPr>
          <p:nvPr/>
        </p:nvGrpSpPr>
        <p:grpSpPr bwMode="auto">
          <a:xfrm>
            <a:off x="9296400" y="3438525"/>
            <a:ext cx="1168400" cy="914400"/>
            <a:chOff x="4896" y="2172"/>
            <a:chExt cx="736" cy="576"/>
          </a:xfrm>
        </p:grpSpPr>
        <p:sp>
          <p:nvSpPr>
            <p:cNvPr id="30730" name="Text Box 45"/>
            <p:cNvSpPr txBox="1">
              <a:spLocks noChangeArrowheads="1"/>
            </p:cNvSpPr>
            <p:nvPr/>
          </p:nvSpPr>
          <p:spPr bwMode="auto">
            <a:xfrm>
              <a:off x="4896" y="2172"/>
              <a:ext cx="671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 b="1" i="1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Brutus</a:t>
              </a:r>
            </a:p>
          </p:txBody>
        </p:sp>
        <p:sp>
          <p:nvSpPr>
            <p:cNvPr id="30731" name="Text Box 46"/>
            <p:cNvSpPr txBox="1">
              <a:spLocks noChangeArrowheads="1"/>
            </p:cNvSpPr>
            <p:nvPr/>
          </p:nvSpPr>
          <p:spPr bwMode="auto">
            <a:xfrm>
              <a:off x="4896" y="2460"/>
              <a:ext cx="736" cy="288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r>
                <a:rPr lang="en-US" altLang="en-US" sz="2400" b="1" i="1">
                  <a:latin typeface="Arial Unicode MS" panose="020B0604020202020204" pitchFamily="34" charset="-128"/>
                  <a:ea typeface="ＭＳ Ｐゴシック" panose="020B0600070205080204" pitchFamily="34" charset="-128"/>
                  <a:cs typeface="Arial Unicode MS" panose="020B0604020202020204" pitchFamily="34" charset="-128"/>
                </a:rPr>
                <a:t>Caesar</a:t>
              </a:r>
            </a:p>
          </p:txBody>
        </p:sp>
      </p:grpSp>
      <p:sp>
        <p:nvSpPr>
          <p:cNvPr id="1211439" name="AutoShape 47"/>
          <p:cNvSpPr>
            <a:spLocks noChangeArrowheads="1"/>
          </p:cNvSpPr>
          <p:nvPr/>
        </p:nvSpPr>
        <p:spPr bwMode="auto">
          <a:xfrm rot="10800000">
            <a:off x="3289872" y="3590807"/>
            <a:ext cx="368747" cy="733663"/>
          </a:xfrm>
          <a:prstGeom prst="notchedRightArrow">
            <a:avLst>
              <a:gd name="adj1" fmla="val 50000"/>
              <a:gd name="adj2" fmla="val 50245"/>
            </a:avLst>
          </a:prstGeom>
          <a:solidFill>
            <a:srgbClr val="C0504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211490" name="Text Box 98"/>
          <p:cNvSpPr txBox="1">
            <a:spLocks noChangeArrowheads="1"/>
          </p:cNvSpPr>
          <p:nvPr/>
        </p:nvSpPr>
        <p:spPr bwMode="auto">
          <a:xfrm>
            <a:off x="1905001" y="5221288"/>
            <a:ext cx="81375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If the list lengths are </a:t>
            </a:r>
            <a:r>
              <a:rPr lang="en-US" altLang="en-US" sz="2400" i="1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x</a:t>
            </a:r>
            <a:r>
              <a:rPr lang="en-US" altLang="en-US" sz="2400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 and </a:t>
            </a:r>
            <a:r>
              <a:rPr lang="en-US" altLang="en-US" sz="2400" i="1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y</a:t>
            </a:r>
            <a:r>
              <a:rPr lang="en-US" altLang="en-US" sz="2400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, the merge takes O(</a:t>
            </a:r>
            <a:r>
              <a:rPr lang="en-US" altLang="en-US" sz="2400" i="1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x+y</a:t>
            </a:r>
            <a:r>
              <a:rPr lang="en-US" altLang="en-US" sz="2400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)</a:t>
            </a:r>
          </a:p>
          <a:p>
            <a:r>
              <a:rPr lang="en-US" altLang="en-US" sz="2400">
                <a:solidFill>
                  <a:srgbClr val="C0504D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operations.</a:t>
            </a:r>
          </a:p>
          <a:p>
            <a:r>
              <a:rPr lang="en-US" altLang="en-US" sz="2400" u="sng">
                <a:solidFill>
                  <a:srgbClr val="357E69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Crucial</a:t>
            </a:r>
            <a:r>
              <a:rPr lang="en-US" altLang="en-US" sz="2400">
                <a:solidFill>
                  <a:srgbClr val="357E69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: postings sorted by docID.</a:t>
            </a:r>
          </a:p>
        </p:txBody>
      </p:sp>
      <p:sp>
        <p:nvSpPr>
          <p:cNvPr id="30729" name="TextBox 96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1.3</a:t>
            </a:r>
          </a:p>
        </p:txBody>
      </p:sp>
    </p:spTree>
    <p:extLst>
      <p:ext uri="{BB962C8B-B14F-4D97-AF65-F5344CB8AC3E}">
        <p14:creationId xmlns:p14="http://schemas.microsoft.com/office/powerpoint/2010/main" val="3717533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114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114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1439" grpId="0" animBg="1"/>
      <p:bldP spid="1211490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4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Intersecting two postings lists</a:t>
            </a:r>
            <a:br>
              <a:rPr lang="en-US" dirty="0">
                <a:ea typeface="ＭＳ Ｐゴシック" charset="0"/>
                <a:cs typeface="ＭＳ Ｐゴシック" charset="0"/>
              </a:rPr>
            </a:br>
            <a:r>
              <a:rPr lang="en-US" dirty="0">
                <a:ea typeface="ＭＳ Ｐゴシック" charset="0"/>
                <a:cs typeface="ＭＳ Ｐゴシック" charset="0"/>
              </a:rPr>
              <a:t>(a “merge” algorithm)</a:t>
            </a:r>
          </a:p>
        </p:txBody>
      </p:sp>
      <p:sp>
        <p:nvSpPr>
          <p:cNvPr id="31747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0374BB06-AF21-46A2-B2E2-6A5731A69E43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33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pic>
        <p:nvPicPr>
          <p:cNvPr id="31748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1609726"/>
            <a:ext cx="6858000" cy="511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96524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Boolean queries: Exact match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8229600" cy="4876800"/>
          </a:xfrm>
        </p:spPr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The </a:t>
            </a:r>
            <a:r>
              <a:rPr lang="en-US" dirty="0">
                <a:solidFill>
                  <a:srgbClr val="139CB7"/>
                </a:solidFill>
                <a:ea typeface="ＭＳ Ｐゴシック" charset="0"/>
                <a:cs typeface="ＭＳ Ｐゴシック" charset="0"/>
              </a:rPr>
              <a:t>Boolean retrieval model</a:t>
            </a:r>
            <a:r>
              <a:rPr lang="en-US" dirty="0">
                <a:ea typeface="ＭＳ Ｐゴシック" charset="0"/>
                <a:cs typeface="ＭＳ Ｐゴシック" charset="0"/>
              </a:rPr>
              <a:t> is being able to ask a query that is a Boolean expression: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Boolean Queries are queries using </a:t>
            </a:r>
            <a:r>
              <a:rPr lang="en-US" i="1" dirty="0">
                <a:ea typeface="ＭＳ Ｐゴシック" charset="0"/>
              </a:rPr>
              <a:t>AND, OR</a:t>
            </a:r>
            <a:r>
              <a:rPr lang="en-US" dirty="0">
                <a:ea typeface="ＭＳ Ｐゴシック" charset="0"/>
              </a:rPr>
              <a:t> and </a:t>
            </a:r>
            <a:r>
              <a:rPr lang="en-US" i="1" dirty="0">
                <a:ea typeface="ＭＳ Ｐゴシック" charset="0"/>
              </a:rPr>
              <a:t>NOT</a:t>
            </a:r>
            <a:r>
              <a:rPr lang="en-US" dirty="0">
                <a:ea typeface="ＭＳ Ｐゴシック" charset="0"/>
              </a:rPr>
              <a:t> to join query terms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ea typeface="ＭＳ Ｐゴシック" charset="0"/>
              </a:rPr>
              <a:t>Views each document as a </a:t>
            </a:r>
            <a:r>
              <a:rPr lang="en-US" u="sng" dirty="0">
                <a:ea typeface="ＭＳ Ｐゴシック" charset="0"/>
              </a:rPr>
              <a:t>set</a:t>
            </a:r>
            <a:r>
              <a:rPr lang="en-US" dirty="0">
                <a:ea typeface="ＭＳ Ｐゴシック" charset="0"/>
              </a:rPr>
              <a:t> of words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ea typeface="ＭＳ Ｐゴシック" charset="0"/>
              </a:rPr>
              <a:t>Is precise: document matches condition or not.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</a:rPr>
              <a:t>Perhaps the simplest model to build an IR system on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Primary commercial retrieval tool for 3 decades. 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Many search systems you still use are Boolean: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ea typeface="ＭＳ Ｐゴシック" charset="0"/>
                <a:cs typeface="ＭＳ Ｐゴシック" charset="0"/>
              </a:rPr>
              <a:t>Email, library catalog, Mac OS X Spotlight</a:t>
            </a:r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1325B1BE-8EA6-4436-A249-876DEA426225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34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3797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1.3</a:t>
            </a:r>
          </a:p>
        </p:txBody>
      </p:sp>
    </p:spTree>
    <p:extLst>
      <p:ext uri="{BB962C8B-B14F-4D97-AF65-F5344CB8AC3E}">
        <p14:creationId xmlns:p14="http://schemas.microsoft.com/office/powerpoint/2010/main" val="267280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Example: WestLaw   </a:t>
            </a:r>
            <a:r>
              <a:rPr lang="en-US" altLang="en-US" sz="2000">
                <a:solidFill>
                  <a:srgbClr val="008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http://www.westlaw.com/</a:t>
            </a:r>
          </a:p>
        </p:txBody>
      </p:sp>
      <p:sp>
        <p:nvSpPr>
          <p:cNvPr id="47107" name="Rectangle 1027"/>
          <p:cNvSpPr>
            <a:spLocks noGrp="1" noChangeArrowheads="1"/>
          </p:cNvSpPr>
          <p:nvPr>
            <p:ph idx="1"/>
          </p:nvPr>
        </p:nvSpPr>
        <p:spPr>
          <a:xfrm>
            <a:off x="2209800" y="1752600"/>
            <a:ext cx="8001000" cy="4876800"/>
          </a:xfrm>
        </p:spPr>
        <p:txBody>
          <a:bodyPr rtlCol="0">
            <a:normAutofit/>
          </a:bodyPr>
          <a:lstStyle/>
          <a:p>
            <a:pP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Largest commercial (paying subscribers) legal search service (started 1975; ranking added 1992; new federated search added 2010)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Tens of terabytes of data; ~700,000 users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Majority of users </a:t>
            </a:r>
            <a:r>
              <a:rPr lang="en-US" i="1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still 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use </a:t>
            </a:r>
            <a:r>
              <a:rPr lang="en-US" dirty="0" err="1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boolean</a:t>
            </a: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 queries</a:t>
            </a:r>
          </a:p>
          <a:p>
            <a:pPr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Example query: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ea typeface="ＭＳ Ｐゴシック" charset="0"/>
                <a:cs typeface="Arial" charset="0"/>
              </a:rPr>
              <a:t>What is the statute of limitations in cases involving the federal tort claims act?</a:t>
            </a:r>
          </a:p>
          <a:p>
            <a:pPr lvl="1">
              <a:buFont typeface="Arial"/>
              <a:buChar char="–"/>
              <a:defRPr/>
            </a:pPr>
            <a:r>
              <a:rPr lang="en-US" dirty="0">
                <a:solidFill>
                  <a:srgbClr val="357E69"/>
                </a:solidFill>
                <a:latin typeface="Arial" charset="0"/>
                <a:ea typeface="ＭＳ Ｐゴシック" charset="0"/>
                <a:cs typeface="Arial" charset="0"/>
              </a:rPr>
              <a:t>LIMIT! /3 STATUTE ACTION /S FEDERAL /2 TORT /3 CLAIM</a:t>
            </a:r>
          </a:p>
          <a:p>
            <a:pPr lvl="2">
              <a:buFont typeface="Arial"/>
              <a:buChar char="•"/>
              <a:defRPr/>
            </a:pPr>
            <a:r>
              <a:rPr lang="en-US" dirty="0">
                <a:latin typeface="Arial" charset="0"/>
                <a:ea typeface="ＭＳ Ｐゴシック" charset="0"/>
                <a:cs typeface="Arial" charset="0"/>
              </a:rPr>
              <a:t>/3 = within 3 words, /S = in same sentence</a:t>
            </a:r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98A7DC8-8121-4DBC-BECB-DB407993524E}" type="slidenum">
              <a:rPr lang="en-US" altLang="en-US">
                <a:solidFill>
                  <a:srgbClr val="898989"/>
                </a:solidFill>
                <a:ea typeface="ＭＳ Ｐゴシック" panose="020B0600070205080204" pitchFamily="34" charset="-128"/>
                <a:cs typeface="Arial Unicode MS" panose="020B0604020202020204" pitchFamily="34" charset="-128"/>
              </a:rPr>
              <a:pPr/>
              <a:t>35</a:t>
            </a:fld>
            <a:endParaRPr lang="en-US" altLang="en-US">
              <a:solidFill>
                <a:srgbClr val="898989"/>
              </a:solidFill>
              <a:ea typeface="ＭＳ Ｐゴシック" panose="020B060007020508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34821" name="TextBox 4"/>
          <p:cNvSpPr txBox="1">
            <a:spLocks noChangeArrowheads="1"/>
          </p:cNvSpPr>
          <p:nvPr/>
        </p:nvSpPr>
        <p:spPr bwMode="auto">
          <a:xfrm>
            <a:off x="9144001" y="-33338"/>
            <a:ext cx="96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600">
                <a:solidFill>
                  <a:srgbClr val="FBFCFF"/>
                </a:solidFill>
                <a:latin typeface="Lucida Sans" panose="020B0602030504020204" pitchFamily="34" charset="0"/>
                <a:ea typeface="ＭＳ Ｐゴシック" panose="020B0600070205080204" pitchFamily="34" charset="-128"/>
                <a:cs typeface="Arial Unicode MS" panose="020B0604020202020204" pitchFamily="34" charset="-128"/>
              </a:rPr>
              <a:t>Sec. 1.4</a:t>
            </a:r>
          </a:p>
        </p:txBody>
      </p:sp>
    </p:spTree>
    <p:extLst>
      <p:ext uri="{BB962C8B-B14F-4D97-AF65-F5344CB8AC3E}">
        <p14:creationId xmlns:p14="http://schemas.microsoft.com/office/powerpoint/2010/main" val="15185913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Inverted Index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95406" y="1928802"/>
            <a:ext cx="8429684" cy="57150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en-US" dirty="0">
                <a:latin typeface="+mj-lt"/>
              </a:rPr>
              <a:t>For each term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, we store a list of all documents that contain</a:t>
            </a:r>
            <a:r>
              <a:rPr lang="en-US" i="1" dirty="0">
                <a:latin typeface="+mj-lt"/>
              </a:rPr>
              <a:t> t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pic>
        <p:nvPicPr>
          <p:cNvPr id="9" name="Picture 8" descr="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084" y="2428869"/>
            <a:ext cx="8402196" cy="33299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166910" y="5786456"/>
            <a:ext cx="78581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</a:rPr>
              <a:t>dictionary							  postings </a:t>
            </a:r>
            <a:endParaRPr lang="de-DE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507413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572560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Intersecting two posting lists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pic>
        <p:nvPicPr>
          <p:cNvPr id="6" name="Picture 5" descr="2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8283" y="2555106"/>
            <a:ext cx="8642339" cy="1731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7322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Take-away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428868"/>
            <a:ext cx="8786842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Understanding of the basic unit of classical information retrieval systems: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words</a:t>
            </a:r>
            <a:r>
              <a:rPr lang="en-US" dirty="0">
                <a:latin typeface="+mj-lt"/>
              </a:rPr>
              <a:t> and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documents</a:t>
            </a:r>
            <a:r>
              <a:rPr lang="en-US" dirty="0">
                <a:latin typeface="+mj-lt"/>
              </a:rPr>
              <a:t>: What is a document, what is a term?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Tokenization: how to get from raw text to words (or tokens)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572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39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Documents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428868"/>
            <a:ext cx="8786842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Simple Boolean retrieval system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Our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assumptions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were</a:t>
            </a:r>
            <a:r>
              <a:rPr lang="de-DE" dirty="0">
                <a:latin typeface="+mj-lt"/>
              </a:rPr>
              <a:t>: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We know what a document is.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We can “machine-read” each document.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This can be complex in reality.</a:t>
            </a:r>
            <a:endParaRPr lang="en-US" sz="88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788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Parsing a document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214554"/>
            <a:ext cx="8786842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need to deal with format and language of each document.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What format is it in? </a:t>
            </a:r>
            <a:r>
              <a:rPr lang="en-US" dirty="0" err="1">
                <a:latin typeface="+mj-lt"/>
              </a:rPr>
              <a:t>pdf</a:t>
            </a:r>
            <a:r>
              <a:rPr lang="en-US" dirty="0">
                <a:latin typeface="+mj-lt"/>
              </a:rPr>
              <a:t>, word, excel, html etc.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What language is it in?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What character set is in use?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of these is a classification problem, which we will study later in this course (IIR 13).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Alternative: </a:t>
            </a:r>
            <a:r>
              <a:rPr lang="de-DE" dirty="0" err="1">
                <a:latin typeface="+mj-lt"/>
              </a:rPr>
              <a:t>use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heuristics</a:t>
            </a:r>
            <a:endParaRPr lang="en-US" sz="9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0165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Format/Language: </a:t>
            </a:r>
            <a:r>
              <a:rPr lang="de-DE" sz="3600" dirty="0" err="1">
                <a:latin typeface="+mj-lt"/>
              </a:rPr>
              <a:t>Complications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428736"/>
            <a:ext cx="8786842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single index usually contains terms of several languages.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 err="1">
                <a:latin typeface="+mj-lt"/>
              </a:rPr>
              <a:t>Sometimes</a:t>
            </a:r>
            <a:r>
              <a:rPr lang="de-DE" sz="2200" dirty="0">
                <a:latin typeface="+mj-lt"/>
              </a:rPr>
              <a:t> a </a:t>
            </a:r>
            <a:r>
              <a:rPr lang="de-DE" sz="2200" dirty="0" err="1">
                <a:latin typeface="+mj-lt"/>
              </a:rPr>
              <a:t>document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or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its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components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contain</a:t>
            </a:r>
            <a:r>
              <a:rPr lang="de-DE" sz="2200" dirty="0">
                <a:latin typeface="+mj-lt"/>
              </a:rPr>
              <a:t> multiple </a:t>
            </a:r>
            <a:r>
              <a:rPr lang="de-DE" sz="2200" dirty="0" err="1">
                <a:latin typeface="+mj-lt"/>
              </a:rPr>
              <a:t>languages</a:t>
            </a:r>
            <a:r>
              <a:rPr lang="de-DE" sz="2200" dirty="0">
                <a:latin typeface="+mj-lt"/>
              </a:rPr>
              <a:t>/</a:t>
            </a:r>
            <a:r>
              <a:rPr lang="de-DE" sz="2200" dirty="0" err="1">
                <a:latin typeface="+mj-lt"/>
              </a:rPr>
              <a:t>formats</a:t>
            </a:r>
            <a:r>
              <a:rPr lang="de-DE" sz="2200" dirty="0">
                <a:latin typeface="+mj-lt"/>
              </a:rPr>
              <a:t>.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sz="2200" dirty="0">
                <a:latin typeface="+mj-lt"/>
              </a:rPr>
              <a:t>French email with Spanish </a:t>
            </a:r>
            <a:r>
              <a:rPr lang="en-US" sz="2200" dirty="0" err="1">
                <a:latin typeface="+mj-lt"/>
              </a:rPr>
              <a:t>pdf</a:t>
            </a:r>
            <a:r>
              <a:rPr lang="en-US" sz="2200" dirty="0">
                <a:latin typeface="+mj-lt"/>
              </a:rPr>
              <a:t> attachment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What is the document unit for indexing?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A </a:t>
            </a:r>
            <a:r>
              <a:rPr lang="de-DE" dirty="0" err="1">
                <a:latin typeface="+mj-lt"/>
              </a:rPr>
              <a:t>file</a:t>
            </a:r>
            <a:r>
              <a:rPr lang="de-DE" dirty="0">
                <a:latin typeface="+mj-lt"/>
              </a:rPr>
              <a:t>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An email?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An email with 5 attachments?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group of files (</a:t>
            </a:r>
            <a:r>
              <a:rPr lang="en-US" dirty="0" err="1">
                <a:latin typeface="+mj-lt"/>
              </a:rPr>
              <a:t>ppt</a:t>
            </a:r>
            <a:r>
              <a:rPr lang="en-US" dirty="0">
                <a:latin typeface="+mj-lt"/>
              </a:rPr>
              <a:t> or latex in HTML)?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Upshot: Answering the question “what is a document?” is not trivial and requires some design decisions.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Also: XML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7222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Definitions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214554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Word</a:t>
            </a:r>
            <a:r>
              <a:rPr lang="en-US" dirty="0">
                <a:latin typeface="+mj-lt"/>
              </a:rPr>
              <a:t> – A delimited string of characters as it appears in the </a:t>
            </a:r>
            <a:r>
              <a:rPr lang="de-DE" dirty="0" err="1">
                <a:latin typeface="+mj-lt"/>
              </a:rPr>
              <a:t>text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Term </a:t>
            </a:r>
            <a:r>
              <a:rPr lang="en-US" dirty="0">
                <a:latin typeface="+mj-lt"/>
              </a:rPr>
              <a:t>– A “normalized” word (case, morphology, spelling etc); an equivalence class of words.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Token</a:t>
            </a:r>
            <a:r>
              <a:rPr lang="en-US" dirty="0">
                <a:latin typeface="+mj-lt"/>
              </a:rPr>
              <a:t> – An instance of a word or term occurring in a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70C0"/>
                </a:solidFill>
                <a:latin typeface="+mj-lt"/>
              </a:rPr>
              <a:t>Type</a:t>
            </a:r>
            <a:r>
              <a:rPr lang="en-US" dirty="0">
                <a:latin typeface="+mj-lt"/>
              </a:rPr>
              <a:t> – The same as a term in most cases: an equivalence </a:t>
            </a:r>
            <a:r>
              <a:rPr lang="de-DE" dirty="0" err="1">
                <a:latin typeface="+mj-lt"/>
              </a:rPr>
              <a:t>class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tokens</a:t>
            </a:r>
            <a:r>
              <a:rPr lang="de-DE" dirty="0">
                <a:latin typeface="+mj-lt"/>
              </a:rPr>
              <a:t>.</a:t>
            </a:r>
            <a:endParaRPr lang="en-US" sz="209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2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Normalization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571612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Need to “normalize” terms in indexed text as well as query terms into the same form.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Example: We want to match </a:t>
            </a:r>
            <a:r>
              <a:rPr lang="en-US" i="1" dirty="0">
                <a:latin typeface="+mj-lt"/>
              </a:rPr>
              <a:t>U.S.A. </a:t>
            </a:r>
            <a:r>
              <a:rPr lang="en-US" dirty="0">
                <a:latin typeface="+mj-lt"/>
              </a:rPr>
              <a:t>and</a:t>
            </a:r>
            <a:r>
              <a:rPr lang="en-US" i="1" dirty="0">
                <a:latin typeface="+mj-lt"/>
              </a:rPr>
              <a:t> USA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most commonly implicitly define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equivalence classes </a:t>
            </a:r>
            <a:r>
              <a:rPr lang="en-US" dirty="0">
                <a:latin typeface="+mj-lt"/>
              </a:rPr>
              <a:t>of </a:t>
            </a:r>
            <a:r>
              <a:rPr lang="de-DE" dirty="0" err="1">
                <a:latin typeface="+mj-lt"/>
              </a:rPr>
              <a:t>terms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Alternatively</a:t>
            </a:r>
            <a:r>
              <a:rPr lang="de-DE" dirty="0">
                <a:latin typeface="+mj-lt"/>
              </a:rPr>
              <a:t>: do </a:t>
            </a:r>
            <a:r>
              <a:rPr lang="de-DE" dirty="0" err="1">
                <a:latin typeface="+mj-lt"/>
              </a:rPr>
              <a:t>asymmetric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expansion</a:t>
            </a:r>
            <a:endParaRPr lang="de-DE" dirty="0">
              <a:latin typeface="+mj-lt"/>
            </a:endParaRPr>
          </a:p>
          <a:p>
            <a:pPr lvl="2"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 err="1">
                <a:latin typeface="+mj-lt"/>
              </a:rPr>
              <a:t>window</a:t>
            </a:r>
            <a:r>
              <a:rPr lang="de-DE" sz="2200" dirty="0">
                <a:latin typeface="+mj-lt"/>
              </a:rPr>
              <a:t> → </a:t>
            </a:r>
            <a:r>
              <a:rPr lang="de-DE" sz="2200" dirty="0" err="1">
                <a:latin typeface="+mj-lt"/>
              </a:rPr>
              <a:t>window</a:t>
            </a:r>
            <a:r>
              <a:rPr lang="de-DE" sz="2200" dirty="0">
                <a:latin typeface="+mj-lt"/>
              </a:rPr>
              <a:t>, </a:t>
            </a:r>
            <a:r>
              <a:rPr lang="de-DE" sz="2200" dirty="0" err="1">
                <a:latin typeface="+mj-lt"/>
              </a:rPr>
              <a:t>windows</a:t>
            </a:r>
            <a:endParaRPr lang="de-DE" sz="2200" dirty="0">
              <a:latin typeface="+mj-lt"/>
            </a:endParaRPr>
          </a:p>
          <a:p>
            <a:pPr lvl="2"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 err="1">
                <a:latin typeface="+mj-lt"/>
              </a:rPr>
              <a:t>windows</a:t>
            </a:r>
            <a:r>
              <a:rPr lang="de-DE" sz="2200" dirty="0">
                <a:latin typeface="+mj-lt"/>
              </a:rPr>
              <a:t> → Windows, </a:t>
            </a:r>
            <a:r>
              <a:rPr lang="de-DE" sz="2200" dirty="0" err="1">
                <a:latin typeface="+mj-lt"/>
              </a:rPr>
              <a:t>windows</a:t>
            </a:r>
            <a:endParaRPr lang="de-DE" sz="2200" dirty="0">
              <a:latin typeface="+mj-lt"/>
            </a:endParaRPr>
          </a:p>
          <a:p>
            <a:pPr lvl="2"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>
                <a:latin typeface="+mj-lt"/>
              </a:rPr>
              <a:t>Windows (</a:t>
            </a:r>
            <a:r>
              <a:rPr lang="de-DE" sz="2200" dirty="0" err="1">
                <a:latin typeface="+mj-lt"/>
              </a:rPr>
              <a:t>no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expansion</a:t>
            </a:r>
            <a:r>
              <a:rPr lang="de-DE" sz="2200" dirty="0">
                <a:latin typeface="+mj-lt"/>
              </a:rPr>
              <a:t>)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More powerful, but less efficient</a:t>
            </a:r>
          </a:p>
          <a:p>
            <a:pPr lvl="1"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Why don’t you want to put </a:t>
            </a:r>
            <a:r>
              <a:rPr lang="en-US" i="1" dirty="0">
                <a:solidFill>
                  <a:srgbClr val="00B050"/>
                </a:solidFill>
                <a:latin typeface="+mj-lt"/>
              </a:rPr>
              <a:t>window, Window, windows, 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and </a:t>
            </a:r>
            <a:r>
              <a:rPr lang="en-US" i="1" dirty="0">
                <a:solidFill>
                  <a:srgbClr val="00B050"/>
                </a:solidFill>
                <a:latin typeface="+mj-lt"/>
              </a:rPr>
              <a:t>Windows 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in the same equivalence class?</a:t>
            </a:r>
            <a:endParaRPr lang="en-US" sz="45600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8067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Recall: </a:t>
            </a:r>
            <a:r>
              <a:rPr lang="de-DE" sz="3600" dirty="0" err="1">
                <a:latin typeface="+mj-lt"/>
              </a:rPr>
              <a:t>Inverted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index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construction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928802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Input: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Output: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token is a candidate for a postings entry.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What are valid tokens to emit?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pic>
        <p:nvPicPr>
          <p:cNvPr id="8" name="Picture 7" descr="2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9786" y="2369347"/>
            <a:ext cx="7602342" cy="571504"/>
          </a:xfrm>
          <a:prstGeom prst="rect">
            <a:avLst/>
          </a:prstGeom>
        </p:spPr>
      </p:pic>
      <p:pic>
        <p:nvPicPr>
          <p:cNvPr id="9" name="Picture 8" descr="219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9786" y="3381396"/>
            <a:ext cx="456428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860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400" dirty="0">
                <a:latin typeface="+mj-lt"/>
              </a:rPr>
              <a:t>Tokenization problems: One word or two? (or several)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785926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Hewlett-Packard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State-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-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-</a:t>
            </a:r>
            <a:r>
              <a:rPr lang="de-DE" dirty="0" err="1">
                <a:latin typeface="+mj-lt"/>
              </a:rPr>
              <a:t>art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co-education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the</a:t>
            </a:r>
            <a:r>
              <a:rPr lang="de-DE" dirty="0">
                <a:latin typeface="+mj-lt"/>
              </a:rPr>
              <a:t> hold-</a:t>
            </a:r>
            <a:r>
              <a:rPr lang="de-DE" dirty="0" err="1">
                <a:latin typeface="+mj-lt"/>
              </a:rPr>
              <a:t>him</a:t>
            </a:r>
            <a:r>
              <a:rPr lang="de-DE" dirty="0">
                <a:latin typeface="+mj-lt"/>
              </a:rPr>
              <a:t>-back-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-</a:t>
            </a:r>
            <a:r>
              <a:rPr lang="de-DE" dirty="0" err="1">
                <a:latin typeface="+mj-lt"/>
              </a:rPr>
              <a:t>drag</a:t>
            </a:r>
            <a:r>
              <a:rPr lang="de-DE" dirty="0">
                <a:latin typeface="+mj-lt"/>
              </a:rPr>
              <a:t>-</a:t>
            </a:r>
            <a:r>
              <a:rPr lang="de-DE" dirty="0" err="1">
                <a:latin typeface="+mj-lt"/>
              </a:rPr>
              <a:t>him</a:t>
            </a:r>
            <a:r>
              <a:rPr lang="de-DE" dirty="0">
                <a:latin typeface="+mj-lt"/>
              </a:rPr>
              <a:t>-</a:t>
            </a:r>
            <a:r>
              <a:rPr lang="de-DE" dirty="0" err="1">
                <a:latin typeface="+mj-lt"/>
              </a:rPr>
              <a:t>away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maneuver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data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base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San Francisco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Los Angeles-</a:t>
            </a:r>
            <a:r>
              <a:rPr lang="de-DE" dirty="0" err="1">
                <a:latin typeface="+mj-lt"/>
              </a:rPr>
              <a:t>based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company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s-ES" dirty="0" err="1">
                <a:latin typeface="+mj-lt"/>
              </a:rPr>
              <a:t>cheap</a:t>
            </a:r>
            <a:r>
              <a:rPr lang="es-ES" dirty="0">
                <a:latin typeface="+mj-lt"/>
              </a:rPr>
              <a:t> San Francisco-Los </a:t>
            </a:r>
            <a:r>
              <a:rPr lang="es-ES" dirty="0" err="1">
                <a:latin typeface="+mj-lt"/>
              </a:rPr>
              <a:t>Angeles</a:t>
            </a:r>
            <a:r>
              <a:rPr lang="es-ES" dirty="0">
                <a:latin typeface="+mj-lt"/>
              </a:rPr>
              <a:t> fares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York University vs. New York University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1505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Numbers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785926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3/20/91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20/3/91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Mar 20, 1991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B-52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100.2.86.144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(800) 234-2333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800.234.2333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Older IR systems may not index numbers . . 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. . . but generally it’s a useful feature.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8270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Chinese: </a:t>
            </a:r>
            <a:r>
              <a:rPr lang="de-DE" sz="3600" dirty="0" err="1">
                <a:latin typeface="+mj-lt"/>
              </a:rPr>
              <a:t>No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whitespace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1785926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pic>
        <p:nvPicPr>
          <p:cNvPr id="8" name="Picture 7" descr="2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5473" y="2714620"/>
            <a:ext cx="7945907" cy="142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02535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Ambiguous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segmentation</a:t>
            </a:r>
            <a:r>
              <a:rPr lang="de-DE" sz="3600" dirty="0">
                <a:latin typeface="+mj-lt"/>
              </a:rPr>
              <a:t> in Chinese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2238348" y="4429132"/>
            <a:ext cx="7929618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dirty="0">
                <a:latin typeface="+mj-lt"/>
              </a:rPr>
              <a:t>The </a:t>
            </a:r>
            <a:r>
              <a:rPr lang="de-DE" dirty="0" err="1">
                <a:latin typeface="+mj-lt"/>
              </a:rPr>
              <a:t>two</a:t>
            </a:r>
            <a:r>
              <a:rPr lang="de-DE" dirty="0">
                <a:latin typeface="+mj-lt"/>
              </a:rPr>
              <a:t> </a:t>
            </a:r>
            <a:r>
              <a:rPr lang="en-US" dirty="0">
                <a:latin typeface="+mj-lt"/>
              </a:rPr>
              <a:t>characters can be treated as one word meaning ‘monk’ or as a sequence of two words meaning ‘and’ and ‘still’.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48</a:t>
            </a:fld>
            <a:endParaRPr lang="en-US" dirty="0"/>
          </a:p>
        </p:txBody>
      </p:sp>
      <p:pic>
        <p:nvPicPr>
          <p:cNvPr id="9" name="Picture 8" descr="2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6910" y="2071679"/>
            <a:ext cx="5203866" cy="231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988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49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Other cases of “no whitespace”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071678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Compounds in Dutch, German, Swedish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Computerlinguistik → Computer + Linguistik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Lebensversicherungsgesellschaftsangestellter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→ leben + </a:t>
            </a:r>
            <a:r>
              <a:rPr lang="de-DE" dirty="0" err="1">
                <a:latin typeface="+mj-lt"/>
              </a:rPr>
              <a:t>versicherung</a:t>
            </a:r>
            <a:r>
              <a:rPr lang="de-DE" dirty="0">
                <a:latin typeface="+mj-lt"/>
              </a:rPr>
              <a:t> + </a:t>
            </a:r>
            <a:r>
              <a:rPr lang="de-DE" dirty="0" err="1">
                <a:latin typeface="+mj-lt"/>
              </a:rPr>
              <a:t>gesellschaft</a:t>
            </a:r>
            <a:r>
              <a:rPr lang="de-DE" dirty="0">
                <a:latin typeface="+mj-lt"/>
              </a:rPr>
              <a:t> + angestellter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Inuit: </a:t>
            </a:r>
            <a:r>
              <a:rPr lang="de-DE" dirty="0" err="1">
                <a:latin typeface="+mj-lt"/>
              </a:rPr>
              <a:t>tusaatsiarunnanngittualuujunga</a:t>
            </a:r>
            <a:r>
              <a:rPr lang="de-DE" dirty="0">
                <a:latin typeface="+mj-lt"/>
              </a:rPr>
              <a:t> (I </a:t>
            </a:r>
            <a:r>
              <a:rPr lang="de-DE" dirty="0" err="1">
                <a:latin typeface="+mj-lt"/>
              </a:rPr>
              <a:t>can’t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hear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very</a:t>
            </a:r>
            <a:r>
              <a:rPr lang="de-DE" dirty="0">
                <a:latin typeface="+mj-lt"/>
              </a:rPr>
              <a:t> well.)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Many other languages with segmentation difficulties: Finnish, </a:t>
            </a:r>
            <a:r>
              <a:rPr lang="de-DE" dirty="0">
                <a:latin typeface="+mj-lt"/>
              </a:rPr>
              <a:t>Urdu, . . 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007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Japanese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4214818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dirty="0">
                <a:latin typeface="+mj-lt"/>
              </a:rPr>
              <a:t>	4 different “</a:t>
            </a:r>
            <a:r>
              <a:rPr lang="de-DE" dirty="0" err="1">
                <a:latin typeface="+mj-lt"/>
              </a:rPr>
              <a:t>alphabets</a:t>
            </a:r>
            <a:r>
              <a:rPr lang="de-DE" dirty="0">
                <a:latin typeface="+mj-lt"/>
              </a:rPr>
              <a:t>”: Chinese characters, </a:t>
            </a:r>
            <a:r>
              <a:rPr lang="de-DE" dirty="0" err="1">
                <a:latin typeface="+mj-lt"/>
              </a:rPr>
              <a:t>hiragana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syllabary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for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inflectional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endings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functional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words</a:t>
            </a:r>
            <a:r>
              <a:rPr lang="de-DE" dirty="0">
                <a:latin typeface="+mj-lt"/>
              </a:rPr>
              <a:t>, </a:t>
            </a:r>
            <a:r>
              <a:rPr lang="de-DE" dirty="0" err="1">
                <a:latin typeface="+mj-lt"/>
              </a:rPr>
              <a:t>katakana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syllabary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for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transcription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of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foreign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words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other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uses</a:t>
            </a:r>
            <a:r>
              <a:rPr lang="de-DE" dirty="0">
                <a:latin typeface="+mj-lt"/>
              </a:rPr>
              <a:t>, </a:t>
            </a:r>
            <a:r>
              <a:rPr lang="de-DE" dirty="0" err="1">
                <a:latin typeface="+mj-lt"/>
              </a:rPr>
              <a:t>and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latin</a:t>
            </a:r>
            <a:r>
              <a:rPr lang="de-DE" dirty="0">
                <a:latin typeface="+mj-lt"/>
              </a:rPr>
              <a:t>. </a:t>
            </a:r>
            <a:r>
              <a:rPr lang="de-DE" dirty="0" err="1">
                <a:latin typeface="+mj-lt"/>
              </a:rPr>
              <a:t>No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spaces</a:t>
            </a:r>
            <a:r>
              <a:rPr lang="de-DE" dirty="0">
                <a:latin typeface="+mj-lt"/>
              </a:rPr>
              <a:t> (</a:t>
            </a:r>
            <a:r>
              <a:rPr lang="de-DE" dirty="0" err="1">
                <a:latin typeface="+mj-lt"/>
              </a:rPr>
              <a:t>as</a:t>
            </a:r>
            <a:r>
              <a:rPr lang="de-DE" dirty="0">
                <a:latin typeface="+mj-lt"/>
              </a:rPr>
              <a:t> in Chinese). End </a:t>
            </a:r>
            <a:r>
              <a:rPr lang="de-DE" dirty="0" err="1">
                <a:latin typeface="+mj-lt"/>
              </a:rPr>
              <a:t>user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can</a:t>
            </a:r>
            <a:r>
              <a:rPr lang="de-DE" dirty="0">
                <a:latin typeface="+mj-lt"/>
              </a:rPr>
              <a:t> express </a:t>
            </a:r>
            <a:r>
              <a:rPr lang="de-DE" dirty="0" err="1">
                <a:latin typeface="+mj-lt"/>
              </a:rPr>
              <a:t>query</a:t>
            </a:r>
            <a:r>
              <a:rPr lang="de-DE" dirty="0">
                <a:latin typeface="+mj-lt"/>
              </a:rPr>
              <a:t>  </a:t>
            </a:r>
            <a:r>
              <a:rPr lang="de-DE" dirty="0" err="1">
                <a:latin typeface="+mj-lt"/>
              </a:rPr>
              <a:t>entirely</a:t>
            </a:r>
            <a:r>
              <a:rPr lang="de-DE" dirty="0">
                <a:latin typeface="+mj-lt"/>
              </a:rPr>
              <a:t> in </a:t>
            </a:r>
            <a:r>
              <a:rPr lang="de-DE" dirty="0" err="1">
                <a:latin typeface="+mj-lt"/>
              </a:rPr>
              <a:t>hiragana</a:t>
            </a:r>
            <a:r>
              <a:rPr lang="de-DE" dirty="0">
                <a:latin typeface="+mj-lt"/>
              </a:rPr>
              <a:t>! </a:t>
            </a: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pic>
        <p:nvPicPr>
          <p:cNvPr id="9" name="Picture 8" descr="2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040" y="1785926"/>
            <a:ext cx="7747612" cy="235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598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Arabic script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071678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51</a:t>
            </a:fld>
            <a:endParaRPr lang="en-US" dirty="0"/>
          </a:p>
        </p:txBody>
      </p:sp>
      <p:pic>
        <p:nvPicPr>
          <p:cNvPr id="8" name="Picture 7" descr="2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8348" y="2428868"/>
            <a:ext cx="5500726" cy="203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006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Arabic script: </a:t>
            </a:r>
            <a:r>
              <a:rPr lang="en-US" sz="3600" dirty="0" err="1">
                <a:latin typeface="+mj-lt"/>
              </a:rPr>
              <a:t>Bidirectionality</a:t>
            </a:r>
            <a:endParaRPr lang="en-US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809720" y="2928934"/>
            <a:ext cx="8643998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r>
              <a:rPr lang="de-DE" sz="3200" dirty="0">
                <a:latin typeface="+mj-lt"/>
              </a:rPr>
              <a:t> 				</a:t>
            </a:r>
            <a:r>
              <a:rPr lang="de-DE" dirty="0">
                <a:latin typeface="+mj-lt"/>
              </a:rPr>
              <a:t>	</a:t>
            </a:r>
            <a:r>
              <a:rPr lang="de-DE" dirty="0">
                <a:latin typeface="Calibri"/>
                <a:cs typeface="Calibri"/>
              </a:rPr>
              <a:t>←</a:t>
            </a:r>
            <a:r>
              <a:rPr lang="de-DE" dirty="0">
                <a:latin typeface="+mj-lt"/>
              </a:rPr>
              <a:t>	→		</a:t>
            </a:r>
            <a:r>
              <a:rPr lang="de-DE" dirty="0">
                <a:latin typeface="Calibri"/>
                <a:cs typeface="Calibri"/>
              </a:rPr>
              <a:t>←	→				←</a:t>
            </a:r>
            <a:r>
              <a:rPr lang="de-DE" dirty="0">
                <a:latin typeface="+mj-lt"/>
              </a:rPr>
              <a:t>	START</a:t>
            </a:r>
          </a:p>
          <a:p>
            <a:r>
              <a:rPr lang="en-US" sz="2000" dirty="0">
                <a:latin typeface="+mj-lt"/>
              </a:rPr>
              <a:t>‘Algeria achieved its independence in 1962 after 132 years of French occupation.’</a:t>
            </a:r>
          </a:p>
          <a:p>
            <a:endParaRPr lang="en-US" sz="2000" dirty="0">
              <a:latin typeface="+mj-lt"/>
            </a:endParaRPr>
          </a:p>
          <a:p>
            <a:r>
              <a:rPr lang="en-US" dirty="0">
                <a:latin typeface="+mj-lt"/>
              </a:rPr>
              <a:t>	</a:t>
            </a:r>
            <a:r>
              <a:rPr lang="en-US" dirty="0" err="1">
                <a:latin typeface="+mj-lt"/>
              </a:rPr>
              <a:t>Bidirectionality</a:t>
            </a:r>
            <a:r>
              <a:rPr lang="en-US" dirty="0">
                <a:latin typeface="+mj-lt"/>
              </a:rPr>
              <a:t> is not a problem if text is coded in Unicode.</a:t>
            </a:r>
            <a:endParaRPr lang="de-DE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52</a:t>
            </a:fld>
            <a:endParaRPr lang="en-US" dirty="0"/>
          </a:p>
        </p:txBody>
      </p:sp>
      <p:pic>
        <p:nvPicPr>
          <p:cNvPr id="11" name="Picture 10" descr="2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1158" y="2428868"/>
            <a:ext cx="7456006" cy="5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5850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Accents </a:t>
            </a:r>
            <a:r>
              <a:rPr lang="de-DE" sz="3600" dirty="0" err="1">
                <a:latin typeface="+mj-lt"/>
              </a:rPr>
              <a:t>and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diacritics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524000" y="2071678"/>
            <a:ext cx="8643966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Accents: r</a:t>
            </a:r>
            <a:r>
              <a:rPr lang="en-US" dirty="0">
                <a:latin typeface="Calibri"/>
                <a:cs typeface="Calibri"/>
              </a:rPr>
              <a:t>é</a:t>
            </a:r>
            <a:r>
              <a:rPr lang="en-US" dirty="0">
                <a:latin typeface="+mj-lt"/>
              </a:rPr>
              <a:t>sum</a:t>
            </a:r>
            <a:r>
              <a:rPr lang="en-US" dirty="0">
                <a:latin typeface="Calibri"/>
                <a:cs typeface="Calibri"/>
              </a:rPr>
              <a:t>é</a:t>
            </a:r>
            <a:r>
              <a:rPr lang="en-US" dirty="0">
                <a:latin typeface="+mj-lt"/>
              </a:rPr>
              <a:t> vs. resume (simple omission of accent)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Umlauts: </a:t>
            </a:r>
            <a:r>
              <a:rPr lang="en-US" dirty="0" err="1">
                <a:latin typeface="+mj-lt"/>
              </a:rPr>
              <a:t>Universit</a:t>
            </a:r>
            <a:r>
              <a:rPr lang="de-DE" dirty="0">
                <a:latin typeface="+mj-lt"/>
              </a:rPr>
              <a:t>ä</a:t>
            </a:r>
            <a:r>
              <a:rPr lang="en-US" dirty="0">
                <a:latin typeface="+mj-lt"/>
              </a:rPr>
              <a:t>t vs. </a:t>
            </a:r>
            <a:r>
              <a:rPr lang="en-US" dirty="0" err="1">
                <a:latin typeface="+mj-lt"/>
              </a:rPr>
              <a:t>Universitaet</a:t>
            </a:r>
            <a:r>
              <a:rPr lang="en-US" dirty="0">
                <a:latin typeface="+mj-lt"/>
              </a:rPr>
              <a:t> (substitution with </a:t>
            </a:r>
            <a:r>
              <a:rPr lang="de-DE" dirty="0" err="1">
                <a:latin typeface="+mj-lt"/>
              </a:rPr>
              <a:t>special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letter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sequence</a:t>
            </a:r>
            <a:r>
              <a:rPr lang="de-DE" dirty="0">
                <a:latin typeface="+mj-lt"/>
              </a:rPr>
              <a:t> “ae”)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Most important criterion: How are users likely to write their </a:t>
            </a:r>
            <a:r>
              <a:rPr lang="de-DE" dirty="0" err="1">
                <a:latin typeface="+mj-lt"/>
              </a:rPr>
              <a:t>queries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for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these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words</a:t>
            </a:r>
            <a:r>
              <a:rPr lang="de-DE" dirty="0">
                <a:latin typeface="+mj-lt"/>
              </a:rPr>
              <a:t>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Even in languages that </a:t>
            </a:r>
            <a:r>
              <a:rPr lang="en-US" dirty="0" err="1">
                <a:latin typeface="+mj-lt"/>
              </a:rPr>
              <a:t>standardly</a:t>
            </a:r>
            <a:r>
              <a:rPr lang="en-US" dirty="0">
                <a:latin typeface="+mj-lt"/>
              </a:rPr>
              <a:t> have accents, users often do not type them. (Polish?)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4881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Case folding</a:t>
            </a:r>
            <a:endParaRPr lang="de-DE" sz="3600" dirty="0">
              <a:latin typeface="+mj-lt"/>
            </a:endParaRP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2071678"/>
            <a:ext cx="8429684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Reduce all letters to lower case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Possible exceptions: capitalized words in mid-sentence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MIT vs. mit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Fed</a:t>
            </a:r>
            <a:r>
              <a:rPr lang="de-DE" dirty="0">
                <a:latin typeface="+mj-lt"/>
              </a:rPr>
              <a:t> vs. </a:t>
            </a:r>
            <a:r>
              <a:rPr lang="de-DE" dirty="0" err="1">
                <a:latin typeface="+mj-lt"/>
              </a:rPr>
              <a:t>fed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It’s often best to lowercase everything since users </a:t>
            </a:r>
            <a:r>
              <a:rPr lang="en-US">
                <a:latin typeface="+mj-lt"/>
              </a:rPr>
              <a:t>will use lowercase </a:t>
            </a:r>
            <a:r>
              <a:rPr lang="en-US" dirty="0">
                <a:latin typeface="+mj-lt"/>
              </a:rPr>
              <a:t>regardless of correct capitalization.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96774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Stop words</a:t>
            </a:r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1738282" y="1857364"/>
            <a:ext cx="8429684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stop words = extremely common words which would appear to be of little value in helping select documents matching a </a:t>
            </a:r>
            <a:r>
              <a:rPr lang="de-DE" dirty="0" err="1">
                <a:latin typeface="+mj-lt"/>
              </a:rPr>
              <a:t>user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need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Examples: </a:t>
            </a:r>
            <a:r>
              <a:rPr lang="en-US" i="1" dirty="0">
                <a:latin typeface="+mj-lt"/>
              </a:rPr>
              <a:t>a, an, and, are, as, at, be, by, for, from, has, he, in, is, it, its, of, on, that, the, to, was, were, will, with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Stop word elimination used to be standard in older IR systems.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But you need stop words for phrase queries, e.g. “King of </a:t>
            </a:r>
            <a:r>
              <a:rPr lang="de-DE" dirty="0" err="1">
                <a:latin typeface="+mj-lt"/>
              </a:rPr>
              <a:t>Denmark</a:t>
            </a:r>
            <a:r>
              <a:rPr lang="de-DE" dirty="0">
                <a:latin typeface="+mj-lt"/>
              </a:rPr>
              <a:t>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Most web search engines index stop words.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4252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Lemmatization 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90682" y="1857364"/>
            <a:ext cx="8429684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Reduce inflectional/variant forms to base form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Example: </a:t>
            </a:r>
            <a:r>
              <a:rPr lang="en-US" i="1" dirty="0">
                <a:latin typeface="+mj-lt"/>
              </a:rPr>
              <a:t>am, are, is → be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Example: </a:t>
            </a:r>
            <a:r>
              <a:rPr lang="en-US" i="1" dirty="0">
                <a:latin typeface="+mj-lt"/>
              </a:rPr>
              <a:t>car, cars, car’s, cars’ → car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Example: </a:t>
            </a:r>
            <a:r>
              <a:rPr lang="en-US" i="1" dirty="0">
                <a:latin typeface="+mj-lt"/>
              </a:rPr>
              <a:t>the boy’s cars are different colors → the boy car be </a:t>
            </a:r>
            <a:r>
              <a:rPr lang="de-DE" i="1" dirty="0">
                <a:latin typeface="+mj-lt"/>
              </a:rPr>
              <a:t>different </a:t>
            </a:r>
            <a:r>
              <a:rPr lang="de-DE" i="1" dirty="0" err="1">
                <a:latin typeface="+mj-lt"/>
              </a:rPr>
              <a:t>color</a:t>
            </a:r>
            <a:endParaRPr lang="de-DE" i="1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Lemmatization implies doing “proper” reduction to dictionary </a:t>
            </a:r>
            <a:r>
              <a:rPr lang="de-DE" dirty="0" err="1">
                <a:latin typeface="+mj-lt"/>
              </a:rPr>
              <a:t>headword</a:t>
            </a:r>
            <a:r>
              <a:rPr lang="de-DE" dirty="0">
                <a:latin typeface="+mj-lt"/>
              </a:rPr>
              <a:t> form (</a:t>
            </a:r>
            <a:r>
              <a:rPr lang="de-DE" dirty="0" err="1">
                <a:latin typeface="+mj-lt"/>
              </a:rPr>
              <a:t>the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lemma</a:t>
            </a:r>
            <a:r>
              <a:rPr lang="de-DE" dirty="0">
                <a:latin typeface="+mj-lt"/>
              </a:rPr>
              <a:t>).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Inflectional morphology (</a:t>
            </a:r>
            <a:r>
              <a:rPr lang="en-US" i="1" dirty="0">
                <a:latin typeface="+mj-lt"/>
              </a:rPr>
              <a:t>cutting → cut) </a:t>
            </a:r>
            <a:r>
              <a:rPr lang="en-US" dirty="0">
                <a:latin typeface="+mj-lt"/>
              </a:rPr>
              <a:t>vs. derivational </a:t>
            </a:r>
            <a:r>
              <a:rPr lang="de-DE" dirty="0" err="1">
                <a:latin typeface="+mj-lt"/>
              </a:rPr>
              <a:t>morphology</a:t>
            </a:r>
            <a:r>
              <a:rPr lang="de-DE" dirty="0">
                <a:latin typeface="+mj-lt"/>
              </a:rPr>
              <a:t> (</a:t>
            </a:r>
            <a:r>
              <a:rPr lang="de-DE" i="1" dirty="0" err="1">
                <a:latin typeface="+mj-lt"/>
              </a:rPr>
              <a:t>destruction</a:t>
            </a:r>
            <a:r>
              <a:rPr lang="de-DE" i="1" dirty="0">
                <a:latin typeface="+mj-lt"/>
              </a:rPr>
              <a:t> → </a:t>
            </a:r>
            <a:r>
              <a:rPr lang="de-DE" i="1" dirty="0" err="1">
                <a:latin typeface="+mj-lt"/>
              </a:rPr>
              <a:t>destroy</a:t>
            </a:r>
            <a:r>
              <a:rPr lang="de-DE" i="1" dirty="0">
                <a:latin typeface="+mj-lt"/>
              </a:rPr>
              <a:t>)</a:t>
            </a:r>
            <a:endParaRPr lang="de-DE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633452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57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Stemming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890682" y="2071678"/>
            <a:ext cx="8429684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Definition of stemming: Crude heuristic process that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chops off</a:t>
            </a:r>
            <a:r>
              <a:rPr lang="en-US" dirty="0">
                <a:latin typeface="+mj-lt"/>
              </a:rPr>
              <a:t>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the ends of words </a:t>
            </a:r>
            <a:r>
              <a:rPr lang="en-US" dirty="0">
                <a:latin typeface="+mj-lt"/>
              </a:rPr>
              <a:t>in the hope of achieving what “principled” lemmatization attempts to do with a lot of linguistic </a:t>
            </a:r>
            <a:r>
              <a:rPr lang="de-DE" dirty="0" err="1">
                <a:latin typeface="+mj-lt"/>
              </a:rPr>
              <a:t>knowledge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Language </a:t>
            </a:r>
            <a:r>
              <a:rPr lang="de-DE" dirty="0" err="1">
                <a:latin typeface="+mj-lt"/>
              </a:rPr>
              <a:t>dependent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Often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inflectional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 </a:t>
            </a:r>
            <a:r>
              <a:rPr lang="de-DE" dirty="0" err="1">
                <a:solidFill>
                  <a:srgbClr val="0070C0"/>
                </a:solidFill>
                <a:latin typeface="+mj-lt"/>
              </a:rPr>
              <a:t>and</a:t>
            </a:r>
            <a:r>
              <a:rPr lang="de-DE" dirty="0">
                <a:solidFill>
                  <a:srgbClr val="0070C0"/>
                </a:solidFill>
                <a:latin typeface="+mj-lt"/>
              </a:rPr>
              <a:t> </a:t>
            </a:r>
            <a:r>
              <a:rPr lang="de-DE" dirty="0" err="1">
                <a:latin typeface="+mj-lt"/>
              </a:rPr>
              <a:t>derivational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Example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for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derivational</a:t>
            </a:r>
            <a:r>
              <a:rPr lang="de-DE" dirty="0">
                <a:latin typeface="+mj-lt"/>
              </a:rPr>
              <a:t>: </a:t>
            </a:r>
            <a:r>
              <a:rPr lang="de-DE" i="1" dirty="0" err="1">
                <a:latin typeface="+mj-lt"/>
              </a:rPr>
              <a:t>automate</a:t>
            </a:r>
            <a:r>
              <a:rPr lang="de-DE" i="1" dirty="0">
                <a:latin typeface="+mj-lt"/>
              </a:rPr>
              <a:t>, </a:t>
            </a:r>
            <a:r>
              <a:rPr lang="de-DE" i="1" dirty="0" err="1">
                <a:latin typeface="+mj-lt"/>
              </a:rPr>
              <a:t>automatic</a:t>
            </a:r>
            <a:r>
              <a:rPr lang="de-DE" i="1" dirty="0">
                <a:latin typeface="+mj-lt"/>
              </a:rPr>
              <a:t>, </a:t>
            </a:r>
            <a:r>
              <a:rPr lang="de-DE" i="1" dirty="0" err="1">
                <a:latin typeface="+mj-lt"/>
              </a:rPr>
              <a:t>automation</a:t>
            </a:r>
            <a:r>
              <a:rPr lang="de-DE" i="1" dirty="0">
                <a:latin typeface="+mj-lt"/>
              </a:rPr>
              <a:t> </a:t>
            </a:r>
            <a:r>
              <a:rPr lang="de-DE" dirty="0">
                <a:latin typeface="+mj-lt"/>
              </a:rPr>
              <a:t>all </a:t>
            </a:r>
            <a:r>
              <a:rPr lang="de-DE" dirty="0" err="1">
                <a:latin typeface="+mj-lt"/>
              </a:rPr>
              <a:t>reduce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to</a:t>
            </a:r>
            <a:r>
              <a:rPr lang="de-DE" dirty="0">
                <a:latin typeface="+mj-lt"/>
              </a:rPr>
              <a:t> </a:t>
            </a:r>
            <a:r>
              <a:rPr lang="de-DE" i="1" dirty="0" err="1">
                <a:latin typeface="+mj-lt"/>
              </a:rPr>
              <a:t>automat</a:t>
            </a:r>
            <a:endParaRPr lang="de-DE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68662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58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>
                <a:latin typeface="+mj-lt"/>
              </a:rPr>
              <a:t>Porter </a:t>
            </a:r>
            <a:r>
              <a:rPr lang="de-DE" sz="3600" dirty="0" err="1">
                <a:latin typeface="+mj-lt"/>
              </a:rPr>
              <a:t>algorithm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716600" y="2169223"/>
            <a:ext cx="8737118" cy="30742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Most common algorithm for stemming English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Results suggest that it is at least as good as other stemming </a:t>
            </a:r>
            <a:r>
              <a:rPr lang="de-DE" dirty="0" err="1">
                <a:latin typeface="+mj-lt"/>
              </a:rPr>
              <a:t>options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Conventions + 5 phases of reductions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Phases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are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applied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sequentially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phase consists of a set of commands.</a:t>
            </a:r>
          </a:p>
        </p:txBody>
      </p:sp>
    </p:spTree>
    <p:extLst>
      <p:ext uri="{BB962C8B-B14F-4D97-AF65-F5344CB8AC3E}">
        <p14:creationId xmlns:p14="http://schemas.microsoft.com/office/powerpoint/2010/main" val="28021522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59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Porter stemmer: A few rules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524100" y="2285992"/>
            <a:ext cx="3500462" cy="164307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>
              <a:spcBef>
                <a:spcPts val="700"/>
              </a:spcBef>
            </a:pPr>
            <a:r>
              <a:rPr lang="de-DE" sz="2600" b="1" dirty="0" err="1">
                <a:latin typeface="+mj-lt"/>
              </a:rPr>
              <a:t>Rule</a:t>
            </a:r>
            <a:endParaRPr lang="de-DE" sz="2600" b="1" dirty="0">
              <a:latin typeface="+mj-lt"/>
            </a:endParaRPr>
          </a:p>
          <a:p>
            <a:pPr>
              <a:spcBef>
                <a:spcPts val="700"/>
              </a:spcBef>
            </a:pPr>
            <a:r>
              <a:rPr lang="de-DE" sz="2600" dirty="0">
                <a:latin typeface="+mj-lt"/>
              </a:rPr>
              <a:t>SSES → SS</a:t>
            </a:r>
          </a:p>
          <a:p>
            <a:pPr>
              <a:spcBef>
                <a:spcPts val="700"/>
              </a:spcBef>
            </a:pPr>
            <a:r>
              <a:rPr lang="de-DE" sz="2600" dirty="0">
                <a:latin typeface="+mj-lt"/>
              </a:rPr>
              <a:t>IES → I</a:t>
            </a:r>
          </a:p>
          <a:p>
            <a:pPr>
              <a:spcBef>
                <a:spcPts val="700"/>
              </a:spcBef>
            </a:pPr>
            <a:r>
              <a:rPr lang="de-DE" sz="2600" dirty="0">
                <a:latin typeface="+mj-lt"/>
              </a:rPr>
              <a:t>SS → SS</a:t>
            </a:r>
          </a:p>
          <a:p>
            <a:pPr>
              <a:spcBef>
                <a:spcPts val="700"/>
              </a:spcBef>
            </a:pPr>
            <a:r>
              <a:rPr lang="de-DE" sz="2600" dirty="0">
                <a:latin typeface="+mj-lt"/>
              </a:rPr>
              <a:t>S →</a:t>
            </a:r>
            <a:endParaRPr lang="en-US" sz="2600" dirty="0">
              <a:latin typeface="+mj-lt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453058" y="2214554"/>
            <a:ext cx="3500462" cy="164307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600" b="1" dirty="0" err="1">
                <a:latin typeface="+mj-lt"/>
              </a:rPr>
              <a:t>Example</a:t>
            </a:r>
            <a:endParaRPr lang="de-DE" sz="2600" b="1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600" dirty="0" err="1">
                <a:latin typeface="+mj-lt"/>
              </a:rPr>
              <a:t>caresses</a:t>
            </a:r>
            <a:r>
              <a:rPr lang="de-DE" sz="2600" dirty="0">
                <a:latin typeface="+mj-lt"/>
              </a:rPr>
              <a:t> → </a:t>
            </a:r>
            <a:r>
              <a:rPr lang="de-DE" sz="2600" dirty="0" err="1">
                <a:latin typeface="+mj-lt"/>
              </a:rPr>
              <a:t>caress</a:t>
            </a:r>
            <a:endParaRPr lang="de-DE" sz="26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600" dirty="0" err="1">
                <a:latin typeface="+mj-lt"/>
              </a:rPr>
              <a:t>ponies</a:t>
            </a:r>
            <a:r>
              <a:rPr lang="de-DE" sz="2600" dirty="0">
                <a:latin typeface="+mj-lt"/>
              </a:rPr>
              <a:t> → </a:t>
            </a:r>
            <a:r>
              <a:rPr lang="de-DE" sz="2600" dirty="0" err="1">
                <a:latin typeface="+mj-lt"/>
              </a:rPr>
              <a:t>poni</a:t>
            </a:r>
            <a:endParaRPr lang="de-DE" sz="26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600" dirty="0" err="1">
                <a:latin typeface="+mj-lt"/>
              </a:rPr>
              <a:t>caress</a:t>
            </a:r>
            <a:r>
              <a:rPr lang="de-DE" sz="2600" dirty="0">
                <a:latin typeface="+mj-lt"/>
              </a:rPr>
              <a:t> → </a:t>
            </a:r>
            <a:r>
              <a:rPr lang="de-DE" sz="2600" dirty="0" err="1">
                <a:latin typeface="+mj-lt"/>
              </a:rPr>
              <a:t>caress</a:t>
            </a:r>
            <a:endParaRPr lang="de-DE" sz="26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</a:pPr>
            <a:r>
              <a:rPr lang="de-DE" sz="2600" dirty="0" err="1">
                <a:latin typeface="+mj-lt"/>
              </a:rPr>
              <a:t>cats</a:t>
            </a:r>
            <a:r>
              <a:rPr lang="de-DE" sz="2600" dirty="0">
                <a:latin typeface="+mj-lt"/>
              </a:rPr>
              <a:t> → </a:t>
            </a:r>
            <a:r>
              <a:rPr lang="de-DE" sz="2600" dirty="0" err="1">
                <a:latin typeface="+mj-lt"/>
              </a:rPr>
              <a:t>cat</a:t>
            </a:r>
            <a:endParaRPr lang="en-US" sz="2600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370314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60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Exercise: What does Google do?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60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952596" y="1785926"/>
            <a:ext cx="8429684" cy="214314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Stop </a:t>
            </a:r>
            <a:r>
              <a:rPr lang="de-DE" dirty="0" err="1">
                <a:latin typeface="+mj-lt"/>
              </a:rPr>
              <a:t>words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Normalization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Tokenization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Lowercasing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Stemming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Non-</a:t>
            </a:r>
            <a:r>
              <a:rPr lang="de-DE" dirty="0" err="1">
                <a:latin typeface="+mj-lt"/>
              </a:rPr>
              <a:t>latin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alphabets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Umlauts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 err="1">
                <a:latin typeface="+mj-lt"/>
              </a:rPr>
              <a:t>Compounds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dirty="0">
                <a:latin typeface="+mj-lt"/>
              </a:rPr>
              <a:t>Numbers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535550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61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en-US" sz="3600" dirty="0">
                <a:latin typeface="+mj-lt"/>
              </a:rPr>
              <a:t>Phrase queries</a:t>
            </a: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61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66844" y="1500174"/>
            <a:ext cx="8572560" cy="30003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want to answer a query such as [</a:t>
            </a:r>
            <a:r>
              <a:rPr lang="en-US" dirty="0" err="1">
                <a:latin typeface="+mj-lt"/>
              </a:rPr>
              <a:t>stanford</a:t>
            </a:r>
            <a:r>
              <a:rPr lang="en-US" dirty="0">
                <a:latin typeface="+mj-lt"/>
              </a:rPr>
              <a:t> university] – as a </a:t>
            </a:r>
            <a:r>
              <a:rPr lang="de-DE" dirty="0" err="1">
                <a:latin typeface="+mj-lt"/>
              </a:rPr>
              <a:t>phrase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Thus </a:t>
            </a:r>
            <a:r>
              <a:rPr lang="en-US" i="1" dirty="0">
                <a:latin typeface="+mj-lt"/>
              </a:rPr>
              <a:t>The inventor Stanford </a:t>
            </a:r>
            <a:r>
              <a:rPr lang="en-US" i="1" dirty="0" err="1">
                <a:latin typeface="+mj-lt"/>
              </a:rPr>
              <a:t>Ovshinsky</a:t>
            </a:r>
            <a:r>
              <a:rPr lang="en-US" i="1" dirty="0">
                <a:latin typeface="+mj-lt"/>
              </a:rPr>
              <a:t> never went to university </a:t>
            </a:r>
            <a:r>
              <a:rPr lang="en-US" dirty="0">
                <a:latin typeface="+mj-lt"/>
              </a:rPr>
              <a:t>should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not</a:t>
            </a:r>
            <a:r>
              <a:rPr lang="en-US" dirty="0">
                <a:latin typeface="+mj-lt"/>
              </a:rPr>
              <a:t> be a match.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The concept of phrase query has proven easily understood by </a:t>
            </a:r>
            <a:r>
              <a:rPr lang="de-DE" dirty="0" err="1">
                <a:latin typeface="+mj-lt"/>
              </a:rPr>
              <a:t>users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About 10% of web queries are phrase queries.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Consequence for inverted index: it no longer suffices to store </a:t>
            </a:r>
            <a:r>
              <a:rPr lang="de-DE" dirty="0" err="1">
                <a:latin typeface="+mj-lt"/>
              </a:rPr>
              <a:t>docIDs</a:t>
            </a:r>
            <a:r>
              <a:rPr lang="de-DE" dirty="0">
                <a:latin typeface="+mj-lt"/>
              </a:rPr>
              <a:t> in </a:t>
            </a:r>
            <a:r>
              <a:rPr lang="de-DE" dirty="0" err="1">
                <a:latin typeface="+mj-lt"/>
              </a:rPr>
              <a:t>postings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lists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Two ways of extending the inverted index:</a:t>
            </a: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 err="1">
                <a:latin typeface="+mj-lt"/>
              </a:rPr>
              <a:t>biword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index</a:t>
            </a:r>
            <a:endParaRPr lang="de-DE" sz="2200" dirty="0">
              <a:latin typeface="+mj-lt"/>
            </a:endParaRPr>
          </a:p>
          <a:p>
            <a:pPr lvl="2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de-DE" sz="2200" dirty="0" err="1">
                <a:latin typeface="+mj-lt"/>
              </a:rPr>
              <a:t>positional</a:t>
            </a:r>
            <a:r>
              <a:rPr lang="de-DE" sz="2200" dirty="0">
                <a:latin typeface="+mj-lt"/>
              </a:rPr>
              <a:t> </a:t>
            </a:r>
            <a:r>
              <a:rPr lang="de-DE" sz="2200" dirty="0" err="1">
                <a:latin typeface="+mj-lt"/>
              </a:rPr>
              <a:t>index</a:t>
            </a:r>
            <a:endParaRPr lang="en-US" sz="2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20124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62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Biword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indexes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62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66844" y="2285992"/>
            <a:ext cx="8572560" cy="30003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Index every consecutive pair of terms in the text as a phrase.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For example, </a:t>
            </a:r>
            <a:r>
              <a:rPr lang="en-US" i="1" dirty="0">
                <a:latin typeface="+mj-lt"/>
              </a:rPr>
              <a:t>Friends, Romans, Countrymen </a:t>
            </a:r>
            <a:r>
              <a:rPr lang="en-US" dirty="0">
                <a:latin typeface="+mj-lt"/>
              </a:rPr>
              <a:t>would generate two </a:t>
            </a:r>
            <a:r>
              <a:rPr lang="en-US" dirty="0" err="1">
                <a:latin typeface="+mj-lt"/>
              </a:rPr>
              <a:t>biwords</a:t>
            </a:r>
            <a:r>
              <a:rPr lang="en-US" dirty="0">
                <a:latin typeface="+mj-lt"/>
              </a:rPr>
              <a:t>: </a:t>
            </a:r>
            <a:r>
              <a:rPr lang="en-US" i="1" dirty="0">
                <a:latin typeface="+mj-lt"/>
              </a:rPr>
              <a:t>“friends </a:t>
            </a:r>
            <a:r>
              <a:rPr lang="en-US" i="1" dirty="0" err="1">
                <a:latin typeface="+mj-lt"/>
              </a:rPr>
              <a:t>romans</a:t>
            </a:r>
            <a:r>
              <a:rPr lang="en-US" i="1" dirty="0">
                <a:latin typeface="+mj-lt"/>
              </a:rPr>
              <a:t>” </a:t>
            </a:r>
            <a:r>
              <a:rPr lang="en-US" dirty="0">
                <a:latin typeface="+mj-lt"/>
              </a:rPr>
              <a:t>and</a:t>
            </a:r>
            <a:r>
              <a:rPr lang="en-US" i="1" dirty="0">
                <a:latin typeface="+mj-lt"/>
              </a:rPr>
              <a:t> “</a:t>
            </a:r>
            <a:r>
              <a:rPr lang="en-US" i="1" dirty="0" err="1">
                <a:latin typeface="+mj-lt"/>
              </a:rPr>
              <a:t>romans</a:t>
            </a:r>
            <a:r>
              <a:rPr lang="en-US" i="1" dirty="0">
                <a:latin typeface="+mj-lt"/>
              </a:rPr>
              <a:t> countrymen”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Each of these </a:t>
            </a:r>
            <a:r>
              <a:rPr lang="en-US" dirty="0" err="1">
                <a:latin typeface="+mj-lt"/>
              </a:rPr>
              <a:t>biwords</a:t>
            </a:r>
            <a:r>
              <a:rPr lang="en-US" dirty="0">
                <a:latin typeface="+mj-lt"/>
              </a:rPr>
              <a:t> is now a vocabulary term.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Two-word phrases can now easily be answered.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308922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63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Longer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phrase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queries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63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66844" y="2428868"/>
            <a:ext cx="8572560" cy="30003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A long phrase like </a:t>
            </a:r>
            <a:r>
              <a:rPr lang="en-US" i="1" dirty="0">
                <a:latin typeface="+mj-lt"/>
              </a:rPr>
              <a:t>“</a:t>
            </a:r>
            <a:r>
              <a:rPr lang="en-US" i="1" dirty="0" err="1">
                <a:latin typeface="+mj-lt"/>
              </a:rPr>
              <a:t>stanford</a:t>
            </a:r>
            <a:r>
              <a:rPr lang="en-US" i="1" dirty="0">
                <a:latin typeface="+mj-lt"/>
              </a:rPr>
              <a:t> university </a:t>
            </a:r>
            <a:r>
              <a:rPr lang="en-US" i="1" dirty="0" err="1">
                <a:latin typeface="+mj-lt"/>
              </a:rPr>
              <a:t>palo</a:t>
            </a:r>
            <a:r>
              <a:rPr lang="en-US" i="1" dirty="0">
                <a:latin typeface="+mj-lt"/>
              </a:rPr>
              <a:t> alto” </a:t>
            </a:r>
            <a:r>
              <a:rPr lang="en-US" dirty="0">
                <a:latin typeface="+mj-lt"/>
              </a:rPr>
              <a:t>can be represented as the Boolean query “</a:t>
            </a:r>
            <a:r>
              <a:rPr lang="en-US" sz="2000" dirty="0">
                <a:latin typeface="+mj-lt"/>
              </a:rPr>
              <a:t>STANFORD UNIVERSITY</a:t>
            </a:r>
            <a:r>
              <a:rPr lang="en-US" dirty="0">
                <a:latin typeface="+mj-lt"/>
              </a:rPr>
              <a:t>” </a:t>
            </a:r>
            <a:r>
              <a:rPr lang="en-US" sz="2200" dirty="0">
                <a:latin typeface="+mj-lt"/>
              </a:rPr>
              <a:t>AND</a:t>
            </a:r>
            <a:r>
              <a:rPr lang="en-US" dirty="0">
                <a:latin typeface="+mj-lt"/>
              </a:rPr>
              <a:t> “</a:t>
            </a:r>
            <a:r>
              <a:rPr lang="en-US" sz="2000" dirty="0">
                <a:latin typeface="+mj-lt"/>
              </a:rPr>
              <a:t>UNIVERSITY PALO</a:t>
            </a:r>
            <a:r>
              <a:rPr lang="en-US" dirty="0">
                <a:latin typeface="+mj-lt"/>
              </a:rPr>
              <a:t>” </a:t>
            </a:r>
            <a:r>
              <a:rPr lang="en-US" sz="2200" dirty="0">
                <a:latin typeface="+mj-lt"/>
              </a:rPr>
              <a:t>AND</a:t>
            </a:r>
            <a:r>
              <a:rPr lang="en-US" dirty="0">
                <a:latin typeface="+mj-lt"/>
              </a:rPr>
              <a:t> “</a:t>
            </a:r>
            <a:r>
              <a:rPr lang="en-US" sz="2000" dirty="0">
                <a:latin typeface="+mj-lt"/>
              </a:rPr>
              <a:t>PALO ALTO</a:t>
            </a:r>
            <a:r>
              <a:rPr lang="en-US" dirty="0">
                <a:latin typeface="+mj-lt"/>
              </a:rPr>
              <a:t>”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We need to do post-filtering of hits to identify subset that actually contains the 4-word phrase.</a:t>
            </a:r>
          </a:p>
        </p:txBody>
      </p:sp>
    </p:spTree>
    <p:extLst>
      <p:ext uri="{BB962C8B-B14F-4D97-AF65-F5344CB8AC3E}">
        <p14:creationId xmlns:p14="http://schemas.microsoft.com/office/powerpoint/2010/main" val="17469883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64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Issues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with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biword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indexes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64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66844" y="2643182"/>
            <a:ext cx="8572560" cy="30003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00B050"/>
                </a:solidFill>
                <a:latin typeface="+mj-lt"/>
              </a:rPr>
              <a:t>Why are </a:t>
            </a:r>
            <a:r>
              <a:rPr lang="en-US" dirty="0" err="1">
                <a:solidFill>
                  <a:srgbClr val="00B050"/>
                </a:solidFill>
                <a:latin typeface="+mj-lt"/>
              </a:rPr>
              <a:t>biword</a:t>
            </a:r>
            <a:r>
              <a:rPr lang="en-US" dirty="0">
                <a:solidFill>
                  <a:srgbClr val="00B050"/>
                </a:solidFill>
                <a:latin typeface="+mj-lt"/>
              </a:rPr>
              <a:t> indexes rarely used?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False positives, as noted above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Index blowup due to very large term vocabulary</a:t>
            </a:r>
          </a:p>
        </p:txBody>
      </p:sp>
    </p:spTree>
    <p:extLst>
      <p:ext uri="{BB962C8B-B14F-4D97-AF65-F5344CB8AC3E}">
        <p14:creationId xmlns:p14="http://schemas.microsoft.com/office/powerpoint/2010/main" val="32213843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65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Positional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indexes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65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66844" y="2357430"/>
            <a:ext cx="8572560" cy="30003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Positional indexes are a more efficient alternative to </a:t>
            </a:r>
            <a:r>
              <a:rPr lang="en-US" dirty="0" err="1">
                <a:latin typeface="+mj-lt"/>
              </a:rPr>
              <a:t>biword</a:t>
            </a:r>
            <a:r>
              <a:rPr lang="en-US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indexes</a:t>
            </a:r>
            <a:r>
              <a:rPr lang="de-DE" dirty="0">
                <a:latin typeface="+mj-lt"/>
              </a:rPr>
              <a:t>.</a:t>
            </a: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Postings lists in a </a:t>
            </a:r>
            <a:r>
              <a:rPr lang="en-US" dirty="0" err="1">
                <a:solidFill>
                  <a:srgbClr val="0070C0"/>
                </a:solidFill>
                <a:latin typeface="+mj-lt"/>
              </a:rPr>
              <a:t>nonpositional</a:t>
            </a:r>
            <a:r>
              <a:rPr lang="en-US" dirty="0">
                <a:latin typeface="+mj-lt"/>
              </a:rPr>
              <a:t> index: each posting is just a </a:t>
            </a:r>
            <a:r>
              <a:rPr lang="de-DE" dirty="0" err="1">
                <a:latin typeface="+mj-lt"/>
              </a:rPr>
              <a:t>docID</a:t>
            </a:r>
            <a:endParaRPr lang="de-DE" dirty="0">
              <a:latin typeface="+mj-lt"/>
            </a:endParaRPr>
          </a:p>
          <a:p>
            <a:pPr lvl="1">
              <a:spcBef>
                <a:spcPts val="700"/>
              </a:spcBef>
              <a:buClr>
                <a:srgbClr val="336699"/>
              </a:buClr>
              <a:buFont typeface="Wingdings" pitchFamily="2" charset="2"/>
              <a:buChar char="§"/>
            </a:pPr>
            <a:r>
              <a:rPr lang="en-US" dirty="0">
                <a:latin typeface="+mj-lt"/>
              </a:rPr>
              <a:t>Postings lists in a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positional</a:t>
            </a:r>
            <a:r>
              <a:rPr lang="en-US" dirty="0">
                <a:latin typeface="+mj-lt"/>
              </a:rPr>
              <a:t> index: each posting is a </a:t>
            </a:r>
            <a:r>
              <a:rPr lang="en-US" dirty="0" err="1">
                <a:latin typeface="+mj-lt"/>
              </a:rPr>
              <a:t>docID</a:t>
            </a:r>
            <a:r>
              <a:rPr lang="en-US" dirty="0">
                <a:latin typeface="+mj-lt"/>
              </a:rPr>
              <a:t> and </a:t>
            </a:r>
            <a:r>
              <a:rPr lang="en-US" dirty="0">
                <a:solidFill>
                  <a:srgbClr val="0070C0"/>
                </a:solidFill>
                <a:latin typeface="+mj-lt"/>
              </a:rPr>
              <a:t>a list of positions</a:t>
            </a:r>
          </a:p>
        </p:txBody>
      </p:sp>
    </p:spTree>
    <p:extLst>
      <p:ext uri="{BB962C8B-B14F-4D97-AF65-F5344CB8AC3E}">
        <p14:creationId xmlns:p14="http://schemas.microsoft.com/office/powerpoint/2010/main" val="23044629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ext Box 1"/>
          <p:cNvSpPr txBox="1">
            <a:spLocks noChangeArrowheads="1"/>
          </p:cNvSpPr>
          <p:nvPr/>
        </p:nvSpPr>
        <p:spPr bwMode="auto">
          <a:xfrm>
            <a:off x="8077200" y="6477001"/>
            <a:ext cx="2133600" cy="2444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r"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fld id="{48895EFF-1DBE-4654-84B8-EE5B6E2FA3CA}" type="slidenum">
              <a:rPr lang="en-US" sz="1200">
                <a:solidFill>
                  <a:srgbClr val="898989"/>
                </a:solidFill>
                <a:latin typeface="Calibri" charset="0"/>
              </a:rPr>
              <a:pPr algn="r"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t>66</a:t>
            </a:fld>
            <a:endParaRPr lang="en-US" sz="1200">
              <a:solidFill>
                <a:srgbClr val="898989"/>
              </a:solidFill>
              <a:latin typeface="Calibri" charset="0"/>
            </a:endParaRPr>
          </a:p>
        </p:txBody>
      </p:sp>
      <p:sp>
        <p:nvSpPr>
          <p:cNvPr id="84995" name="Text Box 2"/>
          <p:cNvSpPr txBox="1">
            <a:spLocks noChangeArrowheads="1"/>
          </p:cNvSpPr>
          <p:nvPr/>
        </p:nvSpPr>
        <p:spPr bwMode="auto">
          <a:xfrm>
            <a:off x="1809720" y="12700"/>
            <a:ext cx="8643998" cy="1403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b"/>
          <a:lstStyle/>
          <a:p>
            <a:r>
              <a:rPr lang="de-DE" sz="3600" dirty="0" err="1">
                <a:latin typeface="+mj-lt"/>
              </a:rPr>
              <a:t>Positional</a:t>
            </a:r>
            <a:r>
              <a:rPr lang="de-DE" sz="3600" dirty="0">
                <a:latin typeface="+mj-lt"/>
              </a:rPr>
              <a:t> </a:t>
            </a:r>
            <a:r>
              <a:rPr lang="de-DE" sz="3600" dirty="0" err="1">
                <a:latin typeface="+mj-lt"/>
              </a:rPr>
              <a:t>indexes</a:t>
            </a:r>
            <a:r>
              <a:rPr lang="de-DE" sz="3600" dirty="0">
                <a:latin typeface="+mj-lt"/>
              </a:rPr>
              <a:t>: </a:t>
            </a:r>
            <a:r>
              <a:rPr lang="de-DE" sz="3600" dirty="0" err="1">
                <a:latin typeface="+mj-lt"/>
              </a:rPr>
              <a:t>Example</a:t>
            </a:r>
            <a:endParaRPr lang="de-DE" sz="3600" dirty="0">
              <a:latin typeface="+mj-lt"/>
            </a:endParaRPr>
          </a:p>
        </p:txBody>
      </p:sp>
      <p:sp>
        <p:nvSpPr>
          <p:cNvPr id="84997" name="Text Box 4"/>
          <p:cNvSpPr txBox="1">
            <a:spLocks noChangeArrowheads="1"/>
          </p:cNvSpPr>
          <p:nvPr/>
        </p:nvSpPr>
        <p:spPr bwMode="auto">
          <a:xfrm>
            <a:off x="9164638" y="-33338"/>
            <a:ext cx="925512" cy="33655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itchFamily="16" charset="0"/>
              <a:buNone/>
            </a:pP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74BF2C0F-05D6-4882-A325-BE394602789D}" type="slidenum">
              <a:rPr lang="en-US" smtClean="0"/>
              <a:pPr>
                <a:defRPr/>
              </a:pPr>
              <a:t>66</a:t>
            </a:fld>
            <a:endParaRPr lang="en-US" dirty="0"/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1666844" y="1571612"/>
            <a:ext cx="8572560" cy="300039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/>
          <a:lstStyle/>
          <a:p>
            <a:pPr lvl="1">
              <a:spcBef>
                <a:spcPts val="700"/>
              </a:spcBef>
            </a:pPr>
            <a:r>
              <a:rPr lang="en-US" dirty="0">
                <a:latin typeface="+mj-lt"/>
              </a:rPr>
              <a:t>Query: </a:t>
            </a:r>
            <a:r>
              <a:rPr lang="en-US" i="1" dirty="0">
                <a:latin typeface="+mj-lt"/>
              </a:rPr>
              <a:t>“to</a:t>
            </a:r>
            <a:r>
              <a:rPr lang="en-US" baseline="-25000" dirty="0">
                <a:latin typeface="+mj-lt"/>
              </a:rPr>
              <a:t>1</a:t>
            </a:r>
            <a:r>
              <a:rPr lang="en-US" i="1" dirty="0">
                <a:latin typeface="+mj-lt"/>
              </a:rPr>
              <a:t> be</a:t>
            </a:r>
            <a:r>
              <a:rPr lang="en-US" baseline="-25000" dirty="0">
                <a:latin typeface="+mj-lt"/>
              </a:rPr>
              <a:t>2</a:t>
            </a:r>
            <a:r>
              <a:rPr lang="en-US" i="1" dirty="0">
                <a:latin typeface="+mj-lt"/>
              </a:rPr>
              <a:t> or</a:t>
            </a:r>
            <a:r>
              <a:rPr lang="en-US" baseline="-25000" dirty="0">
                <a:latin typeface="+mj-lt"/>
              </a:rPr>
              <a:t>3</a:t>
            </a:r>
            <a:r>
              <a:rPr lang="en-US" i="1" dirty="0">
                <a:latin typeface="+mj-lt"/>
              </a:rPr>
              <a:t> not</a:t>
            </a:r>
            <a:r>
              <a:rPr lang="en-US" baseline="-25000" dirty="0">
                <a:latin typeface="+mj-lt"/>
              </a:rPr>
              <a:t>4</a:t>
            </a:r>
            <a:r>
              <a:rPr lang="en-US" i="1" dirty="0">
                <a:latin typeface="+mj-lt"/>
              </a:rPr>
              <a:t> to</a:t>
            </a:r>
            <a:r>
              <a:rPr lang="en-US" baseline="-25000" dirty="0">
                <a:latin typeface="+mj-lt"/>
              </a:rPr>
              <a:t>5</a:t>
            </a:r>
            <a:r>
              <a:rPr lang="en-US" i="1" dirty="0">
                <a:latin typeface="+mj-lt"/>
              </a:rPr>
              <a:t> be</a:t>
            </a:r>
            <a:r>
              <a:rPr lang="en-US" baseline="-25000" dirty="0">
                <a:latin typeface="+mj-lt"/>
              </a:rPr>
              <a:t>6</a:t>
            </a:r>
            <a:r>
              <a:rPr lang="en-US" i="1" dirty="0">
                <a:latin typeface="+mj-lt"/>
              </a:rPr>
              <a:t>” </a:t>
            </a:r>
            <a:r>
              <a:rPr lang="en-US" sz="2000" dirty="0">
                <a:latin typeface="+mj-lt"/>
              </a:rPr>
              <a:t>TO</a:t>
            </a:r>
            <a:r>
              <a:rPr lang="en-US" dirty="0">
                <a:latin typeface="+mj-lt"/>
              </a:rPr>
              <a:t>, 993427:</a:t>
            </a:r>
          </a:p>
          <a:p>
            <a:pPr lvl="2">
              <a:spcBef>
                <a:spcPts val="700"/>
              </a:spcBef>
            </a:pPr>
            <a:r>
              <a:rPr lang="pt-BR" dirty="0">
                <a:latin typeface="+mj-lt"/>
                <a:cs typeface="Calibri"/>
              </a:rPr>
              <a:t>‹</a:t>
            </a:r>
            <a:r>
              <a:rPr lang="pt-BR" dirty="0">
                <a:latin typeface="+mj-lt"/>
              </a:rPr>
              <a:t> </a:t>
            </a:r>
            <a:r>
              <a:rPr lang="pt-BR" dirty="0">
                <a:solidFill>
                  <a:srgbClr val="FF0000"/>
                </a:solidFill>
                <a:latin typeface="+mj-lt"/>
              </a:rPr>
              <a:t>1</a:t>
            </a:r>
            <a:r>
              <a:rPr lang="pt-BR" dirty="0">
                <a:latin typeface="+mj-lt"/>
              </a:rPr>
              <a:t>: </a:t>
            </a:r>
            <a:r>
              <a:rPr lang="pt-BR" dirty="0">
                <a:latin typeface="Calibri"/>
                <a:cs typeface="Calibri"/>
              </a:rPr>
              <a:t>‹</a:t>
            </a:r>
            <a:r>
              <a:rPr lang="pt-BR" dirty="0">
                <a:solidFill>
                  <a:srgbClr val="FF0000"/>
                </a:solidFill>
                <a:latin typeface="+mj-lt"/>
              </a:rPr>
              <a:t>7, 18, 33, 72, 86, 231</a:t>
            </a:r>
            <a:r>
              <a:rPr lang="pt-BR" dirty="0">
                <a:latin typeface="Calibri"/>
                <a:cs typeface="Calibri"/>
              </a:rPr>
              <a:t>›</a:t>
            </a:r>
            <a:r>
              <a:rPr lang="pt-BR" dirty="0">
                <a:latin typeface="+mj-lt"/>
              </a:rPr>
              <a:t>;</a:t>
            </a:r>
          </a:p>
          <a:p>
            <a:pPr lvl="2">
              <a:spcBef>
                <a:spcPts val="700"/>
              </a:spcBef>
            </a:pPr>
            <a:r>
              <a:rPr lang="pt-BR" dirty="0">
                <a:solidFill>
                  <a:srgbClr val="FF0000"/>
                </a:solidFill>
                <a:latin typeface="+mj-lt"/>
              </a:rPr>
              <a:t>  2</a:t>
            </a:r>
            <a:r>
              <a:rPr lang="pt-BR" dirty="0">
                <a:latin typeface="+mj-lt"/>
              </a:rPr>
              <a:t>: </a:t>
            </a:r>
            <a:r>
              <a:rPr lang="pt-BR" dirty="0">
                <a:latin typeface="Calibri"/>
                <a:cs typeface="Calibri"/>
              </a:rPr>
              <a:t>‹</a:t>
            </a:r>
            <a:r>
              <a:rPr lang="pt-BR" dirty="0">
                <a:latin typeface="+mj-lt"/>
              </a:rPr>
              <a:t>1, 17, 74, 222, 255</a:t>
            </a:r>
            <a:r>
              <a:rPr lang="pt-BR" dirty="0">
                <a:latin typeface="Calibri"/>
                <a:cs typeface="Calibri"/>
              </a:rPr>
              <a:t>›</a:t>
            </a:r>
            <a:r>
              <a:rPr lang="pt-BR" dirty="0">
                <a:latin typeface="+mj-lt"/>
              </a:rPr>
              <a:t>;</a:t>
            </a:r>
          </a:p>
          <a:p>
            <a:pPr lvl="2">
              <a:spcBef>
                <a:spcPts val="700"/>
              </a:spcBef>
            </a:pPr>
            <a:r>
              <a:rPr lang="pt-BR" dirty="0">
                <a:solidFill>
                  <a:srgbClr val="FF0000"/>
                </a:solidFill>
                <a:latin typeface="+mj-lt"/>
              </a:rPr>
              <a:t>  4</a:t>
            </a:r>
            <a:r>
              <a:rPr lang="pt-BR" dirty="0">
                <a:latin typeface="+mj-lt"/>
              </a:rPr>
              <a:t>: </a:t>
            </a:r>
            <a:r>
              <a:rPr lang="pt-BR" dirty="0">
                <a:latin typeface="Calibri"/>
                <a:cs typeface="Calibri"/>
              </a:rPr>
              <a:t>‹</a:t>
            </a:r>
            <a:r>
              <a:rPr lang="pt-BR" dirty="0">
                <a:solidFill>
                  <a:srgbClr val="FF0000"/>
                </a:solidFill>
                <a:latin typeface="+mj-lt"/>
              </a:rPr>
              <a:t>8, 16, 190, 429, 433</a:t>
            </a:r>
            <a:r>
              <a:rPr lang="pt-BR" dirty="0">
                <a:latin typeface="Calibri"/>
                <a:cs typeface="Calibri"/>
              </a:rPr>
              <a:t>›</a:t>
            </a:r>
            <a:r>
              <a:rPr lang="pt-BR" dirty="0">
                <a:latin typeface="+mj-lt"/>
              </a:rPr>
              <a:t>;</a:t>
            </a:r>
          </a:p>
          <a:p>
            <a:pPr lvl="2">
              <a:spcBef>
                <a:spcPts val="700"/>
              </a:spcBef>
            </a:pPr>
            <a:r>
              <a:rPr lang="de-DE" dirty="0">
                <a:latin typeface="+mj-lt"/>
              </a:rPr>
              <a:t>  5: </a:t>
            </a:r>
            <a:r>
              <a:rPr lang="de-DE" dirty="0">
                <a:latin typeface="Calibri"/>
                <a:cs typeface="Calibri"/>
              </a:rPr>
              <a:t>‹</a:t>
            </a:r>
            <a:r>
              <a:rPr lang="de-DE" dirty="0">
                <a:latin typeface="+mj-lt"/>
              </a:rPr>
              <a:t>363, 367</a:t>
            </a:r>
            <a:r>
              <a:rPr lang="de-DE" dirty="0">
                <a:latin typeface="Calibri"/>
                <a:cs typeface="Calibri"/>
              </a:rPr>
              <a:t>›</a:t>
            </a:r>
            <a:r>
              <a:rPr lang="de-DE" dirty="0">
                <a:latin typeface="+mj-lt"/>
              </a:rPr>
              <a:t>;</a:t>
            </a:r>
          </a:p>
          <a:p>
            <a:pPr lvl="2">
              <a:spcBef>
                <a:spcPts val="700"/>
              </a:spcBef>
            </a:pPr>
            <a:r>
              <a:rPr lang="pt-BR" dirty="0">
                <a:latin typeface="+mj-lt"/>
              </a:rPr>
              <a:t>  7: </a:t>
            </a:r>
            <a:r>
              <a:rPr lang="pt-BR" dirty="0">
                <a:latin typeface="Calibri"/>
                <a:cs typeface="Calibri"/>
              </a:rPr>
              <a:t>‹</a:t>
            </a:r>
            <a:r>
              <a:rPr lang="pt-BR" dirty="0">
                <a:latin typeface="+mj-lt"/>
              </a:rPr>
              <a:t>13, 23, 191</a:t>
            </a:r>
            <a:r>
              <a:rPr lang="pt-BR" dirty="0">
                <a:latin typeface="Calibri"/>
                <a:cs typeface="Calibri"/>
              </a:rPr>
              <a:t>›</a:t>
            </a:r>
            <a:r>
              <a:rPr lang="pt-BR" dirty="0">
                <a:latin typeface="+mj-lt"/>
              </a:rPr>
              <a:t>; . . . </a:t>
            </a:r>
            <a:r>
              <a:rPr lang="pt-BR" dirty="0">
                <a:latin typeface="Calibri"/>
                <a:cs typeface="Calibri"/>
              </a:rPr>
              <a:t>›</a:t>
            </a:r>
            <a:endParaRPr lang="pt-BR" dirty="0">
              <a:latin typeface="+mj-lt"/>
            </a:endParaRPr>
          </a:p>
          <a:p>
            <a:pPr lvl="1">
              <a:spcBef>
                <a:spcPts val="700"/>
              </a:spcBef>
            </a:pPr>
            <a:r>
              <a:rPr lang="de-DE" sz="2000" dirty="0">
                <a:latin typeface="+mj-lt"/>
              </a:rPr>
              <a:t>BE</a:t>
            </a:r>
            <a:r>
              <a:rPr lang="de-DE" dirty="0">
                <a:latin typeface="+mj-lt"/>
              </a:rPr>
              <a:t>, 178239:</a:t>
            </a:r>
          </a:p>
          <a:p>
            <a:pPr lvl="2">
              <a:spcBef>
                <a:spcPts val="700"/>
              </a:spcBef>
            </a:pPr>
            <a:r>
              <a:rPr lang="de-DE" dirty="0">
                <a:latin typeface="+mj-lt"/>
                <a:cs typeface="Calibri"/>
              </a:rPr>
              <a:t>‹</a:t>
            </a:r>
            <a:r>
              <a:rPr lang="de-DE" dirty="0">
                <a:latin typeface="+mj-lt"/>
              </a:rPr>
              <a:t> </a:t>
            </a:r>
            <a:r>
              <a:rPr lang="de-DE" dirty="0">
                <a:solidFill>
                  <a:srgbClr val="FF0000"/>
                </a:solidFill>
                <a:latin typeface="+mj-lt"/>
              </a:rPr>
              <a:t>1</a:t>
            </a:r>
            <a:r>
              <a:rPr lang="de-DE" dirty="0">
                <a:latin typeface="+mj-lt"/>
              </a:rPr>
              <a:t>: </a:t>
            </a:r>
            <a:r>
              <a:rPr lang="de-DE" dirty="0">
                <a:solidFill>
                  <a:srgbClr val="FF0000"/>
                </a:solidFill>
                <a:latin typeface="+mj-lt"/>
                <a:cs typeface="Calibri"/>
              </a:rPr>
              <a:t>‹</a:t>
            </a:r>
            <a:r>
              <a:rPr lang="de-DE" dirty="0">
                <a:solidFill>
                  <a:srgbClr val="FF0000"/>
                </a:solidFill>
                <a:latin typeface="+mj-lt"/>
              </a:rPr>
              <a:t>17, 25</a:t>
            </a:r>
            <a:r>
              <a:rPr lang="de-DE" dirty="0">
                <a:latin typeface="Calibri"/>
                <a:cs typeface="Calibri"/>
              </a:rPr>
              <a:t>›</a:t>
            </a:r>
            <a:r>
              <a:rPr lang="de-DE" dirty="0">
                <a:latin typeface="+mj-lt"/>
              </a:rPr>
              <a:t>;</a:t>
            </a:r>
          </a:p>
          <a:p>
            <a:pPr lvl="2">
              <a:spcBef>
                <a:spcPts val="700"/>
              </a:spcBef>
            </a:pPr>
            <a:r>
              <a:rPr lang="pt-BR" dirty="0">
                <a:solidFill>
                  <a:srgbClr val="FF0000"/>
                </a:solidFill>
                <a:latin typeface="+mj-lt"/>
              </a:rPr>
              <a:t>  4</a:t>
            </a:r>
            <a:r>
              <a:rPr lang="pt-BR" dirty="0">
                <a:latin typeface="+mj-lt"/>
              </a:rPr>
              <a:t>: </a:t>
            </a:r>
            <a:r>
              <a:rPr lang="pt-BR" dirty="0">
                <a:latin typeface="Calibri"/>
                <a:cs typeface="Calibri"/>
              </a:rPr>
              <a:t>‹</a:t>
            </a:r>
            <a:r>
              <a:rPr lang="pt-BR" dirty="0">
                <a:solidFill>
                  <a:srgbClr val="FF0000"/>
                </a:solidFill>
                <a:latin typeface="+mj-lt"/>
              </a:rPr>
              <a:t>17, 191</a:t>
            </a:r>
            <a:r>
              <a:rPr lang="pt-BR" dirty="0">
                <a:latin typeface="+mj-lt"/>
              </a:rPr>
              <a:t>, 291, </a:t>
            </a:r>
            <a:r>
              <a:rPr lang="pt-BR" dirty="0">
                <a:solidFill>
                  <a:srgbClr val="FF0000"/>
                </a:solidFill>
                <a:latin typeface="+mj-lt"/>
              </a:rPr>
              <a:t>430, 434</a:t>
            </a:r>
            <a:r>
              <a:rPr lang="pt-BR" dirty="0">
                <a:latin typeface="Calibri"/>
                <a:cs typeface="Calibri"/>
              </a:rPr>
              <a:t>›</a:t>
            </a:r>
            <a:r>
              <a:rPr lang="pt-BR" dirty="0">
                <a:latin typeface="+mj-lt"/>
              </a:rPr>
              <a:t>;</a:t>
            </a:r>
          </a:p>
          <a:p>
            <a:pPr lvl="2">
              <a:spcBef>
                <a:spcPts val="700"/>
              </a:spcBef>
            </a:pPr>
            <a:r>
              <a:rPr lang="de-DE" dirty="0">
                <a:latin typeface="+mj-lt"/>
              </a:rPr>
              <a:t>  5: </a:t>
            </a:r>
            <a:r>
              <a:rPr lang="de-DE" dirty="0">
                <a:latin typeface="Calibri"/>
                <a:cs typeface="Calibri"/>
              </a:rPr>
              <a:t>‹</a:t>
            </a:r>
            <a:r>
              <a:rPr lang="de-DE" dirty="0">
                <a:latin typeface="+mj-lt"/>
              </a:rPr>
              <a:t>14, 19, 101</a:t>
            </a:r>
            <a:r>
              <a:rPr lang="de-DE" dirty="0">
                <a:latin typeface="Calibri"/>
                <a:cs typeface="Calibri"/>
              </a:rPr>
              <a:t>›</a:t>
            </a:r>
            <a:r>
              <a:rPr lang="de-DE" dirty="0">
                <a:latin typeface="+mj-lt"/>
              </a:rPr>
              <a:t>; . . . </a:t>
            </a:r>
            <a:r>
              <a:rPr lang="de-DE" dirty="0">
                <a:latin typeface="Calibri"/>
                <a:cs typeface="Calibri"/>
              </a:rPr>
              <a:t>›</a:t>
            </a:r>
            <a:r>
              <a:rPr lang="de-DE" dirty="0">
                <a:latin typeface="+mj-lt"/>
              </a:rPr>
              <a:t> </a:t>
            </a:r>
            <a:r>
              <a:rPr lang="de-DE" dirty="0" err="1">
                <a:latin typeface="+mj-lt"/>
              </a:rPr>
              <a:t>Document</a:t>
            </a:r>
            <a:r>
              <a:rPr lang="de-DE" dirty="0">
                <a:latin typeface="+mj-lt"/>
              </a:rPr>
              <a:t> 4 </a:t>
            </a:r>
            <a:r>
              <a:rPr lang="de-DE" dirty="0" err="1">
                <a:latin typeface="+mj-lt"/>
              </a:rPr>
              <a:t>is</a:t>
            </a:r>
            <a:r>
              <a:rPr lang="de-DE" dirty="0">
                <a:latin typeface="+mj-lt"/>
              </a:rPr>
              <a:t> a </a:t>
            </a:r>
            <a:r>
              <a:rPr lang="de-DE" dirty="0" err="1">
                <a:latin typeface="+mj-lt"/>
              </a:rPr>
              <a:t>match</a:t>
            </a:r>
            <a:r>
              <a:rPr lang="de-DE" dirty="0">
                <a:latin typeface="+mj-lt"/>
              </a:rPr>
              <a:t>!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6773663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1557</TotalTime>
  <Words>2930</Words>
  <Application>Microsoft Office PowerPoint</Application>
  <PresentationFormat>Widescreen</PresentationFormat>
  <Paragraphs>574</Paragraphs>
  <Slides>66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80" baseType="lpstr">
      <vt:lpstr>Arial Unicode MS</vt:lpstr>
      <vt:lpstr>ＭＳ Ｐゴシック</vt:lpstr>
      <vt:lpstr>宋体</vt:lpstr>
      <vt:lpstr>Arial</vt:lpstr>
      <vt:lpstr>Calibri</vt:lpstr>
      <vt:lpstr>Calibri Light</vt:lpstr>
      <vt:lpstr>Lucida Sans</vt:lpstr>
      <vt:lpstr>Lucida Sans Typewriter</vt:lpstr>
      <vt:lpstr>Symbol</vt:lpstr>
      <vt:lpstr>Times New Roman</vt:lpstr>
      <vt:lpstr>Wingdings</vt:lpstr>
      <vt:lpstr>Office Theme</vt:lpstr>
      <vt:lpstr>Microsoft Excel Chart</vt:lpstr>
      <vt:lpstr>Worksheet</vt:lpstr>
      <vt:lpstr>PowerPoint Presentation</vt:lpstr>
      <vt:lpstr>Class Information</vt:lpstr>
      <vt:lpstr>Topics</vt:lpstr>
      <vt:lpstr>Information Retrieval</vt:lpstr>
      <vt:lpstr>Unstructured (text) vs. structured (database) data in the mid-nineties</vt:lpstr>
      <vt:lpstr>Unstructured (text) vs. structured (database) data today</vt:lpstr>
      <vt:lpstr>Basic assumptions of Information Retrieval</vt:lpstr>
      <vt:lpstr>How good are the retrieved docs?</vt:lpstr>
      <vt:lpstr>PowerPoint Presentation</vt:lpstr>
      <vt:lpstr>IR vs. databases: Structured vs unstructured data</vt:lpstr>
      <vt:lpstr>Unstructured data</vt:lpstr>
      <vt:lpstr>Semi-structured data</vt:lpstr>
      <vt:lpstr>PowerPoint Presentation</vt:lpstr>
      <vt:lpstr>Unstructured data in 1620</vt:lpstr>
      <vt:lpstr>Term-document incidence matrices</vt:lpstr>
      <vt:lpstr>Incidence vectors</vt:lpstr>
      <vt:lpstr>Answers to query</vt:lpstr>
      <vt:lpstr>Bigger collections</vt:lpstr>
      <vt:lpstr>Can’t build the matrix</vt:lpstr>
      <vt:lpstr>PowerPoint Presentation</vt:lpstr>
      <vt:lpstr>PowerPoint Presentation</vt:lpstr>
      <vt:lpstr>PowerPoint Presentation</vt:lpstr>
      <vt:lpstr>Inverted index construction</vt:lpstr>
      <vt:lpstr>Initial stages of text processing</vt:lpstr>
      <vt:lpstr>PowerPoint Presentation</vt:lpstr>
      <vt:lpstr>Indexer steps: Token sequence</vt:lpstr>
      <vt:lpstr>Indexer steps: Sort</vt:lpstr>
      <vt:lpstr>Indexer steps: Dictionary &amp; Postings</vt:lpstr>
      <vt:lpstr>PowerPoint Presentation</vt:lpstr>
      <vt:lpstr>The index we just built</vt:lpstr>
      <vt:lpstr>Query processing: AND</vt:lpstr>
      <vt:lpstr>The merge</vt:lpstr>
      <vt:lpstr>Intersecting two postings lists (a “merge” algorithm)</vt:lpstr>
      <vt:lpstr>Boolean queries: Exact match</vt:lpstr>
      <vt:lpstr>Example: WestLaw   http://www.westlaw.com/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Dingding Wang</dc:creator>
  <cp:lastModifiedBy>Dingding Wang</cp:lastModifiedBy>
  <cp:revision>30</cp:revision>
  <dcterms:created xsi:type="dcterms:W3CDTF">2015-08-10T15:46:50Z</dcterms:created>
  <dcterms:modified xsi:type="dcterms:W3CDTF">2025-01-07T00:13:07Z</dcterms:modified>
</cp:coreProperties>
</file>