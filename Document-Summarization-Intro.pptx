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41"/>
  </p:notesMasterIdLst>
  <p:handoutMasterIdLst>
    <p:handoutMasterId r:id="rId42"/>
  </p:handoutMasterIdLst>
  <p:sldIdLst>
    <p:sldId id="268" r:id="rId2"/>
    <p:sldId id="383" r:id="rId3"/>
    <p:sldId id="391" r:id="rId4"/>
    <p:sldId id="424" r:id="rId5"/>
    <p:sldId id="422" r:id="rId6"/>
    <p:sldId id="423" r:id="rId7"/>
    <p:sldId id="421" r:id="rId8"/>
    <p:sldId id="419" r:id="rId9"/>
    <p:sldId id="426" r:id="rId10"/>
    <p:sldId id="427" r:id="rId11"/>
    <p:sldId id="428" r:id="rId12"/>
    <p:sldId id="429" r:id="rId13"/>
    <p:sldId id="430" r:id="rId14"/>
    <p:sldId id="449" r:id="rId15"/>
    <p:sldId id="450" r:id="rId16"/>
    <p:sldId id="451" r:id="rId17"/>
    <p:sldId id="453" r:id="rId18"/>
    <p:sldId id="454" r:id="rId19"/>
    <p:sldId id="455" r:id="rId20"/>
    <p:sldId id="456" r:id="rId21"/>
    <p:sldId id="457" r:id="rId22"/>
    <p:sldId id="458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5" r:id="rId37"/>
    <p:sldId id="446" r:id="rId38"/>
    <p:sldId id="447" r:id="rId39"/>
    <p:sldId id="448" r:id="rId40"/>
  </p:sldIdLst>
  <p:sldSz cx="9144000" cy="6858000" type="screen4x3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406" autoAdjust="0"/>
    <p:restoredTop sz="86867" autoAdjust="0"/>
  </p:normalViewPr>
  <p:slideViewPr>
    <p:cSldViewPr>
      <p:cViewPr varScale="1">
        <p:scale>
          <a:sx n="89" d="100"/>
          <a:sy n="89" d="100"/>
        </p:scale>
        <p:origin x="102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7315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29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73150" y="704850"/>
            <a:ext cx="4699000" cy="35242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220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173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631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28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73150" y="704850"/>
            <a:ext cx="4699000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70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C7FEE-6B48-4643-BCFB-F13B0E13E17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25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BDC8F-D922-0A4E-AAA0-9C7D97FF3D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1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A63A-31A1-2C4C-95AA-A445DBCAB17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68C3-6089-F349-9232-42643877B0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9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7101-16EA-C942-850C-355264FDE9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15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8E5E2-1321-4548-96C8-615581C5A8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1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29988-E849-C549-AA67-252EA40F09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419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882B1-C6D6-A945-BB8B-B7B1B12471B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FA8D9-15F1-AF4D-8149-0C26EB27AC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2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57BED9-9427-674C-8047-314E304C86F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349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671637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2311400"/>
            <a:ext cx="4040188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7" y="1671637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7" y="2311400"/>
            <a:ext cx="4041775" cy="3962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6273800"/>
            <a:ext cx="19812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273800"/>
            <a:ext cx="2895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752601"/>
            <a:ext cx="77724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4076701"/>
            <a:ext cx="77724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3406143" y="3406142"/>
            <a:ext cx="68580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04800"/>
            <a:ext cx="74676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6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02" r:id="rId12"/>
    <p:sldLayoutId id="2147483709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8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Document Summarization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/>
          <a:lstStyle/>
          <a:p>
            <a:r>
              <a:rPr lang="en-US" dirty="0" smtClean="0"/>
              <a:t>Text Summarization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27200"/>
            <a:ext cx="8458200" cy="4597400"/>
          </a:xfrm>
        </p:spPr>
        <p:txBody>
          <a:bodyPr/>
          <a:lstStyle/>
          <a:p>
            <a:r>
              <a:rPr lang="en-US" b="1" dirty="0" smtClean="0"/>
              <a:t>Goal</a:t>
            </a:r>
            <a:r>
              <a:rPr lang="en-US" dirty="0" smtClean="0"/>
              <a:t>: produce </a:t>
            </a:r>
            <a:r>
              <a:rPr lang="en-US" dirty="0"/>
              <a:t>an </a:t>
            </a:r>
            <a:r>
              <a:rPr lang="en-US" dirty="0" smtClean="0"/>
              <a:t>abridged version </a:t>
            </a:r>
            <a:r>
              <a:rPr lang="en-US" dirty="0"/>
              <a:t>of a text that contains </a:t>
            </a:r>
            <a:r>
              <a:rPr lang="en-US" dirty="0" smtClean="0"/>
              <a:t>information that is important </a:t>
            </a:r>
            <a:r>
              <a:rPr lang="en-US" dirty="0"/>
              <a:t>or relevant </a:t>
            </a:r>
            <a:r>
              <a:rPr lang="en-US" dirty="0" smtClean="0"/>
              <a:t>to a user.</a:t>
            </a:r>
          </a:p>
          <a:p>
            <a:pPr marL="0" indent="0">
              <a:buNone/>
            </a:pPr>
            <a:r>
              <a:rPr lang="en-US" dirty="0" smtClean="0"/>
              <a:t>				</a:t>
            </a:r>
            <a:endParaRPr lang="en-US" b="1" dirty="0" smtClean="0"/>
          </a:p>
          <a:p>
            <a:r>
              <a:rPr lang="en-US" sz="2800" b="1" dirty="0" smtClean="0"/>
              <a:t>Summarization Applications</a:t>
            </a:r>
          </a:p>
          <a:p>
            <a:pPr lvl="1"/>
            <a:r>
              <a:rPr lang="en-US" sz="2400" b="1" dirty="0" smtClean="0">
                <a:solidFill>
                  <a:srgbClr val="0000FF"/>
                </a:solidFill>
              </a:rPr>
              <a:t>outlines or abstracts </a:t>
            </a:r>
            <a:r>
              <a:rPr lang="en-US" sz="2400" dirty="0" smtClean="0"/>
              <a:t>of </a:t>
            </a:r>
            <a:r>
              <a:rPr lang="en-US" sz="2400" dirty="0"/>
              <a:t>any </a:t>
            </a:r>
            <a:r>
              <a:rPr lang="en-US" sz="2400" dirty="0" smtClean="0"/>
              <a:t>document, article, </a:t>
            </a:r>
            <a:r>
              <a:rPr lang="en-US" sz="2400" dirty="0" err="1" smtClean="0"/>
              <a:t>etc</a:t>
            </a:r>
            <a:endParaRPr lang="en-US" sz="2400" dirty="0" smtClean="0"/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summaries</a:t>
            </a:r>
            <a:r>
              <a:rPr lang="en-US" sz="2400" b="1" dirty="0"/>
              <a:t> </a:t>
            </a:r>
            <a:r>
              <a:rPr lang="en-US" sz="2400" dirty="0"/>
              <a:t>of email </a:t>
            </a:r>
            <a:r>
              <a:rPr lang="en-US" sz="2400" dirty="0" smtClean="0"/>
              <a:t>threads</a:t>
            </a:r>
          </a:p>
          <a:p>
            <a:pPr lvl="1"/>
            <a:r>
              <a:rPr lang="en-US" sz="2400" b="1" dirty="0">
                <a:solidFill>
                  <a:srgbClr val="0000FF"/>
                </a:solidFill>
              </a:rPr>
              <a:t>action items </a:t>
            </a:r>
            <a:r>
              <a:rPr lang="en-US" sz="2400" dirty="0" smtClean="0"/>
              <a:t>from </a:t>
            </a:r>
            <a:r>
              <a:rPr lang="en-US" sz="2400" dirty="0"/>
              <a:t>a </a:t>
            </a:r>
            <a:r>
              <a:rPr lang="en-US" sz="2400" dirty="0" smtClean="0"/>
              <a:t>meeting</a:t>
            </a:r>
          </a:p>
          <a:p>
            <a:pPr lvl="1"/>
            <a:r>
              <a:rPr lang="en-US" sz="2400" b="1" dirty="0" smtClean="0">
                <a:solidFill>
                  <a:srgbClr val="0000FF"/>
                </a:solidFill>
              </a:rPr>
              <a:t>simplifying</a:t>
            </a:r>
            <a:r>
              <a:rPr lang="en-US" sz="2400" dirty="0" smtClean="0"/>
              <a:t> text by compressing sentences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9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to summarize? </a:t>
            </a:r>
            <a:br>
              <a:rPr lang="en-US" dirty="0" smtClean="0"/>
            </a:br>
            <a:r>
              <a:rPr lang="en-US" dirty="0" smtClean="0"/>
              <a:t>Single vs. multiple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FF"/>
                </a:solidFill>
              </a:rPr>
              <a:t>S</a:t>
            </a:r>
            <a:r>
              <a:rPr lang="en-US" sz="2800" b="1" dirty="0" smtClean="0">
                <a:solidFill>
                  <a:srgbClr val="0000FF"/>
                </a:solidFill>
              </a:rPr>
              <a:t>ingle</a:t>
            </a:r>
            <a:r>
              <a:rPr lang="en-US" sz="2800" b="1" dirty="0">
                <a:solidFill>
                  <a:srgbClr val="0000FF"/>
                </a:solidFill>
              </a:rPr>
              <a:t>-document </a:t>
            </a:r>
            <a:r>
              <a:rPr lang="en-US" sz="2800" b="1" dirty="0" smtClean="0">
                <a:solidFill>
                  <a:srgbClr val="0000FF"/>
                </a:solidFill>
              </a:rPr>
              <a:t>summarization</a:t>
            </a:r>
          </a:p>
          <a:p>
            <a:pPr lvl="1"/>
            <a:r>
              <a:rPr lang="en-US" sz="2400" dirty="0" smtClean="0"/>
              <a:t>Given a single document, produce</a:t>
            </a:r>
          </a:p>
          <a:p>
            <a:pPr lvl="2"/>
            <a:r>
              <a:rPr lang="en-US" sz="2400" dirty="0" smtClean="0"/>
              <a:t>abstract</a:t>
            </a:r>
          </a:p>
          <a:p>
            <a:pPr lvl="2"/>
            <a:r>
              <a:rPr lang="en-US" sz="2400" dirty="0" smtClean="0"/>
              <a:t>outline</a:t>
            </a:r>
          </a:p>
          <a:p>
            <a:pPr lvl="2"/>
            <a:r>
              <a:rPr lang="en-US" sz="2400" dirty="0" smtClean="0"/>
              <a:t>headline</a:t>
            </a:r>
          </a:p>
          <a:p>
            <a:r>
              <a:rPr lang="en-US" sz="2800" dirty="0" smtClean="0">
                <a:solidFill>
                  <a:srgbClr val="0000FF"/>
                </a:solidFill>
              </a:rPr>
              <a:t>M</a:t>
            </a:r>
            <a:r>
              <a:rPr lang="en-US" sz="2800" b="1" dirty="0" smtClean="0">
                <a:solidFill>
                  <a:srgbClr val="0000FF"/>
                </a:solidFill>
              </a:rPr>
              <a:t>ultiple</a:t>
            </a:r>
            <a:r>
              <a:rPr lang="en-US" sz="2800" b="1" dirty="0">
                <a:solidFill>
                  <a:srgbClr val="0000FF"/>
                </a:solidFill>
              </a:rPr>
              <a:t>-document </a:t>
            </a:r>
            <a:r>
              <a:rPr lang="en-US" sz="2800" b="1" dirty="0" smtClean="0">
                <a:solidFill>
                  <a:srgbClr val="0000FF"/>
                </a:solidFill>
              </a:rPr>
              <a:t>summarization</a:t>
            </a:r>
            <a:endParaRPr lang="en-US" sz="2800" dirty="0" smtClean="0">
              <a:solidFill>
                <a:srgbClr val="0000FF"/>
              </a:solidFill>
            </a:endParaRPr>
          </a:p>
          <a:p>
            <a:pPr lvl="1"/>
            <a:r>
              <a:rPr lang="en-US" sz="2400" dirty="0" smtClean="0"/>
              <a:t>Given a group </a:t>
            </a:r>
            <a:r>
              <a:rPr lang="en-US" sz="2400" dirty="0"/>
              <a:t>of documents, </a:t>
            </a:r>
            <a:r>
              <a:rPr lang="en-US" sz="2400" dirty="0" smtClean="0"/>
              <a:t>produce a gist of the content:</a:t>
            </a:r>
          </a:p>
          <a:p>
            <a:pPr lvl="2"/>
            <a:r>
              <a:rPr lang="en-US" sz="2400" dirty="0" smtClean="0"/>
              <a:t>a </a:t>
            </a:r>
            <a:r>
              <a:rPr lang="en-US" sz="2400" dirty="0"/>
              <a:t>series of news </a:t>
            </a:r>
            <a:r>
              <a:rPr lang="en-US" sz="2400" dirty="0" smtClean="0"/>
              <a:t>stories on </a:t>
            </a:r>
            <a:r>
              <a:rPr lang="en-US" sz="2400" dirty="0"/>
              <a:t>the same </a:t>
            </a:r>
            <a:r>
              <a:rPr lang="en-US" sz="2400" dirty="0" smtClean="0"/>
              <a:t>event</a:t>
            </a:r>
          </a:p>
          <a:p>
            <a:pPr lvl="2"/>
            <a:r>
              <a:rPr lang="en-US" sz="2400" dirty="0" smtClean="0"/>
              <a:t>a set of web pages about some topic or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4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Q</a:t>
            </a:r>
            <a:r>
              <a:rPr lang="en-US" sz="3600" dirty="0" smtClean="0"/>
              <a:t>uery-focused Summarization</a:t>
            </a:r>
            <a:br>
              <a:rPr lang="en-US" sz="3600" dirty="0" smtClean="0"/>
            </a:br>
            <a:r>
              <a:rPr lang="en-US" sz="3600" dirty="0" smtClean="0"/>
              <a:t>&amp;  Generic </a:t>
            </a:r>
            <a:r>
              <a:rPr lang="en-US" sz="3600" dirty="0"/>
              <a:t>S</a:t>
            </a:r>
            <a:r>
              <a:rPr lang="en-US" sz="3600" dirty="0" smtClean="0"/>
              <a:t>ummarization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smtClean="0">
                <a:solidFill>
                  <a:srgbClr val="0000FF"/>
                </a:solidFill>
              </a:rPr>
              <a:t>Generic summarization:</a:t>
            </a:r>
          </a:p>
          <a:p>
            <a:pPr lvl="1"/>
            <a:r>
              <a:rPr lang="en-US" sz="2800" dirty="0" smtClean="0"/>
              <a:t> Summarize the content of a document</a:t>
            </a:r>
          </a:p>
          <a:p>
            <a:r>
              <a:rPr lang="en-US" sz="3200" dirty="0" smtClean="0">
                <a:solidFill>
                  <a:srgbClr val="0000FF"/>
                </a:solidFill>
              </a:rPr>
              <a:t>Query-focused summarization:</a:t>
            </a:r>
          </a:p>
          <a:p>
            <a:pPr lvl="1"/>
            <a:r>
              <a:rPr lang="en-US" sz="2800" dirty="0" smtClean="0"/>
              <a:t> summarize a document with respect to an information need expressed in a user query.</a:t>
            </a:r>
          </a:p>
          <a:p>
            <a:pPr lvl="1"/>
            <a:r>
              <a:rPr lang="en-US" sz="2800" dirty="0"/>
              <a:t>a</a:t>
            </a:r>
            <a:r>
              <a:rPr lang="en-US" sz="2800" dirty="0" smtClean="0"/>
              <a:t> kind of complex question answering:</a:t>
            </a:r>
          </a:p>
          <a:p>
            <a:pPr lvl="2"/>
            <a:r>
              <a:rPr lang="en-US" sz="2800" dirty="0" smtClean="0"/>
              <a:t>Answer a question by summarizing a document that has the information to construct the answer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0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Summarization for Question </a:t>
            </a:r>
            <a:r>
              <a:rPr lang="en-US" dirty="0" smtClean="0"/>
              <a:t>Answering: Snippets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98600"/>
            <a:ext cx="8839200" cy="5054600"/>
          </a:xfrm>
        </p:spPr>
        <p:txBody>
          <a:bodyPr/>
          <a:lstStyle/>
          <a:p>
            <a:r>
              <a:rPr lang="en-US" sz="2800" b="1" dirty="0" smtClean="0"/>
              <a:t>Create</a:t>
            </a:r>
            <a:r>
              <a:rPr lang="en-US" sz="2800" b="1" dirty="0" smtClean="0">
                <a:solidFill>
                  <a:srgbClr val="0000FF"/>
                </a:solidFill>
              </a:rPr>
              <a:t> snippets</a:t>
            </a:r>
            <a:r>
              <a:rPr lang="en-US" sz="2800" b="1" dirty="0" smtClean="0"/>
              <a:t> </a:t>
            </a:r>
            <a:r>
              <a:rPr lang="en-US" sz="2800" dirty="0" smtClean="0"/>
              <a:t>summarizing a web page for a query</a:t>
            </a:r>
          </a:p>
          <a:p>
            <a:pPr lvl="1"/>
            <a:r>
              <a:rPr lang="en-US" dirty="0" smtClean="0"/>
              <a:t>Google: 156 characters (about 26 words) plus title and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211" y="2590800"/>
            <a:ext cx="6529683" cy="408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7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8733" y="152400"/>
            <a:ext cx="73914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Summarization for Question </a:t>
            </a:r>
            <a:r>
              <a:rPr lang="en-US" dirty="0" smtClean="0"/>
              <a:t>Answering: Multiple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803400"/>
            <a:ext cx="8458200" cy="474980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000000"/>
                </a:solidFill>
              </a:rPr>
              <a:t>Create</a:t>
            </a:r>
            <a:r>
              <a:rPr lang="en-US" sz="3200" b="1" dirty="0" smtClean="0">
                <a:solidFill>
                  <a:srgbClr val="0000FF"/>
                </a:solidFill>
              </a:rPr>
              <a:t> answers</a:t>
            </a:r>
            <a:r>
              <a:rPr lang="en-US" sz="3200" b="1" dirty="0" smtClean="0"/>
              <a:t> </a:t>
            </a:r>
            <a:r>
              <a:rPr lang="en-US" sz="3200" dirty="0" smtClean="0"/>
              <a:t>to complex questions summarizing multiple documents.</a:t>
            </a:r>
          </a:p>
          <a:p>
            <a:pPr lvl="1"/>
            <a:r>
              <a:rPr lang="en-US" sz="2800" dirty="0" smtClean="0"/>
              <a:t>Instead of giving a snippet for each document</a:t>
            </a:r>
          </a:p>
          <a:p>
            <a:pPr lvl="1"/>
            <a:r>
              <a:rPr lang="en-US" sz="2800" dirty="0" smtClean="0"/>
              <a:t>Create a cohesive answer that combines information from each document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83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Extractive summarization &amp; </a:t>
            </a:r>
            <a:br>
              <a:rPr lang="en-US" dirty="0" smtClean="0"/>
            </a:br>
            <a:r>
              <a:rPr lang="en-US" dirty="0" smtClean="0"/>
              <a:t>Abstractive summarization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rgbClr val="0000FF"/>
                </a:solidFill>
              </a:rPr>
              <a:t>Extractive summarization:</a:t>
            </a:r>
          </a:p>
          <a:p>
            <a:pPr lvl="1"/>
            <a:r>
              <a:rPr lang="en-US" sz="2400" dirty="0" smtClean="0"/>
              <a:t>create the summary from phrases or sentences in the source document(s)</a:t>
            </a:r>
          </a:p>
          <a:p>
            <a:r>
              <a:rPr lang="en-US" sz="2800" dirty="0" smtClean="0">
                <a:solidFill>
                  <a:srgbClr val="0000FF"/>
                </a:solidFill>
              </a:rPr>
              <a:t>Abstractive summarization:</a:t>
            </a:r>
          </a:p>
          <a:p>
            <a:pPr lvl="1"/>
            <a:r>
              <a:rPr lang="en-US" sz="2400" dirty="0" smtClean="0"/>
              <a:t>express the ideas in the source documents using (at least in part) different words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2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91400" cy="990600"/>
          </a:xfrm>
        </p:spPr>
        <p:txBody>
          <a:bodyPr/>
          <a:lstStyle/>
          <a:p>
            <a:r>
              <a:rPr lang="en-US" dirty="0" smtClean="0"/>
              <a:t>Simple baseline: take the first sentence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47390"/>
          <a:stretch/>
        </p:blipFill>
        <p:spPr>
          <a:xfrm>
            <a:off x="1524000" y="1600200"/>
            <a:ext cx="5943600" cy="19568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216257"/>
            <a:ext cx="7391400" cy="26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1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505200"/>
            <a:ext cx="8001000" cy="27432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ea typeface="ＭＳ Ｐゴシック" charset="0"/>
                <a:cs typeface="Calibri (Headings)"/>
              </a:rPr>
              <a:t>Generating Snippets and other Single-Document Answers</a:t>
            </a:r>
            <a:endParaRPr lang="en-US" sz="32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883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Snippets: query-focused summaries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 descr="cast-meta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905000"/>
            <a:ext cx="601382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4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Summarization: Three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7200"/>
            <a:ext cx="8077200" cy="444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content selection</a:t>
            </a:r>
            <a:r>
              <a:rPr lang="en-US" sz="2800" dirty="0" smtClean="0"/>
              <a:t>: choose sentences to extract from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information ordering</a:t>
            </a:r>
            <a:r>
              <a:rPr lang="en-US" sz="2800" dirty="0" smtClean="0"/>
              <a:t>: choose an order to place them in the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sentence realization</a:t>
            </a:r>
            <a:r>
              <a:rPr lang="en-US" sz="2800" dirty="0" smtClean="0"/>
              <a:t>: clean up the sentences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 descr="sdsum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" y="4660320"/>
            <a:ext cx="9144000" cy="15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2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Summarization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27200"/>
            <a:ext cx="8077200" cy="4445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rgbClr val="0000FF"/>
                </a:solidFill>
              </a:rPr>
              <a:t>content selection</a:t>
            </a:r>
            <a:r>
              <a:rPr lang="en-US" sz="2800" dirty="0" smtClean="0"/>
              <a:t>: choose sentences to extract from the document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information ordering: just use document order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sentence realization: keep original sentences</a:t>
            </a:r>
            <a:endParaRPr 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 descr="sdsum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" y="4660320"/>
            <a:ext cx="9144000" cy="158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27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391400" cy="990600"/>
          </a:xfrm>
        </p:spPr>
        <p:txBody>
          <a:bodyPr/>
          <a:lstStyle/>
          <a:p>
            <a:r>
              <a:rPr lang="en-US" dirty="0" smtClean="0"/>
              <a:t>Unsupervised content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Intuition dating back to </a:t>
            </a:r>
            <a:r>
              <a:rPr lang="en-US" sz="2800" dirty="0" err="1" smtClean="0"/>
              <a:t>Luhn</a:t>
            </a:r>
            <a:r>
              <a:rPr lang="en-US" sz="2800" dirty="0" smtClean="0"/>
              <a:t> (1958):</a:t>
            </a:r>
          </a:p>
          <a:p>
            <a:pPr lvl="1"/>
            <a:r>
              <a:rPr lang="en-US" sz="2400" dirty="0" smtClean="0"/>
              <a:t>Choose sentences that have </a:t>
            </a:r>
            <a:r>
              <a:rPr lang="en-US" sz="2400" dirty="0" smtClean="0">
                <a:solidFill>
                  <a:srgbClr val="0000FF"/>
                </a:solidFill>
              </a:rPr>
              <a:t>salient</a:t>
            </a:r>
            <a:r>
              <a:rPr lang="en-US" sz="2400" dirty="0" smtClean="0"/>
              <a:t> or </a:t>
            </a:r>
            <a:r>
              <a:rPr lang="en-US" sz="2400" dirty="0" smtClean="0">
                <a:solidFill>
                  <a:srgbClr val="0000FF"/>
                </a:solidFill>
              </a:rPr>
              <a:t>informative</a:t>
            </a:r>
            <a:r>
              <a:rPr lang="en-US" sz="2400" dirty="0" smtClean="0"/>
              <a:t> words</a:t>
            </a:r>
            <a:endParaRPr lang="en-US" sz="2800" dirty="0" smtClean="0"/>
          </a:p>
          <a:p>
            <a:r>
              <a:rPr lang="en-US" sz="2800" dirty="0" smtClean="0"/>
              <a:t>Two approaches to defining salient words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err="1">
                <a:solidFill>
                  <a:srgbClr val="0000FF"/>
                </a:solidFill>
              </a:rPr>
              <a:t>tf-</a:t>
            </a:r>
            <a:r>
              <a:rPr lang="en-US" sz="2400" dirty="0" err="1" smtClean="0">
                <a:solidFill>
                  <a:srgbClr val="0000FF"/>
                </a:solidFill>
              </a:rPr>
              <a:t>idf</a:t>
            </a:r>
            <a:r>
              <a:rPr lang="en-US" sz="2400" dirty="0" smtClean="0">
                <a:solidFill>
                  <a:srgbClr val="0000FF"/>
                </a:solidFill>
              </a:rPr>
              <a:t>: </a:t>
            </a:r>
            <a:r>
              <a:rPr lang="en-US" sz="2400" dirty="0" smtClean="0"/>
              <a:t>weigh each word </a:t>
            </a:r>
            <a:r>
              <a:rPr lang="en-US" sz="2400" dirty="0" err="1" smtClean="0">
                <a:latin typeface="Times New Roman"/>
                <a:cs typeface="Times New Roman"/>
              </a:rPr>
              <a:t>w</a:t>
            </a:r>
            <a:r>
              <a:rPr lang="en-US" sz="2400" baseline="-25000" dirty="0" err="1" smtClean="0">
                <a:latin typeface="Times New Roman"/>
                <a:cs typeface="Times New Roman"/>
              </a:rPr>
              <a:t>i</a:t>
            </a:r>
            <a:r>
              <a:rPr lang="en-US" sz="2400" dirty="0" smtClean="0"/>
              <a:t> in document </a:t>
            </a:r>
            <a:r>
              <a:rPr lang="en-US" sz="2400" i="1" dirty="0" smtClean="0">
                <a:latin typeface="Times New Roman"/>
                <a:cs typeface="Times New Roman"/>
              </a:rPr>
              <a:t>j</a:t>
            </a:r>
            <a:r>
              <a:rPr lang="en-US" sz="2400" dirty="0" smtClean="0"/>
              <a:t> by </a:t>
            </a:r>
            <a:r>
              <a:rPr lang="en-US" sz="2400" dirty="0" err="1" smtClean="0"/>
              <a:t>tf</a:t>
            </a:r>
            <a:r>
              <a:rPr lang="en-US" sz="2400" dirty="0" err="1"/>
              <a:t>-</a:t>
            </a:r>
            <a:r>
              <a:rPr lang="en-US" sz="2400" dirty="0" err="1" smtClean="0"/>
              <a:t>idf</a:t>
            </a:r>
            <a:endParaRPr lang="en-US" sz="2400" dirty="0" smtClean="0"/>
          </a:p>
          <a:p>
            <a:pPr lvl="2"/>
            <a:endParaRPr lang="en-US" sz="2400" dirty="0" smtClean="0">
              <a:solidFill>
                <a:srgbClr val="0000FF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>
                <a:solidFill>
                  <a:srgbClr val="0000FF"/>
                </a:solidFill>
              </a:rPr>
              <a:t>topic signature</a:t>
            </a:r>
            <a:r>
              <a:rPr lang="en-US" sz="2400" dirty="0" smtClean="0"/>
              <a:t>: choose a smaller set of salient words</a:t>
            </a:r>
          </a:p>
          <a:p>
            <a:pPr lvl="2"/>
            <a:r>
              <a:rPr lang="en-US" sz="2400" dirty="0" smtClean="0"/>
              <a:t>mutual information</a:t>
            </a:r>
          </a:p>
          <a:p>
            <a:pPr lvl="2"/>
            <a:r>
              <a:rPr lang="en-US" sz="2400" dirty="0" smtClean="0"/>
              <a:t>log</a:t>
            </a:r>
            <a:r>
              <a:rPr lang="en-US" sz="2400" dirty="0"/>
              <a:t>-</a:t>
            </a:r>
            <a:r>
              <a:rPr lang="en-US" sz="2400" dirty="0" smtClean="0"/>
              <a:t>likelihood ratio </a:t>
            </a:r>
            <a:r>
              <a:rPr lang="en-US" sz="2400" dirty="0"/>
              <a:t>(</a:t>
            </a:r>
            <a:r>
              <a:rPr lang="en-US" sz="2400" dirty="0" smtClean="0"/>
              <a:t>LLR)</a:t>
            </a:r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</a:rPr>
              <a:t>  Dunning (1993), Lin and </a:t>
            </a:r>
            <a:r>
              <a:rPr lang="en-US" sz="1800" dirty="0" err="1" smtClean="0">
                <a:solidFill>
                  <a:schemeClr val="bg1">
                    <a:lumMod val="50000"/>
                  </a:schemeClr>
                </a:solidFill>
              </a:rPr>
              <a:t>Hovy</a:t>
            </a:r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</a:rPr>
              <a:t> (2000)</a:t>
            </a:r>
            <a:endParaRPr lang="en-US" sz="2400" dirty="0" smtClean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2237317" y="3733800"/>
          <a:ext cx="294428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358900" imgH="228600" progId="Equation.3">
                  <p:embed/>
                </p:oleObj>
              </mc:Choice>
              <mc:Fallback>
                <p:oleObj name="Equation" r:id="rId3" imgW="135890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37317" y="3733800"/>
                        <a:ext cx="2944283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2286000" y="5638800"/>
          <a:ext cx="4724400" cy="102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5" imgW="2451100" imgH="533400" progId="Equation.3">
                  <p:embed/>
                </p:oleObj>
              </mc:Choice>
              <mc:Fallback>
                <p:oleObj name="Equation" r:id="rId5" imgW="2451100" imgH="533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5638800"/>
                        <a:ext cx="4724400" cy="1028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0" y="1143000"/>
            <a:ext cx="558488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H. P. </a:t>
            </a:r>
            <a:r>
              <a:rPr lang="en-US" sz="16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Luhn</a:t>
            </a:r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. 1958. The Automatic Creation of Literature Abstracts.</a:t>
            </a:r>
          </a:p>
          <a:p>
            <a:r>
              <a:rPr 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rPr>
              <a:t>IBM Journal of Research and Development. 2:2, 159-165. 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476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Mani &amp; Bloedorn 97,99</a:t>
            </a:r>
          </a:p>
        </p:txBody>
      </p:sp>
      <p:sp>
        <p:nvSpPr>
          <p:cNvPr id="653315" name="Rectangle 3"/>
          <p:cNvSpPr>
            <a:spLocks noGrp="1" noChangeArrowheads="1"/>
          </p:cNvSpPr>
          <p:nvPr>
            <p:ph sz="half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/>
              <a:t>Summarizing differences and similarities across documents</a:t>
            </a:r>
          </a:p>
          <a:p>
            <a:r>
              <a:rPr lang="en-US" altLang="en-US" sz="2800"/>
              <a:t>Single event or a sequence of events</a:t>
            </a:r>
          </a:p>
        </p:txBody>
      </p:sp>
      <p:sp>
        <p:nvSpPr>
          <p:cNvPr id="653317" name="Rectangle 5"/>
          <p:cNvSpPr>
            <a:spLocks noGrp="1" noChangeArrowheads="1"/>
          </p:cNvSpPr>
          <p:nvPr>
            <p:ph sz="half" idx="2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/>
              <a:t>Text segments are aligned</a:t>
            </a:r>
          </a:p>
          <a:p>
            <a:r>
              <a:rPr lang="en-US" altLang="en-US" sz="2800"/>
              <a:t>Evaluation: TREC relevance judgments</a:t>
            </a:r>
          </a:p>
          <a:p>
            <a:r>
              <a:rPr lang="en-US" altLang="en-US" sz="2800"/>
              <a:t>Significant reduction in time with no significant loss of accuracy</a:t>
            </a:r>
          </a:p>
        </p:txBody>
      </p:sp>
    </p:spTree>
    <p:extLst>
      <p:ext uri="{BB962C8B-B14F-4D97-AF65-F5344CB8AC3E}">
        <p14:creationId xmlns:p14="http://schemas.microsoft.com/office/powerpoint/2010/main" val="685051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Carbonell &amp; Goldstein 98</a:t>
            </a:r>
          </a:p>
        </p:txBody>
      </p:sp>
      <p:sp>
        <p:nvSpPr>
          <p:cNvPr id="65433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95400" y="1905000"/>
            <a:ext cx="3810000" cy="2971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/>
              <a:t>Maximal Marginal Relevance (MMR)</a:t>
            </a:r>
          </a:p>
          <a:p>
            <a:r>
              <a:rPr lang="en-US" altLang="en-US" sz="2800"/>
              <a:t>Query-based summaries</a:t>
            </a:r>
          </a:p>
          <a:p>
            <a:r>
              <a:rPr lang="en-US" altLang="en-US" sz="2800"/>
              <a:t>Law of diminishing returns</a:t>
            </a:r>
          </a:p>
        </p:txBody>
      </p:sp>
      <p:sp>
        <p:nvSpPr>
          <p:cNvPr id="654341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5257800" y="1905000"/>
            <a:ext cx="3810000" cy="2971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800"/>
              <a:t>C = doc collection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800"/>
              <a:t>Q = user query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800"/>
              <a:t>R = IR(C,Q,</a:t>
            </a:r>
            <a:r>
              <a:rPr lang="en-US" altLang="en-US" sz="2800" i="1">
                <a:sym typeface="Symbol" panose="05050102010706020507" pitchFamily="18" charset="2"/>
              </a:rPr>
              <a:t></a:t>
            </a:r>
            <a:r>
              <a:rPr lang="en-US" altLang="en-US" sz="2800"/>
              <a:t>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800"/>
              <a:t>S = already retrieved documents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800"/>
              <a:t>Sim = similarity metric used</a:t>
            </a:r>
          </a:p>
        </p:txBody>
      </p:sp>
      <p:sp>
        <p:nvSpPr>
          <p:cNvPr id="654342" name="Text Box 6"/>
          <p:cNvSpPr txBox="1">
            <a:spLocks noChangeArrowheads="1"/>
          </p:cNvSpPr>
          <p:nvPr/>
        </p:nvSpPr>
        <p:spPr bwMode="auto">
          <a:xfrm>
            <a:off x="1295400" y="5334000"/>
            <a:ext cx="769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Arial" panose="020B0604020202020204" pitchFamily="34" charset="0"/>
              </a:rPr>
              <a:t>MMR = argmax [ 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>
                <a:latin typeface="Arial" panose="020B0604020202020204" pitchFamily="34" charset="0"/>
              </a:rPr>
              <a:t> (Sim</a:t>
            </a:r>
            <a:r>
              <a:rPr lang="en-US" altLang="en-US" baseline="-25000">
                <a:latin typeface="Arial" panose="020B0604020202020204" pitchFamily="34" charset="0"/>
              </a:rPr>
              <a:t>1</a:t>
            </a:r>
            <a:r>
              <a:rPr lang="en-US" altLang="en-US">
                <a:latin typeface="Arial" panose="020B0604020202020204" pitchFamily="34" charset="0"/>
              </a:rPr>
              <a:t>(D</a:t>
            </a:r>
            <a:r>
              <a:rPr lang="en-US" altLang="en-US" baseline="-25000">
                <a:latin typeface="Arial" panose="020B0604020202020204" pitchFamily="34" charset="0"/>
              </a:rPr>
              <a:t>i</a:t>
            </a:r>
            <a:r>
              <a:rPr lang="en-US" altLang="en-US">
                <a:latin typeface="Arial" panose="020B0604020202020204" pitchFamily="34" charset="0"/>
              </a:rPr>
              <a:t>,Q) - (1-</a:t>
            </a:r>
            <a:r>
              <a:rPr lang="en-US" altLang="en-US">
                <a:latin typeface="Symbol" panose="05050102010706020507" pitchFamily="18" charset="2"/>
              </a:rPr>
              <a:t>l</a:t>
            </a:r>
            <a:r>
              <a:rPr lang="en-US" altLang="en-US">
                <a:latin typeface="Arial" panose="020B0604020202020204" pitchFamily="34" charset="0"/>
              </a:rPr>
              <a:t>) max Sim</a:t>
            </a:r>
            <a:r>
              <a:rPr lang="en-US" altLang="en-US" baseline="-25000">
                <a:latin typeface="Arial" panose="020B0604020202020204" pitchFamily="34" charset="0"/>
              </a:rPr>
              <a:t>2</a:t>
            </a:r>
            <a:r>
              <a:rPr lang="en-US" altLang="en-US">
                <a:latin typeface="Arial" panose="020B0604020202020204" pitchFamily="34" charset="0"/>
              </a:rPr>
              <a:t>(D</a:t>
            </a:r>
            <a:r>
              <a:rPr lang="en-US" altLang="en-US" baseline="-25000">
                <a:latin typeface="Arial" panose="020B0604020202020204" pitchFamily="34" charset="0"/>
              </a:rPr>
              <a:t>i</a:t>
            </a:r>
            <a:r>
              <a:rPr lang="en-US" altLang="en-US">
                <a:latin typeface="Arial" panose="020B0604020202020204" pitchFamily="34" charset="0"/>
              </a:rPr>
              <a:t>,D</a:t>
            </a:r>
            <a:r>
              <a:rPr lang="en-US" altLang="en-US" baseline="-25000">
                <a:latin typeface="Arial" panose="020B0604020202020204" pitchFamily="34" charset="0"/>
              </a:rPr>
              <a:t>j</a:t>
            </a:r>
            <a:r>
              <a:rPr lang="en-US" altLang="en-US">
                <a:latin typeface="Arial" panose="020B0604020202020204" pitchFamily="34" charset="0"/>
              </a:rPr>
              <a:t>)]</a:t>
            </a:r>
          </a:p>
        </p:txBody>
      </p:sp>
      <p:sp>
        <p:nvSpPr>
          <p:cNvPr id="654343" name="Rectangle 7"/>
          <p:cNvSpPr>
            <a:spLocks noChangeArrowheads="1"/>
          </p:cNvSpPr>
          <p:nvPr/>
        </p:nvSpPr>
        <p:spPr bwMode="auto">
          <a:xfrm>
            <a:off x="2514600" y="5683250"/>
            <a:ext cx="9144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>
                <a:latin typeface="Arial" panose="020B0604020202020204" pitchFamily="34" charset="0"/>
              </a:rPr>
              <a:t>D</a:t>
            </a:r>
            <a:r>
              <a:rPr lang="en-US" altLang="en-US" sz="1600" baseline="-25000">
                <a:latin typeface="Arial" panose="020B0604020202020204" pitchFamily="34" charset="0"/>
              </a:rPr>
              <a:t>i</a:t>
            </a:r>
            <a:r>
              <a:rPr lang="en-US" altLang="en-US" sz="160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1600">
                <a:latin typeface="Arial" panose="020B0604020202020204" pitchFamily="34" charset="0"/>
              </a:rPr>
              <a:t>R\S</a:t>
            </a:r>
            <a:endParaRPr lang="en-US" altLang="en-US" baseline="-25000">
              <a:latin typeface="Arial" panose="020B0604020202020204" pitchFamily="34" charset="0"/>
            </a:endParaRPr>
          </a:p>
        </p:txBody>
      </p:sp>
      <p:sp>
        <p:nvSpPr>
          <p:cNvPr id="654344" name="Rectangle 8"/>
          <p:cNvSpPr>
            <a:spLocks noChangeArrowheads="1"/>
          </p:cNvSpPr>
          <p:nvPr/>
        </p:nvSpPr>
        <p:spPr bwMode="auto">
          <a:xfrm>
            <a:off x="6477000" y="5638800"/>
            <a:ext cx="685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600">
                <a:latin typeface="Arial" panose="020B0604020202020204" pitchFamily="34" charset="0"/>
              </a:rPr>
              <a:t>D</a:t>
            </a:r>
            <a:r>
              <a:rPr lang="en-US" altLang="en-US" sz="1600" baseline="-25000">
                <a:latin typeface="Arial" panose="020B0604020202020204" pitchFamily="34" charset="0"/>
              </a:rPr>
              <a:t>i</a:t>
            </a:r>
            <a:r>
              <a:rPr lang="en-US" altLang="en-US" sz="1600">
                <a:latin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1600">
                <a:latin typeface="Arial" panose="020B0604020202020204" pitchFamily="34" charset="0"/>
              </a:rPr>
              <a:t>S</a:t>
            </a:r>
            <a:endParaRPr lang="en-US" altLang="en-US" baseline="-25000">
              <a:latin typeface="Arial" panose="020B0604020202020204" pitchFamily="34" charset="0"/>
            </a:endParaRPr>
          </a:p>
        </p:txBody>
      </p:sp>
      <p:sp>
        <p:nvSpPr>
          <p:cNvPr id="654345" name="Rectangle 9"/>
          <p:cNvSpPr>
            <a:spLocks noChangeArrowheads="1"/>
          </p:cNvSpPr>
          <p:nvPr/>
        </p:nvSpPr>
        <p:spPr bwMode="auto">
          <a:xfrm>
            <a:off x="1214438" y="5254625"/>
            <a:ext cx="7769225" cy="758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93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Radev et al. 00</a:t>
            </a:r>
          </a:p>
        </p:txBody>
      </p:sp>
      <p:sp>
        <p:nvSpPr>
          <p:cNvPr id="72704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295400" y="1905000"/>
            <a:ext cx="3810000" cy="1981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/>
              <a:t>MEAD</a:t>
            </a:r>
          </a:p>
          <a:p>
            <a:r>
              <a:rPr lang="en-US" altLang="en-US" sz="2800"/>
              <a:t>Centroid-based</a:t>
            </a:r>
          </a:p>
          <a:p>
            <a:r>
              <a:rPr lang="en-US" altLang="en-US" sz="2800"/>
              <a:t>Based on sentence utility</a:t>
            </a:r>
          </a:p>
        </p:txBody>
      </p:sp>
      <p:sp>
        <p:nvSpPr>
          <p:cNvPr id="727044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257800" y="1905000"/>
            <a:ext cx="3810000" cy="1981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 sz="2800"/>
              <a:t>Topic detection and tracking initiative [Allen et al. 98, Wayne 98]</a:t>
            </a:r>
          </a:p>
        </p:txBody>
      </p:sp>
      <p:grpSp>
        <p:nvGrpSpPr>
          <p:cNvPr id="727076" name="Group 36"/>
          <p:cNvGrpSpPr>
            <a:grpSpLocks/>
          </p:cNvGrpSpPr>
          <p:nvPr/>
        </p:nvGrpSpPr>
        <p:grpSpPr bwMode="auto">
          <a:xfrm>
            <a:off x="2057400" y="4251325"/>
            <a:ext cx="6400800" cy="1920875"/>
            <a:chOff x="1056" y="2016"/>
            <a:chExt cx="4320" cy="2016"/>
          </a:xfrm>
        </p:grpSpPr>
        <p:sp>
          <p:nvSpPr>
            <p:cNvPr id="727045" name="Line 5"/>
            <p:cNvSpPr>
              <a:spLocks noChangeShapeType="1"/>
            </p:cNvSpPr>
            <p:nvPr/>
          </p:nvSpPr>
          <p:spPr bwMode="auto">
            <a:xfrm>
              <a:off x="1056" y="2208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46" name="Line 6"/>
            <p:cNvSpPr>
              <a:spLocks noChangeShapeType="1"/>
            </p:cNvSpPr>
            <p:nvPr/>
          </p:nvSpPr>
          <p:spPr bwMode="auto">
            <a:xfrm>
              <a:off x="1056" y="2496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47" name="Line 7"/>
            <p:cNvSpPr>
              <a:spLocks noChangeShapeType="1"/>
            </p:cNvSpPr>
            <p:nvPr/>
          </p:nvSpPr>
          <p:spPr bwMode="auto">
            <a:xfrm>
              <a:off x="1056" y="2784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48" name="Line 8"/>
            <p:cNvSpPr>
              <a:spLocks noChangeShapeType="1"/>
            </p:cNvSpPr>
            <p:nvPr/>
          </p:nvSpPr>
          <p:spPr bwMode="auto">
            <a:xfrm>
              <a:off x="1056" y="3072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49" name="Line 9"/>
            <p:cNvSpPr>
              <a:spLocks noChangeShapeType="1"/>
            </p:cNvSpPr>
            <p:nvPr/>
          </p:nvSpPr>
          <p:spPr bwMode="auto">
            <a:xfrm>
              <a:off x="1056" y="3360"/>
              <a:ext cx="3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0" name="Rectangle 10"/>
            <p:cNvSpPr>
              <a:spLocks noChangeArrowheads="1"/>
            </p:cNvSpPr>
            <p:nvPr/>
          </p:nvSpPr>
          <p:spPr bwMode="auto">
            <a:xfrm>
              <a:off x="1296" y="2016"/>
              <a:ext cx="43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1" name="Rectangle 11"/>
            <p:cNvSpPr>
              <a:spLocks noChangeArrowheads="1"/>
            </p:cNvSpPr>
            <p:nvPr/>
          </p:nvSpPr>
          <p:spPr bwMode="auto">
            <a:xfrm>
              <a:off x="2016" y="2016"/>
              <a:ext cx="240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2" name="Rectangle 12"/>
            <p:cNvSpPr>
              <a:spLocks noChangeArrowheads="1"/>
            </p:cNvSpPr>
            <p:nvPr/>
          </p:nvSpPr>
          <p:spPr bwMode="auto">
            <a:xfrm>
              <a:off x="2736" y="2016"/>
              <a:ext cx="240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3" name="Rectangle 13"/>
            <p:cNvSpPr>
              <a:spLocks noChangeArrowheads="1"/>
            </p:cNvSpPr>
            <p:nvPr/>
          </p:nvSpPr>
          <p:spPr bwMode="auto">
            <a:xfrm>
              <a:off x="3456" y="2016"/>
              <a:ext cx="240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4" name="Rectangle 14"/>
            <p:cNvSpPr>
              <a:spLocks noChangeArrowheads="1"/>
            </p:cNvSpPr>
            <p:nvPr/>
          </p:nvSpPr>
          <p:spPr bwMode="auto">
            <a:xfrm>
              <a:off x="4176" y="2016"/>
              <a:ext cx="240" cy="192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5" name="Rectangle 15"/>
            <p:cNvSpPr>
              <a:spLocks noChangeArrowheads="1"/>
            </p:cNvSpPr>
            <p:nvPr/>
          </p:nvSpPr>
          <p:spPr bwMode="auto">
            <a:xfrm>
              <a:off x="2256" y="2304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6" name="Rectangle 16"/>
            <p:cNvSpPr>
              <a:spLocks noChangeArrowheads="1"/>
            </p:cNvSpPr>
            <p:nvPr/>
          </p:nvSpPr>
          <p:spPr bwMode="auto">
            <a:xfrm>
              <a:off x="1152" y="2304"/>
              <a:ext cx="240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7" name="Rectangle 17"/>
            <p:cNvSpPr>
              <a:spLocks noChangeArrowheads="1"/>
            </p:cNvSpPr>
            <p:nvPr/>
          </p:nvSpPr>
          <p:spPr bwMode="auto">
            <a:xfrm>
              <a:off x="1488" y="2304"/>
              <a:ext cx="33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8" name="Rectangle 18"/>
            <p:cNvSpPr>
              <a:spLocks noChangeArrowheads="1"/>
            </p:cNvSpPr>
            <p:nvPr/>
          </p:nvSpPr>
          <p:spPr bwMode="auto">
            <a:xfrm>
              <a:off x="1776" y="2592"/>
              <a:ext cx="57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59" name="Rectangle 19"/>
            <p:cNvSpPr>
              <a:spLocks noChangeArrowheads="1"/>
            </p:cNvSpPr>
            <p:nvPr/>
          </p:nvSpPr>
          <p:spPr bwMode="auto">
            <a:xfrm>
              <a:off x="1296" y="2880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0" name="Rectangle 20"/>
            <p:cNvSpPr>
              <a:spLocks noChangeArrowheads="1"/>
            </p:cNvSpPr>
            <p:nvPr/>
          </p:nvSpPr>
          <p:spPr bwMode="auto">
            <a:xfrm>
              <a:off x="1344" y="3168"/>
              <a:ext cx="384" cy="192"/>
            </a:xfrm>
            <a:prstGeom prst="rect">
              <a:avLst/>
            </a:prstGeom>
            <a:solidFill>
              <a:srgbClr val="FF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1" name="Rectangle 21"/>
            <p:cNvSpPr>
              <a:spLocks noChangeArrowheads="1"/>
            </p:cNvSpPr>
            <p:nvPr/>
          </p:nvSpPr>
          <p:spPr bwMode="auto">
            <a:xfrm>
              <a:off x="2448" y="2880"/>
              <a:ext cx="384" cy="192"/>
            </a:xfrm>
            <a:prstGeom prst="rect">
              <a:avLst/>
            </a:prstGeom>
            <a:solidFill>
              <a:srgbClr val="FF33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2" name="Rectangle 22"/>
            <p:cNvSpPr>
              <a:spLocks noChangeArrowheads="1"/>
            </p:cNvSpPr>
            <p:nvPr/>
          </p:nvSpPr>
          <p:spPr bwMode="auto">
            <a:xfrm>
              <a:off x="3552" y="2592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3" name="Rectangle 23"/>
            <p:cNvSpPr>
              <a:spLocks noChangeArrowheads="1"/>
            </p:cNvSpPr>
            <p:nvPr/>
          </p:nvSpPr>
          <p:spPr bwMode="auto">
            <a:xfrm>
              <a:off x="2880" y="2304"/>
              <a:ext cx="720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4" name="Rectangle 24"/>
            <p:cNvSpPr>
              <a:spLocks noChangeArrowheads="1"/>
            </p:cNvSpPr>
            <p:nvPr/>
          </p:nvSpPr>
          <p:spPr bwMode="auto">
            <a:xfrm>
              <a:off x="4224" y="2304"/>
              <a:ext cx="384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5" name="Rectangle 25"/>
            <p:cNvSpPr>
              <a:spLocks noChangeArrowheads="1"/>
            </p:cNvSpPr>
            <p:nvPr/>
          </p:nvSpPr>
          <p:spPr bwMode="auto">
            <a:xfrm>
              <a:off x="3264" y="2880"/>
              <a:ext cx="384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6" name="Rectangle 26"/>
            <p:cNvSpPr>
              <a:spLocks noChangeArrowheads="1"/>
            </p:cNvSpPr>
            <p:nvPr/>
          </p:nvSpPr>
          <p:spPr bwMode="auto">
            <a:xfrm>
              <a:off x="3552" y="3168"/>
              <a:ext cx="384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7" name="Rectangle 27"/>
            <p:cNvSpPr>
              <a:spLocks noChangeArrowheads="1"/>
            </p:cNvSpPr>
            <p:nvPr/>
          </p:nvSpPr>
          <p:spPr bwMode="auto">
            <a:xfrm>
              <a:off x="2304" y="3168"/>
              <a:ext cx="384" cy="19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8" name="Rectangle 28"/>
            <p:cNvSpPr>
              <a:spLocks noChangeArrowheads="1"/>
            </p:cNvSpPr>
            <p:nvPr/>
          </p:nvSpPr>
          <p:spPr bwMode="auto">
            <a:xfrm>
              <a:off x="4416" y="3168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69" name="Rectangle 29"/>
            <p:cNvSpPr>
              <a:spLocks noChangeArrowheads="1"/>
            </p:cNvSpPr>
            <p:nvPr/>
          </p:nvSpPr>
          <p:spPr bwMode="auto">
            <a:xfrm>
              <a:off x="4224" y="2880"/>
              <a:ext cx="192" cy="192"/>
            </a:xfrm>
            <a:prstGeom prst="rect">
              <a:avLst/>
            </a:prstGeom>
            <a:solidFill>
              <a:srgbClr val="99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0" name="Rectangle 30"/>
            <p:cNvSpPr>
              <a:spLocks noChangeArrowheads="1"/>
            </p:cNvSpPr>
            <p:nvPr/>
          </p:nvSpPr>
          <p:spPr bwMode="auto">
            <a:xfrm>
              <a:off x="2832" y="2592"/>
              <a:ext cx="96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1" name="Rectangle 31"/>
            <p:cNvSpPr>
              <a:spLocks noChangeArrowheads="1"/>
            </p:cNvSpPr>
            <p:nvPr/>
          </p:nvSpPr>
          <p:spPr bwMode="auto">
            <a:xfrm>
              <a:off x="2928" y="3168"/>
              <a:ext cx="96" cy="192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2" name="Rectangle 32"/>
            <p:cNvSpPr>
              <a:spLocks noChangeArrowheads="1"/>
            </p:cNvSpPr>
            <p:nvPr/>
          </p:nvSpPr>
          <p:spPr bwMode="auto">
            <a:xfrm>
              <a:off x="3792" y="2304"/>
              <a:ext cx="9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3" name="Rectangle 33"/>
            <p:cNvSpPr>
              <a:spLocks noChangeArrowheads="1"/>
            </p:cNvSpPr>
            <p:nvPr/>
          </p:nvSpPr>
          <p:spPr bwMode="auto">
            <a:xfrm>
              <a:off x="2832" y="2880"/>
              <a:ext cx="384" cy="19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4" name="Line 34"/>
            <p:cNvSpPr>
              <a:spLocks noChangeShapeType="1"/>
            </p:cNvSpPr>
            <p:nvPr/>
          </p:nvSpPr>
          <p:spPr bwMode="auto">
            <a:xfrm>
              <a:off x="1056" y="3840"/>
              <a:ext cx="4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75" name="Text Box 35"/>
            <p:cNvSpPr txBox="1">
              <a:spLocks noChangeArrowheads="1"/>
            </p:cNvSpPr>
            <p:nvPr/>
          </p:nvSpPr>
          <p:spPr bwMode="auto">
            <a:xfrm>
              <a:off x="4656" y="3552"/>
              <a:ext cx="720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727077" name="Text Box 37"/>
          <p:cNvSpPr txBox="1">
            <a:spLocks noChangeArrowheads="1"/>
          </p:cNvSpPr>
          <p:nvPr/>
        </p:nvSpPr>
        <p:spPr bwMode="auto">
          <a:xfrm>
            <a:off x="7696200" y="5715000"/>
            <a:ext cx="7620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38264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Vector-based representation</a:t>
            </a:r>
          </a:p>
        </p:txBody>
      </p:sp>
      <p:sp>
        <p:nvSpPr>
          <p:cNvPr id="733187" name="Line 3"/>
          <p:cNvSpPr>
            <a:spLocks noChangeShapeType="1"/>
          </p:cNvSpPr>
          <p:nvPr/>
        </p:nvSpPr>
        <p:spPr bwMode="auto">
          <a:xfrm flipV="1">
            <a:off x="3505200" y="20574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88" name="Line 4"/>
          <p:cNvSpPr>
            <a:spLocks noChangeShapeType="1"/>
          </p:cNvSpPr>
          <p:nvPr/>
        </p:nvSpPr>
        <p:spPr bwMode="auto">
          <a:xfrm flipH="1">
            <a:off x="2667000" y="4267200"/>
            <a:ext cx="838200" cy="1295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89" name="Line 5"/>
          <p:cNvSpPr>
            <a:spLocks noChangeShapeType="1"/>
          </p:cNvSpPr>
          <p:nvPr/>
        </p:nvSpPr>
        <p:spPr bwMode="auto">
          <a:xfrm flipV="1">
            <a:off x="3505200" y="42672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90" name="Text Box 6"/>
          <p:cNvSpPr txBox="1">
            <a:spLocks noChangeArrowheads="1"/>
          </p:cNvSpPr>
          <p:nvPr/>
        </p:nvSpPr>
        <p:spPr bwMode="auto">
          <a:xfrm>
            <a:off x="3581400" y="1752600"/>
            <a:ext cx="1071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Term 1</a:t>
            </a:r>
          </a:p>
        </p:txBody>
      </p:sp>
      <p:sp>
        <p:nvSpPr>
          <p:cNvPr id="733191" name="Text Box 7"/>
          <p:cNvSpPr txBox="1">
            <a:spLocks noChangeArrowheads="1"/>
          </p:cNvSpPr>
          <p:nvPr/>
        </p:nvSpPr>
        <p:spPr bwMode="auto">
          <a:xfrm>
            <a:off x="2819400" y="5410200"/>
            <a:ext cx="1071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Term 2</a:t>
            </a:r>
          </a:p>
        </p:txBody>
      </p:sp>
      <p:sp>
        <p:nvSpPr>
          <p:cNvPr id="733192" name="Text Box 8"/>
          <p:cNvSpPr txBox="1">
            <a:spLocks noChangeArrowheads="1"/>
          </p:cNvSpPr>
          <p:nvPr/>
        </p:nvSpPr>
        <p:spPr bwMode="auto">
          <a:xfrm>
            <a:off x="6324600" y="3886200"/>
            <a:ext cx="1071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Term 3</a:t>
            </a:r>
          </a:p>
        </p:txBody>
      </p:sp>
      <p:sp>
        <p:nvSpPr>
          <p:cNvPr id="733193" name="Line 9"/>
          <p:cNvSpPr>
            <a:spLocks noChangeShapeType="1"/>
          </p:cNvSpPr>
          <p:nvPr/>
        </p:nvSpPr>
        <p:spPr bwMode="auto">
          <a:xfrm flipV="1">
            <a:off x="3505200" y="3124200"/>
            <a:ext cx="1600200" cy="114300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94" name="Line 10"/>
          <p:cNvSpPr>
            <a:spLocks noChangeShapeType="1"/>
          </p:cNvSpPr>
          <p:nvPr/>
        </p:nvSpPr>
        <p:spPr bwMode="auto">
          <a:xfrm>
            <a:off x="3505200" y="4267200"/>
            <a:ext cx="1447800" cy="91440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95" name="Text Box 11"/>
          <p:cNvSpPr txBox="1">
            <a:spLocks noChangeArrowheads="1"/>
          </p:cNvSpPr>
          <p:nvPr/>
        </p:nvSpPr>
        <p:spPr bwMode="auto">
          <a:xfrm>
            <a:off x="5105400" y="2895600"/>
            <a:ext cx="1462088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Document</a:t>
            </a:r>
          </a:p>
        </p:txBody>
      </p:sp>
      <p:sp>
        <p:nvSpPr>
          <p:cNvPr id="733196" name="Text Box 12"/>
          <p:cNvSpPr txBox="1">
            <a:spLocks noChangeArrowheads="1"/>
          </p:cNvSpPr>
          <p:nvPr/>
        </p:nvSpPr>
        <p:spPr bwMode="auto">
          <a:xfrm>
            <a:off x="4948238" y="4948238"/>
            <a:ext cx="1258887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Centroid</a:t>
            </a:r>
          </a:p>
        </p:txBody>
      </p:sp>
      <p:sp>
        <p:nvSpPr>
          <p:cNvPr id="733197" name="Arc 13"/>
          <p:cNvSpPr>
            <a:spLocks/>
          </p:cNvSpPr>
          <p:nvPr/>
        </p:nvSpPr>
        <p:spPr bwMode="auto">
          <a:xfrm>
            <a:off x="3829050" y="3829050"/>
            <a:ext cx="361950" cy="836613"/>
          </a:xfrm>
          <a:custGeom>
            <a:avLst/>
            <a:gdLst>
              <a:gd name="G0" fmla="+- 0 0 0"/>
              <a:gd name="G1" fmla="+- 13894 0 0"/>
              <a:gd name="G2" fmla="+- 21600 0 0"/>
              <a:gd name="T0" fmla="*/ 16539 w 21600"/>
              <a:gd name="T1" fmla="*/ 0 h 26386"/>
              <a:gd name="T2" fmla="*/ 17621 w 21600"/>
              <a:gd name="T3" fmla="*/ 26386 h 26386"/>
              <a:gd name="T4" fmla="*/ 0 w 21600"/>
              <a:gd name="T5" fmla="*/ 13894 h 26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6386" fill="none" extrusionOk="0">
                <a:moveTo>
                  <a:pt x="16538" y="0"/>
                </a:moveTo>
                <a:cubicBezTo>
                  <a:pt x="19807" y="3891"/>
                  <a:pt x="21600" y="8811"/>
                  <a:pt x="21600" y="13894"/>
                </a:cubicBezTo>
                <a:cubicBezTo>
                  <a:pt x="21600" y="18369"/>
                  <a:pt x="20209" y="22734"/>
                  <a:pt x="17621" y="26386"/>
                </a:cubicBezTo>
              </a:path>
              <a:path w="21600" h="26386" stroke="0" extrusionOk="0">
                <a:moveTo>
                  <a:pt x="16538" y="0"/>
                </a:moveTo>
                <a:cubicBezTo>
                  <a:pt x="19807" y="3891"/>
                  <a:pt x="21600" y="8811"/>
                  <a:pt x="21600" y="13894"/>
                </a:cubicBezTo>
                <a:cubicBezTo>
                  <a:pt x="21600" y="18369"/>
                  <a:pt x="20209" y="22734"/>
                  <a:pt x="17621" y="26386"/>
                </a:cubicBezTo>
                <a:lnTo>
                  <a:pt x="0" y="13894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3198" name="Text Box 14"/>
          <p:cNvSpPr txBox="1">
            <a:spLocks noChangeArrowheads="1"/>
          </p:cNvSpPr>
          <p:nvPr/>
        </p:nvSpPr>
        <p:spPr bwMode="auto">
          <a:xfrm>
            <a:off x="4191000" y="42672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CC3300"/>
                </a:solidFill>
                <a:latin typeface="Symbol" panose="05050102010706020507" pitchFamily="18" charset="2"/>
              </a:rPr>
              <a:t>a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107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Vector-based matching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905000"/>
            <a:ext cx="7772400" cy="685800"/>
          </a:xfrm>
        </p:spPr>
        <p:txBody>
          <a:bodyPr/>
          <a:lstStyle/>
          <a:p>
            <a:r>
              <a:rPr lang="en-US" altLang="en-US"/>
              <a:t>The cosine measure</a:t>
            </a:r>
          </a:p>
        </p:txBody>
      </p:sp>
      <p:graphicFrame>
        <p:nvGraphicFramePr>
          <p:cNvPr id="734232" name="Object 24"/>
          <p:cNvGraphicFramePr>
            <a:graphicFrameLocks noChangeAspect="1"/>
          </p:cNvGraphicFramePr>
          <p:nvPr/>
        </p:nvGraphicFramePr>
        <p:xfrm>
          <a:off x="2057400" y="3200400"/>
          <a:ext cx="5410200" cy="135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3" imgW="2374560" imgH="596880" progId="Equation.3">
                  <p:embed/>
                </p:oleObj>
              </mc:Choice>
              <mc:Fallback>
                <p:oleObj name="Equation" r:id="rId3" imgW="237456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200400"/>
                        <a:ext cx="5410200" cy="135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14496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CIDR</a:t>
            </a:r>
          </a:p>
        </p:txBody>
      </p:sp>
      <p:sp>
        <p:nvSpPr>
          <p:cNvPr id="735235" name="Rectangle 3"/>
          <p:cNvSpPr>
            <a:spLocks noChangeArrowheads="1"/>
          </p:cNvSpPr>
          <p:nvPr/>
        </p:nvSpPr>
        <p:spPr bwMode="auto">
          <a:xfrm>
            <a:off x="1447800" y="2057400"/>
            <a:ext cx="3352800" cy="3124200"/>
          </a:xfrm>
          <a:prstGeom prst="rect">
            <a:avLst/>
          </a:prstGeom>
          <a:noFill/>
          <a:ln w="381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36" name="Rectangle 4"/>
          <p:cNvSpPr>
            <a:spLocks noChangeArrowheads="1"/>
          </p:cNvSpPr>
          <p:nvPr/>
        </p:nvSpPr>
        <p:spPr bwMode="auto">
          <a:xfrm>
            <a:off x="5181600" y="2057400"/>
            <a:ext cx="3352800" cy="3124200"/>
          </a:xfrm>
          <a:prstGeom prst="rect">
            <a:avLst/>
          </a:prstGeom>
          <a:noFill/>
          <a:ln w="381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37" name="Rectangle 5"/>
          <p:cNvSpPr>
            <a:spLocks noChangeArrowheads="1"/>
          </p:cNvSpPr>
          <p:nvPr/>
        </p:nvSpPr>
        <p:spPr bwMode="auto">
          <a:xfrm>
            <a:off x="16002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38" name="Rectangle 6"/>
          <p:cNvSpPr>
            <a:spLocks noChangeArrowheads="1"/>
          </p:cNvSpPr>
          <p:nvPr/>
        </p:nvSpPr>
        <p:spPr bwMode="auto">
          <a:xfrm>
            <a:off x="23622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39" name="Rectangle 7"/>
          <p:cNvSpPr>
            <a:spLocks noChangeArrowheads="1"/>
          </p:cNvSpPr>
          <p:nvPr/>
        </p:nvSpPr>
        <p:spPr bwMode="auto">
          <a:xfrm>
            <a:off x="31242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0" name="Oval 8"/>
          <p:cNvSpPr>
            <a:spLocks noChangeArrowheads="1"/>
          </p:cNvSpPr>
          <p:nvPr/>
        </p:nvSpPr>
        <p:spPr bwMode="auto">
          <a:xfrm>
            <a:off x="16764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1" name="Oval 9"/>
          <p:cNvSpPr>
            <a:spLocks noChangeArrowheads="1"/>
          </p:cNvSpPr>
          <p:nvPr/>
        </p:nvSpPr>
        <p:spPr bwMode="auto">
          <a:xfrm>
            <a:off x="1828800" y="2514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2" name="Oval 10"/>
          <p:cNvSpPr>
            <a:spLocks noChangeArrowheads="1"/>
          </p:cNvSpPr>
          <p:nvPr/>
        </p:nvSpPr>
        <p:spPr bwMode="auto">
          <a:xfrm>
            <a:off x="19812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3" name="Oval 11"/>
          <p:cNvSpPr>
            <a:spLocks noChangeArrowheads="1"/>
          </p:cNvSpPr>
          <p:nvPr/>
        </p:nvSpPr>
        <p:spPr bwMode="auto">
          <a:xfrm>
            <a:off x="17526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4" name="Oval 12"/>
          <p:cNvSpPr>
            <a:spLocks noChangeArrowheads="1"/>
          </p:cNvSpPr>
          <p:nvPr/>
        </p:nvSpPr>
        <p:spPr bwMode="auto">
          <a:xfrm>
            <a:off x="1981200" y="25908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5" name="Oval 13"/>
          <p:cNvSpPr>
            <a:spLocks noChangeArrowheads="1"/>
          </p:cNvSpPr>
          <p:nvPr/>
        </p:nvSpPr>
        <p:spPr bwMode="auto">
          <a:xfrm>
            <a:off x="25146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6" name="Oval 14"/>
          <p:cNvSpPr>
            <a:spLocks noChangeArrowheads="1"/>
          </p:cNvSpPr>
          <p:nvPr/>
        </p:nvSpPr>
        <p:spPr bwMode="auto">
          <a:xfrm>
            <a:off x="32004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7" name="Oval 15"/>
          <p:cNvSpPr>
            <a:spLocks noChangeArrowheads="1"/>
          </p:cNvSpPr>
          <p:nvPr/>
        </p:nvSpPr>
        <p:spPr bwMode="auto">
          <a:xfrm>
            <a:off x="26670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8" name="Oval 16"/>
          <p:cNvSpPr>
            <a:spLocks noChangeArrowheads="1"/>
          </p:cNvSpPr>
          <p:nvPr/>
        </p:nvSpPr>
        <p:spPr bwMode="auto">
          <a:xfrm>
            <a:off x="28194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49" name="Oval 17"/>
          <p:cNvSpPr>
            <a:spLocks noChangeArrowheads="1"/>
          </p:cNvSpPr>
          <p:nvPr/>
        </p:nvSpPr>
        <p:spPr bwMode="auto">
          <a:xfrm>
            <a:off x="26670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0" name="Oval 18"/>
          <p:cNvSpPr>
            <a:spLocks noChangeArrowheads="1"/>
          </p:cNvSpPr>
          <p:nvPr/>
        </p:nvSpPr>
        <p:spPr bwMode="auto">
          <a:xfrm>
            <a:off x="28194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1" name="Oval 19"/>
          <p:cNvSpPr>
            <a:spLocks noChangeArrowheads="1"/>
          </p:cNvSpPr>
          <p:nvPr/>
        </p:nvSpPr>
        <p:spPr bwMode="auto">
          <a:xfrm>
            <a:off x="32766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2" name="Oval 20"/>
          <p:cNvSpPr>
            <a:spLocks noChangeArrowheads="1"/>
          </p:cNvSpPr>
          <p:nvPr/>
        </p:nvSpPr>
        <p:spPr bwMode="auto">
          <a:xfrm>
            <a:off x="33528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3" name="Rectangle 21"/>
          <p:cNvSpPr>
            <a:spLocks noChangeArrowheads="1"/>
          </p:cNvSpPr>
          <p:nvPr/>
        </p:nvSpPr>
        <p:spPr bwMode="auto">
          <a:xfrm>
            <a:off x="53340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4" name="Rectangle 22"/>
          <p:cNvSpPr>
            <a:spLocks noChangeArrowheads="1"/>
          </p:cNvSpPr>
          <p:nvPr/>
        </p:nvSpPr>
        <p:spPr bwMode="auto">
          <a:xfrm>
            <a:off x="60960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5" name="Rectangle 23"/>
          <p:cNvSpPr>
            <a:spLocks noChangeArrowheads="1"/>
          </p:cNvSpPr>
          <p:nvPr/>
        </p:nvSpPr>
        <p:spPr bwMode="auto">
          <a:xfrm>
            <a:off x="68580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6" name="Oval 24"/>
          <p:cNvSpPr>
            <a:spLocks noChangeArrowheads="1"/>
          </p:cNvSpPr>
          <p:nvPr/>
        </p:nvSpPr>
        <p:spPr bwMode="auto">
          <a:xfrm>
            <a:off x="54102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7" name="Oval 25"/>
          <p:cNvSpPr>
            <a:spLocks noChangeArrowheads="1"/>
          </p:cNvSpPr>
          <p:nvPr/>
        </p:nvSpPr>
        <p:spPr bwMode="auto">
          <a:xfrm>
            <a:off x="5562600" y="2514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8" name="Oval 26"/>
          <p:cNvSpPr>
            <a:spLocks noChangeArrowheads="1"/>
          </p:cNvSpPr>
          <p:nvPr/>
        </p:nvSpPr>
        <p:spPr bwMode="auto">
          <a:xfrm>
            <a:off x="57150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59" name="Oval 27"/>
          <p:cNvSpPr>
            <a:spLocks noChangeArrowheads="1"/>
          </p:cNvSpPr>
          <p:nvPr/>
        </p:nvSpPr>
        <p:spPr bwMode="auto">
          <a:xfrm>
            <a:off x="54864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0" name="Oval 28"/>
          <p:cNvSpPr>
            <a:spLocks noChangeArrowheads="1"/>
          </p:cNvSpPr>
          <p:nvPr/>
        </p:nvSpPr>
        <p:spPr bwMode="auto">
          <a:xfrm>
            <a:off x="5715000" y="25908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1" name="Oval 29"/>
          <p:cNvSpPr>
            <a:spLocks noChangeArrowheads="1"/>
          </p:cNvSpPr>
          <p:nvPr/>
        </p:nvSpPr>
        <p:spPr bwMode="auto">
          <a:xfrm>
            <a:off x="62484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2" name="Oval 30"/>
          <p:cNvSpPr>
            <a:spLocks noChangeArrowheads="1"/>
          </p:cNvSpPr>
          <p:nvPr/>
        </p:nvSpPr>
        <p:spPr bwMode="auto">
          <a:xfrm>
            <a:off x="69342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3" name="Oval 31"/>
          <p:cNvSpPr>
            <a:spLocks noChangeArrowheads="1"/>
          </p:cNvSpPr>
          <p:nvPr/>
        </p:nvSpPr>
        <p:spPr bwMode="auto">
          <a:xfrm>
            <a:off x="64008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4" name="Oval 32"/>
          <p:cNvSpPr>
            <a:spLocks noChangeArrowheads="1"/>
          </p:cNvSpPr>
          <p:nvPr/>
        </p:nvSpPr>
        <p:spPr bwMode="auto">
          <a:xfrm>
            <a:off x="6248400" y="25908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5" name="Oval 33"/>
          <p:cNvSpPr>
            <a:spLocks noChangeArrowheads="1"/>
          </p:cNvSpPr>
          <p:nvPr/>
        </p:nvSpPr>
        <p:spPr bwMode="auto">
          <a:xfrm>
            <a:off x="64008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6" name="Oval 34"/>
          <p:cNvSpPr>
            <a:spLocks noChangeArrowheads="1"/>
          </p:cNvSpPr>
          <p:nvPr/>
        </p:nvSpPr>
        <p:spPr bwMode="auto">
          <a:xfrm>
            <a:off x="65532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7" name="Oval 35"/>
          <p:cNvSpPr>
            <a:spLocks noChangeArrowheads="1"/>
          </p:cNvSpPr>
          <p:nvPr/>
        </p:nvSpPr>
        <p:spPr bwMode="auto">
          <a:xfrm>
            <a:off x="70104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8" name="Oval 36"/>
          <p:cNvSpPr>
            <a:spLocks noChangeArrowheads="1"/>
          </p:cNvSpPr>
          <p:nvPr/>
        </p:nvSpPr>
        <p:spPr bwMode="auto">
          <a:xfrm>
            <a:off x="7239000" y="2514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69" name="Rectangle 37"/>
          <p:cNvSpPr>
            <a:spLocks noChangeArrowheads="1"/>
          </p:cNvSpPr>
          <p:nvPr/>
        </p:nvSpPr>
        <p:spPr bwMode="auto">
          <a:xfrm>
            <a:off x="76200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0" name="Oval 38"/>
          <p:cNvSpPr>
            <a:spLocks noChangeArrowheads="1"/>
          </p:cNvSpPr>
          <p:nvPr/>
        </p:nvSpPr>
        <p:spPr bwMode="auto">
          <a:xfrm>
            <a:off x="6781800" y="3657600"/>
            <a:ext cx="76200" cy="762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1" name="Oval 39"/>
          <p:cNvSpPr>
            <a:spLocks noChangeArrowheads="1"/>
          </p:cNvSpPr>
          <p:nvPr/>
        </p:nvSpPr>
        <p:spPr bwMode="auto">
          <a:xfrm>
            <a:off x="2971800" y="3733800"/>
            <a:ext cx="76200" cy="762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2" name="Arc 40"/>
          <p:cNvSpPr>
            <a:spLocks/>
          </p:cNvSpPr>
          <p:nvPr/>
        </p:nvSpPr>
        <p:spPr bwMode="auto">
          <a:xfrm flipH="1" flipV="1">
            <a:off x="2438400" y="2590800"/>
            <a:ext cx="609600" cy="1219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4947"/>
              <a:gd name="T2" fmla="*/ 21339 w 21600"/>
              <a:gd name="T3" fmla="*/ 24947 h 24947"/>
              <a:gd name="T4" fmla="*/ 0 w 21600"/>
              <a:gd name="T5" fmla="*/ 21600 h 249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947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720"/>
                  <a:pt x="21512" y="23839"/>
                  <a:pt x="21339" y="24947"/>
                </a:cubicBezTo>
              </a:path>
              <a:path w="21600" h="24947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720"/>
                  <a:pt x="21512" y="23839"/>
                  <a:pt x="21339" y="24947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3" name="Arc 41"/>
          <p:cNvSpPr>
            <a:spLocks/>
          </p:cNvSpPr>
          <p:nvPr/>
        </p:nvSpPr>
        <p:spPr bwMode="auto">
          <a:xfrm flipV="1">
            <a:off x="6858000" y="2497138"/>
            <a:ext cx="990600" cy="123666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3367"/>
              <a:gd name="T2" fmla="*/ 21528 w 21600"/>
              <a:gd name="T3" fmla="*/ 23367 h 23367"/>
              <a:gd name="T4" fmla="*/ 0 w 21600"/>
              <a:gd name="T5" fmla="*/ 21600 h 233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3367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189"/>
                  <a:pt x="21575" y="22779"/>
                  <a:pt x="21527" y="23366"/>
                </a:cubicBezTo>
              </a:path>
              <a:path w="21600" h="23367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189"/>
                  <a:pt x="21575" y="22779"/>
                  <a:pt x="21527" y="23366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4" name="Text Box 42"/>
          <p:cNvSpPr txBox="1">
            <a:spLocks noChangeArrowheads="1"/>
          </p:cNvSpPr>
          <p:nvPr/>
        </p:nvSpPr>
        <p:spPr bwMode="auto">
          <a:xfrm>
            <a:off x="2438400" y="46482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sim </a:t>
            </a:r>
            <a:r>
              <a:rPr lang="en-US" altLang="en-US" sz="280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en-US" sz="2800">
                <a:latin typeface="Times New Roman" panose="02020603050405020304" pitchFamily="18" charset="0"/>
              </a:rPr>
              <a:t> T</a:t>
            </a:r>
          </a:p>
        </p:txBody>
      </p:sp>
      <p:sp>
        <p:nvSpPr>
          <p:cNvPr id="735275" name="Text Box 43"/>
          <p:cNvSpPr txBox="1">
            <a:spLocks noChangeArrowheads="1"/>
          </p:cNvSpPr>
          <p:nvPr/>
        </p:nvSpPr>
        <p:spPr bwMode="auto">
          <a:xfrm>
            <a:off x="6324600" y="4648200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800">
                <a:latin typeface="Times New Roman" panose="02020603050405020304" pitchFamily="18" charset="0"/>
              </a:rPr>
              <a:t>sim </a:t>
            </a:r>
            <a:r>
              <a:rPr lang="en-US" altLang="en-US" sz="2800">
                <a:latin typeface="Times New Roman" panose="02020603050405020304" pitchFamily="18" charset="0"/>
                <a:sym typeface="Math B" pitchFamily="2" charset="2"/>
              </a:rPr>
              <a:t>&lt;</a:t>
            </a:r>
            <a:r>
              <a:rPr lang="en-US" altLang="en-US" sz="2800">
                <a:latin typeface="Times New Roman" panose="02020603050405020304" pitchFamily="18" charset="0"/>
              </a:rPr>
              <a:t> 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5276" name="Oval 44"/>
          <p:cNvSpPr>
            <a:spLocks noChangeArrowheads="1"/>
          </p:cNvSpPr>
          <p:nvPr/>
        </p:nvSpPr>
        <p:spPr bwMode="auto">
          <a:xfrm>
            <a:off x="2438400" y="2514600"/>
            <a:ext cx="76200" cy="762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5277" name="Oval 45"/>
          <p:cNvSpPr>
            <a:spLocks noChangeArrowheads="1"/>
          </p:cNvSpPr>
          <p:nvPr/>
        </p:nvSpPr>
        <p:spPr bwMode="auto">
          <a:xfrm>
            <a:off x="7848600" y="2438400"/>
            <a:ext cx="76200" cy="762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18857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Centroids</a:t>
            </a:r>
          </a:p>
        </p:txBody>
      </p:sp>
      <p:graphicFrame>
        <p:nvGraphicFramePr>
          <p:cNvPr id="736259" name="Object 1027"/>
          <p:cNvGraphicFramePr>
            <a:graphicFrameLocks noChangeAspect="1"/>
          </p:cNvGraphicFramePr>
          <p:nvPr/>
        </p:nvGraphicFramePr>
        <p:xfrm>
          <a:off x="962025" y="1681163"/>
          <a:ext cx="19288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Document" r:id="rId3" imgW="1931040" imgH="932760" progId="Word.Document.8">
                  <p:embed/>
                </p:oleObj>
              </mc:Choice>
              <mc:Fallback>
                <p:oleObj name="Document" r:id="rId3" imgW="1931040" imgH="932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1681163"/>
                        <a:ext cx="1928813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0" name="Object 1028"/>
          <p:cNvGraphicFramePr>
            <a:graphicFrameLocks noChangeAspect="1"/>
          </p:cNvGraphicFramePr>
          <p:nvPr/>
        </p:nvGraphicFramePr>
        <p:xfrm>
          <a:off x="5081588" y="1676400"/>
          <a:ext cx="19288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Document" r:id="rId5" imgW="1929600" imgH="678960" progId="Word.Document.8">
                  <p:embed/>
                </p:oleObj>
              </mc:Choice>
              <mc:Fallback>
                <p:oleObj name="Document" r:id="rId5" imgW="1929600" imgH="678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1676400"/>
                        <a:ext cx="19288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1" name="Object 1029"/>
          <p:cNvGraphicFramePr>
            <a:graphicFrameLocks noChangeAspect="1"/>
          </p:cNvGraphicFramePr>
          <p:nvPr/>
        </p:nvGraphicFramePr>
        <p:xfrm>
          <a:off x="3024188" y="1676400"/>
          <a:ext cx="1927225" cy="112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Document" r:id="rId7" imgW="1931040" imgH="1186920" progId="Word.Document.8">
                  <p:embed/>
                </p:oleObj>
              </mc:Choice>
              <mc:Fallback>
                <p:oleObj name="Document" r:id="rId7" imgW="1931040" imgH="1186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1676400"/>
                        <a:ext cx="1927225" cy="112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2" name="Object 1030"/>
          <p:cNvGraphicFramePr>
            <a:graphicFrameLocks noChangeAspect="1"/>
          </p:cNvGraphicFramePr>
          <p:nvPr/>
        </p:nvGraphicFramePr>
        <p:xfrm>
          <a:off x="7062788" y="1676400"/>
          <a:ext cx="1928812" cy="296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Document" r:id="rId9" imgW="1932480" imgH="2964960" progId="Word.Document.8">
                  <p:embed/>
                </p:oleObj>
              </mc:Choice>
              <mc:Fallback>
                <p:oleObj name="Document" r:id="rId9" imgW="1932480" imgH="2964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2788" y="1676400"/>
                        <a:ext cx="1928812" cy="296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3" name="Object 1031"/>
          <p:cNvGraphicFramePr>
            <a:graphicFrameLocks noChangeAspect="1"/>
          </p:cNvGraphicFramePr>
          <p:nvPr/>
        </p:nvGraphicFramePr>
        <p:xfrm>
          <a:off x="966788" y="3124200"/>
          <a:ext cx="1928812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Document" r:id="rId11" imgW="1929600" imgH="932760" progId="Word.Document.8">
                  <p:embed/>
                </p:oleObj>
              </mc:Choice>
              <mc:Fallback>
                <p:oleObj name="Document" r:id="rId11" imgW="1929600" imgH="932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3124200"/>
                        <a:ext cx="1928812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4" name="Object 1032"/>
          <p:cNvGraphicFramePr>
            <a:graphicFrameLocks noChangeAspect="1"/>
          </p:cNvGraphicFramePr>
          <p:nvPr/>
        </p:nvGraphicFramePr>
        <p:xfrm>
          <a:off x="966788" y="4648200"/>
          <a:ext cx="1928812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Document" r:id="rId13" imgW="1929600" imgH="932760" progId="Word.Document.8">
                  <p:embed/>
                </p:oleObj>
              </mc:Choice>
              <mc:Fallback>
                <p:oleObj name="Document" r:id="rId13" imgW="1929600" imgH="9327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6788" y="4648200"/>
                        <a:ext cx="1928812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5" name="Object 1033"/>
          <p:cNvGraphicFramePr>
            <a:graphicFrameLocks noChangeAspect="1"/>
          </p:cNvGraphicFramePr>
          <p:nvPr/>
        </p:nvGraphicFramePr>
        <p:xfrm>
          <a:off x="5081588" y="2590800"/>
          <a:ext cx="1928812" cy="296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Document" r:id="rId15" imgW="1932480" imgH="2964960" progId="Word.Document.8">
                  <p:embed/>
                </p:oleObj>
              </mc:Choice>
              <mc:Fallback>
                <p:oleObj name="Document" r:id="rId15" imgW="1932480" imgH="2964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2590800"/>
                        <a:ext cx="1928812" cy="296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6266" name="Object 1034"/>
          <p:cNvGraphicFramePr>
            <a:graphicFrameLocks noChangeAspect="1"/>
          </p:cNvGraphicFramePr>
          <p:nvPr/>
        </p:nvGraphicFramePr>
        <p:xfrm>
          <a:off x="2949575" y="2974975"/>
          <a:ext cx="2057400" cy="296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Document" r:id="rId17" imgW="2060640" imgH="2964960" progId="Word.Document.8">
                  <p:embed/>
                </p:oleObj>
              </mc:Choice>
              <mc:Fallback>
                <p:oleObj name="Document" r:id="rId17" imgW="2060640" imgH="29649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575" y="2974975"/>
                        <a:ext cx="2057400" cy="296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71092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MEAD</a:t>
            </a:r>
          </a:p>
        </p:txBody>
      </p:sp>
      <p:sp>
        <p:nvSpPr>
          <p:cNvPr id="737283" name="Rectangle 3"/>
          <p:cNvSpPr>
            <a:spLocks noChangeArrowheads="1"/>
          </p:cNvSpPr>
          <p:nvPr/>
        </p:nvSpPr>
        <p:spPr bwMode="auto">
          <a:xfrm>
            <a:off x="3581400" y="2057400"/>
            <a:ext cx="3352800" cy="3124200"/>
          </a:xfrm>
          <a:prstGeom prst="rect">
            <a:avLst/>
          </a:prstGeom>
          <a:noFill/>
          <a:ln w="38100">
            <a:solidFill>
              <a:srgbClr val="3366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4" name="Rectangle 4"/>
          <p:cNvSpPr>
            <a:spLocks noChangeArrowheads="1"/>
          </p:cNvSpPr>
          <p:nvPr/>
        </p:nvSpPr>
        <p:spPr bwMode="auto">
          <a:xfrm>
            <a:off x="37338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5" name="Rectangle 5"/>
          <p:cNvSpPr>
            <a:spLocks noChangeArrowheads="1"/>
          </p:cNvSpPr>
          <p:nvPr/>
        </p:nvSpPr>
        <p:spPr bwMode="auto">
          <a:xfrm>
            <a:off x="44958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6" name="Rectangle 6"/>
          <p:cNvSpPr>
            <a:spLocks noChangeArrowheads="1"/>
          </p:cNvSpPr>
          <p:nvPr/>
        </p:nvSpPr>
        <p:spPr bwMode="auto">
          <a:xfrm>
            <a:off x="5257800" y="2286000"/>
            <a:ext cx="609600" cy="533400"/>
          </a:xfrm>
          <a:prstGeom prst="rect">
            <a:avLst/>
          </a:prstGeom>
          <a:noFill/>
          <a:ln w="25400">
            <a:solidFill>
              <a:srgbClr val="00CC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7" name="Oval 7"/>
          <p:cNvSpPr>
            <a:spLocks noChangeArrowheads="1"/>
          </p:cNvSpPr>
          <p:nvPr/>
        </p:nvSpPr>
        <p:spPr bwMode="auto">
          <a:xfrm>
            <a:off x="3810000" y="23622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8" name="Oval 8"/>
          <p:cNvSpPr>
            <a:spLocks noChangeArrowheads="1"/>
          </p:cNvSpPr>
          <p:nvPr/>
        </p:nvSpPr>
        <p:spPr bwMode="auto">
          <a:xfrm>
            <a:off x="3962400" y="2514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89" name="Oval 9"/>
          <p:cNvSpPr>
            <a:spLocks noChangeArrowheads="1"/>
          </p:cNvSpPr>
          <p:nvPr/>
        </p:nvSpPr>
        <p:spPr bwMode="auto">
          <a:xfrm>
            <a:off x="41148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0" name="Oval 10"/>
          <p:cNvSpPr>
            <a:spLocks noChangeArrowheads="1"/>
          </p:cNvSpPr>
          <p:nvPr/>
        </p:nvSpPr>
        <p:spPr bwMode="auto">
          <a:xfrm>
            <a:off x="38862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1" name="Oval 11"/>
          <p:cNvSpPr>
            <a:spLocks noChangeArrowheads="1"/>
          </p:cNvSpPr>
          <p:nvPr/>
        </p:nvSpPr>
        <p:spPr bwMode="auto">
          <a:xfrm>
            <a:off x="3962400" y="4419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2" name="Oval 12"/>
          <p:cNvSpPr>
            <a:spLocks noChangeArrowheads="1"/>
          </p:cNvSpPr>
          <p:nvPr/>
        </p:nvSpPr>
        <p:spPr bwMode="auto">
          <a:xfrm>
            <a:off x="46482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3" name="Oval 13"/>
          <p:cNvSpPr>
            <a:spLocks noChangeArrowheads="1"/>
          </p:cNvSpPr>
          <p:nvPr/>
        </p:nvSpPr>
        <p:spPr bwMode="auto">
          <a:xfrm>
            <a:off x="53340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4" name="Oval 14"/>
          <p:cNvSpPr>
            <a:spLocks noChangeArrowheads="1"/>
          </p:cNvSpPr>
          <p:nvPr/>
        </p:nvSpPr>
        <p:spPr bwMode="auto">
          <a:xfrm>
            <a:off x="4800600" y="24384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5" name="Oval 15"/>
          <p:cNvSpPr>
            <a:spLocks noChangeArrowheads="1"/>
          </p:cNvSpPr>
          <p:nvPr/>
        </p:nvSpPr>
        <p:spPr bwMode="auto">
          <a:xfrm>
            <a:off x="4648200" y="25908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6" name="Oval 16"/>
          <p:cNvSpPr>
            <a:spLocks noChangeArrowheads="1"/>
          </p:cNvSpPr>
          <p:nvPr/>
        </p:nvSpPr>
        <p:spPr bwMode="auto">
          <a:xfrm>
            <a:off x="48006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7" name="Oval 17"/>
          <p:cNvSpPr>
            <a:spLocks noChangeArrowheads="1"/>
          </p:cNvSpPr>
          <p:nvPr/>
        </p:nvSpPr>
        <p:spPr bwMode="auto">
          <a:xfrm>
            <a:off x="49530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8" name="Oval 18"/>
          <p:cNvSpPr>
            <a:spLocks noChangeArrowheads="1"/>
          </p:cNvSpPr>
          <p:nvPr/>
        </p:nvSpPr>
        <p:spPr bwMode="auto">
          <a:xfrm>
            <a:off x="5410200" y="26670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299" name="Oval 19"/>
          <p:cNvSpPr>
            <a:spLocks noChangeArrowheads="1"/>
          </p:cNvSpPr>
          <p:nvPr/>
        </p:nvSpPr>
        <p:spPr bwMode="auto">
          <a:xfrm>
            <a:off x="5638800" y="2514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0" name="Line 20"/>
          <p:cNvSpPr>
            <a:spLocks noChangeShapeType="1"/>
          </p:cNvSpPr>
          <p:nvPr/>
        </p:nvSpPr>
        <p:spPr bwMode="auto">
          <a:xfrm>
            <a:off x="4038600" y="2819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1" name="Line 21"/>
          <p:cNvSpPr>
            <a:spLocks noChangeShapeType="1"/>
          </p:cNvSpPr>
          <p:nvPr/>
        </p:nvSpPr>
        <p:spPr bwMode="auto">
          <a:xfrm>
            <a:off x="4800600" y="2819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2" name="Line 22"/>
          <p:cNvSpPr>
            <a:spLocks noChangeShapeType="1"/>
          </p:cNvSpPr>
          <p:nvPr/>
        </p:nvSpPr>
        <p:spPr bwMode="auto">
          <a:xfrm>
            <a:off x="5562600" y="281940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3" name="Oval 23"/>
          <p:cNvSpPr>
            <a:spLocks noChangeArrowheads="1"/>
          </p:cNvSpPr>
          <p:nvPr/>
        </p:nvSpPr>
        <p:spPr bwMode="auto">
          <a:xfrm>
            <a:off x="4724400" y="4419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4" name="Oval 24"/>
          <p:cNvSpPr>
            <a:spLocks noChangeArrowheads="1"/>
          </p:cNvSpPr>
          <p:nvPr/>
        </p:nvSpPr>
        <p:spPr bwMode="auto">
          <a:xfrm>
            <a:off x="5486400" y="4419600"/>
            <a:ext cx="76200" cy="7620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7305" name="Text Box 25"/>
          <p:cNvSpPr txBox="1">
            <a:spLocks noChangeArrowheads="1"/>
          </p:cNvSpPr>
          <p:nvPr/>
        </p:nvSpPr>
        <p:spPr bwMode="auto">
          <a:xfrm>
            <a:off x="6096000" y="23622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737306" name="Text Box 26"/>
          <p:cNvSpPr txBox="1">
            <a:spLocks noChangeArrowheads="1"/>
          </p:cNvSpPr>
          <p:nvPr/>
        </p:nvSpPr>
        <p:spPr bwMode="auto">
          <a:xfrm>
            <a:off x="6096000" y="41148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>
                <a:latin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29374771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MEAD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idx="1"/>
          </p:nvPr>
        </p:nvSpPr>
        <p:spPr>
          <a:xfrm>
            <a:off x="1295400" y="1905000"/>
            <a:ext cx="7772400" cy="3581400"/>
          </a:xfrm>
        </p:spPr>
        <p:txBody>
          <a:bodyPr/>
          <a:lstStyle/>
          <a:p>
            <a:r>
              <a:rPr lang="en-GB" altLang="en-US"/>
              <a:t>INPUT: Cluster of </a:t>
            </a:r>
            <a:r>
              <a:rPr lang="en-GB" altLang="en-US" i="1"/>
              <a:t>d</a:t>
            </a:r>
            <a:r>
              <a:rPr lang="en-GB" altLang="en-US"/>
              <a:t> documents with </a:t>
            </a:r>
            <a:r>
              <a:rPr lang="en-GB" altLang="en-US" i="1"/>
              <a:t>n</a:t>
            </a:r>
            <a:r>
              <a:rPr lang="en-GB" altLang="en-US"/>
              <a:t> sentences (compression rate = </a:t>
            </a:r>
            <a:r>
              <a:rPr lang="en-GB" altLang="en-US" i="1"/>
              <a:t>r</a:t>
            </a:r>
            <a:r>
              <a:rPr lang="en-GB" altLang="en-US"/>
              <a:t>) </a:t>
            </a:r>
          </a:p>
          <a:p>
            <a:r>
              <a:rPr lang="en-GB" altLang="en-US"/>
              <a:t>OUTPUT: (n * r) sentences from the cluster with the highest values of SCORE</a:t>
            </a:r>
          </a:p>
          <a:p>
            <a:pPr>
              <a:buFontTx/>
              <a:buNone/>
            </a:pPr>
            <a:r>
              <a:rPr lang="en-GB" altLang="en-US" i="1"/>
              <a:t>	SCORE (s) = </a:t>
            </a:r>
            <a:r>
              <a:rPr lang="en-GB" altLang="en-US" i="1">
                <a:latin typeface="Symbol" panose="05050102010706020507" pitchFamily="18" charset="2"/>
              </a:rPr>
              <a:t>S</a:t>
            </a:r>
            <a:r>
              <a:rPr lang="en-GB" altLang="en-US" i="1" baseline="-25000"/>
              <a:t>i</a:t>
            </a:r>
            <a:r>
              <a:rPr lang="en-GB" altLang="en-US" i="1"/>
              <a:t> (w</a:t>
            </a:r>
            <a:r>
              <a:rPr lang="en-GB" altLang="en-US" i="1" baseline="-25000"/>
              <a:t>c</a:t>
            </a:r>
            <a:r>
              <a:rPr lang="en-GB" altLang="en-US" i="1"/>
              <a:t>C</a:t>
            </a:r>
            <a:r>
              <a:rPr lang="en-GB" altLang="en-US" i="1" baseline="-25000"/>
              <a:t>i</a:t>
            </a:r>
            <a:r>
              <a:rPr lang="en-GB" altLang="en-US" i="1"/>
              <a:t> + w</a:t>
            </a:r>
            <a:r>
              <a:rPr lang="en-GB" altLang="en-US" i="1" baseline="-25000"/>
              <a:t>p</a:t>
            </a:r>
            <a:r>
              <a:rPr lang="en-GB" altLang="en-US" i="1"/>
              <a:t>P</a:t>
            </a:r>
            <a:r>
              <a:rPr lang="en-GB" altLang="en-US" i="1" baseline="-25000"/>
              <a:t>i</a:t>
            </a:r>
            <a:r>
              <a:rPr lang="en-GB" altLang="en-US" i="1"/>
              <a:t> + w</a:t>
            </a:r>
            <a:r>
              <a:rPr lang="en-GB" altLang="en-US" i="1" baseline="-25000"/>
              <a:t>f</a:t>
            </a:r>
            <a:r>
              <a:rPr lang="en-GB" altLang="en-US" i="1"/>
              <a:t>F</a:t>
            </a:r>
            <a:r>
              <a:rPr lang="en-GB" altLang="en-US" i="1" baseline="-25000"/>
              <a:t>i</a:t>
            </a:r>
            <a:r>
              <a:rPr lang="en-GB" altLang="en-US" i="1"/>
              <a:t>) 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2910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</a:t>
            </a:r>
            <a:r>
              <a:rPr lang="en-US" dirty="0" smtClean="0"/>
              <a:t>opic signature-based content selection with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686800" cy="4445000"/>
          </a:xfrm>
        </p:spPr>
        <p:txBody>
          <a:bodyPr/>
          <a:lstStyle/>
          <a:p>
            <a:r>
              <a:rPr lang="en-US" sz="2800" dirty="0" smtClean="0"/>
              <a:t>choose words that are informative either </a:t>
            </a:r>
          </a:p>
          <a:p>
            <a:pPr lvl="1"/>
            <a:r>
              <a:rPr lang="en-US" sz="2400" dirty="0" smtClean="0"/>
              <a:t>by log</a:t>
            </a:r>
            <a:r>
              <a:rPr lang="en-US" sz="2400" dirty="0"/>
              <a:t>-likelihood ratio (LLR</a:t>
            </a:r>
            <a:r>
              <a:rPr lang="en-US" sz="2400" dirty="0" smtClean="0"/>
              <a:t>)</a:t>
            </a:r>
          </a:p>
          <a:p>
            <a:pPr lvl="1"/>
            <a:r>
              <a:rPr lang="en-US" sz="2400" dirty="0" smtClean="0"/>
              <a:t>or by appearing in the query</a:t>
            </a:r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 smtClean="0"/>
          </a:p>
          <a:p>
            <a:r>
              <a:rPr lang="en-US" sz="2800" dirty="0" smtClean="0"/>
              <a:t>Weigh a sentence (or window) by weight of its words: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648200" y="1143000"/>
            <a:ext cx="3781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Conroy, Schlesinger, and O’Leary 2006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1676400" y="3352800"/>
          <a:ext cx="4724400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3" imgW="2451100" imgH="812800" progId="Equation.3">
                  <p:embed/>
                </p:oleObj>
              </mc:Choice>
              <mc:Fallback>
                <p:oleObj name="Equation" r:id="rId3" imgW="2451100" imgH="812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3352800"/>
                        <a:ext cx="4724400" cy="1566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1905000" y="5715000"/>
          <a:ext cx="3397250" cy="861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5" imgW="1752600" imgH="444500" progId="Equation.3">
                  <p:embed/>
                </p:oleObj>
              </mc:Choice>
              <mc:Fallback>
                <p:oleObj name="Equation" r:id="rId5" imgW="1752600" imgH="4445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05000" y="5715000"/>
                        <a:ext cx="3397250" cy="8614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40937" y="3733800"/>
            <a:ext cx="200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>
                <a:latin typeface="+mn-lt"/>
              </a:rPr>
              <a:t>(could learn more complex weights)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7911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52400"/>
            <a:ext cx="7391400" cy="990600"/>
          </a:xfrm>
        </p:spPr>
        <p:txBody>
          <a:bodyPr/>
          <a:lstStyle/>
          <a:p>
            <a:r>
              <a:rPr lang="en-US" dirty="0" smtClean="0"/>
              <a:t>Supervised content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52600"/>
            <a:ext cx="4572000" cy="4445000"/>
          </a:xfrm>
        </p:spPr>
        <p:txBody>
          <a:bodyPr/>
          <a:lstStyle/>
          <a:p>
            <a:r>
              <a:rPr lang="en-US" dirty="0" smtClean="0"/>
              <a:t>Given: </a:t>
            </a:r>
          </a:p>
          <a:p>
            <a:pPr lvl="1"/>
            <a:r>
              <a:rPr lang="en-US" dirty="0" smtClean="0"/>
              <a:t>a labeled training set of good summaries for each document</a:t>
            </a:r>
          </a:p>
          <a:p>
            <a:r>
              <a:rPr lang="en-US" dirty="0" smtClean="0"/>
              <a:t>Align:</a:t>
            </a:r>
          </a:p>
          <a:p>
            <a:pPr lvl="1"/>
            <a:r>
              <a:rPr lang="en-US" dirty="0" smtClean="0"/>
              <a:t>the sentences in the document with sentences in the summary</a:t>
            </a:r>
          </a:p>
          <a:p>
            <a:r>
              <a:rPr lang="en-US" dirty="0" smtClean="0"/>
              <a:t>Extract features</a:t>
            </a:r>
          </a:p>
          <a:p>
            <a:pPr lvl="1"/>
            <a:r>
              <a:rPr lang="en-US" dirty="0" smtClean="0"/>
              <a:t>position (first sentence?) </a:t>
            </a:r>
          </a:p>
          <a:p>
            <a:pPr lvl="1"/>
            <a:r>
              <a:rPr lang="en-US" dirty="0" smtClean="0"/>
              <a:t>length of sentence</a:t>
            </a:r>
            <a:endParaRPr lang="en-US" dirty="0"/>
          </a:p>
          <a:p>
            <a:pPr lvl="1"/>
            <a:r>
              <a:rPr lang="en-US" dirty="0" smtClean="0"/>
              <a:t>word </a:t>
            </a:r>
            <a:r>
              <a:rPr lang="en-US" dirty="0" err="1" smtClean="0"/>
              <a:t>informativeness</a:t>
            </a:r>
            <a:r>
              <a:rPr lang="en-US" dirty="0" smtClean="0"/>
              <a:t>, cue phrases</a:t>
            </a:r>
            <a:endParaRPr lang="en-US" dirty="0"/>
          </a:p>
          <a:p>
            <a:pPr lvl="1"/>
            <a:r>
              <a:rPr lang="en-US" dirty="0" smtClean="0"/>
              <a:t>cohesion</a:t>
            </a:r>
          </a:p>
          <a:p>
            <a:r>
              <a:rPr lang="en-US" dirty="0" smtClean="0"/>
              <a:t>Train</a:t>
            </a:r>
          </a:p>
          <a:p>
            <a:pPr lvl="1"/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953000" y="1752600"/>
            <a:ext cx="4114800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 smtClean="0"/>
              <a:t>Problems:</a:t>
            </a:r>
          </a:p>
          <a:p>
            <a:pPr lvl="1"/>
            <a:r>
              <a:rPr lang="en-US" dirty="0" smtClean="0"/>
              <a:t>hard to get labeled training data</a:t>
            </a:r>
          </a:p>
          <a:p>
            <a:pPr lvl="1"/>
            <a:r>
              <a:rPr lang="en-US" dirty="0" smtClean="0"/>
              <a:t>alignment difficult</a:t>
            </a:r>
          </a:p>
          <a:p>
            <a:pPr lvl="1"/>
            <a:r>
              <a:rPr lang="en-US" dirty="0" smtClean="0"/>
              <a:t>performance not better than unsupervised algorithms</a:t>
            </a:r>
          </a:p>
          <a:p>
            <a:r>
              <a:rPr lang="en-US" dirty="0" smtClean="0"/>
              <a:t>So in practice: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</a:rPr>
              <a:t>Unsupervised content selection is more common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" y="6248400"/>
            <a:ext cx="664708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2" indent="-342900">
              <a:buFont typeface="Arial"/>
              <a:buChar char="•"/>
            </a:pPr>
            <a:r>
              <a:rPr lang="en-US" sz="2000" dirty="0">
                <a:latin typeface="Calibri"/>
                <a:cs typeface="Calibri"/>
              </a:rPr>
              <a:t>a binary classifier (put sentence in summary</a:t>
            </a:r>
            <a:r>
              <a:rPr lang="en-US" sz="2000" dirty="0" smtClean="0">
                <a:latin typeface="Calibri"/>
                <a:cs typeface="Calibri"/>
              </a:rPr>
              <a:t>? yes or no)</a:t>
            </a:r>
            <a:endParaRPr lang="en-US" sz="2000" dirty="0">
              <a:latin typeface="Calibri"/>
              <a:cs typeface="Calibri"/>
            </a:endParaRPr>
          </a:p>
          <a:p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884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533400" y="2413000"/>
            <a:ext cx="8229600" cy="1609344"/>
          </a:xfrm>
        </p:spPr>
        <p:txBody>
          <a:bodyPr/>
          <a:lstStyle/>
          <a:p>
            <a:r>
              <a:rPr lang="en-US" sz="3600" dirty="0" smtClean="0">
                <a:solidFill>
                  <a:srgbClr val="A4001D"/>
                </a:solidFill>
                <a:ea typeface="ＭＳ Ｐゴシック" charset="0"/>
                <a:cs typeface="Calibri"/>
              </a:rPr>
              <a:t>Evaluating Summaries: ROUGE</a:t>
            </a:r>
            <a:endParaRPr lang="en-US" sz="3600" dirty="0">
              <a:solidFill>
                <a:srgbClr val="A4001D"/>
              </a:solidFill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02064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 (Recall </a:t>
            </a:r>
            <a:r>
              <a:rPr lang="en-US" dirty="0" smtClean="0"/>
              <a:t>Oriented Understudy </a:t>
            </a:r>
            <a:r>
              <a:rPr lang="en-US" dirty="0"/>
              <a:t>for </a:t>
            </a:r>
            <a:r>
              <a:rPr lang="en-US" dirty="0" err="1"/>
              <a:t>Gisting</a:t>
            </a:r>
            <a:r>
              <a:rPr lang="en-US" dirty="0"/>
              <a:t> </a:t>
            </a:r>
            <a:r>
              <a:rPr lang="en-US" dirty="0" smtClean="0"/>
              <a:t>Evaluation)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Intrinsic metric for automatically evaluating summaries</a:t>
            </a:r>
          </a:p>
          <a:p>
            <a:pPr lvl="1"/>
            <a:r>
              <a:rPr lang="en-US" dirty="0" smtClean="0"/>
              <a:t>Based on BLEU (a metric used for machine translation)</a:t>
            </a:r>
          </a:p>
          <a:p>
            <a:pPr lvl="1"/>
            <a:r>
              <a:rPr lang="en-US" dirty="0" smtClean="0"/>
              <a:t>Not as good as human evaluation (“Did this answer the user’s question?”)</a:t>
            </a:r>
          </a:p>
          <a:p>
            <a:pPr lvl="1"/>
            <a:r>
              <a:rPr lang="en-US" dirty="0" smtClean="0"/>
              <a:t>But much more convenient</a:t>
            </a:r>
          </a:p>
          <a:p>
            <a:r>
              <a:rPr lang="en-US" dirty="0" smtClean="0"/>
              <a:t>Given a document D, and an automatic summary X: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Have N humans produce a set of reference summaries  of 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Run system, giving automatic summary X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What percentage of the bigrams from the reference summaries appear in X?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562600" y="1066800"/>
            <a:ext cx="2288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Lin and </a:t>
            </a:r>
            <a:r>
              <a:rPr lang="en-US" sz="1800" dirty="0" err="1" smtClean="0"/>
              <a:t>Hovy</a:t>
            </a:r>
            <a:r>
              <a:rPr lang="en-US" sz="1800" dirty="0" smtClean="0"/>
              <a:t> 2003</a:t>
            </a:r>
            <a:endParaRPr lang="en-US" sz="1800" dirty="0">
              <a:latin typeface="+mn-lt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990600" y="5410200"/>
          <a:ext cx="7160217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3" imgW="3911600" imgH="749300" progId="Equation.3">
                  <p:embed/>
                </p:oleObj>
              </mc:Choice>
              <mc:Fallback>
                <p:oleObj name="Equation" r:id="rId3" imgW="3911600" imgH="7493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0600" y="5410200"/>
                        <a:ext cx="7160217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2198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ROUGE example:</a:t>
            </a:r>
            <a:br>
              <a:rPr lang="en-US" dirty="0" smtClean="0"/>
            </a:br>
            <a:r>
              <a:rPr lang="en-US" dirty="0" smtClean="0"/>
              <a:t>Q: “What is water spinach?”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839200" cy="3987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Human 1: Water spinach is a green leafy vegetable grown in the tropics.</a:t>
            </a:r>
          </a:p>
          <a:p>
            <a:pPr marL="0" indent="0">
              <a:buNone/>
            </a:pPr>
            <a:r>
              <a:rPr lang="en-US" dirty="0" smtClean="0"/>
              <a:t>Human 2:  Water spinach is a semi-aquatic tropical plant grown as a vegetable.</a:t>
            </a:r>
          </a:p>
          <a:p>
            <a:pPr marL="0" indent="0">
              <a:buNone/>
            </a:pPr>
            <a:r>
              <a:rPr lang="en-US" dirty="0" smtClean="0"/>
              <a:t>Human 3: Water spinach is a commonly eaten leaf vegetable of Asia.</a:t>
            </a:r>
          </a:p>
          <a:p>
            <a:endParaRPr lang="en-US" dirty="0"/>
          </a:p>
          <a:p>
            <a:r>
              <a:rPr lang="en-US" dirty="0" smtClean="0"/>
              <a:t>System answer: Water spinach is a leaf vegetable commonly eaten in tropical areas of Asia.</a:t>
            </a:r>
          </a:p>
          <a:p>
            <a:endParaRPr lang="en-US" dirty="0"/>
          </a:p>
          <a:p>
            <a:r>
              <a:rPr lang="en-US" dirty="0" smtClean="0"/>
              <a:t>ROUGE-2  =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859314" y="6106180"/>
            <a:ext cx="1595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10 + 9 + 9</a:t>
            </a:r>
            <a:endParaRPr lang="en-US" sz="2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1800" y="5699781"/>
            <a:ext cx="1413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3 + 3 + 6</a:t>
            </a:r>
            <a:endParaRPr lang="en-US" sz="2800" dirty="0">
              <a:latin typeface="+mn-lt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>
            <a:off x="2895600" y="6156981"/>
            <a:ext cx="1524000" cy="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4724400" y="5928381"/>
            <a:ext cx="2107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+mn-lt"/>
              </a:rPr>
              <a:t>= 12/28 = .43 </a:t>
            </a:r>
            <a:endParaRPr lang="en-US" sz="2800" dirty="0">
              <a:latin typeface="+mn-lt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676400" y="19050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600200" y="27432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514600" y="1905000"/>
            <a:ext cx="12954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667000" y="2743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657600" y="26670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3581400" y="19050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752600" y="3505200"/>
            <a:ext cx="18288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2819400" y="3505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3581400" y="3505200"/>
            <a:ext cx="3810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4038600" y="3429000"/>
            <a:ext cx="20574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172200" y="3429000"/>
            <a:ext cx="1752600" cy="3810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772400" y="3505200"/>
            <a:ext cx="1143000" cy="304800"/>
          </a:xfrm>
          <a:prstGeom prst="rect">
            <a:avLst/>
          </a:prstGeom>
          <a:solidFill>
            <a:srgbClr val="FFFF00">
              <a:alpha val="39000"/>
            </a:srgb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7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505200"/>
            <a:ext cx="7924800" cy="27432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ea typeface="ＭＳ Ｐゴシック" charset="0"/>
                <a:cs typeface="Calibri (Headings)"/>
              </a:rPr>
              <a:t>Complex Questions:  Summarizing Multiple Documents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63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27200"/>
            <a:ext cx="7772400" cy="4445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Q:</a:t>
            </a:r>
            <a:r>
              <a:rPr lang="en-US" dirty="0" smtClean="0"/>
              <a:t> What </a:t>
            </a:r>
            <a:r>
              <a:rPr lang="en-US" dirty="0"/>
              <a:t>is </a:t>
            </a:r>
            <a:r>
              <a:rPr lang="en-US" i="1" dirty="0" smtClean="0"/>
              <a:t>water spinach?</a:t>
            </a:r>
          </a:p>
          <a:p>
            <a:pPr marL="0" indent="0">
              <a:buNone/>
            </a:pPr>
            <a:r>
              <a:rPr lang="en-US" b="1" i="1" dirty="0" smtClean="0"/>
              <a:t>A: </a:t>
            </a:r>
            <a:r>
              <a:rPr lang="en-US" dirty="0" smtClean="0"/>
              <a:t>Water spinach (ipomoea </a:t>
            </a:r>
            <a:r>
              <a:rPr lang="en-US" dirty="0" err="1" smtClean="0"/>
              <a:t>aquatica</a:t>
            </a:r>
            <a:r>
              <a:rPr lang="en-US" dirty="0" smtClean="0"/>
              <a:t>) is a semi-aquatic leafy green plant with long hollow stems and spear- or heart-shaped leaves, widely grown throughout Asia as a leaf vegetable. The leaves and stems are often eaten stir-fried flavored with salt or in soups. Other common names include </a:t>
            </a:r>
            <a:r>
              <a:rPr lang="en-US" i="1" dirty="0" smtClean="0"/>
              <a:t>morning glory vegetable, </a:t>
            </a:r>
            <a:r>
              <a:rPr lang="en-US" i="1" dirty="0" err="1" smtClean="0"/>
              <a:t>kangkong</a:t>
            </a:r>
            <a:r>
              <a:rPr lang="en-US" i="1" dirty="0" smtClean="0"/>
              <a:t> </a:t>
            </a:r>
            <a:r>
              <a:rPr lang="en-US" dirty="0" smtClean="0"/>
              <a:t>(Malay), </a:t>
            </a:r>
            <a:r>
              <a:rPr lang="en-US" i="1" dirty="0" err="1" smtClean="0"/>
              <a:t>rau</a:t>
            </a:r>
            <a:r>
              <a:rPr lang="en-US" i="1" dirty="0" smtClean="0"/>
              <a:t> </a:t>
            </a:r>
            <a:r>
              <a:rPr lang="en-US" i="1" dirty="0" err="1" smtClean="0"/>
              <a:t>muong</a:t>
            </a:r>
            <a:r>
              <a:rPr lang="en-US" i="1" dirty="0" smtClean="0"/>
              <a:t> (Viet.), </a:t>
            </a:r>
            <a:r>
              <a:rPr lang="en-US" i="1" dirty="0" err="1" smtClean="0"/>
              <a:t>ong</a:t>
            </a:r>
            <a:r>
              <a:rPr lang="en-US" i="1" dirty="0" smtClean="0"/>
              <a:t> </a:t>
            </a:r>
            <a:r>
              <a:rPr lang="en-US" i="1" dirty="0" err="1" smtClean="0"/>
              <a:t>choi</a:t>
            </a:r>
            <a:r>
              <a:rPr lang="en-US" i="1" dirty="0" smtClean="0"/>
              <a:t> (Cant.), and </a:t>
            </a:r>
            <a:r>
              <a:rPr lang="en-US" i="1" dirty="0" err="1" smtClean="0"/>
              <a:t>kong</a:t>
            </a:r>
            <a:r>
              <a:rPr lang="en-US" i="1" dirty="0" smtClean="0"/>
              <a:t> </a:t>
            </a:r>
            <a:r>
              <a:rPr lang="en-US" i="1" dirty="0" err="1" smtClean="0"/>
              <a:t>xin</a:t>
            </a:r>
            <a:r>
              <a:rPr lang="en-US" i="1" dirty="0" smtClean="0"/>
              <a:t> </a:t>
            </a:r>
            <a:r>
              <a:rPr lang="en-US" i="1" dirty="0" err="1" smtClean="0"/>
              <a:t>cai</a:t>
            </a:r>
            <a:r>
              <a:rPr lang="en-US" i="1" dirty="0" smtClean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Mand</a:t>
            </a:r>
            <a:r>
              <a:rPr lang="en-US" dirty="0" smtClean="0"/>
              <a:t>.). It is not related to spinach, but is closely related to sweet potato and convolvulus</a:t>
            </a:r>
            <a:r>
              <a:rPr lang="en-US" sz="2800" dirty="0" smtClean="0"/>
              <a:t>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97060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Medical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701800"/>
            <a:ext cx="7772400" cy="44450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smtClean="0"/>
              <a:t>Q: </a:t>
            </a:r>
            <a:r>
              <a:rPr lang="en-US" sz="2800" dirty="0" smtClean="0"/>
              <a:t>In children with an acute febrile illness, what is the efficacy of single medication therapy with acetaminophen or ibuprofen in reducing fever?</a:t>
            </a:r>
          </a:p>
          <a:p>
            <a:pPr marL="0" indent="0">
              <a:buNone/>
            </a:pPr>
            <a:r>
              <a:rPr lang="en-US" sz="2800" b="1" dirty="0" smtClean="0"/>
              <a:t>A: </a:t>
            </a:r>
            <a:r>
              <a:rPr lang="en-US" sz="2800" dirty="0" smtClean="0"/>
              <a:t>Ibuprofen provided greater temperature decrement and longer duration of </a:t>
            </a:r>
            <a:r>
              <a:rPr lang="en-US" sz="2800" dirty="0" err="1" smtClean="0"/>
              <a:t>antipyresis</a:t>
            </a:r>
            <a:r>
              <a:rPr lang="en-US" sz="2800" dirty="0" smtClean="0"/>
              <a:t> than acetaminophen when the two drugs were administered in approximately equal doses. (</a:t>
            </a:r>
            <a:r>
              <a:rPr lang="en-US" sz="2800" i="1" dirty="0" err="1" smtClean="0">
                <a:solidFill>
                  <a:schemeClr val="bg1">
                    <a:lumMod val="50000"/>
                  </a:schemeClr>
                </a:solidFill>
              </a:rPr>
              <a:t>PubMedID</a:t>
            </a:r>
            <a: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  <a:t>: 1621668, Evidence Strength: A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724400" y="1295400"/>
            <a:ext cx="3257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+mn-lt"/>
              </a:rPr>
              <a:t>Demner-</a:t>
            </a:r>
            <a:r>
              <a:rPr lang="en-US" sz="1800" dirty="0" err="1" smtClean="0">
                <a:latin typeface="+mn-lt"/>
              </a:rPr>
              <a:t>Fushman</a:t>
            </a:r>
            <a:r>
              <a:rPr lang="en-US" sz="1800" dirty="0" smtClean="0">
                <a:latin typeface="+mn-lt"/>
              </a:rPr>
              <a:t> and Lin (2007) 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2026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complex </a:t>
            </a:r>
            <a:r>
              <a:rPr lang="en-US" dirty="0"/>
              <a:t>q</a:t>
            </a:r>
            <a:r>
              <a:rPr lang="en-US" dirty="0" smtClean="0"/>
              <a:t>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902200"/>
          </a:xfrm>
        </p:spPr>
        <p:txBody>
          <a:bodyPr/>
          <a:lstStyle/>
          <a:p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How is compost made and used for gardening (including different </a:t>
            </a:r>
            <a:r>
              <a:rPr lang="en-US" dirty="0"/>
              <a:t>types of compost, their uses, origins and </a:t>
            </a:r>
            <a:r>
              <a:rPr lang="en-US" dirty="0" smtClean="0"/>
              <a:t>beneﬁts)?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What </a:t>
            </a:r>
            <a:r>
              <a:rPr lang="en-US" dirty="0"/>
              <a:t>causes train wrecks and what can be </a:t>
            </a:r>
            <a:r>
              <a:rPr lang="en-US" dirty="0" smtClean="0"/>
              <a:t>done to </a:t>
            </a:r>
            <a:r>
              <a:rPr lang="en-US" dirty="0"/>
              <a:t>prevent them</a:t>
            </a:r>
            <a:r>
              <a:rPr lang="en-US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Where have poachers endangered wildlife, what wildlife has been endangered and what steps have been taken to prevent poaching</a:t>
            </a:r>
            <a:r>
              <a:rPr lang="en-US" dirty="0" smtClean="0"/>
              <a:t>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has been the human toll in death or </a:t>
            </a:r>
            <a:r>
              <a:rPr lang="en-US" dirty="0" smtClean="0"/>
              <a:t>injury of </a:t>
            </a:r>
            <a:r>
              <a:rPr lang="en-US" dirty="0"/>
              <a:t>tropical storms in recent years?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386228" y="1552150"/>
            <a:ext cx="6308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Modified from the DUC 2005 competition (</a:t>
            </a:r>
            <a:r>
              <a:rPr lang="en-US" sz="1800" dirty="0" err="1" smtClean="0">
                <a:latin typeface="+mn-lt"/>
              </a:rPr>
              <a:t>Hoa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Trang</a:t>
            </a:r>
            <a:r>
              <a:rPr lang="en-US" sz="1800" dirty="0" smtClean="0">
                <a:latin typeface="+mn-lt"/>
              </a:rPr>
              <a:t> Dang 2005)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7593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381000"/>
            <a:ext cx="7696200" cy="990600"/>
          </a:xfrm>
        </p:spPr>
        <p:txBody>
          <a:bodyPr/>
          <a:lstStyle/>
          <a:p>
            <a:r>
              <a:rPr lang="en-US" sz="3000" dirty="0" smtClean="0"/>
              <a:t>Answering harder questions:</a:t>
            </a:r>
            <a:br>
              <a:rPr lang="en-US" sz="3000" dirty="0" smtClean="0"/>
            </a:br>
            <a:r>
              <a:rPr lang="en-US" sz="3000" dirty="0" smtClean="0"/>
              <a:t>Query</a:t>
            </a:r>
            <a:r>
              <a:rPr lang="en-US" sz="3000" dirty="0"/>
              <a:t>-focused </a:t>
            </a:r>
            <a:r>
              <a:rPr lang="en-US" sz="3000" dirty="0" smtClean="0"/>
              <a:t>multi-document summarization</a:t>
            </a:r>
            <a:endParaRPr lang="en-US" sz="3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(bottom-up) snippet </a:t>
            </a:r>
            <a:r>
              <a:rPr lang="en-US" sz="2800" dirty="0"/>
              <a:t>method</a:t>
            </a:r>
          </a:p>
          <a:p>
            <a:pPr lvl="1"/>
            <a:r>
              <a:rPr lang="en-US" sz="2400" dirty="0" smtClean="0"/>
              <a:t>Find a set of relevant documents</a:t>
            </a:r>
          </a:p>
          <a:p>
            <a:pPr lvl="1"/>
            <a:r>
              <a:rPr lang="en-US" sz="2400" dirty="0" smtClean="0"/>
              <a:t>Extract informative sentences from the documents</a:t>
            </a:r>
          </a:p>
          <a:p>
            <a:pPr lvl="1"/>
            <a:r>
              <a:rPr lang="en-US" sz="2400" dirty="0" smtClean="0"/>
              <a:t>Order and modify the sentences into an answer</a:t>
            </a:r>
          </a:p>
          <a:p>
            <a:r>
              <a:rPr lang="en-US" sz="2800" dirty="0" smtClean="0"/>
              <a:t>The (top-down) information </a:t>
            </a:r>
            <a:r>
              <a:rPr lang="en-US" sz="2800" dirty="0"/>
              <a:t>extraction method</a:t>
            </a:r>
          </a:p>
          <a:p>
            <a:pPr lvl="1"/>
            <a:r>
              <a:rPr lang="en-US" sz="2400" dirty="0"/>
              <a:t>build specific answerers for different question types:</a:t>
            </a:r>
          </a:p>
          <a:p>
            <a:pPr lvl="2"/>
            <a:r>
              <a:rPr lang="en-US" sz="2400" dirty="0" smtClean="0"/>
              <a:t>definition questions</a:t>
            </a:r>
          </a:p>
          <a:p>
            <a:pPr lvl="2"/>
            <a:r>
              <a:rPr lang="en-US" sz="2400" dirty="0" smtClean="0"/>
              <a:t>biography questions </a:t>
            </a:r>
          </a:p>
          <a:p>
            <a:pPr lvl="2"/>
            <a:r>
              <a:rPr lang="en-US" sz="2400" dirty="0" smtClean="0"/>
              <a:t>certain medical questions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8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Query-Focused Multi-Document Summarization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400"/>
            <a:ext cx="857477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1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0"/>
            <a:ext cx="7391400" cy="990600"/>
          </a:xfrm>
        </p:spPr>
        <p:txBody>
          <a:bodyPr/>
          <a:lstStyle/>
          <a:p>
            <a:r>
              <a:rPr lang="en-US" dirty="0" smtClean="0"/>
              <a:t>Simplifying sentences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2758440"/>
          <a:ext cx="8534400" cy="341376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200400"/>
                <a:gridCol w="533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appositives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Rajam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28, an artist who was living at the time in Philadelphia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found the inspiration in the back of city magazines.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attribution</a:t>
                      </a:r>
                      <a:r>
                        <a:rPr lang="en-US" sz="2400" b="1" baseline="0" dirty="0" smtClean="0"/>
                        <a:t> clauses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Rebels agreed to talks with government officials, 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international observers said Tuesday.</a:t>
                      </a:r>
                      <a:endParaRPr lang="en-US" sz="2000" strike="sngStrik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PPs </a:t>
                      </a:r>
                    </a:p>
                    <a:p>
                      <a:r>
                        <a:rPr lang="en-US" sz="2400" b="1" dirty="0" smtClean="0"/>
                        <a:t>without named</a:t>
                      </a:r>
                      <a:r>
                        <a:rPr lang="en-US" sz="2400" b="1" baseline="0" dirty="0" smtClean="0"/>
                        <a:t> </a:t>
                      </a:r>
                      <a:r>
                        <a:rPr lang="en-US" sz="2400" b="1" dirty="0" smtClean="0"/>
                        <a:t>entities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commercial fishing restrictions in Washington will not be lifted unless the salmon population increases [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PP to a sustainable numbe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r]]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initial adverbials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 example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 the other hand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 a matter of fact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”, “</a:t>
                      </a:r>
                      <a:r>
                        <a:rPr lang="en-US" sz="2000" b="0" i="0" u="none" strike="sng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At this point</a:t>
                      </a:r>
                      <a:r>
                        <a:rPr 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04800" y="6273800"/>
            <a:ext cx="457200" cy="4572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52115" y="1143000"/>
            <a:ext cx="6353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 smtClean="0">
                <a:latin typeface="+mn-lt"/>
              </a:rPr>
              <a:t>Zajic</a:t>
            </a:r>
            <a:r>
              <a:rPr lang="en-US" sz="1800" dirty="0" smtClean="0">
                <a:latin typeface="+mn-lt"/>
              </a:rPr>
              <a:t> et al. (2007), Conroy et al. (2006), </a:t>
            </a:r>
            <a:r>
              <a:rPr lang="en-US" sz="1800" dirty="0" err="1" smtClean="0">
                <a:latin typeface="+mn-lt"/>
              </a:rPr>
              <a:t>Vanderwende</a:t>
            </a:r>
            <a:r>
              <a:rPr lang="en-US" sz="1800" dirty="0" smtClean="0">
                <a:latin typeface="+mn-lt"/>
              </a:rPr>
              <a:t> et al. (2007)</a:t>
            </a:r>
            <a:endParaRPr lang="en-US" sz="1800" dirty="0"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1714" y="1832429"/>
            <a:ext cx="85259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+mn-lt"/>
              </a:rPr>
              <a:t>Simplest method: parse sentences, use rules to decide which modifiers to prune</a:t>
            </a:r>
          </a:p>
          <a:p>
            <a:r>
              <a:rPr lang="en-US" sz="2000" dirty="0">
                <a:latin typeface="+mn-lt"/>
              </a:rPr>
              <a:t>	</a:t>
            </a:r>
            <a:r>
              <a:rPr lang="en-US" sz="2000" dirty="0" smtClean="0">
                <a:latin typeface="+mn-lt"/>
              </a:rPr>
              <a:t>(more recently a wide variety of machine-learning methods)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832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391400" cy="990600"/>
          </a:xfrm>
        </p:spPr>
        <p:txBody>
          <a:bodyPr/>
          <a:lstStyle/>
          <a:p>
            <a:r>
              <a:rPr lang="en-US" dirty="0" smtClean="0"/>
              <a:t>Maximal Marginal Relevance (MMR)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749800"/>
          </a:xfrm>
        </p:spPr>
        <p:txBody>
          <a:bodyPr/>
          <a:lstStyle/>
          <a:p>
            <a:r>
              <a:rPr lang="en-US" dirty="0" smtClean="0"/>
              <a:t>An iterative method for content selection from multiple documents</a:t>
            </a:r>
          </a:p>
          <a:p>
            <a:r>
              <a:rPr lang="en-US" dirty="0" smtClean="0"/>
              <a:t>Iteratively (greedily) choose the best sentence to insert in the summary/answer so far:</a:t>
            </a:r>
          </a:p>
          <a:p>
            <a:pPr lvl="1"/>
            <a:r>
              <a:rPr lang="en-US" sz="2400" dirty="0" smtClean="0">
                <a:solidFill>
                  <a:srgbClr val="0000FF"/>
                </a:solidFill>
              </a:rPr>
              <a:t>Relevant</a:t>
            </a:r>
            <a:r>
              <a:rPr lang="en-US" sz="2400" dirty="0" smtClean="0"/>
              <a:t>:  Maximally relevant to the user’s query</a:t>
            </a:r>
          </a:p>
          <a:p>
            <a:pPr lvl="2"/>
            <a:r>
              <a:rPr lang="en-US" sz="2400" dirty="0" smtClean="0"/>
              <a:t>high cosine similarity to the query</a:t>
            </a:r>
          </a:p>
          <a:p>
            <a:pPr lvl="1"/>
            <a:r>
              <a:rPr lang="en-US" sz="2400" dirty="0" smtClean="0">
                <a:solidFill>
                  <a:srgbClr val="0000FF"/>
                </a:solidFill>
              </a:rPr>
              <a:t>Novel</a:t>
            </a:r>
            <a:r>
              <a:rPr lang="en-US" sz="2400" dirty="0" smtClean="0"/>
              <a:t>:  Minimally redundant with the summary/answer so far</a:t>
            </a:r>
          </a:p>
          <a:p>
            <a:pPr lvl="2"/>
            <a:r>
              <a:rPr lang="en-US" sz="2400" dirty="0" smtClean="0"/>
              <a:t>low cosine similarity to the summary</a:t>
            </a:r>
          </a:p>
          <a:p>
            <a:pPr lvl="2"/>
            <a:endParaRPr lang="en-US" dirty="0" smtClean="0"/>
          </a:p>
          <a:p>
            <a:pPr lvl="2"/>
            <a:endParaRPr lang="en-US" dirty="0"/>
          </a:p>
          <a:p>
            <a:r>
              <a:rPr lang="en-US" dirty="0" smtClean="0"/>
              <a:t>Stop when desired length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371600" y="5334000"/>
          <a:ext cx="64817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3" imgW="3060700" imgH="215900" progId="Equation.3">
                  <p:embed/>
                </p:oleObj>
              </mc:Choice>
              <mc:Fallback>
                <p:oleObj name="Equation" r:id="rId3" imgW="3060700" imgH="2159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71600" y="5334000"/>
                        <a:ext cx="6481762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971800" y="106680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Jaime </a:t>
            </a:r>
            <a:r>
              <a:rPr lang="en-US" sz="1400" dirty="0" err="1">
                <a:latin typeface="+mn-lt"/>
              </a:rPr>
              <a:t>Carbonell</a:t>
            </a:r>
            <a:r>
              <a:rPr lang="en-US" sz="1400" dirty="0">
                <a:latin typeface="+mn-lt"/>
              </a:rPr>
              <a:t> and Jade Goldstein, The Use of MMR, Diversity-based </a:t>
            </a:r>
            <a:r>
              <a:rPr lang="en-US" sz="1400" dirty="0" err="1">
                <a:latin typeface="+mn-lt"/>
              </a:rPr>
              <a:t>Reranking</a:t>
            </a:r>
            <a:r>
              <a:rPr lang="en-US" sz="1400" dirty="0">
                <a:latin typeface="+mn-lt"/>
              </a:rPr>
              <a:t> for Reordering Documents and Producing Summaries, SIGIR-98</a:t>
            </a:r>
          </a:p>
        </p:txBody>
      </p:sp>
    </p:spTree>
    <p:extLst>
      <p:ext uri="{BB962C8B-B14F-4D97-AF65-F5344CB8AC3E}">
        <p14:creationId xmlns:p14="http://schemas.microsoft.com/office/powerpoint/2010/main" val="249375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Ordering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Chronological ordering:</a:t>
            </a:r>
          </a:p>
          <a:p>
            <a:pPr lvl="1"/>
            <a:r>
              <a:rPr lang="en-US" dirty="0" smtClean="0"/>
              <a:t>Order sentences by the date of the document (for summarizing news)..   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en-US" dirty="0" err="1" smtClean="0"/>
              <a:t>Barzilay</a:t>
            </a:r>
            <a:r>
              <a:rPr lang="en-US" dirty="0" smtClean="0"/>
              <a:t>, </a:t>
            </a:r>
            <a:r>
              <a:rPr lang="en-US" dirty="0" err="1"/>
              <a:t>Elhadad</a:t>
            </a:r>
            <a:r>
              <a:rPr lang="en-US" dirty="0"/>
              <a:t>, </a:t>
            </a:r>
            <a:r>
              <a:rPr lang="en-US" dirty="0" smtClean="0"/>
              <a:t>and </a:t>
            </a:r>
            <a:r>
              <a:rPr lang="en-US" dirty="0" err="1" smtClean="0"/>
              <a:t>McKeown</a:t>
            </a:r>
            <a:r>
              <a:rPr lang="en-US" dirty="0" smtClean="0"/>
              <a:t> 2002)</a:t>
            </a:r>
            <a:endParaRPr lang="en-US" dirty="0"/>
          </a:p>
          <a:p>
            <a:r>
              <a:rPr lang="en-US" dirty="0" smtClean="0">
                <a:solidFill>
                  <a:srgbClr val="0000FF"/>
                </a:solidFill>
              </a:rPr>
              <a:t>Coherence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Choose orderings that make neighboring sentences similar (by cosine).</a:t>
            </a:r>
          </a:p>
          <a:p>
            <a:pPr lvl="1"/>
            <a:r>
              <a:rPr lang="en-US" dirty="0" smtClean="0"/>
              <a:t>Choose orderings in which neighboring sentences discuss the same entity (</a:t>
            </a:r>
            <a:r>
              <a:rPr lang="en-US" dirty="0" err="1" smtClean="0"/>
              <a:t>Barzilay</a:t>
            </a:r>
            <a:r>
              <a:rPr lang="en-US" dirty="0" smtClean="0"/>
              <a:t> and </a:t>
            </a:r>
            <a:r>
              <a:rPr lang="en-US" dirty="0" err="1" smtClean="0"/>
              <a:t>Lapata</a:t>
            </a:r>
            <a:r>
              <a:rPr lang="en-US" dirty="0" smtClean="0"/>
              <a:t> 2007) </a:t>
            </a:r>
          </a:p>
          <a:p>
            <a:r>
              <a:rPr lang="en-US" dirty="0" smtClean="0">
                <a:solidFill>
                  <a:srgbClr val="0000FF"/>
                </a:solidFill>
              </a:rPr>
              <a:t>Topical ordering</a:t>
            </a:r>
          </a:p>
          <a:p>
            <a:pPr lvl="1"/>
            <a:r>
              <a:rPr lang="en-US" dirty="0" smtClean="0"/>
              <a:t>Learn the ordering of topics in the source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29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Domain-specific answering:</a:t>
            </a:r>
            <a:br>
              <a:rPr lang="en-US" dirty="0" smtClean="0"/>
            </a:br>
            <a:r>
              <a:rPr lang="en-US" dirty="0" smtClean="0"/>
              <a:t>The </a:t>
            </a:r>
            <a:r>
              <a:rPr lang="en-US" dirty="0"/>
              <a:t>Information Extraction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803400"/>
            <a:ext cx="8534400" cy="4775200"/>
          </a:xfrm>
        </p:spPr>
        <p:txBody>
          <a:bodyPr/>
          <a:lstStyle/>
          <a:p>
            <a:r>
              <a:rPr lang="en-US" dirty="0" smtClean="0"/>
              <a:t>a good </a:t>
            </a:r>
            <a:r>
              <a:rPr lang="en-US" b="1" dirty="0" smtClean="0"/>
              <a:t>biography </a:t>
            </a:r>
            <a:r>
              <a:rPr lang="en-US" dirty="0" smtClean="0"/>
              <a:t>of a person contains:</a:t>
            </a:r>
          </a:p>
          <a:p>
            <a:pPr lvl="1"/>
            <a:r>
              <a:rPr lang="en-US" dirty="0" smtClean="0"/>
              <a:t>a person’s </a:t>
            </a:r>
            <a:r>
              <a:rPr lang="en-US" b="1" dirty="0" smtClean="0">
                <a:solidFill>
                  <a:srgbClr val="3366FF"/>
                </a:solidFill>
              </a:rPr>
              <a:t>birth/death, fame factor, education, nationality </a:t>
            </a:r>
            <a:r>
              <a:rPr lang="en-US" dirty="0" smtClean="0"/>
              <a:t>and so on</a:t>
            </a:r>
          </a:p>
          <a:p>
            <a:r>
              <a:rPr lang="en-US" dirty="0" smtClean="0"/>
              <a:t>a good </a:t>
            </a:r>
            <a:r>
              <a:rPr lang="en-US" b="1" dirty="0" smtClean="0"/>
              <a:t>definition </a:t>
            </a:r>
            <a:r>
              <a:rPr lang="en-US" dirty="0" smtClean="0"/>
              <a:t>contains: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genus </a:t>
            </a:r>
            <a:r>
              <a:rPr lang="en-US" dirty="0" smtClean="0"/>
              <a:t>or </a:t>
            </a:r>
            <a:r>
              <a:rPr lang="en-US" b="1" dirty="0" err="1" smtClean="0">
                <a:solidFill>
                  <a:srgbClr val="3366FF"/>
                </a:solidFill>
              </a:rPr>
              <a:t>hypernym</a:t>
            </a:r>
            <a:endParaRPr lang="en-US" b="1" dirty="0" smtClean="0">
              <a:solidFill>
                <a:srgbClr val="3366FF"/>
              </a:solidFill>
            </a:endParaRPr>
          </a:p>
          <a:p>
            <a:pPr lvl="2"/>
            <a:r>
              <a:rPr lang="en-US" i="1" dirty="0" smtClean="0"/>
              <a:t>The Hajj is a type of ritual</a:t>
            </a:r>
          </a:p>
          <a:p>
            <a:r>
              <a:rPr lang="en-US" dirty="0" smtClean="0"/>
              <a:t>a </a:t>
            </a:r>
            <a:r>
              <a:rPr lang="en-US" b="1" dirty="0" smtClean="0"/>
              <a:t>medical answer about </a:t>
            </a:r>
            <a:r>
              <a:rPr lang="en-US" b="1" dirty="0"/>
              <a:t>a</a:t>
            </a:r>
            <a:r>
              <a:rPr lang="en-US" b="1" dirty="0" smtClean="0"/>
              <a:t> drug’s use </a:t>
            </a:r>
            <a:r>
              <a:rPr lang="en-US" dirty="0" smtClean="0"/>
              <a:t>contains</a:t>
            </a:r>
            <a:r>
              <a:rPr lang="en-US" b="1" i="1" dirty="0" smtClean="0"/>
              <a:t>: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the problem </a:t>
            </a:r>
            <a:r>
              <a:rPr lang="en-US" dirty="0" smtClean="0"/>
              <a:t>(the medical condition), </a:t>
            </a:r>
          </a:p>
          <a:p>
            <a:pPr lvl="1"/>
            <a:r>
              <a:rPr lang="en-US" b="1" dirty="0" smtClean="0">
                <a:solidFill>
                  <a:srgbClr val="3366FF"/>
                </a:solidFill>
              </a:rPr>
              <a:t>the intervention </a:t>
            </a:r>
            <a:r>
              <a:rPr lang="en-US" dirty="0" smtClean="0"/>
              <a:t>(the drug or procedure), and </a:t>
            </a:r>
          </a:p>
          <a:p>
            <a:pPr lvl="1"/>
            <a:r>
              <a:rPr lang="en-US" dirty="0" smtClean="0"/>
              <a:t>the </a:t>
            </a:r>
            <a:r>
              <a:rPr lang="en-US" b="1" dirty="0" smtClean="0">
                <a:solidFill>
                  <a:srgbClr val="3366FF"/>
                </a:solidFill>
              </a:rPr>
              <a:t>outcome</a:t>
            </a:r>
            <a:r>
              <a:rPr lang="en-US" b="1" dirty="0" smtClean="0"/>
              <a:t> </a:t>
            </a:r>
            <a:r>
              <a:rPr lang="en-US" dirty="0" smtClean="0"/>
              <a:t>(the result of the study)</a:t>
            </a:r>
            <a:r>
              <a:rPr lang="en-US" b="1" dirty="0" smtClean="0"/>
              <a:t>.</a:t>
            </a:r>
            <a:endParaRPr lang="en-US" b="1" i="1" dirty="0" smtClean="0"/>
          </a:p>
          <a:p>
            <a:pPr lvl="1"/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80473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that should be in the answer for 3 kinds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2006601"/>
            <a:ext cx="8877442" cy="40893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389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" y="2514600"/>
            <a:ext cx="9044178" cy="31402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76200"/>
            <a:ext cx="7696200" cy="1143000"/>
          </a:xfrm>
        </p:spPr>
        <p:txBody>
          <a:bodyPr/>
          <a:lstStyle/>
          <a:p>
            <a:r>
              <a:rPr lang="en-US" sz="3000" dirty="0"/>
              <a:t>Architecture for complex question answering: definition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5400" y="1143000"/>
            <a:ext cx="3886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S. Blair-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Goldensohn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, K.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McKeown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 and A. </a:t>
            </a:r>
            <a:r>
              <a:rPr lang="en-US" sz="1200" dirty="0" err="1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Schlaikjer</a:t>
            </a:r>
            <a:r>
              <a:rPr lang="en-US" sz="1200" dirty="0" smtClean="0">
                <a:solidFill>
                  <a:schemeClr val="bg1">
                    <a:lumMod val="50000"/>
                  </a:schemeClr>
                </a:solidFill>
                <a:latin typeface="+mn-lt"/>
              </a:rPr>
              <a:t>. 2004. Answering Definition Questions: A Hybrid Approach</a:t>
            </a:r>
            <a:r>
              <a:rPr lang="en-US" sz="1400" dirty="0" smtClean="0">
                <a:latin typeface="+mn-lt"/>
              </a:rPr>
              <a:t>. </a:t>
            </a:r>
            <a:endParaRPr 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643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8982</TotalTime>
  <Words>1629</Words>
  <Application>Microsoft Office PowerPoint</Application>
  <PresentationFormat>On-screen Show (4:3)</PresentationFormat>
  <Paragraphs>254</Paragraphs>
  <Slides>39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ＭＳ Ｐゴシック</vt:lpstr>
      <vt:lpstr>Arial</vt:lpstr>
      <vt:lpstr>Calibri</vt:lpstr>
      <vt:lpstr>Calibri (Headings)</vt:lpstr>
      <vt:lpstr>Calibri Light</vt:lpstr>
      <vt:lpstr>Lucida Sans</vt:lpstr>
      <vt:lpstr>Math B</vt:lpstr>
      <vt:lpstr>Symbol</vt:lpstr>
      <vt:lpstr>Tahoma</vt:lpstr>
      <vt:lpstr>Times</vt:lpstr>
      <vt:lpstr>Times New Roman</vt:lpstr>
      <vt:lpstr>Office Theme</vt:lpstr>
      <vt:lpstr>Equation</vt:lpstr>
      <vt:lpstr>Microsoft Equation 3.0</vt:lpstr>
      <vt:lpstr>Microsoft Word Document</vt:lpstr>
      <vt:lpstr>Document Summarization</vt:lpstr>
      <vt:lpstr>Text Summarization</vt:lpstr>
      <vt:lpstr>What to summarize?  Single vs. multiple documents</vt:lpstr>
      <vt:lpstr>Query-focused Summarization &amp;  Generic Summarization</vt:lpstr>
      <vt:lpstr>Summarization for Question Answering: Snippets</vt:lpstr>
      <vt:lpstr>Summarization for Question Answering: Multiple documents</vt:lpstr>
      <vt:lpstr>Extractive summarization &amp;  Abstractive summarization</vt:lpstr>
      <vt:lpstr>Simple baseline: take the first sentence</vt:lpstr>
      <vt:lpstr>PowerPoint Presentation</vt:lpstr>
      <vt:lpstr>Snippets: query-focused summaries</vt:lpstr>
      <vt:lpstr>Summarization: Three Stages</vt:lpstr>
      <vt:lpstr>Basic Summarization Algorithm</vt:lpstr>
      <vt:lpstr>Unsupervised content selection</vt:lpstr>
      <vt:lpstr>Mani &amp; Bloedorn 97,99</vt:lpstr>
      <vt:lpstr>Carbonell &amp; Goldstein 98</vt:lpstr>
      <vt:lpstr>Radev et al. 00</vt:lpstr>
      <vt:lpstr>Vector-based representation</vt:lpstr>
      <vt:lpstr>Vector-based matching</vt:lpstr>
      <vt:lpstr>CIDR</vt:lpstr>
      <vt:lpstr>Centroids</vt:lpstr>
      <vt:lpstr>MEAD</vt:lpstr>
      <vt:lpstr>MEAD</vt:lpstr>
      <vt:lpstr>Topic signature-based content selection with queries</vt:lpstr>
      <vt:lpstr>Supervised content selection</vt:lpstr>
      <vt:lpstr>PowerPoint Presentation</vt:lpstr>
      <vt:lpstr>ROUGE (Recall Oriented Understudy for Gisting Evaluation) </vt:lpstr>
      <vt:lpstr>A ROUGE example: Q: “What is water spinach?”</vt:lpstr>
      <vt:lpstr>PowerPoint Presentation</vt:lpstr>
      <vt:lpstr>Definition questions</vt:lpstr>
      <vt:lpstr>Medical questions</vt:lpstr>
      <vt:lpstr>Other complex questions</vt:lpstr>
      <vt:lpstr>Answering harder questions: Query-focused multi-document summarization</vt:lpstr>
      <vt:lpstr>Query-Focused Multi-Document Summarization</vt:lpstr>
      <vt:lpstr>Simplifying sentences</vt:lpstr>
      <vt:lpstr>Maximal Marginal Relevance (MMR)</vt:lpstr>
      <vt:lpstr>Information Ordering</vt:lpstr>
      <vt:lpstr>Domain-specific answering: The Information Extraction method</vt:lpstr>
      <vt:lpstr>Information that should be in the answer for 3 kinds of questions</vt:lpstr>
      <vt:lpstr>Architecture for complex question answering: definition questions</vt:lpstr>
    </vt:vector>
  </TitlesOfParts>
  <Company>Stanford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Dingding Wang</cp:lastModifiedBy>
  <cp:revision>176</cp:revision>
  <cp:lastPrinted>2009-04-20T16:46:08Z</cp:lastPrinted>
  <dcterms:created xsi:type="dcterms:W3CDTF">2010-04-19T15:31:24Z</dcterms:created>
  <dcterms:modified xsi:type="dcterms:W3CDTF">2015-10-20T18:56:50Z</dcterms:modified>
</cp:coreProperties>
</file>