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7" r:id="rId2"/>
    <p:sldId id="302" r:id="rId3"/>
    <p:sldId id="30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8" r:id="rId22"/>
    <p:sldId id="289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282" r:id="rId42"/>
    <p:sldId id="283" r:id="rId43"/>
    <p:sldId id="284" r:id="rId44"/>
    <p:sldId id="285" r:id="rId45"/>
    <p:sldId id="286" r:id="rId46"/>
    <p:sldId id="287" r:id="rId47"/>
    <p:sldId id="304" r:id="rId48"/>
    <p:sldId id="305" r:id="rId49"/>
    <p:sldId id="306" r:id="rId50"/>
    <p:sldId id="307" r:id="rId51"/>
    <p:sldId id="308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4" autoAdjust="0"/>
    <p:restoredTop sz="94660"/>
  </p:normalViewPr>
  <p:slideViewPr>
    <p:cSldViewPr>
      <p:cViewPr varScale="1">
        <p:scale>
          <a:sx n="104" d="100"/>
          <a:sy n="104" d="100"/>
        </p:scale>
        <p:origin x="240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9F844-16F8-46F7-8687-AA51192425C9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6FA14-9AE3-44B8-8187-924464178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3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B540AB-8C69-49A2-840D-0AB8272CDC9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8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B540AB-8C69-49A2-840D-0AB8272CDC9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C8964AD-F13E-46A4-842D-FE391D1E56DA}" type="slidenum">
              <a:rPr lang="en-US" sz="1100">
                <a:latin typeface="Arial" charset="0"/>
              </a:rPr>
              <a:pPr/>
              <a:t>5</a:t>
            </a:fld>
            <a:endParaRPr lang="en-US" sz="1100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42041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ED5D96-5A62-4601-B26C-3622E342C5FB}" type="slidenum">
              <a:rPr lang="en-US" sz="1100">
                <a:latin typeface="Arial" charset="0"/>
              </a:rPr>
              <a:pPr/>
              <a:t>8</a:t>
            </a:fld>
            <a:endParaRPr lang="en-US" sz="1100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57292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FED0795-1E09-49A6-BBE9-7B3D4DC0F069}" type="slidenum">
              <a:rPr lang="en-US" sz="1100">
                <a:latin typeface="Arial" charset="0"/>
              </a:rPr>
              <a:pPr/>
              <a:t>9</a:t>
            </a:fld>
            <a:endParaRPr lang="en-US" sz="1100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39947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5D191AD-DE0A-49F3-B308-AD137882A3D9}" type="slidenum">
              <a:rPr lang="en-US" sz="1100">
                <a:latin typeface="Arial" charset="0"/>
              </a:rPr>
              <a:pPr/>
              <a:t>10</a:t>
            </a:fld>
            <a:endParaRPr lang="en-US" sz="1100">
              <a:latin typeface="Arial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84425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33516B9-ABB5-460A-8209-695501A73008}" type="slidenum">
              <a:rPr lang="en-US" sz="1100">
                <a:latin typeface="Arial" charset="0"/>
              </a:rPr>
              <a:pPr/>
              <a:t>11</a:t>
            </a:fld>
            <a:endParaRPr lang="en-US" sz="1100">
              <a:latin typeface="Arial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80588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C590FF6-224A-45C4-AC47-053A8372AAFD}" type="slidenum">
              <a:rPr lang="en-US" sz="1100">
                <a:latin typeface="Arial" charset="0"/>
              </a:rPr>
              <a:pPr/>
              <a:t>12</a:t>
            </a:fld>
            <a:endParaRPr lang="en-US" sz="1100"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17058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52FB3E3-3C36-4717-8AD9-A4233714D749}" type="slidenum">
              <a:rPr lang="en-US" sz="1100">
                <a:latin typeface="Arial" charset="0"/>
              </a:rPr>
              <a:pPr/>
              <a:t>14</a:t>
            </a:fld>
            <a:endParaRPr lang="en-US" sz="1100">
              <a:latin typeface="Arial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/>
              <a:t> 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51687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B540AB-8C69-49A2-840D-0AB8272CDC9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72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B540AB-8C69-49A2-840D-0AB8272CDC9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19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7FFE1C7-569E-4937-A2B2-20F5D83C5D59}" type="slidenum">
              <a:rPr lang="en-US" sz="1100">
                <a:latin typeface="Arial" charset="0"/>
              </a:rPr>
              <a:pPr/>
              <a:t>33</a:t>
            </a:fld>
            <a:endParaRPr lang="en-US" sz="1100">
              <a:latin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54230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CC2C289-7693-4A6E-ABB6-6552845A00B7}" type="slidenum">
              <a:rPr lang="en-US" sz="1100">
                <a:latin typeface="Arial" charset="0"/>
              </a:rPr>
              <a:pPr/>
              <a:t>34</a:t>
            </a:fld>
            <a:endParaRPr lang="en-US" sz="1100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8213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27A12A8-BC90-41FB-8968-5A99972BA276}" type="slidenum">
              <a:rPr lang="en-US" sz="1100">
                <a:latin typeface="Arial" charset="0"/>
              </a:rPr>
              <a:pPr/>
              <a:t>39</a:t>
            </a:fld>
            <a:endParaRPr lang="en-US" sz="1100">
              <a:latin typeface="Arial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 sz="600">
              <a:solidFill>
                <a:srgbClr val="0000CC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600">
              <a:solidFill>
                <a:srgbClr val="0000CC"/>
              </a:solidFill>
              <a:latin typeface="Times New Roman" pitchFamily="18" charset="0"/>
            </a:endParaRP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76860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76322">
              <a:defRPr sz="13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algn="ctr" defTabSz="876322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2B623A5-09B0-4CDF-859E-720D5FBC491A}" type="slidenum">
              <a:rPr lang="en-US" sz="1100">
                <a:latin typeface="Arial" charset="0"/>
              </a:rPr>
              <a:pPr/>
              <a:t>40</a:t>
            </a:fld>
            <a:endParaRPr lang="en-US" sz="1100">
              <a:latin typeface="Arial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87779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B540AB-8C69-49A2-840D-0AB8272CDC9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5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7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7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20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9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4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9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9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4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2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40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DC971-98C0-43B1-A671-C7CD66342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8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6CCE9-F56B-4C46-993C-A75A766F2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7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08DD-1CD7-4119-91D5-408B6A5C6A58}" type="datetimeFigureOut">
              <a:rPr lang="en-US" smtClean="0"/>
              <a:t>3/1/2017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4A7C5-A7B1-49F9-B089-BB0FF6BE0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8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jpeg"/><Relationship Id="rId16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11" Type="http://schemas.openxmlformats.org/officeDocument/2006/relationships/image" Target="../media/image27.jpeg"/><Relationship Id="rId5" Type="http://schemas.openxmlformats.org/officeDocument/2006/relationships/image" Target="../media/image21.jpeg"/><Relationship Id="rId15" Type="http://schemas.openxmlformats.org/officeDocument/2006/relationships/image" Target="../media/image31.jpe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Relationship Id="rId1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37.w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9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46.jpeg"/><Relationship Id="rId7" Type="http://schemas.openxmlformats.org/officeDocument/2006/relationships/image" Target="../media/image50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11" Type="http://schemas.openxmlformats.org/officeDocument/2006/relationships/image" Target="../media/image61.jpeg"/><Relationship Id="rId5" Type="http://schemas.openxmlformats.org/officeDocument/2006/relationships/image" Target="../media/image55.jpeg"/><Relationship Id="rId10" Type="http://schemas.openxmlformats.org/officeDocument/2006/relationships/image" Target="../media/image60.jpeg"/><Relationship Id="rId4" Type="http://schemas.openxmlformats.org/officeDocument/2006/relationships/image" Target="../media/image54.jpeg"/><Relationship Id="rId9" Type="http://schemas.openxmlformats.org/officeDocument/2006/relationships/image" Target="../media/image59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scholar.google.com/citations?user=c6PLjO4AAAAJ&amp;hl=en" TargetMode="External"/><Relationship Id="rId2" Type="http://schemas.openxmlformats.org/officeDocument/2006/relationships/hyperlink" Target="mailto:wangd@miami.edu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1806575"/>
            <a:ext cx="7086600" cy="1470025"/>
          </a:xfrm>
        </p:spPr>
        <p:txBody>
          <a:bodyPr/>
          <a:lstStyle/>
          <a:p>
            <a:pPr eaLnBrk="1" hangingPunct="1"/>
            <a:r>
              <a:rPr lang="en-US" sz="2400" b="1" dirty="0" smtClean="0">
                <a:latin typeface="Times New Roman" pitchFamily="18" charset="0"/>
              </a:rPr>
              <a:t>Document Summarization Systems</a:t>
            </a:r>
          </a:p>
        </p:txBody>
      </p:sp>
      <p:sp>
        <p:nvSpPr>
          <p:cNvPr id="2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8001000" cy="129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rPr>
              <a:t>Dingding Wang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dirty="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solidFill>
                <a:schemeClr val="tx2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solidFill>
                <a:schemeClr val="accent2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solidFill>
                <a:schemeClr val="accent2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2" name="Rectangle 7"/>
          <p:cNvSpPr>
            <a:spLocks noChangeArrowheads="1"/>
          </p:cNvSpPr>
          <p:nvPr/>
        </p:nvSpPr>
        <p:spPr bwMode="auto">
          <a:xfrm>
            <a:off x="0" y="838200"/>
            <a:ext cx="9144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75" y="5453062"/>
            <a:ext cx="3095625" cy="1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1" name="Content Placeholder 2"/>
          <p:cNvSpPr>
            <a:spLocks noGrp="1"/>
          </p:cNvSpPr>
          <p:nvPr>
            <p:ph idx="1"/>
          </p:nvPr>
        </p:nvSpPr>
        <p:spPr>
          <a:xfrm>
            <a:off x="304800" y="1074738"/>
            <a:ext cx="8686800" cy="121126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 have been pursing and will continue to purse a vigorous and competitive research agenda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Focusing on research challenges grounded in real-world problems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Studying both </a:t>
            </a:r>
            <a:r>
              <a:rPr lang="en-US" sz="1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algorithmic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issues</a:t>
            </a:r>
            <a:endParaRPr lang="en-US" altLang="zh-CN" sz="18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304800" y="2362200"/>
            <a:ext cx="8245929" cy="1603117"/>
            <a:chOff x="304800" y="2630411"/>
            <a:chExt cx="8245929" cy="1603118"/>
          </a:xfrm>
        </p:grpSpPr>
        <p:sp>
          <p:nvSpPr>
            <p:cNvPr id="319503" name="AutoShape 3"/>
            <p:cNvSpPr>
              <a:spLocks noChangeArrowheads="1"/>
            </p:cNvSpPr>
            <p:nvPr/>
          </p:nvSpPr>
          <p:spPr bwMode="auto">
            <a:xfrm>
              <a:off x="762000" y="2630411"/>
              <a:ext cx="7354888" cy="377976"/>
            </a:xfrm>
            <a:prstGeom prst="roundRect">
              <a:avLst>
                <a:gd name="adj" fmla="val 16667"/>
              </a:avLst>
            </a:prstGeom>
            <a:solidFill>
              <a:srgbClr val="91FDD6"/>
            </a:solidFill>
            <a:ln w="28575">
              <a:solidFill>
                <a:schemeClr val="accent3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1800" b="1" dirty="0">
                  <a:solidFill>
                    <a:schemeClr val="accent2"/>
                  </a:solidFill>
                  <a:cs typeface="Times New Roman" pitchFamily="18" charset="0"/>
                </a:rPr>
                <a:t>Data Mining, Information Retrieval, Machine Learning </a:t>
              </a:r>
            </a:p>
          </p:txBody>
        </p:sp>
        <p:sp>
          <p:nvSpPr>
            <p:cNvPr id="319504" name="AutoShape 5"/>
            <p:cNvSpPr>
              <a:spLocks noChangeArrowheads="1"/>
            </p:cNvSpPr>
            <p:nvPr/>
          </p:nvSpPr>
          <p:spPr bwMode="auto">
            <a:xfrm>
              <a:off x="304800" y="3544570"/>
              <a:ext cx="2817813" cy="408623"/>
            </a:xfrm>
            <a:prstGeom prst="roundRect">
              <a:avLst>
                <a:gd name="adj" fmla="val 16667"/>
              </a:avLst>
            </a:prstGeom>
            <a:solidFill>
              <a:srgbClr val="91FDD6"/>
            </a:solidFill>
            <a:ln w="28575">
              <a:solidFill>
                <a:schemeClr val="accent3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000" b="1" dirty="0">
                  <a:solidFill>
                    <a:schemeClr val="hlink"/>
                  </a:solidFill>
                  <a:latin typeface="Tahoma" pitchFamily="34" charset="0"/>
                </a:rPr>
                <a:t> </a:t>
              </a:r>
              <a:r>
                <a:rPr lang="en-US" sz="1600" b="1" dirty="0">
                  <a:solidFill>
                    <a:schemeClr val="accent2"/>
                  </a:solidFill>
                  <a:cs typeface="Times New Roman" pitchFamily="18" charset="0"/>
                </a:rPr>
                <a:t>Practical Problems</a:t>
              </a:r>
            </a:p>
          </p:txBody>
        </p:sp>
        <p:sp>
          <p:nvSpPr>
            <p:cNvPr id="319505" name="AutoShape 6"/>
            <p:cNvSpPr>
              <a:spLocks noChangeArrowheads="1"/>
            </p:cNvSpPr>
            <p:nvPr/>
          </p:nvSpPr>
          <p:spPr bwMode="auto">
            <a:xfrm>
              <a:off x="3810000" y="3886200"/>
              <a:ext cx="1981200" cy="347329"/>
            </a:xfrm>
            <a:prstGeom prst="roundRect">
              <a:avLst>
                <a:gd name="adj" fmla="val 16667"/>
              </a:avLst>
            </a:prstGeom>
            <a:solidFill>
              <a:srgbClr val="91FDD6"/>
            </a:solidFill>
            <a:ln w="28575">
              <a:solidFill>
                <a:schemeClr val="accent3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1600" b="1" dirty="0" smtClean="0">
                  <a:solidFill>
                    <a:schemeClr val="accent2"/>
                  </a:solidFill>
                  <a:cs typeface="Times New Roman" pitchFamily="18" charset="0"/>
                </a:rPr>
                <a:t>Theory/Algorithms</a:t>
              </a:r>
              <a:endParaRPr lang="en-US" sz="1600" b="1" dirty="0">
                <a:solidFill>
                  <a:schemeClr val="accent2"/>
                </a:solidFill>
                <a:cs typeface="Times New Roman" pitchFamily="18" charset="0"/>
              </a:endParaRPr>
            </a:p>
          </p:txBody>
        </p:sp>
        <p:sp>
          <p:nvSpPr>
            <p:cNvPr id="319506" name="AutoShape 7"/>
            <p:cNvSpPr>
              <a:spLocks noChangeArrowheads="1"/>
            </p:cNvSpPr>
            <p:nvPr/>
          </p:nvSpPr>
          <p:spPr bwMode="auto">
            <a:xfrm>
              <a:off x="6591300" y="3535362"/>
              <a:ext cx="1959429" cy="347663"/>
            </a:xfrm>
            <a:prstGeom prst="roundRect">
              <a:avLst>
                <a:gd name="adj" fmla="val 16667"/>
              </a:avLst>
            </a:prstGeom>
            <a:solidFill>
              <a:srgbClr val="91FDD6"/>
            </a:solidFill>
            <a:ln w="28575">
              <a:solidFill>
                <a:schemeClr val="accent3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square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1600" b="1" dirty="0" smtClean="0">
                  <a:solidFill>
                    <a:schemeClr val="accent2"/>
                  </a:solidFill>
                  <a:cs typeface="Times New Roman" pitchFamily="18" charset="0"/>
                </a:rPr>
                <a:t>Generic Tools</a:t>
              </a:r>
              <a:endParaRPr lang="en-US" sz="1600" b="1" dirty="0">
                <a:solidFill>
                  <a:schemeClr val="accent2"/>
                </a:solidFill>
                <a:cs typeface="Times New Roman" pitchFamily="18" charset="0"/>
              </a:endParaRPr>
            </a:p>
          </p:txBody>
        </p:sp>
        <p:sp>
          <p:nvSpPr>
            <p:cNvPr id="319507" name="Line 15"/>
            <p:cNvSpPr>
              <a:spLocks noChangeShapeType="1"/>
            </p:cNvSpPr>
            <p:nvPr/>
          </p:nvSpPr>
          <p:spPr bwMode="auto">
            <a:xfrm>
              <a:off x="3200400" y="3611562"/>
              <a:ext cx="335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9508" name="Line 16"/>
            <p:cNvSpPr>
              <a:spLocks noChangeShapeType="1"/>
            </p:cNvSpPr>
            <p:nvPr/>
          </p:nvSpPr>
          <p:spPr bwMode="auto">
            <a:xfrm rot="-1766115">
              <a:off x="5867400" y="3992562"/>
              <a:ext cx="6858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9509" name="Line 17"/>
            <p:cNvSpPr>
              <a:spLocks noChangeShapeType="1"/>
            </p:cNvSpPr>
            <p:nvPr/>
          </p:nvSpPr>
          <p:spPr bwMode="auto">
            <a:xfrm rot="1894891" flipH="1">
              <a:off x="3124200" y="3992562"/>
              <a:ext cx="6858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9510" name="Line 18"/>
            <p:cNvSpPr>
              <a:spLocks noChangeShapeType="1"/>
            </p:cNvSpPr>
            <p:nvPr/>
          </p:nvSpPr>
          <p:spPr bwMode="auto">
            <a:xfrm>
              <a:off x="4724400" y="3154362"/>
              <a:ext cx="0" cy="3810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9511" name="Line 19"/>
            <p:cNvSpPr>
              <a:spLocks noChangeShapeType="1"/>
            </p:cNvSpPr>
            <p:nvPr/>
          </p:nvSpPr>
          <p:spPr bwMode="auto">
            <a:xfrm>
              <a:off x="6934200" y="3154362"/>
              <a:ext cx="0" cy="3810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9512" name="Line 20"/>
            <p:cNvSpPr>
              <a:spLocks noChangeShapeType="1"/>
            </p:cNvSpPr>
            <p:nvPr/>
          </p:nvSpPr>
          <p:spPr bwMode="auto">
            <a:xfrm>
              <a:off x="2743200" y="3154362"/>
              <a:ext cx="0" cy="3810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334963" y="3905326"/>
            <a:ext cx="2927350" cy="2344514"/>
            <a:chOff x="96" y="2013"/>
            <a:chExt cx="2096" cy="2016"/>
          </a:xfrm>
        </p:grpSpPr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128" y="2070"/>
              <a:ext cx="2064" cy="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b="1" dirty="0">
                  <a:solidFill>
                    <a:srgbClr val="FF0000"/>
                  </a:solidFill>
                  <a:cs typeface="Times New Roman" pitchFamily="18" charset="0"/>
                </a:rPr>
                <a:t>Applications:</a:t>
              </a:r>
              <a:endParaRPr lang="en-US" dirty="0">
                <a:solidFill>
                  <a:srgbClr val="FF0000"/>
                </a:solidFill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Web mining</a:t>
              </a:r>
              <a:r>
                <a:rPr lang="en-US" sz="1200" dirty="0" smtClean="0">
                  <a:cs typeface="Times New Roman" pitchFamily="18" charset="0"/>
                </a:rPr>
                <a:t> </a:t>
              </a:r>
              <a:r>
                <a:rPr lang="en-US" sz="1200" b="1" dirty="0" smtClean="0">
                  <a:cs typeface="Times New Roman" pitchFamily="18" charset="0"/>
                </a:rPr>
                <a:t> 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Bioinformatics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Music information </a:t>
              </a:r>
              <a:r>
                <a:rPr lang="en-US" sz="1200" b="1" dirty="0">
                  <a:cs typeface="Times New Roman" pitchFamily="18" charset="0"/>
                </a:rPr>
                <a:t>r</a:t>
              </a:r>
              <a:r>
                <a:rPr lang="en-US" sz="1200" b="1" dirty="0" smtClean="0">
                  <a:cs typeface="Times New Roman" pitchFamily="18" charset="0"/>
                </a:rPr>
                <a:t>etrieval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Social </a:t>
              </a:r>
              <a:r>
                <a:rPr lang="en-US" sz="1200" b="1" dirty="0">
                  <a:cs typeface="Times New Roman" pitchFamily="18" charset="0"/>
                </a:rPr>
                <a:t>m</a:t>
              </a:r>
              <a:r>
                <a:rPr lang="en-US" sz="1200" b="1" dirty="0" smtClean="0">
                  <a:cs typeface="Times New Roman" pitchFamily="18" charset="0"/>
                </a:rPr>
                <a:t>edia </a:t>
              </a:r>
              <a:r>
                <a:rPr lang="en-US" sz="1200" b="1" dirty="0">
                  <a:cs typeface="Times New Roman" pitchFamily="18" charset="0"/>
                </a:rPr>
                <a:t>a</a:t>
              </a:r>
              <a:r>
                <a:rPr lang="en-US" sz="1200" b="1" dirty="0" smtClean="0">
                  <a:cs typeface="Times New Roman" pitchFamily="18" charset="0"/>
                </a:rPr>
                <a:t>nalytics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Disaster </a:t>
              </a:r>
              <a:r>
                <a:rPr lang="en-US" sz="1200" b="1" dirty="0">
                  <a:cs typeface="Times New Roman" pitchFamily="18" charset="0"/>
                </a:rPr>
                <a:t>m</a:t>
              </a:r>
              <a:r>
                <a:rPr lang="en-US" sz="1200" b="1" dirty="0" smtClean="0">
                  <a:cs typeface="Times New Roman" pitchFamily="18" charset="0"/>
                </a:rPr>
                <a:t>anagement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System </a:t>
              </a:r>
              <a:r>
                <a:rPr lang="en-US" sz="1200" b="1" dirty="0">
                  <a:cs typeface="Times New Roman" pitchFamily="18" charset="0"/>
                </a:rPr>
                <a:t>a</a:t>
              </a:r>
              <a:r>
                <a:rPr lang="en-US" sz="1200" b="1" dirty="0" smtClean="0">
                  <a:cs typeface="Times New Roman" pitchFamily="18" charset="0"/>
                </a:rPr>
                <a:t>nalytics</a:t>
              </a:r>
              <a:endParaRPr lang="en-US" sz="1200" dirty="0"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Cloud analytics </a:t>
              </a:r>
              <a:endParaRPr lang="en-US" sz="1200" b="1" dirty="0"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Health care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/>
              </a:pPr>
              <a:r>
                <a:rPr lang="en-US" sz="1200" b="1" dirty="0" smtClean="0">
                  <a:cs typeface="Times New Roman" pitchFamily="18" charset="0"/>
                </a:rPr>
                <a:t> Sustainability</a:t>
              </a:r>
              <a:endParaRPr lang="en-US" sz="1200" dirty="0">
                <a:cs typeface="Times New Roman" pitchFamily="18" charset="0"/>
              </a:endParaRPr>
            </a:p>
          </p:txBody>
        </p:sp>
        <p:sp>
          <p:nvSpPr>
            <p:cNvPr id="319502" name="Rectangle 23"/>
            <p:cNvSpPr>
              <a:spLocks noChangeArrowheads="1"/>
            </p:cNvSpPr>
            <p:nvPr/>
          </p:nvSpPr>
          <p:spPr bwMode="auto">
            <a:xfrm>
              <a:off x="96" y="2013"/>
              <a:ext cx="2064" cy="2016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" name="Group 8"/>
          <p:cNvGrpSpPr>
            <a:grpSpLocks/>
          </p:cNvGrpSpPr>
          <p:nvPr/>
        </p:nvGrpSpPr>
        <p:grpSpPr bwMode="auto">
          <a:xfrm>
            <a:off x="6509326" y="4124821"/>
            <a:ext cx="2634674" cy="2366273"/>
            <a:chOff x="5408" y="-790"/>
            <a:chExt cx="1600" cy="3235"/>
          </a:xfrm>
        </p:grpSpPr>
        <p:sp>
          <p:nvSpPr>
            <p:cNvPr id="319499" name="Rectangle 9"/>
            <p:cNvSpPr>
              <a:spLocks noChangeArrowheads="1"/>
            </p:cNvSpPr>
            <p:nvPr/>
          </p:nvSpPr>
          <p:spPr bwMode="auto">
            <a:xfrm>
              <a:off x="5408" y="-790"/>
              <a:ext cx="1536" cy="2016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9500" name="Rectangle 10"/>
            <p:cNvSpPr>
              <a:spLocks noChangeArrowheads="1"/>
            </p:cNvSpPr>
            <p:nvPr/>
          </p:nvSpPr>
          <p:spPr bwMode="auto">
            <a:xfrm>
              <a:off x="5408" y="-736"/>
              <a:ext cx="1600" cy="3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b="1" dirty="0">
                  <a:solidFill>
                    <a:schemeClr val="hlink"/>
                  </a:solidFill>
                  <a:cs typeface="Times New Roman" pitchFamily="18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cs typeface="Times New Roman" pitchFamily="18" charset="0"/>
                </a:rPr>
                <a:t>Tools and Libraries:</a:t>
              </a:r>
              <a:r>
                <a:rPr lang="en-US" b="1" dirty="0">
                  <a:solidFill>
                    <a:schemeClr val="hlink"/>
                  </a:solidFill>
                  <a:cs typeface="Times New Roman" pitchFamily="18" charset="0"/>
                </a:rPr>
                <a:t> </a:t>
              </a:r>
              <a:endParaRPr lang="en-US" b="1" dirty="0" smtClean="0">
                <a:solidFill>
                  <a:schemeClr val="hlink"/>
                </a:solidFill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 smtClean="0">
                  <a:cs typeface="Times New Roman" pitchFamily="18" charset="0"/>
                </a:rPr>
                <a:t> </a:t>
              </a:r>
              <a:r>
                <a:rPr lang="en-US" sz="1200" b="1" dirty="0" err="1" smtClean="0">
                  <a:cs typeface="Times New Roman" pitchFamily="18" charset="0"/>
                </a:rPr>
                <a:t>SumView</a:t>
              </a:r>
              <a:r>
                <a:rPr lang="en-US" sz="1200" b="1" dirty="0">
                  <a:cs typeface="Times New Roman" pitchFamily="18" charset="0"/>
                </a:rPr>
                <a:t>: Online </a:t>
              </a:r>
              <a:r>
                <a:rPr lang="en-US" sz="1200" b="1" dirty="0" smtClean="0">
                  <a:cs typeface="Times New Roman" pitchFamily="18" charset="0"/>
                </a:rPr>
                <a:t>product review </a:t>
              </a:r>
              <a:endParaRPr lang="en-US" sz="1200" b="1" dirty="0"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 smtClean="0">
                  <a:cs typeface="Times New Roman" pitchFamily="18" charset="0"/>
                </a:rPr>
                <a:t> </a:t>
              </a:r>
              <a:r>
                <a:rPr lang="en-US" sz="1200" b="1" dirty="0" err="1" smtClean="0">
                  <a:cs typeface="Times New Roman" pitchFamily="18" charset="0"/>
                </a:rPr>
                <a:t>iHelp</a:t>
              </a:r>
              <a:r>
                <a:rPr lang="en-US" sz="1200" b="1" dirty="0">
                  <a:cs typeface="Times New Roman" pitchFamily="18" charset="0"/>
                </a:rPr>
                <a:t>: Intelligent </a:t>
              </a:r>
              <a:r>
                <a:rPr lang="en-US" sz="1200" b="1" dirty="0" smtClean="0">
                  <a:cs typeface="Times New Roman" pitchFamily="18" charset="0"/>
                </a:rPr>
                <a:t>helpdesk </a:t>
              </a:r>
              <a:endParaRPr lang="en-US" b="1" dirty="0">
                <a:cs typeface="Times New Roman" pitchFamily="18" charset="0"/>
              </a:endParaRP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>
                  <a:cs typeface="Times New Roman" pitchFamily="18" charset="0"/>
                </a:rPr>
                <a:t> Malware scanners</a:t>
              </a: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>
                  <a:cs typeface="Times New Roman" pitchFamily="18" charset="0"/>
                </a:rPr>
                <a:t> LIBGS: Gene Selection  </a:t>
              </a: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>
                  <a:cs typeface="Times New Roman" pitchFamily="18" charset="0"/>
                </a:rPr>
                <a:t> Twitter Event Summarization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endParaRPr lang="en-US" sz="1200" b="1" dirty="0">
                <a:cs typeface="Times New Roman" pitchFamily="18" charset="0"/>
              </a:endParaRP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endParaRPr lang="en-US" sz="1100" b="1" dirty="0">
                <a:latin typeface="Tahoma" pitchFamily="34" charset="0"/>
              </a:endParaRP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endParaRPr lang="en-US" sz="1100" b="1" dirty="0">
                <a:latin typeface="Tahoma" pitchFamily="34" charset="0"/>
              </a:endParaRPr>
            </a:p>
            <a:p>
              <a:pPr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endParaRPr lang="en-US" sz="1200" b="1" dirty="0">
                <a:latin typeface="Tahoma" pitchFamily="34" charset="0"/>
              </a:endParaRPr>
            </a:p>
          </p:txBody>
        </p:sp>
      </p:grpSp>
      <p:grpSp>
        <p:nvGrpSpPr>
          <p:cNvPr id="23" name="Group 11"/>
          <p:cNvGrpSpPr>
            <a:grpSpLocks/>
          </p:cNvGrpSpPr>
          <p:nvPr/>
        </p:nvGrpSpPr>
        <p:grpSpPr bwMode="auto">
          <a:xfrm>
            <a:off x="3429000" y="4074901"/>
            <a:ext cx="3047876" cy="1799297"/>
            <a:chOff x="2136" y="2294"/>
            <a:chExt cx="1680" cy="2016"/>
          </a:xfrm>
        </p:grpSpPr>
        <p:sp>
          <p:nvSpPr>
            <p:cNvPr id="319496" name="Rectangle 12"/>
            <p:cNvSpPr>
              <a:spLocks noChangeArrowheads="1"/>
            </p:cNvSpPr>
            <p:nvPr/>
          </p:nvSpPr>
          <p:spPr bwMode="auto">
            <a:xfrm>
              <a:off x="2136" y="2294"/>
              <a:ext cx="1584" cy="2016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9497" name="Rectangle 13"/>
            <p:cNvSpPr>
              <a:spLocks noChangeArrowheads="1"/>
            </p:cNvSpPr>
            <p:nvPr/>
          </p:nvSpPr>
          <p:spPr bwMode="auto">
            <a:xfrm>
              <a:off x="2388" y="2407"/>
              <a:ext cx="100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b="1" dirty="0">
                  <a:solidFill>
                    <a:srgbClr val="FF0000"/>
                  </a:solidFill>
                  <a:cs typeface="Times New Roman" pitchFamily="18" charset="0"/>
                </a:rPr>
                <a:t>Research</a:t>
              </a:r>
              <a:r>
                <a:rPr lang="en-US" b="1" dirty="0">
                  <a:solidFill>
                    <a:schemeClr val="hlink"/>
                  </a:solidFill>
                  <a:cs typeface="Times New Roman" pitchFamily="18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cs typeface="Times New Roman" pitchFamily="18" charset="0"/>
                </a:rPr>
                <a:t>Issues:</a:t>
              </a:r>
              <a:r>
                <a:rPr lang="en-US" b="1" dirty="0">
                  <a:solidFill>
                    <a:schemeClr val="hlink"/>
                  </a:solidFill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498" name="Rectangle 14"/>
            <p:cNvSpPr>
              <a:spLocks noChangeArrowheads="1"/>
            </p:cNvSpPr>
            <p:nvPr/>
          </p:nvSpPr>
          <p:spPr bwMode="auto">
            <a:xfrm>
              <a:off x="2136" y="2482"/>
              <a:ext cx="1680" cy="1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5000"/>
                </a:lnSpc>
                <a:spcBef>
                  <a:spcPct val="50000"/>
                </a:spcBef>
                <a:buClr>
                  <a:schemeClr val="hlink"/>
                </a:buClr>
                <a:buSzPct val="55000"/>
              </a:pPr>
              <a:endParaRPr lang="en-US" altLang="zh-CN" sz="1400" b="1" dirty="0" smtClean="0"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5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altLang="zh-CN" sz="1200" b="1" dirty="0" smtClean="0">
                  <a:cs typeface="Times New Roman" pitchFamily="18" charset="0"/>
                </a:rPr>
                <a:t> Matrix-based learning  framework</a:t>
              </a:r>
              <a:endParaRPr lang="en-US" sz="1200" b="1" dirty="0">
                <a:cs typeface="Times New Roman" pitchFamily="18" charset="0"/>
              </a:endParaRP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>
                  <a:cs typeface="Times New Roman" pitchFamily="18" charset="0"/>
                </a:rPr>
                <a:t> Learning from heterogeneous data </a:t>
              </a:r>
              <a:r>
                <a:rPr lang="en-US" sz="1200" b="1" dirty="0" smtClean="0">
                  <a:cs typeface="Times New Roman" pitchFamily="18" charset="0"/>
                </a:rPr>
                <a:t>types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 smtClean="0">
                  <a:cs typeface="Times New Roman" pitchFamily="18" charset="0"/>
                </a:rPr>
                <a:t> Large-scale </a:t>
              </a:r>
              <a:r>
                <a:rPr lang="en-US" sz="1200" b="1" dirty="0">
                  <a:cs typeface="Times New Roman" pitchFamily="18" charset="0"/>
                </a:rPr>
                <a:t>data </a:t>
              </a:r>
              <a:r>
                <a:rPr lang="en-US" sz="1200" b="1" dirty="0" smtClean="0">
                  <a:cs typeface="Times New Roman" pitchFamily="18" charset="0"/>
                </a:rPr>
                <a:t>analysis</a:t>
              </a:r>
            </a:p>
            <a:p>
              <a:pPr algn="l">
                <a:lnSpc>
                  <a:spcPct val="95000"/>
                </a:lnSpc>
                <a:spcBef>
                  <a:spcPct val="25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 smtClean="0">
                  <a:cs typeface="Times New Roman" pitchFamily="18" charset="0"/>
                </a:rPr>
                <a:t> Stream </a:t>
              </a:r>
              <a:r>
                <a:rPr lang="en-US" sz="1200" b="1" dirty="0">
                  <a:cs typeface="Times New Roman" pitchFamily="18" charset="0"/>
                </a:rPr>
                <a:t>data mining </a:t>
              </a:r>
            </a:p>
            <a:p>
              <a:pPr algn="l">
                <a:lnSpc>
                  <a:spcPct val="95000"/>
                </a:lnSpc>
                <a:spcBef>
                  <a:spcPct val="5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</a:pPr>
              <a:r>
                <a:rPr lang="en-US" sz="1200" b="1" dirty="0" smtClean="0">
                  <a:cs typeface="Times New Roman" pitchFamily="18" charset="0"/>
                </a:rPr>
                <a:t> Incremental/Online learning </a:t>
              </a:r>
              <a:endParaRPr lang="en-US" sz="1200" b="1" dirty="0">
                <a:cs typeface="Times New Roman" pitchFamily="18" charset="0"/>
              </a:endParaRPr>
            </a:p>
          </p:txBody>
        </p:sp>
      </p:grp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 dirty="0" smtClean="0">
                <a:solidFill>
                  <a:schemeClr val="tx2"/>
                </a:solidFill>
                <a:ea typeface="宋体" pitchFamily="2" charset="-122"/>
              </a:rPr>
              <a:t>My </a:t>
            </a:r>
            <a:r>
              <a:rPr lang="en-US" altLang="zh-CN" sz="2000" b="1" smtClean="0">
                <a:solidFill>
                  <a:schemeClr val="tx2"/>
                </a:solidFill>
                <a:ea typeface="宋体" pitchFamily="2" charset="-122"/>
              </a:rPr>
              <a:t>Research Overview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57200" y="762000"/>
            <a:ext cx="3124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91" y="304800"/>
            <a:ext cx="1333709" cy="64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Outline</a:t>
            </a:r>
            <a:endParaRPr lang="en-US" sz="2400" b="1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65662" y="782308"/>
            <a:ext cx="3124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9600" y="1295400"/>
            <a:ext cx="8077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Document Summarization Systems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Introduction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Existing Techniques</a:t>
            </a:r>
          </a:p>
          <a:p>
            <a:pPr lvl="1"/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New Summarization Methods to Improve System Performance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Incorporating Semantic Analysis and Its Application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Semi-Supervised Solution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Ensemble Solution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Evolution Related Novel Problems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Comparative Summarization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Update Summarization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Storyline Generation</a:t>
            </a:r>
          </a:p>
        </p:txBody>
      </p:sp>
    </p:spTree>
    <p:extLst>
      <p:ext uri="{BB962C8B-B14F-4D97-AF65-F5344CB8AC3E}">
        <p14:creationId xmlns:p14="http://schemas.microsoft.com/office/powerpoint/2010/main" val="182037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85356" y="1564281"/>
            <a:ext cx="2888449" cy="493119"/>
            <a:chOff x="1353421" y="64"/>
            <a:chExt cx="4070193" cy="797919"/>
          </a:xfrm>
          <a:solidFill>
            <a:schemeClr val="accent2"/>
          </a:solidFill>
        </p:grpSpPr>
        <p:sp>
          <p:nvSpPr>
            <p:cNvPr id="15" name="Rounded Rectangle 14"/>
            <p:cNvSpPr/>
            <p:nvPr/>
          </p:nvSpPr>
          <p:spPr>
            <a:xfrm>
              <a:off x="1353421" y="64"/>
              <a:ext cx="4070193" cy="797919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376791" y="23434"/>
              <a:ext cx="4023453" cy="751179"/>
            </a:xfrm>
            <a:prstGeom prst="rect">
              <a:avLst/>
            </a:prstGeom>
            <a:solidFill>
              <a:srgbClr val="0033CC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Huge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Number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of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Users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in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Social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Media</a:t>
              </a:r>
              <a:endParaRPr lang="en-US" sz="1800" kern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702422" y="2133600"/>
            <a:ext cx="489855" cy="493119"/>
          </a:xfrm>
          <a:prstGeom prst="roundRect">
            <a:avLst>
              <a:gd name="adj" fmla="val 16670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1219200" y="2133600"/>
            <a:ext cx="2354605" cy="493119"/>
            <a:chOff x="2199216" y="941609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Rounded Rectangle 12"/>
            <p:cNvSpPr/>
            <p:nvPr/>
          </p:nvSpPr>
          <p:spPr>
            <a:xfrm>
              <a:off x="2199216" y="941609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ounded Rectangle 7"/>
            <p:cNvSpPr/>
            <p:nvPr/>
          </p:nvSpPr>
          <p:spPr>
            <a:xfrm>
              <a:off x="2238174" y="980567"/>
              <a:ext cx="3146482" cy="72000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1.23 billion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702422" y="3383177"/>
            <a:ext cx="489855" cy="493119"/>
          </a:xfrm>
          <a:prstGeom prst="roundRect">
            <a:avLst>
              <a:gd name="adj" fmla="val 16670"/>
            </a:avLst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00" r="-3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6" name="Group 5"/>
          <p:cNvGrpSpPr/>
          <p:nvPr/>
        </p:nvGrpSpPr>
        <p:grpSpPr>
          <a:xfrm>
            <a:off x="1219200" y="3347258"/>
            <a:ext cx="2354605" cy="493119"/>
            <a:chOff x="2199216" y="2728948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1" name="Rounded Rectangle 10"/>
            <p:cNvSpPr/>
            <p:nvPr/>
          </p:nvSpPr>
          <p:spPr>
            <a:xfrm>
              <a:off x="2199216" y="2728948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10"/>
            <p:cNvSpPr/>
            <p:nvPr/>
          </p:nvSpPr>
          <p:spPr>
            <a:xfrm>
              <a:off x="2238174" y="2767906"/>
              <a:ext cx="3146482" cy="72000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270</a:t>
              </a:r>
              <a:r>
                <a:rPr lang="zh-CN" alt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million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701941" y="2779119"/>
            <a:ext cx="490336" cy="493119"/>
          </a:xfrm>
          <a:prstGeom prst="roundRect">
            <a:avLst>
              <a:gd name="adj" fmla="val 16670"/>
            </a:avLst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000" r="-36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8" name="Group 7"/>
          <p:cNvGrpSpPr/>
          <p:nvPr/>
        </p:nvGrpSpPr>
        <p:grpSpPr>
          <a:xfrm>
            <a:off x="1219200" y="2737658"/>
            <a:ext cx="2354605" cy="493119"/>
            <a:chOff x="2199216" y="4516287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9" name="Rounded Rectangle 8"/>
            <p:cNvSpPr/>
            <p:nvPr/>
          </p:nvSpPr>
          <p:spPr>
            <a:xfrm>
              <a:off x="2199216" y="4516287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13"/>
            <p:cNvSpPr/>
            <p:nvPr/>
          </p:nvSpPr>
          <p:spPr>
            <a:xfrm>
              <a:off x="2257034" y="4555244"/>
              <a:ext cx="3146482" cy="72000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200</a:t>
              </a:r>
              <a:r>
                <a:rPr lang="zh-CN" alt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million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029644" y="1524000"/>
            <a:ext cx="2354605" cy="493119"/>
            <a:chOff x="1353421" y="64"/>
            <a:chExt cx="4070193" cy="797919"/>
          </a:xfrm>
          <a:solidFill>
            <a:schemeClr val="accent2"/>
          </a:solidFill>
        </p:grpSpPr>
        <p:sp>
          <p:nvSpPr>
            <p:cNvPr id="18" name="Rounded Rectangle 17"/>
            <p:cNvSpPr/>
            <p:nvPr/>
          </p:nvSpPr>
          <p:spPr>
            <a:xfrm>
              <a:off x="1353421" y="64"/>
              <a:ext cx="4070193" cy="797919"/>
            </a:xfrm>
            <a:prstGeom prst="roundRect">
              <a:avLst>
                <a:gd name="adj" fmla="val 10000"/>
              </a:avLst>
            </a:prstGeom>
            <a:solidFill>
              <a:srgbClr val="0033CC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376792" y="88613"/>
              <a:ext cx="4023453" cy="685999"/>
            </a:xfrm>
            <a:prstGeom prst="rect">
              <a:avLst/>
            </a:prstGeom>
            <a:solidFill>
              <a:srgbClr val="0033CC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Huge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Number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of</a:t>
              </a:r>
              <a:r>
                <a:rPr lang="zh-CN" altLang="en-US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kern="1200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Text Data</a:t>
              </a:r>
              <a:endParaRPr lang="en-US" sz="1800" kern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029644" y="2093319"/>
            <a:ext cx="2354605" cy="493119"/>
            <a:chOff x="2199216" y="941609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" name="Rounded Rectangle 20"/>
            <p:cNvSpPr/>
            <p:nvPr/>
          </p:nvSpPr>
          <p:spPr>
            <a:xfrm>
              <a:off x="2199216" y="941609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ounded Rectangle 7"/>
            <p:cNvSpPr/>
            <p:nvPr/>
          </p:nvSpPr>
          <p:spPr>
            <a:xfrm>
              <a:off x="2238174" y="980567"/>
              <a:ext cx="3146482" cy="72000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500TB/day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029644" y="3306977"/>
            <a:ext cx="2354605" cy="493119"/>
            <a:chOff x="2199216" y="2728948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4" name="Rounded Rectangle 23"/>
            <p:cNvSpPr/>
            <p:nvPr/>
          </p:nvSpPr>
          <p:spPr>
            <a:xfrm>
              <a:off x="2199216" y="2728948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ounded Rectangle 10"/>
            <p:cNvSpPr/>
            <p:nvPr/>
          </p:nvSpPr>
          <p:spPr>
            <a:xfrm>
              <a:off x="2238174" y="2767906"/>
              <a:ext cx="3146482" cy="72000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zh-CN" alt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billion messages/day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29644" y="2697377"/>
            <a:ext cx="2354605" cy="493119"/>
            <a:chOff x="2199216" y="4516287"/>
            <a:chExt cx="3224398" cy="79791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7" name="Rounded Rectangle 26"/>
            <p:cNvSpPr/>
            <p:nvPr/>
          </p:nvSpPr>
          <p:spPr>
            <a:xfrm>
              <a:off x="2199216" y="4516287"/>
              <a:ext cx="3224398" cy="797919"/>
            </a:xfrm>
            <a:prstGeom prst="roundRect">
              <a:avLst>
                <a:gd name="adj" fmla="val 16670"/>
              </a:avLst>
            </a:prstGeom>
            <a:grpFill/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13"/>
            <p:cNvSpPr/>
            <p:nvPr/>
          </p:nvSpPr>
          <p:spPr>
            <a:xfrm>
              <a:off x="2257033" y="4590433"/>
              <a:ext cx="3146482" cy="6266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4480" tIns="284480" rIns="284480" bIns="28448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340</a:t>
              </a:r>
              <a:r>
                <a:rPr lang="zh-CN" altLang="en-US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b="1" kern="12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million tweets/day</a:t>
              </a:r>
              <a:endParaRPr lang="en-US" sz="1800" b="1" kern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9" name="Right Arrow 28"/>
          <p:cNvSpPr/>
          <p:nvPr/>
        </p:nvSpPr>
        <p:spPr bwMode="auto">
          <a:xfrm>
            <a:off x="3962400" y="2697377"/>
            <a:ext cx="762000" cy="43312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Rectangle 7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</a:rPr>
              <a:t>Motivation</a:t>
            </a:r>
            <a:endParaRPr lang="en-US" sz="2400" b="1" dirty="0" smtClean="0">
              <a:latin typeface="Times New Roman" pitchFamily="18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465662" y="782308"/>
            <a:ext cx="3124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85356" y="4572000"/>
            <a:ext cx="777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accent2"/>
                </a:solidFill>
              </a:rPr>
              <a:t>Document understanding</a:t>
            </a:r>
            <a:r>
              <a:rPr lang="en-US" sz="1800" dirty="0" smtClean="0">
                <a:solidFill>
                  <a:schemeClr val="tx2"/>
                </a:solidFill>
              </a:rPr>
              <a:t> –  discovers </a:t>
            </a:r>
            <a:r>
              <a:rPr lang="en-US" sz="1800" dirty="0">
                <a:solidFill>
                  <a:schemeClr val="tx2"/>
                </a:solidFill>
              </a:rPr>
              <a:t>useful and meaningful information from large scale documents</a:t>
            </a:r>
            <a:r>
              <a:rPr lang="en-US" sz="1800" dirty="0" smtClean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698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</a:rPr>
              <a:t>Document Summarization</a:t>
            </a:r>
            <a:endParaRPr lang="en-US" sz="2400" b="1" dirty="0" smtClean="0">
              <a:latin typeface="Times New Roman" pitchFamily="18" charset="0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57199" y="1066800"/>
            <a:ext cx="3668713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Multi-Document Summarization </a:t>
            </a:r>
            <a:r>
              <a:rPr lang="en-US" altLang="zh-CN" sz="1800" b="1" dirty="0" smtClean="0">
                <a:latin typeface="Times New Roman" pitchFamily="18" charset="0"/>
                <a:ea typeface="宋体" pitchFamily="2" charset="-122"/>
              </a:rPr>
              <a:t>-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generates a summary by reducing documents  in size while retaining the main or query-based characteristics of the original documents.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CN" sz="1600" dirty="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600" dirty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  <a:endParaRPr lang="en-US" altLang="zh-CN" sz="1800" dirty="0">
              <a:solidFill>
                <a:schemeClr val="accent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pitchFamily="2" charset="-122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828800" y="173038"/>
            <a:ext cx="5724525" cy="340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742950" lvl="1" indent="-285750" eaLnBrk="1" hangingPunct="1">
              <a:spcBef>
                <a:spcPct val="20000"/>
              </a:spcBef>
            </a:pPr>
            <a:endParaRPr lang="en-US" altLang="zh-CN" sz="2400" b="1">
              <a:latin typeface="Arial" charset="0"/>
              <a:ea typeface="宋体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</a:pPr>
            <a:endParaRPr lang="zh-CN" altLang="en-US" sz="2400" b="1">
              <a:latin typeface="Arial" charset="0"/>
              <a:ea typeface="宋体" pitchFamily="2" charset="-122"/>
            </a:endParaRP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4003675" y="2514600"/>
            <a:ext cx="1241425" cy="1385888"/>
          </a:xfrm>
          <a:prstGeom prst="bracketPair">
            <a:avLst>
              <a:gd name="adj" fmla="val 16667"/>
            </a:avLst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125913" y="3130550"/>
            <a:ext cx="989012" cy="125413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125913" y="3359150"/>
            <a:ext cx="989012" cy="125413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4125913" y="3587750"/>
            <a:ext cx="989012" cy="125413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125913" y="2901950"/>
            <a:ext cx="989012" cy="125413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3950752" y="3892550"/>
            <a:ext cx="1436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/>
            <a:r>
              <a:rPr lang="en-US" altLang="zh-CN" sz="1200" b="1" dirty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sentences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4125913" y="2673350"/>
            <a:ext cx="989012" cy="125413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" name="Documents"/>
          <p:cNvSpPr>
            <a:spLocks noEditPoints="1" noChangeArrowheads="1"/>
          </p:cNvSpPr>
          <p:nvPr/>
        </p:nvSpPr>
        <p:spPr bwMode="auto">
          <a:xfrm>
            <a:off x="2590800" y="2749550"/>
            <a:ext cx="533400" cy="7620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2147483647 w 21600"/>
              <a:gd name="T17" fmla="*/ 0 h 21600"/>
              <a:gd name="T18" fmla="*/ 2147483647 w 21600"/>
              <a:gd name="T19" fmla="*/ 0 h 21600"/>
              <a:gd name="T20" fmla="*/ 0 w 21600"/>
              <a:gd name="T21" fmla="*/ 2147483647 h 21600"/>
              <a:gd name="T22" fmla="*/ 2147483647 w 21600"/>
              <a:gd name="T23" fmla="*/ 2147483647 h 216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1645 w 21600"/>
              <a:gd name="T37" fmla="*/ 4171 h 21600"/>
              <a:gd name="T38" fmla="*/ 16522 w 21600"/>
              <a:gd name="T39" fmla="*/ 17314 h 216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utoShape 13"/>
          <p:cNvSpPr>
            <a:spLocks noChangeArrowheads="1"/>
          </p:cNvSpPr>
          <p:nvPr/>
        </p:nvSpPr>
        <p:spPr bwMode="auto">
          <a:xfrm>
            <a:off x="3352800" y="3054350"/>
            <a:ext cx="457200" cy="2286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utoShape 25"/>
          <p:cNvSpPr>
            <a:spLocks noChangeArrowheads="1"/>
          </p:cNvSpPr>
          <p:nvPr/>
        </p:nvSpPr>
        <p:spPr bwMode="auto">
          <a:xfrm>
            <a:off x="5867400" y="2673350"/>
            <a:ext cx="457200" cy="609600"/>
          </a:xfrm>
          <a:prstGeom prst="flowChartDocumen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 flipV="1">
            <a:off x="5410200" y="282575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5410200" y="27495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133600" y="3886200"/>
            <a:ext cx="1436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/>
            <a:r>
              <a:rPr lang="en-US" altLang="zh-CN" sz="1200" b="1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documents</a:t>
            </a:r>
            <a:endParaRPr lang="en-US" altLang="zh-CN" sz="1200" b="1" dirty="0">
              <a:solidFill>
                <a:schemeClr val="accent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5345113" y="3886200"/>
            <a:ext cx="1436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/>
            <a:r>
              <a:rPr lang="en-US" altLang="zh-CN" sz="1200" b="1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summary</a:t>
            </a:r>
            <a:endParaRPr lang="en-US" altLang="zh-CN" sz="1200" b="1" dirty="0">
              <a:solidFill>
                <a:schemeClr val="accent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50" y="4953000"/>
            <a:ext cx="2440950" cy="1447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5114035"/>
            <a:ext cx="2003623" cy="12105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281" y="5221287"/>
            <a:ext cx="1793750" cy="91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9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066800"/>
            <a:ext cx="8001000" cy="595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altLang="zh-CN" sz="1800" dirty="0" smtClean="0">
              <a:solidFill>
                <a:schemeClr val="accent2"/>
              </a:solidFill>
              <a:ea typeface="宋体" pitchFamily="2" charset="-122"/>
            </a:endParaRPr>
          </a:p>
          <a:p>
            <a:pPr algn="l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altLang="zh-CN" sz="1800" dirty="0">
              <a:solidFill>
                <a:schemeClr val="accent2"/>
              </a:solidFill>
              <a:ea typeface="宋体" pitchFamily="2" charset="-122"/>
            </a:endParaRPr>
          </a:p>
          <a:p>
            <a:pPr algn="l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ea typeface="宋体" pitchFamily="2" charset="-122"/>
              </a:rPr>
              <a:t>  Related Work</a:t>
            </a:r>
          </a:p>
          <a:p>
            <a:pPr algn="l" eaLnBrk="1" hangingPunct="1">
              <a:lnSpc>
                <a:spcPct val="80000"/>
              </a:lnSpc>
              <a:buClr>
                <a:srgbClr val="0000CC"/>
              </a:buClr>
            </a:pPr>
            <a:endParaRPr lang="en-US" altLang="zh-CN" sz="1800" dirty="0" smtClean="0">
              <a:solidFill>
                <a:schemeClr val="accent2"/>
              </a:solidFill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Clr>
                <a:schemeClr val="tx1"/>
              </a:buClr>
              <a:buFont typeface="Times New Roman" pitchFamily="18" charset="0"/>
              <a:buChar char="−"/>
            </a:pPr>
            <a:r>
              <a:rPr lang="en-US" altLang="zh-CN" sz="1800" dirty="0" smtClean="0">
                <a:ea typeface="宋体" pitchFamily="2" charset="-122"/>
              </a:rPr>
              <a:t>Centroid-Based Methods</a:t>
            </a:r>
          </a:p>
          <a:p>
            <a:pPr marL="1200150" lvl="2" indent="-285750" algn="l" eaLnBrk="1" hangingPunct="1">
              <a:lnSpc>
                <a:spcPct val="80000"/>
              </a:lnSpc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e.g. MEAD 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1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</a:t>
            </a:r>
          </a:p>
          <a:p>
            <a:pPr marL="1200150" lvl="2" indent="-285750" algn="l" eaLnBrk="1" hangingPunct="1">
              <a:lnSpc>
                <a:spcPct val="80000"/>
              </a:lnSpc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</a:pPr>
            <a:endParaRPr lang="en-US" altLang="zh-CN" sz="1800" dirty="0" smtClean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ea typeface="宋体" pitchFamily="2" charset="-122"/>
              </a:rPr>
              <a:t>Graph-Based Methods</a:t>
            </a:r>
          </a:p>
          <a:p>
            <a:pPr marL="1200150" lvl="2" indent="-285750" algn="l" eaLnBrk="1" hangingPunct="1">
              <a:lnSpc>
                <a:spcPct val="8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e.g.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LexPageRank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 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2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</a:t>
            </a:r>
          </a:p>
          <a:p>
            <a:pPr lvl="2" algn="l" eaLnBrk="1" hangingPunct="1">
              <a:lnSpc>
                <a:spcPct val="80000"/>
              </a:lnSpc>
            </a:pPr>
            <a:endParaRPr lang="en-US" altLang="zh-CN" sz="1800" dirty="0" smtClean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ea typeface="宋体" pitchFamily="2" charset="-122"/>
              </a:rPr>
              <a:t>Latent </a:t>
            </a:r>
            <a:r>
              <a:rPr lang="en-US" altLang="zh-CN" sz="1800" dirty="0">
                <a:ea typeface="宋体" pitchFamily="2" charset="-122"/>
              </a:rPr>
              <a:t>Semantic Analysis (LSA) </a:t>
            </a:r>
            <a:r>
              <a:rPr lang="en-US" altLang="zh-CN" sz="1800" dirty="0" smtClean="0">
                <a:ea typeface="宋体" pitchFamily="2" charset="-122"/>
              </a:rPr>
              <a:t>[</a:t>
            </a:r>
            <a:r>
              <a:rPr lang="en-US" altLang="zh-CN" dirty="0">
                <a:ea typeface="宋体" pitchFamily="2" charset="-122"/>
              </a:rPr>
              <a:t>4</a:t>
            </a:r>
            <a:r>
              <a:rPr lang="en-US" altLang="zh-CN" sz="1800" dirty="0" smtClean="0">
                <a:ea typeface="宋体" pitchFamily="2" charset="-122"/>
              </a:rPr>
              <a:t>]</a:t>
            </a:r>
          </a:p>
          <a:p>
            <a:pPr lvl="1" algn="l" eaLnBrk="1" hangingPunct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ea typeface="宋体" pitchFamily="2" charset="-122"/>
              </a:rPr>
              <a:t>Nonnegative </a:t>
            </a:r>
            <a:r>
              <a:rPr lang="en-US" altLang="zh-CN" sz="1800" dirty="0">
                <a:ea typeface="宋体" pitchFamily="2" charset="-122"/>
              </a:rPr>
              <a:t>Matrix Factorization (NMF) </a:t>
            </a:r>
            <a:r>
              <a:rPr lang="en-US" altLang="zh-CN" sz="1800" dirty="0" smtClean="0">
                <a:ea typeface="宋体" pitchFamily="2" charset="-122"/>
              </a:rPr>
              <a:t>[</a:t>
            </a:r>
            <a:r>
              <a:rPr lang="en-US" altLang="zh-CN" dirty="0">
                <a:ea typeface="宋体" pitchFamily="2" charset="-122"/>
              </a:rPr>
              <a:t>5</a:t>
            </a:r>
            <a:r>
              <a:rPr lang="en-US" altLang="zh-CN" sz="1800" dirty="0" smtClean="0">
                <a:ea typeface="宋体" pitchFamily="2" charset="-122"/>
              </a:rPr>
              <a:t>]</a:t>
            </a:r>
          </a:p>
          <a:p>
            <a:pPr lvl="1" algn="l" eaLnBrk="1" hangingPunct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ea typeface="宋体" pitchFamily="2" charset="-122"/>
              </a:rPr>
              <a:t>Other </a:t>
            </a:r>
            <a:r>
              <a:rPr lang="en-US" altLang="zh-CN" sz="1800" dirty="0">
                <a:ea typeface="宋体" pitchFamily="2" charset="-122"/>
              </a:rPr>
              <a:t>Methods</a:t>
            </a:r>
          </a:p>
          <a:p>
            <a:pPr marL="1200150" lvl="2" indent="-285750" algn="l" eaLnBrk="1" hangingPunct="1">
              <a:lnSpc>
                <a:spcPct val="8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e.g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. MMR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6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],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HMM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7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],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CRF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8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],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Manifold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[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3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t>] </a:t>
            </a:r>
          </a:p>
          <a:p>
            <a:pPr lvl="2" algn="l" eaLnBrk="1" hangingPunct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 marL="285750" indent="-285750" algn="l"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ea typeface="宋体" pitchFamily="2" charset="-122"/>
              </a:rPr>
              <a:t>Research Issues</a:t>
            </a:r>
          </a:p>
          <a:p>
            <a:pPr algn="l" eaLnBrk="1" hangingPunct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solidFill>
                  <a:schemeClr val="tx2"/>
                </a:solidFill>
                <a:ea typeface="宋体" pitchFamily="2" charset="-122"/>
              </a:rPr>
              <a:t>Lack </a:t>
            </a:r>
            <a:r>
              <a:rPr lang="en-US" altLang="zh-CN" sz="1800" dirty="0">
                <a:solidFill>
                  <a:schemeClr val="tx2"/>
                </a:solidFill>
                <a:ea typeface="宋体" pitchFamily="2" charset="-122"/>
              </a:rPr>
              <a:t>of semantic relationship analysis </a:t>
            </a:r>
            <a:endParaRPr lang="en-US" altLang="zh-CN" sz="1800" dirty="0" smtClean="0">
              <a:solidFill>
                <a:schemeClr val="tx2"/>
              </a:solidFill>
              <a:ea typeface="宋体" pitchFamily="2" charset="-122"/>
            </a:endParaRPr>
          </a:p>
          <a:p>
            <a:pPr lvl="1" algn="l" eaLnBrk="1" hangingPunct="1">
              <a:lnSpc>
                <a:spcPct val="80000"/>
              </a:lnSpc>
            </a:pPr>
            <a:endParaRPr lang="en-US" altLang="zh-CN" sz="1800" dirty="0" smtClean="0">
              <a:solidFill>
                <a:schemeClr val="tx2"/>
              </a:solidFill>
              <a:ea typeface="宋体" pitchFamily="2" charset="-122"/>
            </a:endParaRPr>
          </a:p>
          <a:p>
            <a:pPr marL="742950" lvl="1" indent="-285750" algn="l" eaLnBrk="1" hangingPunct="1">
              <a:lnSpc>
                <a:spcPct val="80000"/>
              </a:lnSpc>
              <a:buFont typeface="Times New Roman" pitchFamily="18" charset="0"/>
              <a:buChar char="−"/>
            </a:pPr>
            <a:r>
              <a:rPr lang="en-US" altLang="zh-CN" sz="1800" dirty="0" smtClean="0">
                <a:solidFill>
                  <a:schemeClr val="tx2"/>
                </a:solidFill>
                <a:ea typeface="宋体" pitchFamily="2" charset="-122"/>
              </a:rPr>
              <a:t>Discover novel </a:t>
            </a:r>
            <a:r>
              <a:rPr lang="en-US" altLang="zh-CN" sz="1800" dirty="0">
                <a:solidFill>
                  <a:schemeClr val="tx2"/>
                </a:solidFill>
                <a:ea typeface="宋体" pitchFamily="2" charset="-122"/>
              </a:rPr>
              <a:t>problems related to summarization</a:t>
            </a:r>
          </a:p>
          <a:p>
            <a:pPr lvl="2" eaLnBrk="1" hangingPunct="1">
              <a:lnSpc>
                <a:spcPct val="80000"/>
              </a:lnSpc>
            </a:pPr>
            <a:endParaRPr lang="en-US" altLang="zh-CN" sz="1800" dirty="0">
              <a:solidFill>
                <a:schemeClr val="accent2"/>
              </a:solidFill>
              <a:ea typeface="宋体" pitchFamily="2" charset="-122"/>
            </a:endParaRPr>
          </a:p>
          <a:p>
            <a:pPr lvl="2" eaLnBrk="1" hangingPunct="1">
              <a:lnSpc>
                <a:spcPct val="80000"/>
              </a:lnSpc>
            </a:pPr>
            <a:endParaRPr lang="en-US" altLang="zh-CN" sz="1800" dirty="0">
              <a:solidFill>
                <a:schemeClr val="accent2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800" dirty="0">
              <a:solidFill>
                <a:srgbClr val="FF6600"/>
              </a:solidFill>
              <a:ea typeface="宋体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en-US" altLang="zh-CN" sz="1600" dirty="0">
              <a:ea typeface="宋体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Document Summarization</a:t>
            </a:r>
            <a:endParaRPr lang="en-US" sz="2400" b="1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199" y="1020762"/>
            <a:ext cx="3668713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2667000"/>
            <a:ext cx="6248400" cy="11430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2400" smtClean="0">
                <a:latin typeface="Times New Roman" pitchFamily="18" charset="0"/>
                <a:ea typeface="宋体" pitchFamily="2" charset="-122"/>
              </a:rPr>
              <a:t>Improving Multi-Document Summarization via Semantic Role Analysis</a:t>
            </a:r>
            <a:endParaRPr lang="en-US" sz="2400" smtClean="0">
              <a:latin typeface="Times New Roman" pitchFamily="18" charset="0"/>
            </a:endParaRPr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Contribution 2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457200" y="1066800"/>
            <a:ext cx="3124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2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696200" cy="4525963"/>
          </a:xfrm>
        </p:spPr>
        <p:txBody>
          <a:bodyPr/>
          <a:lstStyle/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Motivation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endParaRPr lang="en-US" altLang="zh-CN" sz="2000" dirty="0" smtClean="0">
              <a:solidFill>
                <a:schemeClr val="accent2"/>
              </a:solidFill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S</a:t>
            </a:r>
            <a:r>
              <a:rPr lang="en-US" sz="1800" dirty="0" smtClean="0">
                <a:latin typeface="Times New Roman" pitchFamily="18" charset="0"/>
              </a:rPr>
              <a:t>imple word-matching types of similarity such as cosine can not faithfully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dirty="0" smtClean="0">
                <a:latin typeface="Times New Roman" pitchFamily="18" charset="0"/>
              </a:rPr>
              <a:t>capture the content similarity.</a:t>
            </a:r>
            <a:endParaRPr lang="en-US" altLang="zh-CN" sz="1800" dirty="0" smtClean="0">
              <a:solidFill>
                <a:schemeClr val="accent2"/>
              </a:solidFill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sz="1800" dirty="0" smtClean="0">
                <a:latin typeface="Times New Roman" pitchFamily="18" charset="0"/>
              </a:rPr>
              <a:t>he sparseness of words between similar concepts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dirty="0" smtClean="0">
                <a:latin typeface="Times New Roman" pitchFamily="18" charset="0"/>
              </a:rPr>
              <a:t>make the similarity metric uneven.</a:t>
            </a:r>
          </a:p>
          <a:p>
            <a:pPr marL="457200" lvl="1" indent="0" eaLnBrk="1" hangingPunct="1">
              <a:buNone/>
            </a:pP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Solution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zh-CN" sz="2000" dirty="0">
              <a:solidFill>
                <a:schemeClr val="accent2"/>
              </a:solidFill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 typeface="Times New Roman" pitchFamily="18" charset="0"/>
              <a:buChar char="−"/>
            </a:pP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Construct similarity matrix by considering the semantic relationships among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sentences.</a:t>
            </a:r>
          </a:p>
          <a:p>
            <a:pPr lvl="1" eaLnBrk="1" hangingPunct="1"/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Propose symmetric nonnegative matrix factorization to deal with the similarity matrix. </a:t>
            </a:r>
          </a:p>
          <a:p>
            <a:pPr marL="457200" lvl="1" indent="0" eaLnBrk="1" hangingPunct="1">
              <a:buNone/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  <a:t>Sentence-Level Semantic Analysis and </a:t>
            </a:r>
            <a:b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  <a:t>Symmetric Matrix Factorization for</a:t>
            </a:r>
            <a:b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  <a:t>Multi-Document Summarization </a:t>
            </a:r>
            <a:br>
              <a:rPr lang="en-US" altLang="zh-CN" sz="2000" b="1" dirty="0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[Wang </a:t>
            </a:r>
            <a:r>
              <a:rPr lang="en-US" altLang="zh-CN" sz="1600" dirty="0" smtClean="0">
                <a:solidFill>
                  <a:schemeClr val="tx2"/>
                </a:solidFill>
                <a:ea typeface="宋体" pitchFamily="2" charset="-122"/>
              </a:rPr>
              <a:t>et </a:t>
            </a: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al. SIGIR 2008]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57200" y="13716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8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457200" y="5334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sz="2000" b="1">
                <a:solidFill>
                  <a:schemeClr val="tx2"/>
                </a:solidFill>
              </a:rPr>
              <a:t>Framework</a:t>
            </a: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457200" y="12192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19325"/>
            <a:ext cx="6627813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67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Semantic Similarity Matrix Construction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57200" y="12192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609600" y="1524000"/>
            <a:ext cx="5105400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  </a:t>
            </a:r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Semantic Role Analysis</a:t>
            </a:r>
            <a:endParaRPr lang="en-US" altLang="zh-CN" sz="2000">
              <a:solidFill>
                <a:schemeClr val="accent2"/>
              </a:solidFill>
              <a:ea typeface="宋体" pitchFamily="2" charset="-122"/>
            </a:endParaRPr>
          </a:p>
          <a:p>
            <a:pPr algn="l" eaLnBrk="1" hangingPunct="1">
              <a:spcBef>
                <a:spcPct val="20000"/>
              </a:spcBef>
              <a:buClr>
                <a:srgbClr val="0000CC"/>
              </a:buClr>
              <a:buFont typeface="Wingdings" pitchFamily="2" charset="2"/>
              <a:buNone/>
            </a:pPr>
            <a:r>
              <a:rPr lang="en-US" altLang="zh-CN">
                <a:ea typeface="宋体" pitchFamily="2" charset="-122"/>
              </a:rPr>
              <a:t>        </a:t>
            </a:r>
            <a:endParaRPr lang="en-US" altLang="zh-CN" sz="200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18437" name="Text Box 43"/>
          <p:cNvSpPr txBox="1">
            <a:spLocks noChangeArrowheads="1"/>
          </p:cNvSpPr>
          <p:nvPr/>
        </p:nvSpPr>
        <p:spPr bwMode="auto">
          <a:xfrm>
            <a:off x="1295400" y="2743200"/>
            <a:ext cx="1106488" cy="587375"/>
          </a:xfrm>
          <a:prstGeom prst="rect">
            <a:avLst/>
          </a:prstGeom>
          <a:solidFill>
            <a:srgbClr val="CC99FF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rtl="1" eaLnBrk="1" hangingPunct="1">
              <a:spcBef>
                <a:spcPct val="50000"/>
              </a:spcBef>
            </a:pPr>
            <a:r>
              <a:rPr lang="en-US" altLang="zh-CN" sz="1200" b="1" i="1">
                <a:ea typeface="宋体" pitchFamily="2" charset="-122"/>
                <a:cs typeface="Arial" charset="0"/>
              </a:rPr>
              <a:t>sentence 1</a:t>
            </a:r>
          </a:p>
          <a:p>
            <a:pPr rtl="1" eaLnBrk="1" hangingPunct="1">
              <a:spcBef>
                <a:spcPct val="50000"/>
              </a:spcBef>
            </a:pPr>
            <a:r>
              <a:rPr lang="en-US" altLang="zh-CN" sz="1200" b="1" i="1">
                <a:ea typeface="宋体" pitchFamily="2" charset="-122"/>
                <a:cs typeface="Arial" charset="0"/>
              </a:rPr>
              <a:t>sentence 2</a:t>
            </a:r>
          </a:p>
        </p:txBody>
      </p:sp>
      <p:sp>
        <p:nvSpPr>
          <p:cNvPr id="18438" name="AutoShape 44"/>
          <p:cNvSpPr>
            <a:spLocks noChangeArrowheads="1"/>
          </p:cNvSpPr>
          <p:nvPr/>
        </p:nvSpPr>
        <p:spPr bwMode="auto">
          <a:xfrm>
            <a:off x="2514600" y="2667000"/>
            <a:ext cx="1371600" cy="711200"/>
          </a:xfrm>
          <a:prstGeom prst="rightArrow">
            <a:avLst>
              <a:gd name="adj1" fmla="val 50000"/>
              <a:gd name="adj2" fmla="val 48214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pPr eaLnBrk="1" hangingPunct="1"/>
            <a:r>
              <a:rPr lang="en-US" altLang="zh-CN" sz="1000" b="1" i="1">
                <a:solidFill>
                  <a:schemeClr val="accent2"/>
                </a:solidFill>
                <a:ea typeface="宋体" pitchFamily="2" charset="-122"/>
                <a:cs typeface="Arial" charset="0"/>
              </a:rPr>
              <a:t>SENNA</a:t>
            </a:r>
          </a:p>
          <a:p>
            <a:pPr eaLnBrk="1" hangingPunct="1"/>
            <a:r>
              <a:rPr lang="en-US" altLang="zh-CN" sz="1000" b="1" i="1">
                <a:ea typeface="宋体" pitchFamily="2" charset="-122"/>
                <a:cs typeface="Arial" charset="0"/>
              </a:rPr>
              <a:t>(NEC Parser)</a:t>
            </a:r>
          </a:p>
        </p:txBody>
      </p:sp>
      <p:sp>
        <p:nvSpPr>
          <p:cNvPr id="18439" name="Rectangle 45"/>
          <p:cNvSpPr>
            <a:spLocks noChangeArrowheads="1"/>
          </p:cNvSpPr>
          <p:nvPr/>
        </p:nvSpPr>
        <p:spPr bwMode="auto">
          <a:xfrm>
            <a:off x="4114800" y="2743200"/>
            <a:ext cx="1616075" cy="203200"/>
          </a:xfrm>
          <a:prstGeom prst="rect">
            <a:avLst/>
          </a:prstGeom>
          <a:solidFill>
            <a:srgbClr val="FFFFCC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Rectangle 46"/>
          <p:cNvSpPr>
            <a:spLocks noChangeArrowheads="1"/>
          </p:cNvSpPr>
          <p:nvPr/>
        </p:nvSpPr>
        <p:spPr bwMode="auto">
          <a:xfrm>
            <a:off x="4106863" y="3124200"/>
            <a:ext cx="1616075" cy="203200"/>
          </a:xfrm>
          <a:prstGeom prst="rect">
            <a:avLst/>
          </a:prstGeom>
          <a:solidFill>
            <a:srgbClr val="FFFFCC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Line 47"/>
          <p:cNvSpPr>
            <a:spLocks noChangeShapeType="1"/>
          </p:cNvSpPr>
          <p:nvPr/>
        </p:nvSpPr>
        <p:spPr bwMode="auto">
          <a:xfrm>
            <a:off x="4352925" y="2735263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48"/>
          <p:cNvSpPr>
            <a:spLocks noChangeShapeType="1"/>
          </p:cNvSpPr>
          <p:nvPr/>
        </p:nvSpPr>
        <p:spPr bwMode="auto">
          <a:xfrm>
            <a:off x="4597400" y="2743200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49"/>
          <p:cNvSpPr>
            <a:spLocks noChangeShapeType="1"/>
          </p:cNvSpPr>
          <p:nvPr/>
        </p:nvSpPr>
        <p:spPr bwMode="auto">
          <a:xfrm>
            <a:off x="4835525" y="2741613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50"/>
          <p:cNvSpPr>
            <a:spLocks noChangeShapeType="1"/>
          </p:cNvSpPr>
          <p:nvPr/>
        </p:nvSpPr>
        <p:spPr bwMode="auto">
          <a:xfrm>
            <a:off x="5105400" y="2743200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51"/>
          <p:cNvSpPr>
            <a:spLocks noChangeShapeType="1"/>
          </p:cNvSpPr>
          <p:nvPr/>
        </p:nvSpPr>
        <p:spPr bwMode="auto">
          <a:xfrm>
            <a:off x="5292725" y="2735263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52"/>
          <p:cNvSpPr>
            <a:spLocks noChangeShapeType="1"/>
          </p:cNvSpPr>
          <p:nvPr/>
        </p:nvSpPr>
        <p:spPr bwMode="auto">
          <a:xfrm>
            <a:off x="5511800" y="2743200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53"/>
          <p:cNvSpPr>
            <a:spLocks noChangeShapeType="1"/>
          </p:cNvSpPr>
          <p:nvPr/>
        </p:nvSpPr>
        <p:spPr bwMode="auto">
          <a:xfrm>
            <a:off x="4352925" y="3114675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54"/>
          <p:cNvSpPr>
            <a:spLocks noChangeShapeType="1"/>
          </p:cNvSpPr>
          <p:nvPr/>
        </p:nvSpPr>
        <p:spPr bwMode="auto">
          <a:xfrm>
            <a:off x="4597400" y="3122613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Line 55"/>
          <p:cNvSpPr>
            <a:spLocks noChangeShapeType="1"/>
          </p:cNvSpPr>
          <p:nvPr/>
        </p:nvSpPr>
        <p:spPr bwMode="auto">
          <a:xfrm>
            <a:off x="4835525" y="3121025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Line 56"/>
          <p:cNvSpPr>
            <a:spLocks noChangeShapeType="1"/>
          </p:cNvSpPr>
          <p:nvPr/>
        </p:nvSpPr>
        <p:spPr bwMode="auto">
          <a:xfrm>
            <a:off x="5073650" y="3124200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Line 57"/>
          <p:cNvSpPr>
            <a:spLocks noChangeShapeType="1"/>
          </p:cNvSpPr>
          <p:nvPr/>
        </p:nvSpPr>
        <p:spPr bwMode="auto">
          <a:xfrm>
            <a:off x="5292725" y="3132138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2" name="Line 58"/>
          <p:cNvSpPr>
            <a:spLocks noChangeShapeType="1"/>
          </p:cNvSpPr>
          <p:nvPr/>
        </p:nvSpPr>
        <p:spPr bwMode="auto">
          <a:xfrm>
            <a:off x="5511800" y="3122613"/>
            <a:ext cx="0" cy="2032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Rectangle 59"/>
          <p:cNvSpPr>
            <a:spLocks noChangeArrowheads="1"/>
          </p:cNvSpPr>
          <p:nvPr/>
        </p:nvSpPr>
        <p:spPr bwMode="auto">
          <a:xfrm>
            <a:off x="4130675" y="2430463"/>
            <a:ext cx="159226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200" b="1" i="1">
                <a:ea typeface="MS PGothic" pitchFamily="34" charset="-128"/>
              </a:rPr>
              <a:t>frames of sentence 1</a:t>
            </a:r>
          </a:p>
        </p:txBody>
      </p:sp>
      <p:sp>
        <p:nvSpPr>
          <p:cNvPr id="18454" name="Rectangle 60"/>
          <p:cNvSpPr>
            <a:spLocks noChangeArrowheads="1"/>
          </p:cNvSpPr>
          <p:nvPr/>
        </p:nvSpPr>
        <p:spPr bwMode="auto">
          <a:xfrm>
            <a:off x="4113213" y="3421063"/>
            <a:ext cx="1592262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200" b="1" i="1">
                <a:ea typeface="MS PGothic" pitchFamily="34" charset="-128"/>
              </a:rPr>
              <a:t>frames of sentence 2</a:t>
            </a:r>
          </a:p>
        </p:txBody>
      </p:sp>
      <p:sp>
        <p:nvSpPr>
          <p:cNvPr id="18455" name="AutoShape 61"/>
          <p:cNvSpPr>
            <a:spLocks noChangeArrowheads="1"/>
          </p:cNvSpPr>
          <p:nvPr/>
        </p:nvSpPr>
        <p:spPr bwMode="auto">
          <a:xfrm>
            <a:off x="5867400" y="2362200"/>
            <a:ext cx="1981200" cy="1295400"/>
          </a:xfrm>
          <a:prstGeom prst="rightArrowCallout">
            <a:avLst>
              <a:gd name="adj1" fmla="val 28880"/>
              <a:gd name="adj2" fmla="val 24940"/>
              <a:gd name="adj3" fmla="val 33874"/>
              <a:gd name="adj4" fmla="val 66292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000" b="1" dirty="0">
                <a:ea typeface="宋体" pitchFamily="2" charset="-122"/>
              </a:rPr>
              <a:t>finding word relations </a:t>
            </a:r>
          </a:p>
          <a:p>
            <a:r>
              <a:rPr lang="en-US" altLang="zh-CN" sz="1000" b="1" dirty="0">
                <a:ea typeface="宋体" pitchFamily="2" charset="-122"/>
              </a:rPr>
              <a:t>among words with the </a:t>
            </a:r>
          </a:p>
          <a:p>
            <a:r>
              <a:rPr lang="en-US" altLang="zh-CN" sz="1000" b="1" dirty="0">
                <a:ea typeface="宋体" pitchFamily="2" charset="-122"/>
              </a:rPr>
              <a:t>same semantic role in </a:t>
            </a:r>
          </a:p>
          <a:p>
            <a:r>
              <a:rPr lang="en-US" altLang="zh-CN" sz="1000" b="1" dirty="0">
                <a:ea typeface="宋体" pitchFamily="2" charset="-122"/>
              </a:rPr>
              <a:t>each frame pair using</a:t>
            </a:r>
          </a:p>
          <a:p>
            <a:r>
              <a:rPr lang="en-US" altLang="zh-CN" sz="1000" b="1" dirty="0">
                <a:ea typeface="宋体" pitchFamily="2" charset="-122"/>
              </a:rPr>
              <a:t> </a:t>
            </a:r>
          </a:p>
          <a:p>
            <a:r>
              <a:rPr lang="en-US" altLang="zh-CN" sz="1200" b="1" i="1" dirty="0" err="1">
                <a:solidFill>
                  <a:schemeClr val="accent2"/>
                </a:solidFill>
                <a:ea typeface="宋体" pitchFamily="2" charset="-122"/>
              </a:rPr>
              <a:t>WordNet</a:t>
            </a:r>
            <a:endParaRPr lang="en-US" altLang="zh-CN" sz="1200" b="1" i="1" dirty="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18456" name="Rectangle 62"/>
          <p:cNvSpPr>
            <a:spLocks noChangeArrowheads="1"/>
          </p:cNvSpPr>
          <p:nvPr/>
        </p:nvSpPr>
        <p:spPr bwMode="auto">
          <a:xfrm>
            <a:off x="7848600" y="2286000"/>
            <a:ext cx="87312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i="1">
              <a:ea typeface="宋体" pitchFamily="2" charset="-122"/>
            </a:endParaRPr>
          </a:p>
        </p:txBody>
      </p:sp>
      <p:sp>
        <p:nvSpPr>
          <p:cNvPr id="18457" name="AutoShape 63"/>
          <p:cNvSpPr>
            <a:spLocks noChangeArrowheads="1"/>
          </p:cNvSpPr>
          <p:nvPr/>
        </p:nvSpPr>
        <p:spPr bwMode="auto">
          <a:xfrm>
            <a:off x="228600" y="3810000"/>
            <a:ext cx="3886200" cy="2819400"/>
          </a:xfrm>
          <a:prstGeom prst="wedgeRoundRectCallout">
            <a:avLst>
              <a:gd name="adj1" fmla="val 31005"/>
              <a:gd name="adj2" fmla="val -6750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r>
              <a:rPr lang="en-US" altLang="zh-CN" sz="1200" b="1">
                <a:solidFill>
                  <a:srgbClr val="FC0404"/>
                </a:solidFill>
                <a:ea typeface="MS PGothic" pitchFamily="34" charset="-128"/>
              </a:rPr>
              <a:t>Semantic Roles </a:t>
            </a:r>
          </a:p>
          <a:p>
            <a:pPr algn="l" eaLnBrk="1" hangingPunct="1"/>
            <a:r>
              <a:rPr lang="en-US" altLang="zh-CN" sz="1200">
                <a:ea typeface="MS PGothic" pitchFamily="34" charset="-128"/>
              </a:rPr>
              <a:t>For certain verbs of motion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Arg0: causer of motion          Arg3: start point 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Arg1: thing in motion            Arg4: end point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Arg2: distance moved            Arg5: direction</a:t>
            </a:r>
          </a:p>
          <a:p>
            <a:pPr algn="l" eaLnBrk="1" hangingPunct="1"/>
            <a:r>
              <a:rPr lang="en-US" altLang="zh-CN" sz="1200">
                <a:ea typeface="MS PGothic" pitchFamily="34" charset="-128"/>
              </a:rPr>
              <a:t>-- e.g. [</a:t>
            </a:r>
            <a:r>
              <a:rPr lang="en-US" altLang="zh-CN" sz="1200">
                <a:solidFill>
                  <a:srgbClr val="FC0404"/>
                </a:solidFill>
                <a:ea typeface="MS PGothic" pitchFamily="34" charset="-128"/>
              </a:rPr>
              <a:t>Arg0</a:t>
            </a:r>
            <a:r>
              <a:rPr lang="en-US" altLang="zh-CN" sz="1200">
                <a:ea typeface="MS PGothic" pitchFamily="34" charset="-128"/>
              </a:rPr>
              <a:t> I] [</a:t>
            </a:r>
            <a:r>
              <a:rPr lang="en-US" altLang="zh-CN" sz="1200">
                <a:solidFill>
                  <a:srgbClr val="FC0404"/>
                </a:solidFill>
                <a:ea typeface="MS PGothic" pitchFamily="34" charset="-128"/>
              </a:rPr>
              <a:t>ArgM-MOD</a:t>
            </a:r>
            <a:r>
              <a:rPr lang="en-US" altLang="zh-CN" sz="1200">
                <a:ea typeface="MS PGothic" pitchFamily="34" charset="-128"/>
              </a:rPr>
              <a:t> can][</a:t>
            </a:r>
            <a:r>
              <a:rPr lang="en-US" altLang="zh-CN" sz="1200">
                <a:solidFill>
                  <a:srgbClr val="FC0404"/>
                </a:solidFill>
                <a:ea typeface="MS PGothic" pitchFamily="34" charset="-128"/>
              </a:rPr>
              <a:t>ArgM-NEG</a:t>
            </a:r>
            <a:r>
              <a:rPr lang="en-US" altLang="zh-CN" sz="1200">
                <a:ea typeface="MS PGothic" pitchFamily="34" charset="-128"/>
              </a:rPr>
              <a:t>  not]   [</a:t>
            </a:r>
            <a:r>
              <a:rPr lang="en-US" altLang="zh-CN" sz="1200">
                <a:solidFill>
                  <a:srgbClr val="FF0000"/>
                </a:solidFill>
                <a:ea typeface="MS PGothic" pitchFamily="34" charset="-128"/>
              </a:rPr>
              <a:t>rel</a:t>
            </a:r>
            <a:r>
              <a:rPr lang="en-US" altLang="zh-CN" sz="1200">
                <a:ea typeface="MS PGothic" pitchFamily="34" charset="-128"/>
              </a:rPr>
              <a:t> </a:t>
            </a:r>
            <a:r>
              <a:rPr lang="en-US" altLang="zh-CN" sz="1200">
                <a:solidFill>
                  <a:srgbClr val="33CC33"/>
                </a:solidFill>
                <a:ea typeface="MS PGothic" pitchFamily="34" charset="-128"/>
              </a:rPr>
              <a:t>receive]</a:t>
            </a:r>
            <a:r>
              <a:rPr lang="en-US" altLang="zh-CN" sz="1200">
                <a:ea typeface="MS PGothic" pitchFamily="34" charset="-128"/>
              </a:rPr>
              <a:t> [</a:t>
            </a:r>
            <a:r>
              <a:rPr lang="en-US" altLang="zh-CN" sz="1200">
                <a:solidFill>
                  <a:srgbClr val="FC0404"/>
                </a:solidFill>
                <a:ea typeface="MS PGothic" pitchFamily="34" charset="-128"/>
              </a:rPr>
              <a:t>Arg1</a:t>
            </a:r>
            <a:r>
              <a:rPr lang="en-US" altLang="zh-CN" sz="1200">
                <a:ea typeface="MS PGothic" pitchFamily="34" charset="-128"/>
              </a:rPr>
              <a:t> emails] </a:t>
            </a:r>
          </a:p>
          <a:p>
            <a:pPr lvl="1" algn="l" eaLnBrk="1" hangingPunct="1"/>
            <a:r>
              <a:rPr lang="en-US" altLang="zh-CN" sz="1200">
                <a:ea typeface="MS PGothic" pitchFamily="34" charset="-128"/>
              </a:rPr>
              <a:t>Subtypes of ArgM modifier tag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LOC: location                          CAU: cause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EXT: extent                              TMP: time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DIS: discourse connectives      PNC: purpose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ADV: general-purpose             MNR: manner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NEG: negation marker             DIR: direction</a:t>
            </a:r>
          </a:p>
          <a:p>
            <a:pPr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MOD: modal verb</a:t>
            </a:r>
          </a:p>
          <a:p>
            <a:pPr eaLnBrk="1" hangingPunct="1"/>
            <a:endParaRPr kumimoji="1" lang="en-US" altLang="zh-CN" sz="1200">
              <a:solidFill>
                <a:srgbClr val="281997"/>
              </a:solidFill>
              <a:ea typeface="MS PGothic" pitchFamily="34" charset="-128"/>
            </a:endParaRPr>
          </a:p>
        </p:txBody>
      </p:sp>
      <p:sp>
        <p:nvSpPr>
          <p:cNvPr id="18458" name="AutoShape 64"/>
          <p:cNvSpPr>
            <a:spLocks noChangeArrowheads="1"/>
          </p:cNvSpPr>
          <p:nvPr/>
        </p:nvSpPr>
        <p:spPr bwMode="auto">
          <a:xfrm>
            <a:off x="5715000" y="1676400"/>
            <a:ext cx="152400" cy="228600"/>
          </a:xfrm>
          <a:prstGeom prst="upDownArrow">
            <a:avLst>
              <a:gd name="adj1" fmla="val 50000"/>
              <a:gd name="adj2" fmla="val 3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AutoShape 65"/>
          <p:cNvSpPr>
            <a:spLocks noChangeArrowheads="1"/>
          </p:cNvSpPr>
          <p:nvPr/>
        </p:nvSpPr>
        <p:spPr bwMode="auto">
          <a:xfrm>
            <a:off x="4267200" y="4114800"/>
            <a:ext cx="2895600" cy="2514600"/>
          </a:xfrm>
          <a:prstGeom prst="wedgeRoundRectCallout">
            <a:avLst>
              <a:gd name="adj1" fmla="val 22699"/>
              <a:gd name="adj2" fmla="val -6483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1" algn="l" eaLnBrk="1" hangingPunct="1"/>
            <a:r>
              <a:rPr lang="en-US" altLang="zh-CN" sz="1200" b="1">
                <a:solidFill>
                  <a:srgbClr val="FF0000"/>
                </a:solidFill>
                <a:ea typeface="MS PGothic" pitchFamily="34" charset="-128"/>
              </a:rPr>
              <a:t>Word Relations </a:t>
            </a:r>
          </a:p>
          <a:p>
            <a:pPr lvl="1" algn="l" eaLnBrk="1" hangingPunct="1"/>
            <a:r>
              <a:rPr lang="en-US" altLang="zh-CN" sz="1200">
                <a:ea typeface="MS PGothic" pitchFamily="34" charset="-128"/>
              </a:rPr>
              <a:t>WordNet 3.0  (147,306 words)</a:t>
            </a:r>
          </a:p>
          <a:p>
            <a:pPr lvl="1" algn="l" eaLnBrk="1" hangingPunct="1"/>
            <a:r>
              <a:rPr lang="en-US" altLang="zh-CN" sz="1200">
                <a:ea typeface="MS PGothic" pitchFamily="34" charset="-128"/>
              </a:rPr>
              <a:t>20 word relations, e.g.identical, synonyms, attribute; </a:t>
            </a:r>
          </a:p>
          <a:p>
            <a:pPr lvl="1" algn="l" eaLnBrk="1" hangingPunct="1"/>
            <a:r>
              <a:rPr lang="en-US" altLang="zh-CN" sz="1200">
                <a:ea typeface="MS PGothic" pitchFamily="34" charset="-128"/>
              </a:rPr>
              <a:t>hypernym and hyponym</a:t>
            </a:r>
          </a:p>
          <a:p>
            <a:pPr lvl="1"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--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A 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is a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 </a:t>
            </a:r>
            <a:r>
              <a:rPr lang="en-US" altLang="zh-CN" sz="1200" b="1" i="1">
                <a:solidFill>
                  <a:srgbClr val="281997"/>
                </a:solidFill>
                <a:ea typeface="MS PGothic" pitchFamily="34" charset="-128"/>
              </a:rPr>
              <a:t>hypernym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 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of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B 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if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B 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is a kind of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A</a:t>
            </a:r>
          </a:p>
          <a:p>
            <a:pPr lvl="1" algn="l" eaLnBrk="1" hangingPunct="1"/>
            <a:r>
              <a:rPr lang="en-US" altLang="zh-CN" sz="1200">
                <a:ea typeface="MS PGothic" pitchFamily="34" charset="-128"/>
              </a:rPr>
              <a:t>meronym, and holonym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 </a:t>
            </a:r>
          </a:p>
          <a:p>
            <a:pPr lvl="1" algn="l" eaLnBrk="1" hangingPunct="1"/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--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A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 is a </a:t>
            </a:r>
            <a:r>
              <a:rPr lang="en-US" altLang="zh-CN" sz="1200" b="1" i="1">
                <a:solidFill>
                  <a:srgbClr val="281997"/>
                </a:solidFill>
                <a:ea typeface="MS PGothic" pitchFamily="34" charset="-128"/>
              </a:rPr>
              <a:t>meronym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 of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B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 if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A</a:t>
            </a:r>
            <a:r>
              <a:rPr lang="en-US" altLang="zh-CN" sz="1200">
                <a:solidFill>
                  <a:srgbClr val="281997"/>
                </a:solidFill>
                <a:ea typeface="MS PGothic" pitchFamily="34" charset="-128"/>
              </a:rPr>
              <a:t> is a part or member of </a:t>
            </a:r>
            <a:r>
              <a:rPr lang="en-US" altLang="zh-CN" sz="1200" i="1">
                <a:solidFill>
                  <a:srgbClr val="281997"/>
                </a:solidFill>
                <a:ea typeface="MS PGothic" pitchFamily="34" charset="-128"/>
              </a:rPr>
              <a:t>B</a:t>
            </a:r>
            <a:r>
              <a:rPr lang="en-US" altLang="zh-CN" sz="1200">
                <a:solidFill>
                  <a:srgbClr val="281997"/>
                </a:solidFill>
                <a:latin typeface="Comic Sans MS" pitchFamily="66" charset="0"/>
                <a:ea typeface="MS PGothic" pitchFamily="34" charset="-128"/>
              </a:rPr>
              <a:t> </a:t>
            </a:r>
          </a:p>
          <a:p>
            <a:pPr lvl="2" algn="l" eaLnBrk="1" hangingPunct="1"/>
            <a:r>
              <a:rPr lang="en-US" altLang="zh-CN" sz="1200">
                <a:solidFill>
                  <a:srgbClr val="281997"/>
                </a:solidFill>
                <a:latin typeface="Comic Sans MS" pitchFamily="66" charset="0"/>
                <a:ea typeface="MS PGothic" pitchFamily="34" charset="-128"/>
              </a:rPr>
              <a:t> </a:t>
            </a:r>
          </a:p>
        </p:txBody>
      </p:sp>
      <p:sp>
        <p:nvSpPr>
          <p:cNvPr id="18460" name="AutoShape 66"/>
          <p:cNvSpPr>
            <a:spLocks noChangeArrowheads="1"/>
          </p:cNvSpPr>
          <p:nvPr/>
        </p:nvSpPr>
        <p:spPr bwMode="auto">
          <a:xfrm>
            <a:off x="5410200" y="1447800"/>
            <a:ext cx="762000" cy="685800"/>
          </a:xfrm>
          <a:prstGeom prst="wedgeRoundRectCallout">
            <a:avLst>
              <a:gd name="adj1" fmla="val -133750"/>
              <a:gd name="adj2" fmla="val 7963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kumimoji="1" lang="en-US" altLang="zh-CN" sz="1200">
                <a:ea typeface="MS PGothic" pitchFamily="34" charset="-128"/>
              </a:rPr>
              <a:t>verb</a:t>
            </a:r>
          </a:p>
          <a:p>
            <a:pPr eaLnBrk="1" hangingPunct="1"/>
            <a:endParaRPr kumimoji="1" lang="en-US" altLang="zh-CN" sz="1200">
              <a:ea typeface="MS PGothic" pitchFamily="34" charset="-128"/>
            </a:endParaRPr>
          </a:p>
          <a:p>
            <a:pPr eaLnBrk="1" hangingPunct="1"/>
            <a:r>
              <a:rPr kumimoji="1" lang="en-US" altLang="zh-CN" sz="1200" b="1">
                <a:solidFill>
                  <a:srgbClr val="FF0000"/>
                </a:solidFill>
                <a:ea typeface="MS PGothic" pitchFamily="34" charset="-128"/>
              </a:rPr>
              <a:t>frame</a:t>
            </a:r>
          </a:p>
        </p:txBody>
      </p:sp>
      <p:sp>
        <p:nvSpPr>
          <p:cNvPr id="18461" name="AutoShape 67"/>
          <p:cNvSpPr>
            <a:spLocks noChangeArrowheads="1"/>
          </p:cNvSpPr>
          <p:nvPr/>
        </p:nvSpPr>
        <p:spPr bwMode="auto">
          <a:xfrm>
            <a:off x="7239000" y="4267200"/>
            <a:ext cx="1828800" cy="914400"/>
          </a:xfrm>
          <a:prstGeom prst="wedgeRoundRectCallout">
            <a:avLst>
              <a:gd name="adj1" fmla="val 24829"/>
              <a:gd name="adj2" fmla="val -10694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Sentence Similarity Matrix</a:t>
            </a:r>
            <a:endParaRPr kumimoji="1" lang="en-US" altLang="zh-CN" sz="1200" b="1">
              <a:solidFill>
                <a:srgbClr val="CC0000"/>
              </a:solidFill>
              <a:ea typeface="MS PGothic" pitchFamily="34" charset="-128"/>
            </a:endParaRPr>
          </a:p>
          <a:p>
            <a:pPr eaLnBrk="1" hangingPunct="1"/>
            <a:r>
              <a:rPr kumimoji="1" lang="en-US" altLang="zh-CN" sz="1200">
                <a:ea typeface="MS PGothic" pitchFamily="34" charset="-128"/>
              </a:rPr>
              <a:t>Similarity score is between 0 and 1</a:t>
            </a:r>
          </a:p>
        </p:txBody>
      </p:sp>
      <p:sp>
        <p:nvSpPr>
          <p:cNvPr id="18462" name="AutoShape 68"/>
          <p:cNvSpPr>
            <a:spLocks noChangeArrowheads="1"/>
          </p:cNvSpPr>
          <p:nvPr/>
        </p:nvSpPr>
        <p:spPr bwMode="auto">
          <a:xfrm>
            <a:off x="7848600" y="2667000"/>
            <a:ext cx="1066800" cy="8382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Rectangle 69"/>
          <p:cNvSpPr>
            <a:spLocks noChangeArrowheads="1"/>
          </p:cNvSpPr>
          <p:nvPr/>
        </p:nvSpPr>
        <p:spPr bwMode="auto">
          <a:xfrm>
            <a:off x="8077200" y="27432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Line 70"/>
          <p:cNvSpPr>
            <a:spLocks noChangeShapeType="1"/>
          </p:cNvSpPr>
          <p:nvPr/>
        </p:nvSpPr>
        <p:spPr bwMode="auto">
          <a:xfrm>
            <a:off x="8077200" y="2895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71"/>
          <p:cNvSpPr>
            <a:spLocks noChangeShapeType="1"/>
          </p:cNvSpPr>
          <p:nvPr/>
        </p:nvSpPr>
        <p:spPr bwMode="auto">
          <a:xfrm>
            <a:off x="8077200" y="3048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72"/>
          <p:cNvSpPr>
            <a:spLocks noChangeShapeType="1"/>
          </p:cNvSpPr>
          <p:nvPr/>
        </p:nvSpPr>
        <p:spPr bwMode="auto">
          <a:xfrm>
            <a:off x="8077200" y="3200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73"/>
          <p:cNvSpPr>
            <a:spLocks noChangeShapeType="1"/>
          </p:cNvSpPr>
          <p:nvPr/>
        </p:nvSpPr>
        <p:spPr bwMode="auto">
          <a:xfrm>
            <a:off x="8229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Line 74"/>
          <p:cNvSpPr>
            <a:spLocks noChangeShapeType="1"/>
          </p:cNvSpPr>
          <p:nvPr/>
        </p:nvSpPr>
        <p:spPr bwMode="auto">
          <a:xfrm>
            <a:off x="8382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9" name="Line 75"/>
          <p:cNvSpPr>
            <a:spLocks noChangeShapeType="1"/>
          </p:cNvSpPr>
          <p:nvPr/>
        </p:nvSpPr>
        <p:spPr bwMode="auto">
          <a:xfrm>
            <a:off x="8534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Symmetric Nonnegative Matrix Factorization (SNMF)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457200" y="1219200"/>
            <a:ext cx="6172200" cy="46038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altLang="zh-CN" sz="1800" b="1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9461" name="Object 8"/>
          <p:cNvGraphicFramePr>
            <a:graphicFrameLocks noChangeAspect="1"/>
          </p:cNvGraphicFramePr>
          <p:nvPr/>
        </p:nvGraphicFramePr>
        <p:xfrm>
          <a:off x="1828800" y="2590800"/>
          <a:ext cx="1028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quation" r:id="rId4" imgW="1028700" imgH="330200" progId="Equation.DSMT4">
                  <p:embed/>
                </p:oleObj>
              </mc:Choice>
              <mc:Fallback>
                <p:oleObj name="Equation" r:id="rId4" imgW="1028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90800"/>
                        <a:ext cx="1028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9"/>
          <p:cNvSpPr txBox="1">
            <a:spLocks noChangeArrowheads="1"/>
          </p:cNvSpPr>
          <p:nvPr/>
        </p:nvSpPr>
        <p:spPr bwMode="auto">
          <a:xfrm>
            <a:off x="1066800" y="1981200"/>
            <a:ext cx="2590800" cy="1287463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ea typeface="宋体" pitchFamily="2" charset="-122"/>
              </a:rPr>
              <a:t>Input: similarity matrix </a:t>
            </a:r>
            <a:r>
              <a:rPr lang="en-US" altLang="zh-CN" i="1" dirty="0">
                <a:ea typeface="宋体" pitchFamily="2" charset="-122"/>
              </a:rPr>
              <a:t>W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ea typeface="宋体" pitchFamily="2" charset="-122"/>
              </a:rPr>
              <a:t>Target: </a:t>
            </a:r>
            <a:r>
              <a:rPr lang="en-US" altLang="zh-CN" i="1" dirty="0">
                <a:ea typeface="宋体" pitchFamily="2" charset="-122"/>
              </a:rPr>
              <a:t>H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dirty="0" err="1">
                <a:ea typeface="宋体" pitchFamily="2" charset="-122"/>
              </a:rPr>
              <a:t>s.t.</a:t>
            </a:r>
            <a:r>
              <a:rPr lang="en-US" altLang="zh-CN" dirty="0">
                <a:ea typeface="宋体" pitchFamily="2" charset="-122"/>
              </a:rPr>
              <a:t> 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latin typeface="Arial" charset="0"/>
                <a:ea typeface="宋体" pitchFamily="2" charset="-122"/>
              </a:rPr>
              <a:t> </a:t>
            </a:r>
            <a:endParaRPr lang="en-US" altLang="zh-CN" i="1" dirty="0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9463" name="Object 10"/>
          <p:cNvGraphicFramePr>
            <a:graphicFrameLocks noChangeAspect="1"/>
          </p:cNvGraphicFramePr>
          <p:nvPr/>
        </p:nvGraphicFramePr>
        <p:xfrm>
          <a:off x="1447800" y="2590800"/>
          <a:ext cx="3810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6" imgW="291973" imgH="279279" progId="Equation.DSMT4">
                  <p:embed/>
                </p:oleObj>
              </mc:Choice>
              <mc:Fallback>
                <p:oleObj name="Equation" r:id="rId6" imgW="291973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90800"/>
                        <a:ext cx="3810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11"/>
          <p:cNvGraphicFramePr>
            <a:graphicFrameLocks noChangeAspect="1"/>
          </p:cNvGraphicFramePr>
          <p:nvPr/>
        </p:nvGraphicFramePr>
        <p:xfrm>
          <a:off x="5029200" y="2590800"/>
          <a:ext cx="184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8" imgW="1841500" imgH="508000" progId="Equation.DSMT4">
                  <p:embed/>
                </p:oleObj>
              </mc:Choice>
              <mc:Fallback>
                <p:oleObj name="Equation" r:id="rId8" imgW="18415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590800"/>
                        <a:ext cx="1841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AutoShape 12"/>
          <p:cNvSpPr>
            <a:spLocks noChangeArrowheads="1"/>
          </p:cNvSpPr>
          <p:nvPr/>
        </p:nvSpPr>
        <p:spPr bwMode="auto">
          <a:xfrm>
            <a:off x="3810000" y="2438400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13"/>
          <p:cNvSpPr>
            <a:spLocks noChangeArrowheads="1"/>
          </p:cNvSpPr>
          <p:nvPr/>
        </p:nvSpPr>
        <p:spPr bwMode="auto">
          <a:xfrm>
            <a:off x="4953000" y="2209800"/>
            <a:ext cx="1981200" cy="914400"/>
          </a:xfrm>
          <a:prstGeom prst="rect">
            <a:avLst/>
          </a:prstGeom>
          <a:noFill/>
          <a:ln w="2540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Text Box 14"/>
          <p:cNvSpPr txBox="1">
            <a:spLocks noChangeArrowheads="1"/>
          </p:cNvSpPr>
          <p:nvPr/>
        </p:nvSpPr>
        <p:spPr bwMode="auto">
          <a:xfrm>
            <a:off x="5029200" y="2286000"/>
            <a:ext cx="1676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Updating rule</a:t>
            </a:r>
          </a:p>
        </p:txBody>
      </p:sp>
      <p:sp>
        <p:nvSpPr>
          <p:cNvPr id="19468" name="AutoShape 15"/>
          <p:cNvSpPr>
            <a:spLocks noChangeArrowheads="1"/>
          </p:cNvSpPr>
          <p:nvPr/>
        </p:nvSpPr>
        <p:spPr bwMode="auto">
          <a:xfrm rot="10800000">
            <a:off x="5791200" y="3352800"/>
            <a:ext cx="228600" cy="533400"/>
          </a:xfrm>
          <a:prstGeom prst="upArrow">
            <a:avLst>
              <a:gd name="adj1" fmla="val 50000"/>
              <a:gd name="adj2" fmla="val 58333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Rectangle 16"/>
          <p:cNvSpPr>
            <a:spLocks noChangeArrowheads="1"/>
          </p:cNvSpPr>
          <p:nvPr/>
        </p:nvSpPr>
        <p:spPr bwMode="auto">
          <a:xfrm>
            <a:off x="4876800" y="4038600"/>
            <a:ext cx="2667000" cy="1219200"/>
          </a:xfrm>
          <a:prstGeom prst="rect">
            <a:avLst/>
          </a:prstGeom>
          <a:noFill/>
          <a:ln w="254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>
                <a:ea typeface="宋体" pitchFamily="2" charset="-122"/>
              </a:rPr>
              <a:t>After Convergence, </a:t>
            </a:r>
          </a:p>
          <a:p>
            <a:pPr algn="l" eaLnBrk="1" hangingPunct="1"/>
            <a:endParaRPr lang="en-US" altLang="zh-CN">
              <a:ea typeface="宋体" pitchFamily="2" charset="-122"/>
            </a:endParaRPr>
          </a:p>
          <a:p>
            <a:pPr algn="l" eaLnBrk="1" hangingPunct="1"/>
            <a:r>
              <a:rPr lang="en-US" altLang="zh-CN">
                <a:ea typeface="宋体" pitchFamily="2" charset="-122"/>
              </a:rPr>
              <a:t>Get </a:t>
            </a:r>
            <a:r>
              <a:rPr lang="en-US" altLang="zh-CN" i="1">
                <a:ea typeface="宋体" pitchFamily="2" charset="-122"/>
              </a:rPr>
              <a:t>H : </a:t>
            </a:r>
          </a:p>
          <a:p>
            <a:pPr algn="l" eaLnBrk="1" hangingPunct="1"/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sentence - cluster matrix</a:t>
            </a:r>
          </a:p>
          <a:p>
            <a:pPr algn="l" eaLnBrk="1" hangingPunct="1"/>
            <a:endParaRPr lang="en-US" altLang="zh-CN">
              <a:ea typeface="宋体" pitchFamily="2" charset="-122"/>
            </a:endParaRPr>
          </a:p>
        </p:txBody>
      </p:sp>
      <p:sp>
        <p:nvSpPr>
          <p:cNvPr id="19470" name="AutoShape 17"/>
          <p:cNvSpPr>
            <a:spLocks noChangeArrowheads="1"/>
          </p:cNvSpPr>
          <p:nvPr/>
        </p:nvSpPr>
        <p:spPr bwMode="auto">
          <a:xfrm rot="5400000">
            <a:off x="4076700" y="4229100"/>
            <a:ext cx="228600" cy="762000"/>
          </a:xfrm>
          <a:prstGeom prst="downArrow">
            <a:avLst>
              <a:gd name="adj1" fmla="val 50000"/>
              <a:gd name="adj2" fmla="val 8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Text Box 18"/>
          <p:cNvSpPr txBox="1">
            <a:spLocks noChangeArrowheads="1"/>
          </p:cNvSpPr>
          <p:nvPr/>
        </p:nvSpPr>
        <p:spPr bwMode="auto">
          <a:xfrm>
            <a:off x="1371600" y="4267200"/>
            <a:ext cx="2209800" cy="633413"/>
          </a:xfrm>
          <a:prstGeom prst="rect">
            <a:avLst/>
          </a:prstGeom>
          <a:solidFill>
            <a:srgbClr val="CC99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From </a:t>
            </a:r>
            <a:r>
              <a:rPr lang="en-US" altLang="zh-CN" i="1">
                <a:ea typeface="宋体" pitchFamily="2" charset="-122"/>
              </a:rPr>
              <a:t>H,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Get</a:t>
            </a:r>
            <a:r>
              <a:rPr lang="en-US" altLang="zh-CN" i="1">
                <a:ea typeface="宋体" pitchFamily="2" charset="-122"/>
              </a:rPr>
              <a:t> </a:t>
            </a:r>
            <a:r>
              <a:rPr lang="en-US" altLang="zh-CN" i="1">
                <a:solidFill>
                  <a:srgbClr val="990000"/>
                </a:solidFill>
                <a:ea typeface="宋体" pitchFamily="2" charset="-122"/>
              </a:rPr>
              <a:t>sentence clusters</a:t>
            </a:r>
          </a:p>
        </p:txBody>
      </p:sp>
    </p:spTree>
    <p:extLst>
      <p:ext uri="{BB962C8B-B14F-4D97-AF65-F5344CB8AC3E}">
        <p14:creationId xmlns:p14="http://schemas.microsoft.com/office/powerpoint/2010/main" val="169138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Experiments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57200" y="1219200"/>
            <a:ext cx="1905000" cy="46038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609600" y="1524000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  </a:t>
            </a:r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Data Set</a:t>
            </a:r>
          </a:p>
        </p:txBody>
      </p:sp>
      <p:graphicFrame>
        <p:nvGraphicFramePr>
          <p:cNvPr id="58482" name="Group 114"/>
          <p:cNvGraphicFramePr>
            <a:graphicFrameLocks noGrp="1"/>
          </p:cNvGraphicFramePr>
          <p:nvPr>
            <p:ph sz="half" idx="1"/>
          </p:nvPr>
        </p:nvGraphicFramePr>
        <p:xfrm>
          <a:off x="1066800" y="2209800"/>
          <a:ext cx="4991100" cy="1770063"/>
        </p:xfrm>
        <a:graphic>
          <a:graphicData uri="http://schemas.openxmlformats.org/drawingml/2006/table">
            <a:tbl>
              <a:tblPr/>
              <a:tblGrid>
                <a:gridCol w="2495550"/>
                <a:gridCol w="249555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DUC2006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Number of topics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Number of documents relevant to each topic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Data source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AQUAINT corpus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Summary 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250 words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8698" name="Text Box 75"/>
          <p:cNvSpPr txBox="1">
            <a:spLocks noChangeArrowheads="1"/>
          </p:cNvSpPr>
          <p:nvPr/>
        </p:nvSpPr>
        <p:spPr bwMode="auto">
          <a:xfrm>
            <a:off x="1066800" y="4191000"/>
            <a:ext cx="75438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endParaRPr lang="en-US" altLang="zh-CN" sz="1600" dirty="0" smtClean="0">
              <a:solidFill>
                <a:srgbClr val="FF6600"/>
              </a:solidFill>
              <a:ea typeface="宋体" pitchFamily="2" charset="-122"/>
            </a:endParaRPr>
          </a:p>
          <a:p>
            <a:pPr marL="285750" indent="-285750" algn="l">
              <a:spcBef>
                <a:spcPct val="50000"/>
              </a:spcBef>
              <a:buFont typeface="Times New Roman" pitchFamily="18" charset="0"/>
              <a:buChar char="−"/>
              <a:defRPr/>
            </a:pPr>
            <a:r>
              <a:rPr lang="en-US" altLang="zh-CN" sz="1600" dirty="0" err="1" smtClean="0">
                <a:ea typeface="宋体" pitchFamily="2" charset="-122"/>
              </a:rPr>
              <a:t>LeadBase</a:t>
            </a:r>
            <a:r>
              <a:rPr lang="en-US" altLang="zh-CN" sz="1600" dirty="0" smtClean="0">
                <a:ea typeface="宋体" pitchFamily="2" charset="-122"/>
              </a:rPr>
              <a:t> (leading sentences)</a:t>
            </a:r>
          </a:p>
          <a:p>
            <a:pPr marL="285750" indent="-285750" algn="l">
              <a:spcBef>
                <a:spcPct val="50000"/>
              </a:spcBef>
              <a:buFont typeface="Times New Roman" pitchFamily="18" charset="0"/>
              <a:buChar char="−"/>
              <a:defRPr/>
            </a:pPr>
            <a:r>
              <a:rPr lang="en-US" altLang="zh-CN" sz="1600" dirty="0" smtClean="0">
                <a:ea typeface="宋体" pitchFamily="2" charset="-122"/>
              </a:rPr>
              <a:t>Random</a:t>
            </a:r>
          </a:p>
          <a:p>
            <a:pPr marL="285750" indent="-285750" algn="l">
              <a:spcBef>
                <a:spcPct val="50000"/>
              </a:spcBef>
              <a:buFont typeface="Times New Roman" pitchFamily="18" charset="0"/>
              <a:buChar char="−"/>
              <a:defRPr/>
            </a:pPr>
            <a:r>
              <a:rPr lang="en-US" altLang="zh-CN" sz="1600" dirty="0" smtClean="0">
                <a:ea typeface="宋体" pitchFamily="2" charset="-122"/>
              </a:rPr>
              <a:t>LSA [</a:t>
            </a:r>
            <a:r>
              <a:rPr lang="en-US" altLang="zh-CN" sz="1600" dirty="0">
                <a:ea typeface="宋体" pitchFamily="2" charset="-122"/>
              </a:rPr>
              <a:t>4</a:t>
            </a:r>
            <a:r>
              <a:rPr lang="en-US" altLang="zh-CN" sz="1600" dirty="0" smtClean="0">
                <a:ea typeface="宋体" pitchFamily="2" charset="-122"/>
              </a:rPr>
              <a:t>]</a:t>
            </a:r>
          </a:p>
          <a:p>
            <a:pPr marL="285750" indent="-285750" algn="l">
              <a:spcBef>
                <a:spcPct val="50000"/>
              </a:spcBef>
              <a:buFont typeface="Times New Roman" pitchFamily="18" charset="0"/>
              <a:buChar char="−"/>
              <a:defRPr/>
            </a:pPr>
            <a:r>
              <a:rPr lang="en-US" altLang="zh-CN" sz="1600" dirty="0" smtClean="0">
                <a:ea typeface="宋体" pitchFamily="2" charset="-122"/>
              </a:rPr>
              <a:t>NMF [</a:t>
            </a:r>
            <a:r>
              <a:rPr lang="en-US" altLang="zh-CN" sz="1600" dirty="0">
                <a:ea typeface="宋体" pitchFamily="2" charset="-122"/>
              </a:rPr>
              <a:t>5</a:t>
            </a:r>
            <a:r>
              <a:rPr lang="en-US" altLang="zh-CN" sz="1600" dirty="0" smtClean="0">
                <a:ea typeface="宋体" pitchFamily="2" charset="-122"/>
              </a:rPr>
              <a:t>]</a:t>
            </a:r>
            <a:endParaRPr lang="en-US" sz="1600" dirty="0" smtClean="0">
              <a:solidFill>
                <a:srgbClr val="FF6600"/>
              </a:solidFill>
            </a:endParaRPr>
          </a:p>
        </p:txBody>
      </p:sp>
      <p:sp>
        <p:nvSpPr>
          <p:cNvPr id="21530" name="Rectangle 5"/>
          <p:cNvSpPr>
            <a:spLocks noChangeArrowheads="1"/>
          </p:cNvSpPr>
          <p:nvPr/>
        </p:nvSpPr>
        <p:spPr bwMode="auto">
          <a:xfrm>
            <a:off x="609600" y="4175125"/>
            <a:ext cx="3048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  </a:t>
            </a:r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Implemented Systems</a:t>
            </a:r>
          </a:p>
        </p:txBody>
      </p:sp>
    </p:spTree>
    <p:extLst>
      <p:ext uri="{BB962C8B-B14F-4D97-AF65-F5344CB8AC3E}">
        <p14:creationId xmlns:p14="http://schemas.microsoft.com/office/powerpoint/2010/main" val="332432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3352800"/>
            <a:ext cx="7391400" cy="20859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defRPr/>
            </a:pPr>
            <a:endParaRPr lang="en-US" altLang="zh-CN" sz="1600" dirty="0">
              <a:ea typeface="宋体" pitchFamily="2" charset="-122"/>
            </a:endParaRPr>
          </a:p>
          <a:p>
            <a:pPr algn="l" eaLnBrk="1" hangingPunct="1">
              <a:lnSpc>
                <a:spcPct val="90000"/>
              </a:lnSpc>
              <a:defRPr/>
            </a:pPr>
            <a:endParaRPr lang="en-US" altLang="zh-CN" sz="1600" dirty="0">
              <a:ea typeface="宋体" pitchFamily="2" charset="-122"/>
            </a:endParaRPr>
          </a:p>
          <a:p>
            <a:pPr algn="l" eaLnBrk="1" hangingPunct="1">
              <a:lnSpc>
                <a:spcPct val="90000"/>
              </a:lnSpc>
              <a:defRPr/>
            </a:pPr>
            <a:r>
              <a:rPr lang="en-US" altLang="zh-CN" sz="1600" dirty="0">
                <a:ea typeface="宋体" pitchFamily="2" charset="-122"/>
              </a:rPr>
              <a:t>ROUGE </a:t>
            </a:r>
            <a:r>
              <a:rPr lang="en-US" altLang="zh-CN" sz="1600" dirty="0" smtClean="0">
                <a:ea typeface="宋体" pitchFamily="2" charset="-122"/>
              </a:rPr>
              <a:t>[</a:t>
            </a:r>
            <a:r>
              <a:rPr lang="en-US" altLang="zh-CN" sz="1600" dirty="0">
                <a:ea typeface="宋体" pitchFamily="2" charset="-122"/>
              </a:rPr>
              <a:t>9</a:t>
            </a:r>
            <a:r>
              <a:rPr lang="en-US" altLang="zh-CN" sz="1600" dirty="0" smtClean="0">
                <a:ea typeface="宋体" pitchFamily="2" charset="-122"/>
              </a:rPr>
              <a:t>] </a:t>
            </a:r>
            <a:r>
              <a:rPr lang="en-US" altLang="zh-CN" sz="1600" dirty="0">
                <a:ea typeface="宋体" pitchFamily="2" charset="-122"/>
              </a:rPr>
              <a:t>toolkit (version 1.5.5) - measures the quality of a summary by counting the unit overlaps between the candidate summary and a set of reference summaries. 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en-US" altLang="zh-CN" sz="1600" dirty="0">
                <a:ea typeface="宋体" pitchFamily="2" charset="-122"/>
              </a:rPr>
              <a:t>     </a:t>
            </a:r>
            <a:endParaRPr lang="en-US" altLang="zh-CN" dirty="0">
              <a:ea typeface="宋体" pitchFamily="2" charset="-122"/>
            </a:endParaRPr>
          </a:p>
          <a:p>
            <a:pPr marL="285750" indent="-285750" algn="l" eaLnBrk="1" hangingPunct="1">
              <a:lnSpc>
                <a:spcPct val="90000"/>
              </a:lnSpc>
              <a:buFont typeface="Times New Roman" pitchFamily="18" charset="0"/>
              <a:buChar char="−"/>
              <a:defRPr/>
            </a:pPr>
            <a:r>
              <a:rPr lang="en-US" altLang="zh-CN" sz="1600" dirty="0">
                <a:ea typeface="宋体" pitchFamily="2" charset="-122"/>
              </a:rPr>
              <a:t>Rouge-N: n-gram recall</a:t>
            </a:r>
          </a:p>
          <a:p>
            <a:pPr marL="285750" indent="-285750" algn="l" eaLnBrk="1" hangingPunct="1">
              <a:lnSpc>
                <a:spcPct val="90000"/>
              </a:lnSpc>
              <a:buFont typeface="Times New Roman" pitchFamily="18" charset="0"/>
              <a:buChar char="−"/>
              <a:defRPr/>
            </a:pPr>
            <a:r>
              <a:rPr lang="en-US" altLang="zh-CN" sz="1600" dirty="0">
                <a:ea typeface="宋体" pitchFamily="2" charset="-122"/>
              </a:rPr>
              <a:t>Rouge-L: the longest common subsequence (LCS) statistics</a:t>
            </a:r>
          </a:p>
          <a:p>
            <a:pPr marL="285750" indent="-285750" algn="l" eaLnBrk="1" hangingPunct="1">
              <a:lnSpc>
                <a:spcPct val="90000"/>
              </a:lnSpc>
              <a:buFont typeface="Times New Roman" pitchFamily="18" charset="0"/>
              <a:buChar char="−"/>
              <a:defRPr/>
            </a:pPr>
            <a:r>
              <a:rPr lang="en-US" altLang="zh-CN" sz="1600" dirty="0">
                <a:ea typeface="宋体" pitchFamily="2" charset="-122"/>
              </a:rPr>
              <a:t>Rouge-W: weighted LCS</a:t>
            </a:r>
          </a:p>
          <a:p>
            <a:pPr marL="285750" indent="-285750" algn="l" eaLnBrk="1" hangingPunct="1">
              <a:lnSpc>
                <a:spcPct val="90000"/>
              </a:lnSpc>
              <a:buFont typeface="Times New Roman" pitchFamily="18" charset="0"/>
              <a:buChar char="−"/>
              <a:defRPr/>
            </a:pPr>
            <a:r>
              <a:rPr lang="en-US" altLang="zh-CN" sz="1600" dirty="0">
                <a:ea typeface="宋体" pitchFamily="2" charset="-122"/>
              </a:rPr>
              <a:t>Rouge-SU: skip-bigram plus unigram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Experiments (cont’d)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457200" y="12192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" name="Group 1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2000305"/>
              </p:ext>
            </p:extLst>
          </p:nvPr>
        </p:nvGraphicFramePr>
        <p:xfrm>
          <a:off x="533400" y="1828800"/>
          <a:ext cx="6781800" cy="1002783"/>
        </p:xfrm>
        <a:graphic>
          <a:graphicData uri="http://schemas.openxmlformats.org/drawingml/2006/table">
            <a:tbl>
              <a:tblPr/>
              <a:tblGrid>
                <a:gridCol w="2049463"/>
                <a:gridCol w="2119312"/>
                <a:gridCol w="1341438"/>
                <a:gridCol w="1271587"/>
              </a:tblGrid>
              <a:tr h="3047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168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Phase</a:t>
                      </a: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168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Proposed method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168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Alternative1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168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Alternative2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393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Similarity Measurement</a:t>
                      </a: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Semantic similarity (SLSS)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Keyword-based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Clustering Algorithm</a:t>
                      </a:r>
                    </a:p>
                  </a:txBody>
                  <a:tcPr marT="45679" marB="456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SNMF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K-means (KM)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NMF</a:t>
                      </a: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60" name="Rectangle 5"/>
          <p:cNvSpPr>
            <a:spLocks noChangeArrowheads="1"/>
          </p:cNvSpPr>
          <p:nvPr/>
        </p:nvSpPr>
        <p:spPr bwMode="auto">
          <a:xfrm>
            <a:off x="457200" y="3336925"/>
            <a:ext cx="3695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>
                <a:solidFill>
                  <a:schemeClr val="accent2"/>
                </a:solidFill>
                <a:ea typeface="宋体" pitchFamily="2" charset="-122"/>
              </a:rPr>
              <a:t>  </a:t>
            </a:r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Evaluation Methods</a:t>
            </a:r>
          </a:p>
        </p:txBody>
      </p:sp>
    </p:spTree>
    <p:extLst>
      <p:ext uri="{BB962C8B-B14F-4D97-AF65-F5344CB8AC3E}">
        <p14:creationId xmlns:p14="http://schemas.microsoft.com/office/powerpoint/2010/main" val="16539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78" name="Group 19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693648"/>
              </p:ext>
            </p:extLst>
          </p:nvPr>
        </p:nvGraphicFramePr>
        <p:xfrm>
          <a:off x="457200" y="1905000"/>
          <a:ext cx="8229600" cy="3352800"/>
        </p:xfrm>
        <a:graphic>
          <a:graphicData uri="http://schemas.openxmlformats.org/drawingml/2006/table">
            <a:tbl>
              <a:tblPr/>
              <a:tblGrid>
                <a:gridCol w="1676400"/>
                <a:gridCol w="10668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Systems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ROUGE-1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ROUGE-2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ROUGE-L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ROUGE-W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ROUGE-SU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LeadBase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0.32082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0.05267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0.29726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0.10408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Random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0.31749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0.04892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0.29384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0.10779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0.10083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NMFBase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0.32374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0.05498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0.30062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0.11341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0.10606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LSA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0.33078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0.05022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0.30507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0.10226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KM (keyword)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0.33558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0.05920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0.32112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0.12614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KM (SLSS)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0.36371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0.06182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0.34114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0.12503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NMF (keyword)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0.33869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0.05891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0.31286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0.12719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0.11403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NMF (SLSS)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0.34372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0.05941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0.32386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0.12973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0.11706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SNMF (keyword)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0.38801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0.08304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0.36103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0.13361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0.13187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SNMF (SLSS)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0.39551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0.08549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0.36803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0.13943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0.13981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1E1"/>
                    </a:solidFill>
                  </a:tcPr>
                </a:tc>
              </a:tr>
            </a:tbl>
          </a:graphicData>
        </a:graphic>
      </p:graphicFrame>
      <p:sp>
        <p:nvSpPr>
          <p:cNvPr id="23738" name="Rectangle 191"/>
          <p:cNvSpPr>
            <a:spLocks noChangeArrowheads="1"/>
          </p:cNvSpPr>
          <p:nvPr/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Experimental Results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23739" name="Rectangle 192"/>
          <p:cNvSpPr>
            <a:spLocks noChangeArrowheads="1"/>
          </p:cNvSpPr>
          <p:nvPr/>
        </p:nvSpPr>
        <p:spPr bwMode="auto">
          <a:xfrm>
            <a:off x="457200" y="10668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None/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The performance of multi-document summarization is improved via:</a:t>
            </a:r>
          </a:p>
          <a:p>
            <a:pPr eaLnBrk="1" hangingPunct="1"/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Sentence-level semantic analysis</a:t>
            </a:r>
          </a:p>
          <a:p>
            <a:pPr lvl="1" eaLnBrk="1" hangingPunct="1"/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Clustering on similarity matrix via symmetric nonnegative matrix factorization</a:t>
            </a:r>
          </a:p>
          <a:p>
            <a:pPr lvl="1" eaLnBrk="1" hangingPunct="1"/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Summary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457200" y="1219200"/>
            <a:ext cx="4572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0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Motivation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smtClean="0">
                <a:latin typeface="Times New Roman" pitchFamily="18" charset="0"/>
              </a:rPr>
              <a:t>Current customer service (also called helpdesk,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call center, etc.) involves a lot of manual operations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sz="1600" smtClean="0">
                <a:latin typeface="Times New Roman" pitchFamily="18" charset="0"/>
              </a:rPr>
              <a:t>t is difficult to transfer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knowledge and experience between representatives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One solution is case-based system to find whether similar requests have been processed before</a:t>
            </a:r>
          </a:p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Challenges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Case retrieval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Result representation</a:t>
            </a:r>
          </a:p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iHelp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employs sentence-level semantic analysis to better understand the semantic meanings of the cases </a:t>
            </a:r>
            <a:r>
              <a:rPr lang="en-US" altLang="zh-CN" sz="1800" smtClean="0">
                <a:solidFill>
                  <a:srgbClr val="00CC00"/>
                </a:solidFill>
                <a:latin typeface="Times New Roman" pitchFamily="18" charset="0"/>
                <a:ea typeface="宋体" pitchFamily="2" charset="-122"/>
              </a:rPr>
              <a:t>(semantic role analysis)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performs the case clustering using SNMF to capture different scenarios in the top-ranking past cases that are related to the given problems </a:t>
            </a:r>
            <a:r>
              <a:rPr lang="en-US" altLang="zh-CN" sz="1800" smtClean="0">
                <a:solidFill>
                  <a:srgbClr val="00CC00"/>
                </a:solidFill>
                <a:latin typeface="Times New Roman" pitchFamily="18" charset="0"/>
                <a:ea typeface="宋体" pitchFamily="2" charset="-122"/>
              </a:rPr>
              <a:t>(SNMF)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generates a concise description for each scenario to improve the system usability </a:t>
            </a:r>
            <a:r>
              <a:rPr lang="en-US" altLang="zh-CN" sz="1800" smtClean="0">
                <a:solidFill>
                  <a:srgbClr val="00CC00"/>
                </a:solidFill>
                <a:latin typeface="Times New Roman" pitchFamily="18" charset="0"/>
                <a:ea typeface="宋体" pitchFamily="2" charset="-122"/>
              </a:rPr>
              <a:t>(summarization)</a:t>
            </a: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Application: </a:t>
            </a:r>
            <a:b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iHelp – An Intelligent Online Helpdesk System</a:t>
            </a:r>
            <a:b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1600">
                <a:solidFill>
                  <a:schemeClr val="tx2"/>
                </a:solidFill>
                <a:ea typeface="宋体" pitchFamily="2" charset="-122"/>
              </a:rPr>
              <a:t>[Wang et. al. IEEE Transactions on SMC 2010]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457200" y="1219200"/>
            <a:ext cx="55626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7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Framework</a:t>
            </a:r>
            <a:endParaRPr lang="en-US" sz="1800" smtClean="0">
              <a:solidFill>
                <a:srgbClr val="0000CC"/>
              </a:solidFill>
              <a:latin typeface="Times New Roman" pitchFamily="18" charset="0"/>
            </a:endParaRPr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2135188"/>
            <a:ext cx="5318125" cy="396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Application: </a:t>
            </a:r>
            <a:b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iHelp – An Intelligent Online Helpdesk System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457200" y="1219200"/>
            <a:ext cx="55626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2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Screenshot</a:t>
            </a:r>
            <a:endParaRPr lang="en-US" sz="2000" smtClean="0">
              <a:solidFill>
                <a:srgbClr val="0000CC"/>
              </a:solidFill>
              <a:latin typeface="Times New Roman" pitchFamily="18" charset="0"/>
            </a:endParaRP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1793875" y="1698625"/>
            <a:ext cx="4203700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20" name="Rectangle 7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Application: </a:t>
            </a:r>
            <a:b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iHelp – An Intelligent Online Helpdesk System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4821" name="Rectangle 8"/>
          <p:cNvSpPr>
            <a:spLocks noChangeArrowheads="1"/>
          </p:cNvSpPr>
          <p:nvPr/>
        </p:nvSpPr>
        <p:spPr bwMode="auto">
          <a:xfrm>
            <a:off x="457200" y="1219200"/>
            <a:ext cx="55626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0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Case Study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800" i="1" smtClean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sz="1600" i="1" smtClean="0">
                <a:solidFill>
                  <a:srgbClr val="FF6600"/>
                </a:solidFill>
                <a:latin typeface="Times New Roman" pitchFamily="18" charset="0"/>
              </a:rPr>
              <a:t>Scenario </a:t>
            </a:r>
            <a:r>
              <a:rPr lang="en-US" sz="1600" smtClean="0">
                <a:solidFill>
                  <a:srgbClr val="FF6600"/>
                </a:solidFill>
                <a:latin typeface="Times New Roman" pitchFamily="18" charset="0"/>
              </a:rPr>
              <a:t>:</a:t>
            </a:r>
            <a:r>
              <a:rPr lang="en-US" sz="1600" smtClean="0">
                <a:latin typeface="Times New Roman" pitchFamily="18" charset="0"/>
              </a:rPr>
              <a:t> Can you switch those two computers?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16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Apache Lucent v.s. iHelp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endParaRPr lang="en-US" sz="1800" smtClean="0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Application: </a:t>
            </a:r>
            <a:b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iHelp – An Intelligent Online Helpdesk System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457200" y="838200"/>
            <a:ext cx="55626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584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1905000"/>
            <a:ext cx="4240212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105400"/>
            <a:ext cx="4814888" cy="154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47" name="AutoShape 9"/>
          <p:cNvSpPr>
            <a:spLocks noChangeArrowheads="1"/>
          </p:cNvSpPr>
          <p:nvPr/>
        </p:nvSpPr>
        <p:spPr bwMode="auto">
          <a:xfrm rot="5400000">
            <a:off x="6248400" y="1905000"/>
            <a:ext cx="647700" cy="1333500"/>
          </a:xfrm>
          <a:prstGeom prst="wedgeRoundRectCallout">
            <a:avLst>
              <a:gd name="adj1" fmla="val 105144"/>
              <a:gd name="adj2" fmla="val 92023"/>
              <a:gd name="adj3" fmla="val 16667"/>
            </a:avLst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/>
          <a:lstStyle/>
          <a:p>
            <a:r>
              <a:rPr lang="en-US" altLang="zh-CN">
                <a:ea typeface="宋体" pitchFamily="2" charset="-122"/>
              </a:rPr>
              <a:t>top ranking cases</a:t>
            </a:r>
            <a:endParaRPr lang="en-US"/>
          </a:p>
        </p:txBody>
      </p:sp>
      <p:sp>
        <p:nvSpPr>
          <p:cNvPr id="35848" name="AutoShape 10"/>
          <p:cNvSpPr>
            <a:spLocks noChangeArrowheads="1"/>
          </p:cNvSpPr>
          <p:nvPr/>
        </p:nvSpPr>
        <p:spPr bwMode="auto">
          <a:xfrm rot="5400000">
            <a:off x="6781800" y="4191000"/>
            <a:ext cx="647700" cy="1333500"/>
          </a:xfrm>
          <a:prstGeom prst="wedgeRoundRectCallout">
            <a:avLst>
              <a:gd name="adj1" fmla="val 105144"/>
              <a:gd name="adj2" fmla="val 92023"/>
              <a:gd name="adj3" fmla="val 16667"/>
            </a:avLst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/>
          <a:lstStyle/>
          <a:p>
            <a:r>
              <a:rPr lang="en-US" altLang="zh-CN">
                <a:ea typeface="宋体" pitchFamily="2" charset="-122"/>
              </a:rPr>
              <a:t>sample summaries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Summary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endParaRPr lang="en-US" sz="2000" smtClean="0">
              <a:solidFill>
                <a:srgbClr val="0000CC"/>
              </a:solidFill>
              <a:latin typeface="Times New Roman" pitchFamily="18" charset="0"/>
            </a:endParaRP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A</a:t>
            </a:r>
            <a:r>
              <a:rPr lang="en-US" sz="1800" smtClean="0">
                <a:latin typeface="Times New Roman" pitchFamily="18" charset="0"/>
              </a:rPr>
              <a:t>ggregat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ing </a:t>
            </a:r>
            <a:r>
              <a:rPr lang="en-US" sz="1800" smtClean="0">
                <a:latin typeface="Times New Roman" pitchFamily="18" charset="0"/>
              </a:rPr>
              <a:t>different document summarization methods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S</a:t>
            </a:r>
            <a:r>
              <a:rPr lang="en-US" sz="1800" smtClean="0">
                <a:latin typeface="Times New Roman" pitchFamily="18" charset="0"/>
              </a:rPr>
              <a:t>emantic analysis on sentence relationships instead of shallow keyword co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-</a:t>
            </a:r>
            <a:r>
              <a:rPr lang="en-US" sz="1800" smtClean="0">
                <a:latin typeface="Times New Roman" pitchFamily="18" charset="0"/>
              </a:rPr>
              <a:t>occurrence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analysis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Intelligent helpdesk system application</a:t>
            </a:r>
            <a:endParaRPr lang="en-US" sz="1800" smtClean="0">
              <a:latin typeface="Times New Roman" pitchFamily="18" charset="0"/>
            </a:endParaRP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Improving Multi-Document Summarization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457200" y="1143000"/>
            <a:ext cx="55626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2667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Calibri" pitchFamily="34" charset="0"/>
                <a:ea typeface="宋体" pitchFamily="2" charset="-122"/>
              </a:rPr>
              <a:t>Problem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zh-CN" sz="1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0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Tx/>
              <a:buNone/>
            </a:pPr>
            <a:endParaRPr lang="en-US" altLang="zh-CN" sz="1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1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Calibri" pitchFamily="34" charset="0"/>
                <a:ea typeface="宋体" pitchFamily="2" charset="-122"/>
              </a:rPr>
              <a:t> solutions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latin typeface="Calibri" pitchFamily="34" charset="0"/>
                <a:ea typeface="宋体" pitchFamily="2" charset="-122"/>
              </a:rPr>
              <a:t> Paragraph selection: random, centroid-based, location-based, most “important”, etc.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zh-CN" sz="1600" dirty="0" smtClean="0">
                <a:latin typeface="Calibri" pitchFamily="34" charset="0"/>
                <a:ea typeface="宋体" pitchFamily="2" charset="-122"/>
              </a:rPr>
              <a:t>A variety of semi-supervised learning methods with order preference</a:t>
            </a:r>
          </a:p>
        </p:txBody>
      </p:sp>
      <p:sp>
        <p:nvSpPr>
          <p:cNvPr id="263171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  <p:txBody>
          <a:bodyPr lIns="92075" tIns="46038" rIns="92075" bIns="46038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pitchFamily="2" charset="-122"/>
              </a:rPr>
              <a:t>Semi-Supervised Document Summarization</a:t>
            </a:r>
          </a:p>
        </p:txBody>
      </p:sp>
      <p:sp>
        <p:nvSpPr>
          <p:cNvPr id="263172" name="AutoShape 4"/>
          <p:cNvSpPr>
            <a:spLocks noChangeArrowheads="1"/>
          </p:cNvSpPr>
          <p:nvPr/>
        </p:nvSpPr>
        <p:spPr bwMode="auto">
          <a:xfrm>
            <a:off x="1143000" y="2286000"/>
            <a:ext cx="1981200" cy="685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unsupervised</a:t>
            </a:r>
          </a:p>
        </p:txBody>
      </p:sp>
      <p:sp>
        <p:nvSpPr>
          <p:cNvPr id="263173" name="AutoShape 5"/>
          <p:cNvSpPr>
            <a:spLocks noChangeArrowheads="1"/>
          </p:cNvSpPr>
          <p:nvPr/>
        </p:nvSpPr>
        <p:spPr bwMode="auto">
          <a:xfrm>
            <a:off x="5181600" y="2286000"/>
            <a:ext cx="1981200" cy="685800"/>
          </a:xfrm>
          <a:prstGeom prst="flowChartDecision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rgbClr val="FF9900"/>
                </a:solidFill>
                <a:ea typeface="宋体" pitchFamily="2" charset="-122"/>
              </a:rPr>
              <a:t>semi-supervised</a:t>
            </a:r>
          </a:p>
        </p:txBody>
      </p:sp>
      <p:sp>
        <p:nvSpPr>
          <p:cNvPr id="263174" name="AutoShape 7"/>
          <p:cNvSpPr>
            <a:spLocks noChangeArrowheads="1"/>
          </p:cNvSpPr>
          <p:nvPr/>
        </p:nvSpPr>
        <p:spPr bwMode="auto">
          <a:xfrm>
            <a:off x="3505200" y="1905000"/>
            <a:ext cx="1219200" cy="609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3175" name="Text Box 8"/>
          <p:cNvSpPr txBox="1">
            <a:spLocks noChangeArrowheads="1"/>
          </p:cNvSpPr>
          <p:nvPr/>
        </p:nvSpPr>
        <p:spPr bwMode="auto">
          <a:xfrm>
            <a:off x="3276600" y="2362200"/>
            <a:ext cx="22098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dirty="0">
                <a:solidFill>
                  <a:srgbClr val="006600"/>
                </a:solidFill>
                <a:latin typeface="Calibri" pitchFamily="34" charset="0"/>
                <a:ea typeface="宋体" pitchFamily="2" charset="-122"/>
              </a:rPr>
              <a:t>ask users to rank sentences in some paragraphs</a:t>
            </a:r>
          </a:p>
        </p:txBody>
      </p:sp>
      <p:sp>
        <p:nvSpPr>
          <p:cNvPr id="263176" name="Text Box 13"/>
          <p:cNvSpPr txBox="1">
            <a:spLocks noChangeArrowheads="1"/>
          </p:cNvSpPr>
          <p:nvPr/>
        </p:nvSpPr>
        <p:spPr bwMode="auto">
          <a:xfrm>
            <a:off x="5943600" y="838200"/>
            <a:ext cx="2667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(Zhang, Wang &amp; Li, PKDD/ECML  2011)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4419600"/>
            <a:ext cx="7526338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050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8229600" cy="56388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1800" dirty="0" smtClean="0">
              <a:solidFill>
                <a:schemeClr val="accent2"/>
              </a:solidFill>
              <a:latin typeface="Comic Sans MS" pitchFamily="66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Calibri" pitchFamily="34" charset="0"/>
                <a:ea typeface="宋体" pitchFamily="2" charset="-122"/>
              </a:rPr>
              <a:t>Problem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altLang="zh-CN" sz="2800" dirty="0" smtClean="0">
              <a:solidFill>
                <a:schemeClr val="accent2"/>
              </a:solidFill>
              <a:latin typeface="Calibri" pitchFamily="34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Calibri" pitchFamily="34" charset="0"/>
                <a:ea typeface="宋体" pitchFamily="2" charset="-122"/>
              </a:rPr>
              <a:t>Solutions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US" altLang="zh-CN" sz="1600" dirty="0" smtClean="0">
                <a:latin typeface="Calibri" pitchFamily="34" charset="0"/>
                <a:ea typeface="宋体" pitchFamily="2" charset="-122"/>
              </a:rPr>
              <a:t>Aggregate ranking, e.g. average, weighted, and Round Robin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US" altLang="zh-CN" sz="1600" dirty="0" smtClean="0">
                <a:latin typeface="Calibri" pitchFamily="34" charset="0"/>
                <a:ea typeface="宋体" pitchFamily="2" charset="-122"/>
              </a:rPr>
              <a:t>Construct weighted sentence graph from summaries generated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600" dirty="0" smtClean="0">
                <a:latin typeface="Calibri" pitchFamily="34" charset="0"/>
                <a:ea typeface="宋体" pitchFamily="2" charset="-122"/>
              </a:rPr>
              <a:t>     by  different methods.</a:t>
            </a:r>
          </a:p>
        </p:txBody>
      </p:sp>
      <p:sp>
        <p:nvSpPr>
          <p:cNvPr id="264195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  <p:txBody>
          <a:bodyPr lIns="92075" tIns="46038" rIns="92075" bIns="46038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pitchFamily="2" charset="-122"/>
              </a:rPr>
              <a:t>Ensemble Summarization</a:t>
            </a:r>
          </a:p>
        </p:txBody>
      </p:sp>
      <p:sp>
        <p:nvSpPr>
          <p:cNvPr id="264196" name="AutoShape 4"/>
          <p:cNvSpPr>
            <a:spLocks noChangeArrowheads="1"/>
          </p:cNvSpPr>
          <p:nvPr/>
        </p:nvSpPr>
        <p:spPr bwMode="auto">
          <a:xfrm>
            <a:off x="3656013" y="1371600"/>
            <a:ext cx="381000" cy="457200"/>
          </a:xfrm>
          <a:prstGeom prst="flowChartDocumen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197" name="AutoShape 5"/>
          <p:cNvSpPr>
            <a:spLocks noChangeArrowheads="1"/>
          </p:cNvSpPr>
          <p:nvPr/>
        </p:nvSpPr>
        <p:spPr bwMode="auto">
          <a:xfrm>
            <a:off x="3656013" y="1905000"/>
            <a:ext cx="381000" cy="457200"/>
          </a:xfrm>
          <a:prstGeom prst="flowChartDocumen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198" name="AutoShape 6"/>
          <p:cNvSpPr>
            <a:spLocks noChangeArrowheads="1"/>
          </p:cNvSpPr>
          <p:nvPr/>
        </p:nvSpPr>
        <p:spPr bwMode="auto">
          <a:xfrm>
            <a:off x="3656013" y="2743200"/>
            <a:ext cx="381000" cy="457200"/>
          </a:xfrm>
          <a:prstGeom prst="flowChartDocumen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199" name="Text Box 7"/>
          <p:cNvSpPr txBox="1">
            <a:spLocks noChangeArrowheads="1"/>
          </p:cNvSpPr>
          <p:nvPr/>
        </p:nvSpPr>
        <p:spPr bwMode="auto">
          <a:xfrm>
            <a:off x="3656013" y="2362200"/>
            <a:ext cx="4587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…</a:t>
            </a:r>
          </a:p>
        </p:txBody>
      </p:sp>
      <p:sp>
        <p:nvSpPr>
          <p:cNvPr id="264200" name="AutoShape 8"/>
          <p:cNvSpPr>
            <a:spLocks noChangeArrowheads="1"/>
          </p:cNvSpPr>
          <p:nvPr/>
        </p:nvSpPr>
        <p:spPr bwMode="auto">
          <a:xfrm>
            <a:off x="1981200" y="1447800"/>
            <a:ext cx="609600" cy="2286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201" name="AutoShape 9"/>
          <p:cNvSpPr>
            <a:spLocks noChangeArrowheads="1"/>
          </p:cNvSpPr>
          <p:nvPr/>
        </p:nvSpPr>
        <p:spPr bwMode="auto">
          <a:xfrm>
            <a:off x="1981200" y="1981200"/>
            <a:ext cx="609600" cy="2286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202" name="AutoShape 10"/>
          <p:cNvSpPr>
            <a:spLocks noChangeArrowheads="1"/>
          </p:cNvSpPr>
          <p:nvPr/>
        </p:nvSpPr>
        <p:spPr bwMode="auto">
          <a:xfrm>
            <a:off x="1981200" y="2819400"/>
            <a:ext cx="609600" cy="2286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203" name="Text Box 12"/>
          <p:cNvSpPr txBox="1">
            <a:spLocks noChangeArrowheads="1"/>
          </p:cNvSpPr>
          <p:nvPr/>
        </p:nvSpPr>
        <p:spPr bwMode="auto">
          <a:xfrm>
            <a:off x="2133600" y="2209800"/>
            <a:ext cx="4587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… </a:t>
            </a:r>
          </a:p>
        </p:txBody>
      </p:sp>
      <p:sp>
        <p:nvSpPr>
          <p:cNvPr id="264204" name="Text Box 13"/>
          <p:cNvSpPr txBox="1">
            <a:spLocks noChangeArrowheads="1"/>
          </p:cNvSpPr>
          <p:nvPr/>
        </p:nvSpPr>
        <p:spPr bwMode="auto">
          <a:xfrm>
            <a:off x="1371600" y="33528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summarization methods</a:t>
            </a:r>
          </a:p>
        </p:txBody>
      </p:sp>
      <p:sp>
        <p:nvSpPr>
          <p:cNvPr id="264205" name="Text Box 15"/>
          <p:cNvSpPr txBox="1">
            <a:spLocks noChangeArrowheads="1"/>
          </p:cNvSpPr>
          <p:nvPr/>
        </p:nvSpPr>
        <p:spPr bwMode="auto">
          <a:xfrm>
            <a:off x="2895600" y="33528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summaries</a:t>
            </a:r>
          </a:p>
        </p:txBody>
      </p:sp>
      <p:sp>
        <p:nvSpPr>
          <p:cNvPr id="264206" name="AutoShape 16"/>
          <p:cNvSpPr>
            <a:spLocks noChangeArrowheads="1"/>
          </p:cNvSpPr>
          <p:nvPr/>
        </p:nvSpPr>
        <p:spPr bwMode="auto">
          <a:xfrm>
            <a:off x="2971800" y="1524000"/>
            <a:ext cx="304800" cy="76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4207" name="AutoShape 17"/>
          <p:cNvSpPr>
            <a:spLocks noChangeArrowheads="1"/>
          </p:cNvSpPr>
          <p:nvPr/>
        </p:nvSpPr>
        <p:spPr bwMode="auto">
          <a:xfrm>
            <a:off x="2971800" y="2057400"/>
            <a:ext cx="304800" cy="76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4208" name="AutoShape 18"/>
          <p:cNvSpPr>
            <a:spLocks noChangeArrowheads="1"/>
          </p:cNvSpPr>
          <p:nvPr/>
        </p:nvSpPr>
        <p:spPr bwMode="auto">
          <a:xfrm>
            <a:off x="2971800" y="2895600"/>
            <a:ext cx="304800" cy="76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4209" name="Line 19"/>
          <p:cNvSpPr>
            <a:spLocks noChangeShapeType="1"/>
          </p:cNvSpPr>
          <p:nvPr/>
        </p:nvSpPr>
        <p:spPr bwMode="auto">
          <a:xfrm>
            <a:off x="4267200" y="14478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4210" name="Line 20"/>
          <p:cNvSpPr>
            <a:spLocks noChangeShapeType="1"/>
          </p:cNvSpPr>
          <p:nvPr/>
        </p:nvSpPr>
        <p:spPr bwMode="auto">
          <a:xfrm>
            <a:off x="4343400" y="213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4211" name="Line 21"/>
          <p:cNvSpPr>
            <a:spLocks noChangeShapeType="1"/>
          </p:cNvSpPr>
          <p:nvPr/>
        </p:nvSpPr>
        <p:spPr bwMode="auto">
          <a:xfrm flipV="1">
            <a:off x="4343400" y="22860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4212" name="PubCross"/>
          <p:cNvSpPr>
            <a:spLocks noEditPoints="1" noChangeArrowheads="1"/>
          </p:cNvSpPr>
          <p:nvPr/>
        </p:nvSpPr>
        <p:spPr bwMode="auto">
          <a:xfrm>
            <a:off x="4572000" y="1981200"/>
            <a:ext cx="306388" cy="309563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5400 w 21600"/>
              <a:gd name="T13" fmla="*/ 5400 h 21600"/>
              <a:gd name="T14" fmla="*/ 162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0"/>
                </a:moveTo>
                <a:lnTo>
                  <a:pt x="5400" y="5400"/>
                </a:lnTo>
                <a:lnTo>
                  <a:pt x="0" y="5400"/>
                </a:lnTo>
                <a:lnTo>
                  <a:pt x="0" y="16200"/>
                </a:lnTo>
                <a:lnTo>
                  <a:pt x="5400" y="162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16200"/>
                </a:lnTo>
                <a:lnTo>
                  <a:pt x="21600" y="1620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0"/>
                </a:lnTo>
                <a:lnTo>
                  <a:pt x="5400" y="0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4213" name="AutoShape 23"/>
          <p:cNvSpPr>
            <a:spLocks noChangeArrowheads="1"/>
          </p:cNvSpPr>
          <p:nvPr/>
        </p:nvSpPr>
        <p:spPr bwMode="auto">
          <a:xfrm>
            <a:off x="5257800" y="1905000"/>
            <a:ext cx="381000" cy="457200"/>
          </a:xfrm>
          <a:prstGeom prst="flowChartDocumen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64214" name="Text Box 24"/>
          <p:cNvSpPr txBox="1">
            <a:spLocks noChangeArrowheads="1"/>
          </p:cNvSpPr>
          <p:nvPr/>
        </p:nvSpPr>
        <p:spPr bwMode="auto">
          <a:xfrm>
            <a:off x="4724400" y="3352800"/>
            <a:ext cx="137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ensemble summary</a:t>
            </a:r>
          </a:p>
        </p:txBody>
      </p:sp>
      <p:sp>
        <p:nvSpPr>
          <p:cNvPr id="264215" name="Text Box 26"/>
          <p:cNvSpPr txBox="1">
            <a:spLocks noChangeArrowheads="1"/>
          </p:cNvSpPr>
          <p:nvPr/>
        </p:nvSpPr>
        <p:spPr bwMode="auto">
          <a:xfrm>
            <a:off x="6172200" y="1600200"/>
            <a:ext cx="28194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zh-CN" sz="1400" dirty="0">
                <a:solidFill>
                  <a:srgbClr val="990000"/>
                </a:solidFill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sz="1400" dirty="0">
                <a:solidFill>
                  <a:srgbClr val="990000"/>
                </a:solidFill>
                <a:latin typeface="Calibri" pitchFamily="34" charset="0"/>
                <a:ea typeface="宋体" pitchFamily="2" charset="-122"/>
              </a:rPr>
              <a:t>combine results of a set of summarization systems under the assumption that the results of different systems are complementary to each other</a:t>
            </a:r>
          </a:p>
        </p:txBody>
      </p:sp>
      <p:sp>
        <p:nvSpPr>
          <p:cNvPr id="264216" name="Text Box 13"/>
          <p:cNvSpPr txBox="1">
            <a:spLocks noChangeArrowheads="1"/>
          </p:cNvSpPr>
          <p:nvPr/>
        </p:nvSpPr>
        <p:spPr bwMode="auto">
          <a:xfrm>
            <a:off x="5943600" y="762000"/>
            <a:ext cx="2667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(Wang &amp; Li, IPM 2011)</a:t>
            </a:r>
          </a:p>
        </p:txBody>
      </p:sp>
    </p:spTree>
    <p:extLst>
      <p:ext uri="{BB962C8B-B14F-4D97-AF65-F5344CB8AC3E}">
        <p14:creationId xmlns:p14="http://schemas.microsoft.com/office/powerpoint/2010/main" val="34919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2667000"/>
            <a:ext cx="4572000" cy="5334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2400" smtClean="0">
                <a:latin typeface="Times New Roman" pitchFamily="18" charset="0"/>
                <a:ea typeface="宋体" pitchFamily="2" charset="-122"/>
              </a:rPr>
              <a:t>Evolution-Related Novel Problems</a:t>
            </a:r>
            <a:endParaRPr lang="en-US" sz="2400" smtClean="0">
              <a:latin typeface="Times New Roman" pitchFamily="18" charset="0"/>
            </a:endParaRP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Contribution 3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457200" y="1066800"/>
            <a:ext cx="3124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3048000" y="3276600"/>
            <a:ext cx="365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  <a:buClr>
                <a:srgbClr val="0000CC"/>
              </a:buClr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ea typeface="宋体" pitchFamily="2" charset="-122"/>
              </a:rPr>
              <a:t>Comparing Different </a:t>
            </a:r>
            <a:r>
              <a:rPr lang="en-US" altLang="zh-CN" sz="1800" dirty="0" smtClean="0">
                <a:solidFill>
                  <a:srgbClr val="0070C0"/>
                </a:solidFill>
                <a:ea typeface="宋体" pitchFamily="2" charset="-122"/>
              </a:rPr>
              <a:t>Documents</a:t>
            </a:r>
          </a:p>
          <a:p>
            <a:pPr algn="l">
              <a:spcBef>
                <a:spcPct val="50000"/>
              </a:spcBef>
              <a:buClr>
                <a:srgbClr val="0000CC"/>
              </a:buClr>
              <a:buFontTx/>
              <a:buChar char="•"/>
            </a:pPr>
            <a:r>
              <a:rPr lang="en-US" altLang="zh-CN" sz="1800" dirty="0" smtClean="0">
                <a:solidFill>
                  <a:srgbClr val="0070C0"/>
                </a:solidFill>
                <a:ea typeface="宋体" pitchFamily="2" charset="-122"/>
              </a:rPr>
              <a:t> Update Summarization</a:t>
            </a:r>
          </a:p>
          <a:p>
            <a:pPr algn="l">
              <a:spcBef>
                <a:spcPct val="50000"/>
              </a:spcBef>
              <a:buClr>
                <a:srgbClr val="0000CC"/>
              </a:buClr>
              <a:buFontTx/>
              <a:buChar char="•"/>
            </a:pPr>
            <a:r>
              <a:rPr lang="en-US" altLang="zh-CN" sz="1800" dirty="0" smtClean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ea typeface="宋体" pitchFamily="2" charset="-122"/>
              </a:rPr>
              <a:t>Generating </a:t>
            </a:r>
            <a:r>
              <a:rPr lang="en-US" altLang="zh-CN" sz="1800" dirty="0">
                <a:solidFill>
                  <a:srgbClr val="0070C0"/>
                </a:solidFill>
                <a:ea typeface="宋体" pitchFamily="2" charset="-122"/>
              </a:rPr>
              <a:t>Pictorial Storyline</a:t>
            </a:r>
            <a:endParaRPr 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71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  <a:t>Comparative Document Summarization (CDS)</a:t>
            </a:r>
            <a:b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[Wang </a:t>
            </a:r>
            <a:r>
              <a:rPr lang="en-US" altLang="zh-CN" sz="1600" dirty="0" smtClean="0">
                <a:solidFill>
                  <a:schemeClr val="tx2"/>
                </a:solidFill>
                <a:ea typeface="宋体" pitchFamily="2" charset="-122"/>
              </a:rPr>
              <a:t>et </a:t>
            </a: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al. TKDD 2013]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457200" y="1219200"/>
            <a:ext cx="60960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533400" y="1447800"/>
            <a:ext cx="8229600" cy="479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Motivation</a:t>
            </a:r>
          </a:p>
        </p:txBody>
      </p:sp>
      <p:pic>
        <p:nvPicPr>
          <p:cNvPr id="77831" name="Picture 7" descr="spo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2451100"/>
            <a:ext cx="558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2" name="Picture 8" descr="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8" y="3114675"/>
            <a:ext cx="755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3" name="Picture 9" descr="camer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38" y="2200275"/>
            <a:ext cx="623887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4" name="Picture 10" descr="goog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088" y="2727325"/>
            <a:ext cx="658812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5" name="Picture 11" descr="yahoo_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13" y="2509838"/>
            <a:ext cx="3444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6" name="Picture 12" descr="ipo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3849688"/>
            <a:ext cx="630238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7" name="Picture 13" descr="hurrican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4360863"/>
            <a:ext cx="6556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8" name="Picture 14" descr="medical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3049588"/>
            <a:ext cx="6207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9" name="Picture 15" descr="politic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50" y="3738563"/>
            <a:ext cx="7000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40" name="Picture 16" descr="war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0" y="4351338"/>
            <a:ext cx="68738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3333750" y="3319463"/>
            <a:ext cx="2430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0066"/>
                </a:solidFill>
                <a:ea typeface="宋体" pitchFamily="2" charset="-122"/>
              </a:rPr>
              <a:t>Blog Communities</a:t>
            </a:r>
          </a:p>
        </p:txBody>
      </p:sp>
      <p:pic>
        <p:nvPicPr>
          <p:cNvPr id="77842" name="Picture 1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5157788"/>
            <a:ext cx="2046287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43" name="Picture 19" descr="document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5375275"/>
            <a:ext cx="1071563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44" name="Text Box 20"/>
          <p:cNvSpPr txBox="1">
            <a:spLocks noChangeArrowheads="1"/>
          </p:cNvSpPr>
          <p:nvPr/>
        </p:nvSpPr>
        <p:spPr bwMode="auto">
          <a:xfrm>
            <a:off x="5575300" y="5429250"/>
            <a:ext cx="28352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1">
                <a:solidFill>
                  <a:srgbClr val="990000"/>
                </a:solidFill>
                <a:ea typeface="宋体" pitchFamily="2" charset="-122"/>
              </a:rPr>
              <a:t>summarizing differences between comparable document groups</a:t>
            </a:r>
            <a:endParaRPr lang="zh-CN" altLang="en-US" sz="1800" b="1">
              <a:solidFill>
                <a:srgbClr val="990000"/>
              </a:solidFill>
              <a:ea typeface="宋体" pitchFamily="2" charset="-122"/>
            </a:endParaRPr>
          </a:p>
        </p:txBody>
      </p:sp>
      <p:sp>
        <p:nvSpPr>
          <p:cNvPr id="77845" name="AutoShape 21"/>
          <p:cNvSpPr>
            <a:spLocks noChangeArrowheads="1"/>
          </p:cNvSpPr>
          <p:nvPr/>
        </p:nvSpPr>
        <p:spPr bwMode="auto">
          <a:xfrm>
            <a:off x="2987675" y="5734050"/>
            <a:ext cx="568325" cy="274638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6" name="AutoShape 22"/>
          <p:cNvSpPr>
            <a:spLocks noChangeArrowheads="1"/>
          </p:cNvSpPr>
          <p:nvPr/>
        </p:nvSpPr>
        <p:spPr bwMode="auto">
          <a:xfrm>
            <a:off x="5006975" y="5762625"/>
            <a:ext cx="568325" cy="274638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7847" name="Picture 23" descr="katrina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188" y="4119563"/>
            <a:ext cx="636587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48" name="Picture 24" descr="katrina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63" y="2825750"/>
            <a:ext cx="63182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49" name="Picture 25" descr="katrina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4572000"/>
            <a:ext cx="6572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50" name="AutoShape 26"/>
          <p:cNvSpPr>
            <a:spLocks noChangeArrowheads="1"/>
          </p:cNvSpPr>
          <p:nvPr/>
        </p:nvSpPr>
        <p:spPr bwMode="auto">
          <a:xfrm rot="13200000" flipV="1">
            <a:off x="5010150" y="4470400"/>
            <a:ext cx="487363" cy="398463"/>
          </a:xfrm>
          <a:custGeom>
            <a:avLst/>
            <a:gdLst>
              <a:gd name="T0" fmla="*/ 561379518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1172900099 h 21600"/>
              <a:gd name="T8" fmla="*/ 2147483647 w 21600"/>
              <a:gd name="T9" fmla="*/ 2104339736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5486" y="4599"/>
                </a:moveTo>
                <a:cubicBezTo>
                  <a:pt x="3675" y="6150"/>
                  <a:pt x="2634" y="8415"/>
                  <a:pt x="2634" y="10799"/>
                </a:cubicBezTo>
                <a:cubicBezTo>
                  <a:pt x="2633" y="13959"/>
                  <a:pt x="4456" y="16835"/>
                  <a:pt x="7313" y="18184"/>
                </a:cubicBezTo>
                <a:lnTo>
                  <a:pt x="6189" y="20566"/>
                </a:lnTo>
                <a:cubicBezTo>
                  <a:pt x="2410" y="18782"/>
                  <a:pt x="0" y="14978"/>
                  <a:pt x="0" y="10800"/>
                </a:cubicBezTo>
                <a:cubicBezTo>
                  <a:pt x="-1" y="7646"/>
                  <a:pt x="1378" y="4651"/>
                  <a:pt x="3772" y="2599"/>
                </a:cubicBezTo>
                <a:lnTo>
                  <a:pt x="2015" y="549"/>
                </a:lnTo>
                <a:lnTo>
                  <a:pt x="7679" y="985"/>
                </a:lnTo>
                <a:lnTo>
                  <a:pt x="7243" y="6649"/>
                </a:lnTo>
                <a:lnTo>
                  <a:pt x="5486" y="4599"/>
                </a:lnTo>
                <a:close/>
              </a:path>
            </a:pathLst>
          </a:custGeom>
          <a:solidFill>
            <a:srgbClr val="FF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1" name="AutoShape 27"/>
          <p:cNvSpPr>
            <a:spLocks noChangeArrowheads="1"/>
          </p:cNvSpPr>
          <p:nvPr/>
        </p:nvSpPr>
        <p:spPr bwMode="auto">
          <a:xfrm rot="13200000" flipV="1">
            <a:off x="6046788" y="3990975"/>
            <a:ext cx="487362" cy="398463"/>
          </a:xfrm>
          <a:custGeom>
            <a:avLst/>
            <a:gdLst>
              <a:gd name="T0" fmla="*/ 251397001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1172900099 h 21600"/>
              <a:gd name="T8" fmla="*/ 2147483647 w 21600"/>
              <a:gd name="T9" fmla="*/ 2104339736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5486" y="4599"/>
                </a:moveTo>
                <a:cubicBezTo>
                  <a:pt x="3675" y="6150"/>
                  <a:pt x="2634" y="8415"/>
                  <a:pt x="2634" y="10799"/>
                </a:cubicBezTo>
                <a:cubicBezTo>
                  <a:pt x="2633" y="13703"/>
                  <a:pt x="4176" y="16389"/>
                  <a:pt x="6683" y="17852"/>
                </a:cubicBezTo>
                <a:lnTo>
                  <a:pt x="5356" y="20127"/>
                </a:lnTo>
                <a:cubicBezTo>
                  <a:pt x="2039" y="18191"/>
                  <a:pt x="0" y="14640"/>
                  <a:pt x="0" y="10800"/>
                </a:cubicBezTo>
                <a:cubicBezTo>
                  <a:pt x="-1" y="7646"/>
                  <a:pt x="1378" y="4651"/>
                  <a:pt x="3772" y="2599"/>
                </a:cubicBezTo>
                <a:lnTo>
                  <a:pt x="2015" y="549"/>
                </a:lnTo>
                <a:lnTo>
                  <a:pt x="7679" y="985"/>
                </a:lnTo>
                <a:lnTo>
                  <a:pt x="7243" y="6649"/>
                </a:lnTo>
                <a:lnTo>
                  <a:pt x="5486" y="4599"/>
                </a:lnTo>
                <a:close/>
              </a:path>
            </a:pathLst>
          </a:custGeom>
          <a:solidFill>
            <a:srgbClr val="FF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2" name="AutoShape 28"/>
          <p:cNvSpPr>
            <a:spLocks noChangeArrowheads="1"/>
          </p:cNvSpPr>
          <p:nvPr/>
        </p:nvSpPr>
        <p:spPr bwMode="auto">
          <a:xfrm rot="13200000" flipV="1">
            <a:off x="7070725" y="3178175"/>
            <a:ext cx="487363" cy="398463"/>
          </a:xfrm>
          <a:custGeom>
            <a:avLst/>
            <a:gdLst>
              <a:gd name="T0" fmla="*/ 40949954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1172900099 h 21600"/>
              <a:gd name="T8" fmla="*/ 2147483647 w 21600"/>
              <a:gd name="T9" fmla="*/ 2104339736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5486" y="4599"/>
                </a:moveTo>
                <a:cubicBezTo>
                  <a:pt x="3675" y="6150"/>
                  <a:pt x="2634" y="8415"/>
                  <a:pt x="2634" y="10799"/>
                </a:cubicBezTo>
                <a:cubicBezTo>
                  <a:pt x="2633" y="13395"/>
                  <a:pt x="3868" y="15837"/>
                  <a:pt x="5958" y="17376"/>
                </a:cubicBezTo>
                <a:lnTo>
                  <a:pt x="4397" y="19497"/>
                </a:lnTo>
                <a:cubicBezTo>
                  <a:pt x="1632" y="17461"/>
                  <a:pt x="0" y="14233"/>
                  <a:pt x="0" y="10800"/>
                </a:cubicBezTo>
                <a:cubicBezTo>
                  <a:pt x="-1" y="7646"/>
                  <a:pt x="1378" y="4651"/>
                  <a:pt x="3772" y="2599"/>
                </a:cubicBezTo>
                <a:lnTo>
                  <a:pt x="2015" y="549"/>
                </a:lnTo>
                <a:lnTo>
                  <a:pt x="7679" y="985"/>
                </a:lnTo>
                <a:lnTo>
                  <a:pt x="7243" y="6649"/>
                </a:lnTo>
                <a:lnTo>
                  <a:pt x="5486" y="4599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3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7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7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7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7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7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7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7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7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2 L 0.17292 0.22222 C 0.229 0.22222 0.29792 0.13032 0.29792 0.05556 L 0.29792 -0.11111 " pathEditMode="relative" rAng="0" ptsTypes="FfFF">
                                      <p:cBhvr>
                                        <p:cTn id="63" dur="1000" fill="hold"/>
                                        <p:tgtEl>
                                          <p:spTgt spid="77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2222 L 0.17291 0.22222 C 0.22899 0.22222 0.29791 0.13032 0.29791 0.05555 L 0.29791 -0.11111 " pathEditMode="relative" rAng="0" ptsTypes="FfFF">
                                      <p:cBhvr>
                                        <p:cTn id="65" dur="10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2222 L 0.17291 0.22222 C 0.22899 0.22222 0.29791 0.13032 0.29791 0.05556 L 0.29791 -0.11111 " pathEditMode="relative" rAng="0" ptsTypes="FfFF">
                                      <p:cBhvr>
                                        <p:cTn id="67" dur="1000" fill="hold"/>
                                        <p:tgtEl>
                                          <p:spTgt spid="778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2222 L 0.17291 0.22222 C 0.22899 0.22222 0.29791 0.13032 0.29791 0.05555 L 0.29791 -0.11112 " pathEditMode="relative" rAng="0" ptsTypes="FfFF">
                                      <p:cBhvr>
                                        <p:cTn id="69" dur="10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3 L 0.17292 0.22223 C 0.22899 0.22223 0.29792 0.13033 0.29792 0.05556 L 0.29792 -0.11111 " pathEditMode="relative" rAng="0" ptsTypes="FfFF">
                                      <p:cBhvr>
                                        <p:cTn id="71" dur="1000" fill="hold"/>
                                        <p:tgtEl>
                                          <p:spTgt spid="778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2223 L 0.17291 0.22223 C 0.22899 0.22223 0.29791 0.13033 0.29791 0.05556 L 0.29791 -0.11111 " pathEditMode="relative" rAng="0" ptsTypes="FfFF">
                                      <p:cBhvr>
                                        <p:cTn id="73" dur="1000" fill="hold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3 L 0.17292 0.22223 C 0.22899 0.22223 0.29792 0.13033 0.29792 0.05556 L 0.29792 -0.11111 " pathEditMode="relative" rAng="0" ptsTypes="FfFF">
                                      <p:cBhvr>
                                        <p:cTn id="75" dur="1000" fill="hold"/>
                                        <p:tgtEl>
                                          <p:spTgt spid="778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2 L 0.17292 0.22222 C 0.229 0.22222 0.29792 0.13032 0.29792 0.05555 L 0.29792 -0.11112 " pathEditMode="relative" rAng="0" ptsTypes="FfFF">
                                      <p:cBhvr>
                                        <p:cTn id="77" dur="1000" fill="hold"/>
                                        <p:tgtEl>
                                          <p:spTgt spid="77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3 L 0.17292 0.22223 C 0.22899 0.22223 0.29792 0.13033 0.29792 0.05556 L 0.29792 -0.11111 " pathEditMode="relative" rAng="0" ptsTypes="FfFF">
                                      <p:cBhvr>
                                        <p:cTn id="79" dur="10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2 L 0.17292 0.22222 C 0.229 0.22222 0.29792 0.13032 0.29792 0.05555 L 0.29792 -0.11111 " pathEditMode="relative" rAng="0" ptsTypes="FfFF">
                                      <p:cBhvr>
                                        <p:cTn id="81" dur="10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2 0.22223 L 0.17292 0.22223 C 0.22899 0.22223 0.29792 0.13033 0.29792 0.05556 L 0.29792 -0.11111 " pathEditMode="relative" rAng="0" ptsTypes="FfFF">
                                      <p:cBhvr>
                                        <p:cTn id="83" dur="1000" fill="hold"/>
                                        <p:tgtEl>
                                          <p:spTgt spid="778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7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7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7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7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7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7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7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7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7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7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7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7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1" grpId="0"/>
      <p:bldP spid="77841" grpId="1"/>
      <p:bldP spid="77844" grpId="0"/>
      <p:bldP spid="77845" grpId="0" animBg="1"/>
      <p:bldP spid="77846" grpId="0" animBg="1"/>
      <p:bldP spid="77850" grpId="0" animBg="1"/>
      <p:bldP spid="77851" grpId="0" animBg="1"/>
      <p:bldP spid="778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CDS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457200" y="1066800"/>
            <a:ext cx="2438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454025" y="1538288"/>
            <a:ext cx="7864475" cy="520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1800" dirty="0">
                <a:solidFill>
                  <a:schemeClr val="accent2"/>
                </a:solidFill>
                <a:ea typeface="宋体" pitchFamily="2" charset="-122"/>
              </a:rPr>
              <a:t>Problem Description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1800" dirty="0">
              <a:solidFill>
                <a:schemeClr val="accent2"/>
              </a:solidFill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000" b="1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</a:pPr>
            <a:endParaRPr lang="en-US" altLang="zh-CN" sz="2000" b="1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</a:pPr>
            <a:endParaRPr lang="en-US" altLang="zh-CN" sz="2000" b="1" dirty="0">
              <a:latin typeface="Comic Sans MS" pitchFamily="66" charset="0"/>
              <a:ea typeface="宋体" pitchFamily="2" charset="-122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dirty="0">
                <a:ea typeface="宋体" pitchFamily="2" charset="-122"/>
              </a:rPr>
              <a:t>Task: Extract sentences to best discriminate documents of different groups</a:t>
            </a:r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76200" y="1951038"/>
            <a:ext cx="8229600" cy="498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altLang="zh-CN" sz="1600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>
              <a:latin typeface="Arial" charset="0"/>
              <a:ea typeface="宋体" pitchFamily="2" charset="-122"/>
            </a:endParaRPr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>
            <a:off x="1295400" y="30940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Oval 10"/>
          <p:cNvSpPr>
            <a:spLocks noChangeArrowheads="1"/>
          </p:cNvSpPr>
          <p:nvPr/>
        </p:nvSpPr>
        <p:spPr bwMode="auto">
          <a:xfrm>
            <a:off x="2133600" y="29416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9" name="Oval 11"/>
          <p:cNvSpPr>
            <a:spLocks noChangeArrowheads="1"/>
          </p:cNvSpPr>
          <p:nvPr/>
        </p:nvSpPr>
        <p:spPr bwMode="auto">
          <a:xfrm>
            <a:off x="2971800" y="31702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0" name="Oval 12"/>
          <p:cNvSpPr>
            <a:spLocks noChangeArrowheads="1"/>
          </p:cNvSpPr>
          <p:nvPr/>
        </p:nvSpPr>
        <p:spPr bwMode="auto">
          <a:xfrm>
            <a:off x="3886200" y="31702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1" name="Oval 13"/>
          <p:cNvSpPr>
            <a:spLocks noChangeArrowheads="1"/>
          </p:cNvSpPr>
          <p:nvPr/>
        </p:nvSpPr>
        <p:spPr bwMode="auto">
          <a:xfrm>
            <a:off x="3657600" y="35512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2" name="Oval 14"/>
          <p:cNvSpPr>
            <a:spLocks noChangeArrowheads="1"/>
          </p:cNvSpPr>
          <p:nvPr/>
        </p:nvSpPr>
        <p:spPr bwMode="auto">
          <a:xfrm>
            <a:off x="3581400" y="26368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3" name="Oval 15"/>
          <p:cNvSpPr>
            <a:spLocks noChangeArrowheads="1"/>
          </p:cNvSpPr>
          <p:nvPr/>
        </p:nvSpPr>
        <p:spPr bwMode="auto">
          <a:xfrm>
            <a:off x="1828800" y="38560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4" name="Oval 16"/>
          <p:cNvSpPr>
            <a:spLocks noChangeArrowheads="1"/>
          </p:cNvSpPr>
          <p:nvPr/>
        </p:nvSpPr>
        <p:spPr bwMode="auto">
          <a:xfrm>
            <a:off x="2362200" y="34750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5" name="Oval 17"/>
          <p:cNvSpPr>
            <a:spLocks noChangeArrowheads="1"/>
          </p:cNvSpPr>
          <p:nvPr/>
        </p:nvSpPr>
        <p:spPr bwMode="auto">
          <a:xfrm>
            <a:off x="990600" y="53038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1</a:t>
            </a:r>
          </a:p>
        </p:txBody>
      </p:sp>
      <p:sp>
        <p:nvSpPr>
          <p:cNvPr id="78866" name="Oval 18"/>
          <p:cNvSpPr>
            <a:spLocks noChangeArrowheads="1"/>
          </p:cNvSpPr>
          <p:nvPr/>
        </p:nvSpPr>
        <p:spPr bwMode="auto">
          <a:xfrm>
            <a:off x="1600200" y="49990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2</a:t>
            </a:r>
          </a:p>
        </p:txBody>
      </p:sp>
      <p:sp>
        <p:nvSpPr>
          <p:cNvPr id="78867" name="Oval 19"/>
          <p:cNvSpPr>
            <a:spLocks noChangeArrowheads="1"/>
          </p:cNvSpPr>
          <p:nvPr/>
        </p:nvSpPr>
        <p:spPr bwMode="auto">
          <a:xfrm>
            <a:off x="2362200" y="50752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3</a:t>
            </a:r>
          </a:p>
        </p:txBody>
      </p:sp>
      <p:sp>
        <p:nvSpPr>
          <p:cNvPr id="78868" name="Oval 20"/>
          <p:cNvSpPr>
            <a:spLocks noChangeArrowheads="1"/>
          </p:cNvSpPr>
          <p:nvPr/>
        </p:nvSpPr>
        <p:spPr bwMode="auto">
          <a:xfrm>
            <a:off x="2971800" y="52276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3</a:t>
            </a:r>
          </a:p>
        </p:txBody>
      </p:sp>
      <p:sp>
        <p:nvSpPr>
          <p:cNvPr id="78869" name="Oval 21"/>
          <p:cNvSpPr>
            <a:spLocks noChangeArrowheads="1"/>
          </p:cNvSpPr>
          <p:nvPr/>
        </p:nvSpPr>
        <p:spPr bwMode="auto">
          <a:xfrm>
            <a:off x="3657600" y="49228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2</a:t>
            </a:r>
          </a:p>
        </p:txBody>
      </p:sp>
      <p:sp>
        <p:nvSpPr>
          <p:cNvPr id="78870" name="Oval 22"/>
          <p:cNvSpPr>
            <a:spLocks noChangeArrowheads="1"/>
          </p:cNvSpPr>
          <p:nvPr/>
        </p:nvSpPr>
        <p:spPr bwMode="auto">
          <a:xfrm>
            <a:off x="4343400" y="50752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1</a:t>
            </a:r>
          </a:p>
        </p:txBody>
      </p:sp>
      <p:cxnSp>
        <p:nvCxnSpPr>
          <p:cNvPr id="78871" name="AutoShape 23"/>
          <p:cNvCxnSpPr>
            <a:cxnSpLocks noChangeShapeType="1"/>
            <a:stCxn id="78857" idx="2"/>
            <a:endCxn id="78865" idx="1"/>
          </p:cNvCxnSpPr>
          <p:nvPr/>
        </p:nvCxnSpPr>
        <p:spPr bwMode="auto">
          <a:xfrm rot="10800000" flipV="1">
            <a:off x="1023938" y="3208338"/>
            <a:ext cx="271462" cy="21288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2" name="AutoShape 24"/>
          <p:cNvCxnSpPr>
            <a:cxnSpLocks noChangeShapeType="1"/>
          </p:cNvCxnSpPr>
          <p:nvPr/>
        </p:nvCxnSpPr>
        <p:spPr bwMode="auto">
          <a:xfrm>
            <a:off x="1524000" y="3170238"/>
            <a:ext cx="2252663" cy="17478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3" name="AutoShape 25"/>
          <p:cNvCxnSpPr>
            <a:cxnSpLocks noChangeShapeType="1"/>
            <a:stCxn id="78864" idx="6"/>
            <a:endCxn id="78870" idx="0"/>
          </p:cNvCxnSpPr>
          <p:nvPr/>
        </p:nvCxnSpPr>
        <p:spPr bwMode="auto">
          <a:xfrm>
            <a:off x="2590800" y="3589338"/>
            <a:ext cx="1866900" cy="14859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4" name="AutoShape 26"/>
          <p:cNvCxnSpPr>
            <a:cxnSpLocks noChangeShapeType="1"/>
            <a:stCxn id="78864" idx="2"/>
            <a:endCxn id="78865" idx="1"/>
          </p:cNvCxnSpPr>
          <p:nvPr/>
        </p:nvCxnSpPr>
        <p:spPr bwMode="auto">
          <a:xfrm rot="10800000" flipV="1">
            <a:off x="1023938" y="3589338"/>
            <a:ext cx="1338262" cy="17478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5" name="AutoShape 27"/>
          <p:cNvCxnSpPr>
            <a:cxnSpLocks noChangeShapeType="1"/>
            <a:stCxn id="78858" idx="6"/>
            <a:endCxn id="78868" idx="0"/>
          </p:cNvCxnSpPr>
          <p:nvPr/>
        </p:nvCxnSpPr>
        <p:spPr bwMode="auto">
          <a:xfrm>
            <a:off x="2362200" y="3055938"/>
            <a:ext cx="723900" cy="2171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6" name="AutoShape 28"/>
          <p:cNvCxnSpPr>
            <a:cxnSpLocks noChangeShapeType="1"/>
            <a:stCxn id="78858" idx="2"/>
            <a:endCxn id="78866" idx="0"/>
          </p:cNvCxnSpPr>
          <p:nvPr/>
        </p:nvCxnSpPr>
        <p:spPr bwMode="auto">
          <a:xfrm rot="10800000" flipV="1">
            <a:off x="1714500" y="3055938"/>
            <a:ext cx="419100" cy="1943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7" name="AutoShape 29"/>
          <p:cNvCxnSpPr>
            <a:cxnSpLocks noChangeShapeType="1"/>
            <a:stCxn id="78862" idx="2"/>
            <a:endCxn id="78865" idx="1"/>
          </p:cNvCxnSpPr>
          <p:nvPr/>
        </p:nvCxnSpPr>
        <p:spPr bwMode="auto">
          <a:xfrm rot="10800000" flipV="1">
            <a:off x="1023938" y="2751138"/>
            <a:ext cx="2557462" cy="25860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8" name="AutoShape 30"/>
          <p:cNvCxnSpPr>
            <a:cxnSpLocks noChangeShapeType="1"/>
          </p:cNvCxnSpPr>
          <p:nvPr/>
        </p:nvCxnSpPr>
        <p:spPr bwMode="auto">
          <a:xfrm rot="10800000" flipV="1">
            <a:off x="1752600" y="3246438"/>
            <a:ext cx="212407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9" name="AutoShape 31"/>
          <p:cNvCxnSpPr>
            <a:cxnSpLocks noChangeShapeType="1"/>
            <a:stCxn id="78860" idx="6"/>
          </p:cNvCxnSpPr>
          <p:nvPr/>
        </p:nvCxnSpPr>
        <p:spPr bwMode="auto">
          <a:xfrm>
            <a:off x="4114800" y="3284538"/>
            <a:ext cx="347663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0" name="AutoShape 32"/>
          <p:cNvCxnSpPr>
            <a:cxnSpLocks noChangeShapeType="1"/>
            <a:stCxn id="78863" idx="6"/>
          </p:cNvCxnSpPr>
          <p:nvPr/>
        </p:nvCxnSpPr>
        <p:spPr bwMode="auto">
          <a:xfrm>
            <a:off x="2057400" y="3970338"/>
            <a:ext cx="1023938" cy="12525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1" name="AutoShape 33"/>
          <p:cNvCxnSpPr>
            <a:cxnSpLocks noChangeShapeType="1"/>
            <a:stCxn id="78863" idx="7"/>
            <a:endCxn id="78869" idx="0"/>
          </p:cNvCxnSpPr>
          <p:nvPr/>
        </p:nvCxnSpPr>
        <p:spPr bwMode="auto">
          <a:xfrm rot="5400000" flipV="1">
            <a:off x="2381250" y="3532188"/>
            <a:ext cx="1033463" cy="1747837"/>
          </a:xfrm>
          <a:prstGeom prst="curvedConnector3">
            <a:avLst>
              <a:gd name="adj1" fmla="val -1950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2" name="AutoShape 34"/>
          <p:cNvCxnSpPr>
            <a:cxnSpLocks noChangeShapeType="1"/>
            <a:stCxn id="78859" idx="2"/>
            <a:endCxn id="78867" idx="0"/>
          </p:cNvCxnSpPr>
          <p:nvPr/>
        </p:nvCxnSpPr>
        <p:spPr bwMode="auto">
          <a:xfrm rot="10800000" flipV="1">
            <a:off x="2476500" y="3284538"/>
            <a:ext cx="495300" cy="1790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3" name="AutoShape 35"/>
          <p:cNvCxnSpPr>
            <a:cxnSpLocks noChangeShapeType="1"/>
            <a:stCxn id="78859" idx="6"/>
            <a:endCxn id="78869" idx="0"/>
          </p:cNvCxnSpPr>
          <p:nvPr/>
        </p:nvCxnSpPr>
        <p:spPr bwMode="auto">
          <a:xfrm>
            <a:off x="3200400" y="3284538"/>
            <a:ext cx="571500" cy="16383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4" name="AutoShape 36"/>
          <p:cNvCxnSpPr>
            <a:cxnSpLocks noChangeShapeType="1"/>
          </p:cNvCxnSpPr>
          <p:nvPr/>
        </p:nvCxnSpPr>
        <p:spPr bwMode="auto">
          <a:xfrm rot="-5400000">
            <a:off x="2357438" y="1803400"/>
            <a:ext cx="457200" cy="2124075"/>
          </a:xfrm>
          <a:prstGeom prst="curvedConnector3">
            <a:avLst>
              <a:gd name="adj1" fmla="val 98259"/>
            </a:avLst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5" name="AutoShape 37"/>
          <p:cNvCxnSpPr>
            <a:cxnSpLocks noChangeShapeType="1"/>
            <a:stCxn id="78857" idx="7"/>
            <a:endCxn id="78860" idx="1"/>
          </p:cNvCxnSpPr>
          <p:nvPr/>
        </p:nvCxnSpPr>
        <p:spPr bwMode="auto">
          <a:xfrm rot="5400000" flipV="1">
            <a:off x="2667001" y="1951037"/>
            <a:ext cx="76200" cy="2428875"/>
          </a:xfrm>
          <a:prstGeom prst="curvedConnector3">
            <a:avLst>
              <a:gd name="adj1" fmla="val -343750"/>
            </a:avLst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6" name="AutoShape 38"/>
          <p:cNvCxnSpPr>
            <a:cxnSpLocks noChangeShapeType="1"/>
            <a:stCxn id="78860" idx="4"/>
            <a:endCxn id="78861" idx="7"/>
          </p:cNvCxnSpPr>
          <p:nvPr/>
        </p:nvCxnSpPr>
        <p:spPr bwMode="auto">
          <a:xfrm flipH="1">
            <a:off x="3852863" y="3398838"/>
            <a:ext cx="147637" cy="185737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7" name="AutoShape 39"/>
          <p:cNvCxnSpPr>
            <a:cxnSpLocks noChangeShapeType="1"/>
            <a:stCxn id="78857" idx="5"/>
            <a:endCxn id="78859" idx="2"/>
          </p:cNvCxnSpPr>
          <p:nvPr/>
        </p:nvCxnSpPr>
        <p:spPr bwMode="auto">
          <a:xfrm rot="5400000" flipH="1" flipV="1">
            <a:off x="2228851" y="2546350"/>
            <a:ext cx="4762" cy="1481137"/>
          </a:xfrm>
          <a:prstGeom prst="curvedConnector4">
            <a:avLst>
              <a:gd name="adj1" fmla="val 133333"/>
              <a:gd name="adj2" fmla="val 7069"/>
            </a:avLst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8" name="AutoShape 40"/>
          <p:cNvCxnSpPr>
            <a:cxnSpLocks noChangeShapeType="1"/>
            <a:endCxn id="78859" idx="0"/>
          </p:cNvCxnSpPr>
          <p:nvPr/>
        </p:nvCxnSpPr>
        <p:spPr bwMode="auto">
          <a:xfrm>
            <a:off x="2286000" y="2941638"/>
            <a:ext cx="800100" cy="228600"/>
          </a:xfrm>
          <a:prstGeom prst="curvedConnector2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89" name="AutoShape 41"/>
          <p:cNvCxnSpPr>
            <a:cxnSpLocks noChangeShapeType="1"/>
            <a:stCxn id="78858" idx="3"/>
            <a:endCxn id="78863" idx="0"/>
          </p:cNvCxnSpPr>
          <p:nvPr/>
        </p:nvCxnSpPr>
        <p:spPr bwMode="auto">
          <a:xfrm flipH="1">
            <a:off x="1943100" y="3136900"/>
            <a:ext cx="223838" cy="719138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90" name="AutoShape 42"/>
          <p:cNvCxnSpPr>
            <a:cxnSpLocks noChangeShapeType="1"/>
            <a:stCxn id="78863" idx="5"/>
            <a:endCxn id="78859" idx="4"/>
          </p:cNvCxnSpPr>
          <p:nvPr/>
        </p:nvCxnSpPr>
        <p:spPr bwMode="auto">
          <a:xfrm rot="5400000" flipH="1" flipV="1">
            <a:off x="2228851" y="3194050"/>
            <a:ext cx="652462" cy="1062037"/>
          </a:xfrm>
          <a:prstGeom prst="curvedConnector3">
            <a:avLst>
              <a:gd name="adj1" fmla="val -40148"/>
            </a:avLst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91" name="AutoShape 43"/>
          <p:cNvCxnSpPr>
            <a:cxnSpLocks noChangeShapeType="1"/>
            <a:stCxn id="78862" idx="3"/>
            <a:endCxn id="78858" idx="6"/>
          </p:cNvCxnSpPr>
          <p:nvPr/>
        </p:nvCxnSpPr>
        <p:spPr bwMode="auto">
          <a:xfrm rot="5400000">
            <a:off x="2876550" y="2317750"/>
            <a:ext cx="223838" cy="1252538"/>
          </a:xfrm>
          <a:prstGeom prst="curvedConnector2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92" name="AutoShape 44"/>
          <p:cNvCxnSpPr>
            <a:cxnSpLocks noChangeShapeType="1"/>
            <a:stCxn id="78861" idx="5"/>
            <a:endCxn id="78870" idx="0"/>
          </p:cNvCxnSpPr>
          <p:nvPr/>
        </p:nvCxnSpPr>
        <p:spPr bwMode="auto">
          <a:xfrm>
            <a:off x="3852863" y="3746500"/>
            <a:ext cx="604837" cy="13287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93" name="AutoShape 45"/>
          <p:cNvCxnSpPr>
            <a:cxnSpLocks noChangeShapeType="1"/>
            <a:stCxn id="78862" idx="4"/>
            <a:endCxn id="78868" idx="0"/>
          </p:cNvCxnSpPr>
          <p:nvPr/>
        </p:nvCxnSpPr>
        <p:spPr bwMode="auto">
          <a:xfrm flipH="1">
            <a:off x="3086100" y="2865438"/>
            <a:ext cx="609600" cy="2362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94" name="Oval 46"/>
          <p:cNvSpPr>
            <a:spLocks noChangeArrowheads="1"/>
          </p:cNvSpPr>
          <p:nvPr/>
        </p:nvSpPr>
        <p:spPr bwMode="auto">
          <a:xfrm>
            <a:off x="5486400" y="3246438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95" name="Text Box 47"/>
          <p:cNvSpPr txBox="1">
            <a:spLocks noChangeArrowheads="1"/>
          </p:cNvSpPr>
          <p:nvPr/>
        </p:nvSpPr>
        <p:spPr bwMode="auto">
          <a:xfrm>
            <a:off x="5791200" y="3246438"/>
            <a:ext cx="1295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sentence</a:t>
            </a:r>
          </a:p>
        </p:txBody>
      </p:sp>
      <p:sp>
        <p:nvSpPr>
          <p:cNvPr id="78896" name="Oval 48"/>
          <p:cNvSpPr>
            <a:spLocks noChangeArrowheads="1"/>
          </p:cNvSpPr>
          <p:nvPr/>
        </p:nvSpPr>
        <p:spPr bwMode="auto">
          <a:xfrm>
            <a:off x="5486400" y="3627438"/>
            <a:ext cx="228600" cy="2286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>
                <a:latin typeface="Arial" charset="0"/>
                <a:ea typeface="宋体" pitchFamily="2" charset="-122"/>
              </a:rPr>
              <a:t>1</a:t>
            </a:r>
          </a:p>
        </p:txBody>
      </p:sp>
      <p:sp>
        <p:nvSpPr>
          <p:cNvPr id="78897" name="Text Box 49"/>
          <p:cNvSpPr txBox="1">
            <a:spLocks noChangeArrowheads="1"/>
          </p:cNvSpPr>
          <p:nvPr/>
        </p:nvSpPr>
        <p:spPr bwMode="auto">
          <a:xfrm>
            <a:off x="5791200" y="3589338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document in group 1</a:t>
            </a: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>
            <a:off x="5486400" y="4113213"/>
            <a:ext cx="228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9" name="Text Box 51"/>
          <p:cNvSpPr txBox="1">
            <a:spLocks noChangeArrowheads="1"/>
          </p:cNvSpPr>
          <p:nvPr/>
        </p:nvSpPr>
        <p:spPr bwMode="auto">
          <a:xfrm>
            <a:off x="5715000" y="3960813"/>
            <a:ext cx="285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latin typeface="Arial" charset="0"/>
                <a:ea typeface="宋体" pitchFamily="2" charset="-122"/>
              </a:rPr>
              <a:t>  </a:t>
            </a:r>
            <a:r>
              <a:rPr lang="en-US" altLang="zh-CN">
                <a:ea typeface="宋体" pitchFamily="2" charset="-122"/>
              </a:rPr>
              <a:t>sentence-document similarity</a:t>
            </a:r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>
            <a:off x="5486400" y="4341813"/>
            <a:ext cx="228600" cy="158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5715000" y="4189413"/>
            <a:ext cx="2865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latin typeface="Arial" charset="0"/>
                <a:ea typeface="宋体" pitchFamily="2" charset="-122"/>
              </a:rPr>
              <a:t>  </a:t>
            </a:r>
            <a:r>
              <a:rPr lang="en-US" altLang="zh-CN">
                <a:ea typeface="宋体" pitchFamily="2" charset="-122"/>
              </a:rPr>
              <a:t>sentence-sentence similarity</a:t>
            </a:r>
          </a:p>
        </p:txBody>
      </p:sp>
    </p:spTree>
    <p:extLst>
      <p:ext uri="{BB962C8B-B14F-4D97-AF65-F5344CB8AC3E}">
        <p14:creationId xmlns:p14="http://schemas.microsoft.com/office/powerpoint/2010/main" val="80663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8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7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7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7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7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7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7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indefinite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indefinite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indefinite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indefinite"/>
                                        <p:tgtEl>
                                          <p:spTgt spid="78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2" dur="indefinite"/>
                                        <p:tgtEl>
                                          <p:spTgt spid="78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78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indefinite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indefinite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88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88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7" grpId="0" animBg="1"/>
      <p:bldP spid="78858" grpId="0" animBg="1"/>
      <p:bldP spid="78859" grpId="0" animBg="1"/>
      <p:bldP spid="78860" grpId="0" animBg="1"/>
      <p:bldP spid="78861" grpId="0" animBg="1"/>
      <p:bldP spid="78862" grpId="0" animBg="1"/>
      <p:bldP spid="78863" grpId="0" animBg="1"/>
      <p:bldP spid="78864" grpId="0" animBg="1"/>
      <p:bldP spid="78865" grpId="0" animBg="1"/>
      <p:bldP spid="78866" grpId="0" animBg="1"/>
      <p:bldP spid="78867" grpId="0" animBg="1"/>
      <p:bldP spid="78868" grpId="0" animBg="1"/>
      <p:bldP spid="78869" grpId="0" animBg="1"/>
      <p:bldP spid="78870" grpId="0" animBg="1"/>
      <p:bldP spid="78894" grpId="0" animBg="1"/>
      <p:bldP spid="78895" grpId="0"/>
      <p:bldP spid="78896" grpId="0" animBg="1"/>
      <p:bldP spid="78897" grpId="0"/>
      <p:bldP spid="78898" grpId="0" animBg="1"/>
      <p:bldP spid="78899" grpId="0"/>
      <p:bldP spid="78900" grpId="0" animBg="1"/>
      <p:bldP spid="7890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CDS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457200" y="1066800"/>
            <a:ext cx="2438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433388" y="1319213"/>
            <a:ext cx="7940675" cy="491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ea typeface="宋体" pitchFamily="2" charset="-122"/>
              </a:rPr>
              <a:t>Discriminative Sentence Selection</a:t>
            </a:r>
            <a:endParaRPr lang="en-US" altLang="zh-CN" sz="1800" dirty="0">
              <a:solidFill>
                <a:schemeClr val="accent2"/>
              </a:solidFill>
              <a:ea typeface="宋体" pitchFamily="2" charset="-122"/>
            </a:endParaRPr>
          </a:p>
          <a:p>
            <a:pPr marL="742950" lvl="1" indent="-285750" algn="l"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zh-CN" sz="1600" dirty="0">
                <a:solidFill>
                  <a:srgbClr val="FF0000"/>
                </a:solidFill>
                <a:ea typeface="宋体" pitchFamily="2" charset="-122"/>
              </a:rPr>
              <a:t>minimize average variance of all targets (or the trace of the covariance)</a:t>
            </a:r>
          </a:p>
          <a:p>
            <a:pPr marL="342900" indent="-342900" algn="l" eaLnBrk="1" hangingPunct="1">
              <a:spcBef>
                <a:spcPct val="20000"/>
              </a:spcBef>
            </a:pPr>
            <a:endParaRPr lang="zh-CN" altLang="en-US" sz="1600" dirty="0">
              <a:solidFill>
                <a:srgbClr val="000066"/>
              </a:solidFill>
              <a:ea typeface="宋体" pitchFamily="2" charset="-122"/>
            </a:endParaRP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1112838" y="2770188"/>
            <a:ext cx="1371600" cy="88265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similarity</a:t>
            </a: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 rot="10800000">
            <a:off x="796925" y="2811463"/>
            <a:ext cx="3968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doc</a:t>
            </a: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1166813" y="2503488"/>
            <a:ext cx="12398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sentence</a:t>
            </a: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1519238" y="3703638"/>
            <a:ext cx="517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accent2"/>
                </a:solidFill>
                <a:ea typeface="宋体" pitchFamily="2" charset="-122"/>
              </a:rPr>
              <a:t>X</a:t>
            </a: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2544763" y="2770188"/>
            <a:ext cx="387350" cy="873125"/>
          </a:xfrm>
          <a:prstGeom prst="rect">
            <a:avLst/>
          </a:prstGeom>
          <a:solidFill>
            <a:srgbClr val="CC66FF"/>
          </a:solidFill>
          <a:ln w="12700">
            <a:solidFill>
              <a:srgbClr val="8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2454275" y="2508250"/>
            <a:ext cx="882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label</a:t>
            </a: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2462213" y="3692525"/>
            <a:ext cx="517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accent2"/>
                </a:solidFill>
                <a:ea typeface="宋体" pitchFamily="2" charset="-122"/>
              </a:rPr>
              <a:t>Y</a:t>
            </a:r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777875" y="2200275"/>
            <a:ext cx="2468563" cy="1870075"/>
          </a:xfrm>
          <a:prstGeom prst="rect">
            <a:avLst/>
          </a:prstGeom>
          <a:noFill/>
          <a:ln w="25400">
            <a:solidFill>
              <a:srgbClr val="FFFF00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808038" y="2241550"/>
            <a:ext cx="14938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600">
                <a:ea typeface="宋体" pitchFamily="2" charset="-122"/>
              </a:rPr>
              <a:t>Z=[X,Y]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609600" y="4343400"/>
            <a:ext cx="281305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1600" dirty="0">
                <a:latin typeface="Comic Sans MS" pitchFamily="66" charset="0"/>
                <a:ea typeface="宋体" pitchFamily="2" charset="-122"/>
              </a:rPr>
              <a:t>∑</a:t>
            </a:r>
            <a:r>
              <a:rPr lang="en-US" altLang="zh-CN" sz="1600" dirty="0">
                <a:latin typeface="Comic Sans MS" pitchFamily="66" charset="0"/>
                <a:ea typeface="宋体" pitchFamily="2" charset="-122"/>
              </a:rPr>
              <a:t>: </a:t>
            </a:r>
            <a:r>
              <a:rPr lang="en-US" altLang="zh-CN" sz="1600" dirty="0">
                <a:ea typeface="宋体" pitchFamily="2" charset="-122"/>
              </a:rPr>
              <a:t>covariance matrix </a:t>
            </a:r>
          </a:p>
          <a:p>
            <a:pPr algn="l">
              <a:spcBef>
                <a:spcPct val="50000"/>
              </a:spcBef>
            </a:pPr>
            <a:r>
              <a:rPr lang="en-US" altLang="zh-CN" sz="1600" dirty="0" err="1">
                <a:solidFill>
                  <a:srgbClr val="CC0000"/>
                </a:solidFill>
                <a:ea typeface="宋体" pitchFamily="2" charset="-122"/>
              </a:rPr>
              <a:t>Obj</a:t>
            </a:r>
            <a:r>
              <a:rPr lang="en-US" altLang="zh-CN" sz="1600" dirty="0">
                <a:solidFill>
                  <a:srgbClr val="CC0000"/>
                </a:solidFill>
                <a:ea typeface="宋体" pitchFamily="2" charset="-122"/>
              </a:rPr>
              <a:t>: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4D4D4D"/>
                </a:solidFill>
                <a:ea typeface="宋体" pitchFamily="2" charset="-122"/>
              </a:rPr>
              <a:t>T: index set in Z corresponding to the targets Y </a:t>
            </a:r>
          </a:p>
          <a:p>
            <a:pPr algn="l">
              <a:spcBef>
                <a:spcPct val="50000"/>
              </a:spcBef>
            </a:pPr>
            <a:r>
              <a:rPr lang="en-US" altLang="zh-CN" dirty="0">
                <a:solidFill>
                  <a:srgbClr val="4D4D4D"/>
                </a:solidFill>
                <a:ea typeface="宋体" pitchFamily="2" charset="-122"/>
              </a:rPr>
              <a:t>S: index set of selected sentences</a:t>
            </a:r>
          </a:p>
        </p:txBody>
      </p:sp>
      <p:sp>
        <p:nvSpPr>
          <p:cNvPr id="79890" name="AutoShape 18"/>
          <p:cNvSpPr>
            <a:spLocks/>
          </p:cNvSpPr>
          <p:nvPr/>
        </p:nvSpPr>
        <p:spPr bwMode="auto">
          <a:xfrm>
            <a:off x="3314700" y="2728913"/>
            <a:ext cx="190500" cy="3190875"/>
          </a:xfrm>
          <a:prstGeom prst="rightBrace">
            <a:avLst>
              <a:gd name="adj1" fmla="val 139583"/>
              <a:gd name="adj2" fmla="val 49352"/>
            </a:avLst>
          </a:prstGeom>
          <a:noFill/>
          <a:ln w="25400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3743325" y="2278063"/>
            <a:ext cx="1895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dirty="0">
                <a:ea typeface="宋体" pitchFamily="2" charset="-122"/>
              </a:rPr>
              <a:t>solved by </a:t>
            </a:r>
            <a:r>
              <a:rPr lang="en-US" altLang="zh-CN" dirty="0" err="1">
                <a:ea typeface="宋体" pitchFamily="2" charset="-122"/>
              </a:rPr>
              <a:t>transductive</a:t>
            </a:r>
            <a:r>
              <a:rPr lang="en-US" altLang="zh-CN" dirty="0">
                <a:ea typeface="宋体" pitchFamily="2" charset="-122"/>
              </a:rPr>
              <a:t> active </a:t>
            </a:r>
            <a:r>
              <a:rPr lang="en-US" altLang="zh-CN" dirty="0" smtClean="0">
                <a:ea typeface="宋体" pitchFamily="2" charset="-122"/>
              </a:rPr>
              <a:t>learning [10]</a:t>
            </a: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79892" name="Group 20"/>
          <p:cNvGraphicFramePr>
            <a:graphicFrameLocks noGrp="1"/>
          </p:cNvGraphicFramePr>
          <p:nvPr/>
        </p:nvGraphicFramePr>
        <p:xfrm>
          <a:off x="3546475" y="3509963"/>
          <a:ext cx="2673350" cy="2657740"/>
        </p:xfrm>
        <a:graphic>
          <a:graphicData uri="http://schemas.openxmlformats.org/drawingml/2006/table">
            <a:tbl>
              <a:tblPr/>
              <a:tblGrid>
                <a:gridCol w="2673350"/>
              </a:tblGrid>
              <a:tr h="304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Computational Algorithm</a:t>
                      </a:r>
                    </a:p>
                  </a:txBody>
                  <a:tcPr marT="45691" marB="45691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527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Repeat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7:  until |S|=m.</a:t>
                      </a:r>
                    </a:p>
                  </a:txBody>
                  <a:tcPr marT="45691" marB="4569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9902" name="Object 30"/>
          <p:cNvGraphicFramePr>
            <a:graphicFrameLocks noChangeAspect="1"/>
          </p:cNvGraphicFramePr>
          <p:nvPr/>
        </p:nvGraphicFramePr>
        <p:xfrm>
          <a:off x="4114800" y="3848100"/>
          <a:ext cx="55880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8" name="公式" r:id="rId4" imgW="457200" imgH="190500" progId="Equation.3">
                  <p:embed/>
                </p:oleObj>
              </mc:Choice>
              <mc:Fallback>
                <p:oleObj name="公式" r:id="rId4" imgW="4572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848100"/>
                        <a:ext cx="558800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3" name="Object 31"/>
          <p:cNvGraphicFramePr>
            <a:graphicFrameLocks noChangeAspect="1"/>
          </p:cNvGraphicFramePr>
          <p:nvPr/>
        </p:nvGraphicFramePr>
        <p:xfrm>
          <a:off x="4113213" y="4062413"/>
          <a:ext cx="1270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公式" r:id="rId6" imgW="1028254" imgH="215806" progId="Equation.3">
                  <p:embed/>
                </p:oleObj>
              </mc:Choice>
              <mc:Fallback>
                <p:oleObj name="公式" r:id="rId6" imgW="1028254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4062413"/>
                        <a:ext cx="12700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5" name="Object 33"/>
          <p:cNvGraphicFramePr>
            <a:graphicFrameLocks noChangeAspect="1"/>
          </p:cNvGraphicFramePr>
          <p:nvPr/>
        </p:nvGraphicFramePr>
        <p:xfrm>
          <a:off x="4191000" y="4481513"/>
          <a:ext cx="15843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公式" r:id="rId8" imgW="1269449" imgH="431613" progId="Equation.3">
                  <p:embed/>
                </p:oleObj>
              </mc:Choice>
              <mc:Fallback>
                <p:oleObj name="公式" r:id="rId8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481513"/>
                        <a:ext cx="158432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6" name="Object 34"/>
          <p:cNvGraphicFramePr>
            <a:graphicFrameLocks noChangeAspect="1"/>
          </p:cNvGraphicFramePr>
          <p:nvPr/>
        </p:nvGraphicFramePr>
        <p:xfrm>
          <a:off x="4156075" y="4986338"/>
          <a:ext cx="20589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公式" r:id="rId10" imgW="1637589" imgH="431613" progId="Equation.3">
                  <p:embed/>
                </p:oleObj>
              </mc:Choice>
              <mc:Fallback>
                <p:oleObj name="公式" r:id="rId10" imgW="163758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986338"/>
                        <a:ext cx="20589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7" name="Object 35"/>
          <p:cNvGraphicFramePr>
            <a:graphicFrameLocks noChangeAspect="1"/>
          </p:cNvGraphicFramePr>
          <p:nvPr/>
        </p:nvGraphicFramePr>
        <p:xfrm>
          <a:off x="4191000" y="5624513"/>
          <a:ext cx="10763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公式" r:id="rId12" imgW="825500" imgH="203200" progId="Equation.3">
                  <p:embed/>
                </p:oleObj>
              </mc:Choice>
              <mc:Fallback>
                <p:oleObj name="公式" r:id="rId12" imgW="825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624513"/>
                        <a:ext cx="107632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8" name="Rectangle 36"/>
          <p:cNvSpPr>
            <a:spLocks noChangeArrowheads="1"/>
          </p:cNvSpPr>
          <p:nvPr/>
        </p:nvSpPr>
        <p:spPr bwMode="auto">
          <a:xfrm>
            <a:off x="6638925" y="3597275"/>
            <a:ext cx="1727200" cy="1625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9" name="Rectangle 37"/>
          <p:cNvSpPr>
            <a:spLocks noChangeArrowheads="1"/>
          </p:cNvSpPr>
          <p:nvPr/>
        </p:nvSpPr>
        <p:spPr bwMode="auto">
          <a:xfrm>
            <a:off x="6638925" y="3597275"/>
            <a:ext cx="1270000" cy="1198563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>
                <a:solidFill>
                  <a:srgbClr val="FF9933"/>
                </a:solidFill>
                <a:ea typeface="宋体" pitchFamily="2" charset="-122"/>
              </a:rPr>
              <a:t>similarity</a:t>
            </a:r>
          </a:p>
        </p:txBody>
      </p:sp>
      <p:sp>
        <p:nvSpPr>
          <p:cNvPr id="79910" name="Rectangle 38"/>
          <p:cNvSpPr>
            <a:spLocks noChangeArrowheads="1"/>
          </p:cNvSpPr>
          <p:nvPr/>
        </p:nvSpPr>
        <p:spPr bwMode="auto">
          <a:xfrm>
            <a:off x="7908925" y="4805363"/>
            <a:ext cx="438150" cy="4064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>
                <a:ea typeface="宋体" pitchFamily="2" charset="-122"/>
              </a:rPr>
              <a:t>I</a:t>
            </a:r>
          </a:p>
        </p:txBody>
      </p:sp>
      <p:sp>
        <p:nvSpPr>
          <p:cNvPr id="79911" name="Text Box 39"/>
          <p:cNvSpPr txBox="1">
            <a:spLocks noChangeArrowheads="1"/>
          </p:cNvSpPr>
          <p:nvPr/>
        </p:nvSpPr>
        <p:spPr bwMode="auto">
          <a:xfrm rot="10800000">
            <a:off x="6297613" y="3709988"/>
            <a:ext cx="3968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sentence</a:t>
            </a:r>
          </a:p>
        </p:txBody>
      </p:sp>
      <p:sp>
        <p:nvSpPr>
          <p:cNvPr id="79912" name="Text Box 40"/>
          <p:cNvSpPr txBox="1">
            <a:spLocks noChangeArrowheads="1"/>
          </p:cNvSpPr>
          <p:nvPr/>
        </p:nvSpPr>
        <p:spPr bwMode="auto">
          <a:xfrm>
            <a:off x="6731000" y="33020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ea typeface="宋体" pitchFamily="2" charset="-122"/>
              </a:rPr>
              <a:t>sentence</a:t>
            </a:r>
          </a:p>
        </p:txBody>
      </p:sp>
      <p:sp>
        <p:nvSpPr>
          <p:cNvPr id="79913" name="Text Box 41"/>
          <p:cNvSpPr txBox="1">
            <a:spLocks noChangeArrowheads="1"/>
          </p:cNvSpPr>
          <p:nvPr/>
        </p:nvSpPr>
        <p:spPr bwMode="auto">
          <a:xfrm>
            <a:off x="7296150" y="5267325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accent2"/>
                </a:solidFill>
                <a:ea typeface="宋体" pitchFamily="2" charset="-122"/>
              </a:rPr>
              <a:t>W</a:t>
            </a:r>
          </a:p>
        </p:txBody>
      </p:sp>
      <p:sp>
        <p:nvSpPr>
          <p:cNvPr id="79914" name="AutoShape 42"/>
          <p:cNvSpPr>
            <a:spLocks noChangeArrowheads="1"/>
          </p:cNvSpPr>
          <p:nvPr/>
        </p:nvSpPr>
        <p:spPr bwMode="auto">
          <a:xfrm>
            <a:off x="5867400" y="4176713"/>
            <a:ext cx="509588" cy="120650"/>
          </a:xfrm>
          <a:prstGeom prst="notchedRightArrow">
            <a:avLst>
              <a:gd name="adj1" fmla="val 50000"/>
              <a:gd name="adj2" fmla="val 105592"/>
            </a:avLst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31" name="Object 45"/>
          <p:cNvGraphicFramePr>
            <a:graphicFrameLocks noGrp="1" noChangeAspect="1"/>
          </p:cNvGraphicFramePr>
          <p:nvPr>
            <p:ph/>
          </p:nvPr>
        </p:nvGraphicFramePr>
        <p:xfrm>
          <a:off x="1143000" y="4724400"/>
          <a:ext cx="14478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Equation" r:id="rId14" imgW="1053643" imgH="317362" progId="Equation.DSMT4">
                  <p:embed/>
                </p:oleObj>
              </mc:Choice>
              <mc:Fallback>
                <p:oleObj name="Equation" r:id="rId14" imgW="1053643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4400"/>
                        <a:ext cx="14478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36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9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98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98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9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9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9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9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9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9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9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9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9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9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9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 animBg="1"/>
      <p:bldP spid="79881" grpId="0"/>
      <p:bldP spid="79882" grpId="0"/>
      <p:bldP spid="79883" grpId="0"/>
      <p:bldP spid="79884" grpId="0" animBg="1"/>
      <p:bldP spid="79885" grpId="0"/>
      <p:bldP spid="79886" grpId="0"/>
      <p:bldP spid="79887" grpId="0" animBg="1"/>
      <p:bldP spid="79888" grpId="0"/>
      <p:bldP spid="79890" grpId="0" animBg="1"/>
      <p:bldP spid="79891" grpId="0"/>
      <p:bldP spid="79908" grpId="0" animBg="1"/>
      <p:bldP spid="79909" grpId="0" animBg="1"/>
      <p:bldP spid="79910" grpId="0" animBg="1"/>
      <p:bldP spid="79911" grpId="0"/>
      <p:bldP spid="79912" grpId="0"/>
      <p:bldP spid="79913" grpId="0"/>
      <p:bldP spid="799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823" y="1447800"/>
            <a:ext cx="8229600" cy="43735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Experiments</a:t>
            </a:r>
          </a:p>
          <a:p>
            <a:pPr marL="0" indent="0" eaLnBrk="1" hangingPunct="1">
              <a:buNone/>
            </a:pPr>
            <a:r>
              <a:rPr lang="en-US" altLang="zh-CN" sz="1800" dirty="0" smtClean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en-US" altLang="zh-CN" sz="1600" dirty="0" smtClean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Data set</a:t>
            </a:r>
            <a:endParaRPr lang="en-US" altLang="zh-CN" sz="1800" dirty="0">
              <a:latin typeface="Comic Sans MS" pitchFamily="66" charset="0"/>
              <a:ea typeface="宋体" pitchFamily="2" charset="-122"/>
            </a:endParaRPr>
          </a:p>
          <a:p>
            <a:pPr eaLnBrk="1" hangingPunct="1">
              <a:buFont typeface="Times New Roman" pitchFamily="18" charset="0"/>
              <a:buChar char="−"/>
            </a:pP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Blog data: 274,679 English blog entries in the topics of technology and politics in 441 days (63 weeks) between July 10</a:t>
            </a:r>
            <a:r>
              <a:rPr lang="en-US" altLang="zh-CN" sz="1600" baseline="300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in 2005 and September 23</a:t>
            </a:r>
            <a:r>
              <a:rPr lang="en-US" altLang="zh-CN" sz="1600" baseline="300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rd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in 2006. </a:t>
            </a: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CDS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457200" y="1096963"/>
            <a:ext cx="2438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4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Text Box 2"/>
          <p:cNvSpPr txBox="1">
            <a:spLocks noChangeArrowheads="1"/>
          </p:cNvSpPr>
          <p:nvPr/>
        </p:nvSpPr>
        <p:spPr bwMode="auto">
          <a:xfrm>
            <a:off x="3019425" y="2549525"/>
            <a:ext cx="27432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 communities</a:t>
            </a:r>
          </a:p>
          <a:p>
            <a:pPr algn="ctr">
              <a:spcBef>
                <a:spcPct val="50000"/>
              </a:spcBef>
            </a:pP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War and Terrorist, Race Issues, Duke Lacrosse Case, Religion, 911 Commission, China, Hurricane Katrina</a:t>
            </a:r>
          </a:p>
        </p:txBody>
      </p:sp>
      <p:sp>
        <p:nvSpPr>
          <p:cNvPr id="75779" name="AutoShape 3"/>
          <p:cNvSpPr>
            <a:spLocks noChangeArrowheads="1"/>
          </p:cNvSpPr>
          <p:nvPr/>
        </p:nvSpPr>
        <p:spPr bwMode="auto">
          <a:xfrm>
            <a:off x="508000" y="1147763"/>
            <a:ext cx="1817688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NMF on 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sent-term 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matrix</a:t>
            </a:r>
          </a:p>
        </p:txBody>
      </p:sp>
      <p:sp>
        <p:nvSpPr>
          <p:cNvPr id="75780" name="AutoShape 4"/>
          <p:cNvSpPr>
            <a:spLocks noChangeArrowheads="1"/>
          </p:cNvSpPr>
          <p:nvPr/>
        </p:nvSpPr>
        <p:spPr bwMode="auto">
          <a:xfrm>
            <a:off x="1014413" y="3829050"/>
            <a:ext cx="1817687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rgbClr val="FF6600"/>
                </a:solidFill>
                <a:ea typeface="宋体" pitchFamily="2" charset="-122"/>
              </a:rPr>
              <a:t>Our active </a:t>
            </a:r>
          </a:p>
          <a:p>
            <a:pPr algn="ctr" eaLnBrk="0" hangingPunct="0"/>
            <a:r>
              <a:rPr lang="en-US" altLang="zh-CN" sz="1600" b="1">
                <a:solidFill>
                  <a:srgbClr val="FF6600"/>
                </a:solidFill>
                <a:ea typeface="宋体" pitchFamily="2" charset="-122"/>
              </a:rPr>
              <a:t>Selection</a:t>
            </a:r>
          </a:p>
        </p:txBody>
      </p:sp>
      <p:sp>
        <p:nvSpPr>
          <p:cNvPr id="75781" name="AutoShape 5"/>
          <p:cNvSpPr>
            <a:spLocks noChangeArrowheads="1"/>
          </p:cNvSpPr>
          <p:nvPr/>
        </p:nvSpPr>
        <p:spPr bwMode="auto">
          <a:xfrm>
            <a:off x="2579688" y="254000"/>
            <a:ext cx="1817687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K-means on 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sent-term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matrix</a:t>
            </a:r>
          </a:p>
        </p:txBody>
      </p:sp>
      <p:sp>
        <p:nvSpPr>
          <p:cNvPr id="75782" name="AutoShape 6"/>
          <p:cNvSpPr>
            <a:spLocks noChangeArrowheads="1"/>
          </p:cNvSpPr>
          <p:nvPr/>
        </p:nvSpPr>
        <p:spPr bwMode="auto">
          <a:xfrm>
            <a:off x="4714875" y="254000"/>
            <a:ext cx="1817688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 dirty="0">
                <a:solidFill>
                  <a:schemeClr val="accent2"/>
                </a:solidFill>
                <a:ea typeface="宋体" pitchFamily="2" charset="-122"/>
              </a:rPr>
              <a:t>LSA </a:t>
            </a:r>
          </a:p>
        </p:txBody>
      </p:sp>
      <p:sp>
        <p:nvSpPr>
          <p:cNvPr id="75783" name="AutoShape 7"/>
          <p:cNvSpPr>
            <a:spLocks noChangeArrowheads="1"/>
          </p:cNvSpPr>
          <p:nvPr/>
        </p:nvSpPr>
        <p:spPr bwMode="auto">
          <a:xfrm>
            <a:off x="6723063" y="1065213"/>
            <a:ext cx="1817687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LeadBase</a:t>
            </a:r>
          </a:p>
        </p:txBody>
      </p:sp>
      <p:sp>
        <p:nvSpPr>
          <p:cNvPr id="75784" name="AutoShape 8"/>
          <p:cNvSpPr>
            <a:spLocks noChangeArrowheads="1"/>
          </p:cNvSpPr>
          <p:nvPr/>
        </p:nvSpPr>
        <p:spPr bwMode="auto">
          <a:xfrm>
            <a:off x="6432550" y="3786188"/>
            <a:ext cx="1817688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Community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centers</a:t>
            </a:r>
          </a:p>
        </p:txBody>
      </p:sp>
      <p:sp>
        <p:nvSpPr>
          <p:cNvPr id="75785" name="AutoShape 9"/>
          <p:cNvSpPr>
            <a:spLocks noChangeArrowheads="1"/>
          </p:cNvSpPr>
          <p:nvPr/>
        </p:nvSpPr>
        <p:spPr bwMode="auto">
          <a:xfrm>
            <a:off x="3690938" y="4156075"/>
            <a:ext cx="1817687" cy="2184400"/>
          </a:xfrm>
          <a:prstGeom prst="verticalScroll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NMF on 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doc-sent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similarity</a:t>
            </a:r>
          </a:p>
          <a:p>
            <a:pPr algn="ctr" eaLnBrk="0" hangingPunct="0"/>
            <a:r>
              <a:rPr lang="en-US" altLang="zh-CN" sz="1600" b="1">
                <a:solidFill>
                  <a:schemeClr val="accent2"/>
                </a:solidFill>
                <a:ea typeface="宋体" pitchFamily="2" charset="-122"/>
              </a:rPr>
              <a:t>matrix</a:t>
            </a:r>
          </a:p>
        </p:txBody>
      </p:sp>
      <p:sp>
        <p:nvSpPr>
          <p:cNvPr id="75786" name="AutoShape 10"/>
          <p:cNvSpPr>
            <a:spLocks noChangeArrowheads="1"/>
          </p:cNvSpPr>
          <p:nvPr/>
        </p:nvSpPr>
        <p:spPr bwMode="auto">
          <a:xfrm>
            <a:off x="3505200" y="1447800"/>
            <a:ext cx="5516563" cy="4611687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 b="1">
              <a:ea typeface="宋体" pitchFamily="2" charset="-122"/>
            </a:endParaRPr>
          </a:p>
          <a:p>
            <a:pPr marL="457200" indent="-457200" eaLnBrk="0" hangingPunct="0"/>
            <a:endParaRPr lang="en-US" altLang="zh-CN" sz="1200" b="1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1. after watching the media bungle the coverage in new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orleans, i can only imagine what is really happening in 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iraq</a:t>
            </a:r>
            <a:r>
              <a:rPr lang="en-US" altLang="zh-CN" sz="1200">
                <a:solidFill>
                  <a:schemeClr val="accent2"/>
                </a:solidFill>
                <a:ea typeface="宋体" pitchFamily="2" charset="-122"/>
              </a:rPr>
              <a:t>.</a:t>
            </a:r>
            <a:r>
              <a:rPr lang="en-US" altLang="zh-CN" sz="1200">
                <a:ea typeface="宋体" pitchFamily="2" charset="-122"/>
              </a:rPr>
              <a:t>  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[Hurricane Katrina]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2. the federal prosecutor's office has had two 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iraqi</a:t>
            </a:r>
            <a:r>
              <a:rPr lang="en-US" altLang="zh-CN" sz="1200">
                <a:ea typeface="宋体" pitchFamily="2" charset="-122"/>
              </a:rPr>
              <a:t> men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arrested on sunday and tuesday of this week.            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[911 Commission]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3. The system is designed to keep you running in circles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so you won't see the real issues.               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[Race Issues]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4. a snippet: even in a country that celebrates free speech,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you don't spontaneously vocalize grievances at state events.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[China Related]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5. i discussed this in earlier posts, but it bears repeating: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terrorists can change tactics situationally.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[911 Commission]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6. indeed... update 2 (by kevin): two issues with the story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have been raised via comment and trackback.     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[Hurricane Katrina]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7. reform efforts have been slow, say experts, since there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are so few judges and lawyers with experience.              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[Religion]</a:t>
            </a:r>
            <a:r>
              <a:rPr lang="en-US" altLang="zh-CN" sz="10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000">
                <a:ea typeface="宋体" pitchFamily="2" charset="-122"/>
              </a:rPr>
              <a:t> </a:t>
            </a: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4775200" y="1573212"/>
            <a:ext cx="383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NMF on sent-term matrix</a:t>
            </a:r>
          </a:p>
        </p:txBody>
      </p:sp>
      <p:sp>
        <p:nvSpPr>
          <p:cNvPr id="75788" name="AutoShape 12"/>
          <p:cNvSpPr>
            <a:spLocks noChangeArrowheads="1"/>
          </p:cNvSpPr>
          <p:nvPr/>
        </p:nvSpPr>
        <p:spPr bwMode="auto">
          <a:xfrm>
            <a:off x="-152400" y="1433512"/>
            <a:ext cx="5516563" cy="4814888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 b="1" dirty="0">
              <a:ea typeface="宋体" pitchFamily="2" charset="-122"/>
            </a:endParaRPr>
          </a:p>
          <a:p>
            <a:pPr marL="457200" indent="-457200" eaLnBrk="0" hangingPunct="0"/>
            <a:endParaRPr lang="en-US" altLang="zh-CN" sz="1200" dirty="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1. he didn't say it was gone; plenty of journalists still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heard the call.     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[Religion]</a:t>
            </a:r>
            <a:r>
              <a:rPr lang="en-US" altLang="zh-CN" sz="1200" dirty="0">
                <a:ea typeface="宋体" pitchFamily="2" charset="-12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 dirty="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2. no one, of course, wants to wait for the evidence except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the prosecutor, who hasn't charged anyone.      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[Duke Lacrosse Case]</a:t>
            </a:r>
            <a:r>
              <a:rPr lang="en-US" altLang="zh-CN" sz="1200" dirty="0">
                <a:ea typeface="宋体" pitchFamily="2" charset="-122"/>
              </a:rPr>
              <a:t>        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3. but in march, </a:t>
            </a:r>
            <a:r>
              <a:rPr lang="en-US" altLang="zh-CN" sz="1200" dirty="0" err="1">
                <a:ea typeface="宋体" pitchFamily="2" charset="-122"/>
              </a:rPr>
              <a:t>kleinsmith</a:t>
            </a:r>
            <a:r>
              <a:rPr lang="en-US" altLang="zh-CN" sz="1200" dirty="0">
                <a:ea typeface="宋体" pitchFamily="2" charset="-122"/>
              </a:rPr>
              <a:t> was ordered to cease all work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on the project.                            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[China]</a:t>
            </a:r>
            <a:r>
              <a:rPr lang="en-US" altLang="zh-CN" sz="1200" dirty="0">
                <a:ea typeface="宋体" pitchFamily="2" charset="-12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 dirty="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4. s. </a:t>
            </a:r>
            <a:r>
              <a:rPr lang="en-US" altLang="zh-CN" sz="1200" dirty="0" err="1">
                <a:ea typeface="宋体" pitchFamily="2" charset="-122"/>
              </a:rPr>
              <a:t>o'brien</a:t>
            </a:r>
            <a:r>
              <a:rPr lang="en-US" altLang="zh-CN" sz="1200" dirty="0">
                <a:ea typeface="宋体" pitchFamily="2" charset="-122"/>
              </a:rPr>
              <a:t>: you're telling me the president told you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the governor said she needed 24 hours to make a decision?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[Hurricane Katrina]</a:t>
            </a:r>
            <a:r>
              <a:rPr lang="en-US" altLang="zh-CN" sz="1200" dirty="0">
                <a:ea typeface="宋体" pitchFamily="2" charset="-122"/>
              </a:rPr>
              <a:t>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5. while the feds were killing themselves to get poor </a:t>
            </a:r>
            <a:r>
              <a:rPr lang="en-US" altLang="zh-CN" sz="1200" dirty="0">
                <a:solidFill>
                  <a:srgbClr val="FF0000"/>
                </a:solidFill>
                <a:ea typeface="宋体" pitchFamily="2" charset="-122"/>
              </a:rPr>
              <a:t>black</a:t>
            </a:r>
            <a:r>
              <a:rPr lang="en-US" altLang="zh-CN" sz="1200" dirty="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people out the city, the </a:t>
            </a:r>
            <a:r>
              <a:rPr lang="en-US" altLang="zh-CN" sz="1200" dirty="0">
                <a:solidFill>
                  <a:srgbClr val="FF0000"/>
                </a:solidFill>
                <a:ea typeface="宋体" pitchFamily="2" charset="-122"/>
              </a:rPr>
              <a:t>white</a:t>
            </a:r>
            <a:r>
              <a:rPr lang="en-US" altLang="zh-CN" sz="1200" dirty="0">
                <a:ea typeface="宋体" pitchFamily="2" charset="-122"/>
              </a:rPr>
              <a:t> people got ignored.     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[Hurricane Katrina]</a:t>
            </a:r>
            <a:r>
              <a:rPr lang="en-US" altLang="zh-CN" sz="1200" dirty="0">
                <a:ea typeface="宋体" pitchFamily="2" charset="-122"/>
              </a:rPr>
              <a:t>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6. 80% of what the national media has reported thru all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this was flawed in some non-trivial way.          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[Hurricane Katrina]</a:t>
            </a:r>
            <a:r>
              <a:rPr lang="en-US" altLang="zh-CN" sz="1200" dirty="0">
                <a:ea typeface="宋体" pitchFamily="2" charset="-122"/>
              </a:rPr>
              <a:t>        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7. </a:t>
            </a:r>
            <a:r>
              <a:rPr lang="en-US" altLang="zh-CN" sz="1200" dirty="0" err="1">
                <a:ea typeface="宋体" pitchFamily="2" charset="-122"/>
              </a:rPr>
              <a:t>german</a:t>
            </a:r>
            <a:r>
              <a:rPr lang="en-US" altLang="zh-CN" sz="1200" dirty="0">
                <a:ea typeface="宋体" pitchFamily="2" charset="-122"/>
              </a:rPr>
              <a:t> authorities, acting on </a:t>
            </a:r>
            <a:r>
              <a:rPr lang="en-US" altLang="zh-CN" sz="1200" dirty="0" err="1">
                <a:ea typeface="宋体" pitchFamily="2" charset="-122"/>
              </a:rPr>
              <a:t>cia</a:t>
            </a:r>
            <a:r>
              <a:rPr lang="en-US" altLang="zh-CN" sz="1200" dirty="0">
                <a:ea typeface="宋体" pitchFamily="2" charset="-122"/>
              </a:rPr>
              <a:t> recommendations,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had been focused on monitoring the activities of </a:t>
            </a:r>
            <a:r>
              <a:rPr lang="en-US" altLang="zh-CN" sz="1200" dirty="0" err="1">
                <a:ea typeface="宋体" pitchFamily="2" charset="-122"/>
              </a:rPr>
              <a:t>islamic</a:t>
            </a:r>
            <a:r>
              <a:rPr lang="en-US" altLang="zh-CN" sz="1200" dirty="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groups linked to bin </a:t>
            </a:r>
            <a:r>
              <a:rPr lang="en-US" altLang="zh-CN" sz="1200" dirty="0" err="1">
                <a:ea typeface="宋体" pitchFamily="2" charset="-122"/>
              </a:rPr>
              <a:t>ladin</a:t>
            </a:r>
            <a:r>
              <a:rPr lang="en-US" altLang="zh-CN" sz="1200" dirty="0">
                <a:ea typeface="宋体" pitchFamily="2" charset="-122"/>
              </a:rPr>
              <a:t>.  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[911 Commission]</a:t>
            </a:r>
            <a:r>
              <a:rPr lang="en-US" altLang="zh-CN" sz="1200" dirty="0">
                <a:solidFill>
                  <a:srgbClr val="FF0000"/>
                </a:solidFill>
                <a:ea typeface="宋体" pitchFamily="2" charset="-122"/>
              </a:rPr>
              <a:t> </a:t>
            </a:r>
          </a:p>
          <a:p>
            <a:pPr marL="457200" indent="-457200" eaLnBrk="0" hangingPunct="0"/>
            <a:endParaRPr lang="en-US" altLang="zh-CN" sz="12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1208088" y="1584325"/>
            <a:ext cx="38306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K-means on sent-term matrix</a:t>
            </a:r>
          </a:p>
        </p:txBody>
      </p:sp>
      <p:sp>
        <p:nvSpPr>
          <p:cNvPr id="75790" name="AutoShape 14"/>
          <p:cNvSpPr>
            <a:spLocks noChangeArrowheads="1"/>
          </p:cNvSpPr>
          <p:nvPr/>
        </p:nvSpPr>
        <p:spPr bwMode="auto">
          <a:xfrm>
            <a:off x="3429000" y="1447800"/>
            <a:ext cx="5516562" cy="4814887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1.  the column correctly identifies tehran's diplomatic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game: iran's hezbollah proxies engaging israel deflects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political attention from iran's nuclear shenanigans.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2. the lebanese have also experienced twenty years of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syrian occupation and thuggery.                                                                              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3. it suggested the case but not at the center of its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public diplomacy.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[1~3: War and Terrorist]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4. the first thing whites do when making these decisions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is appeal to the lowest element.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[Race Issues]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5. if analysts could establish a legitimate reason to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investigate a person further, they could keep the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corresponding data.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[China]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6. purchasing power parity, ppp, is among other things,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a way to let poor countries feel better about themselves.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[Religion]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7. if you're comfortable with that arrangement i'd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like to personally encourage you to donate.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[Hurricane Katrina]</a:t>
            </a:r>
          </a:p>
          <a:p>
            <a:pPr marL="457200" indent="-457200" eaLnBrk="0" hangingPunct="0"/>
            <a:endParaRPr lang="en-US" altLang="zh-CN" sz="1200" b="1">
              <a:ea typeface="宋体" pitchFamily="2" charset="-122"/>
            </a:endParaRPr>
          </a:p>
        </p:txBody>
      </p:sp>
      <p:sp>
        <p:nvSpPr>
          <p:cNvPr id="75791" name="Text Box 15"/>
          <p:cNvSpPr txBox="1">
            <a:spLocks noChangeArrowheads="1"/>
          </p:cNvSpPr>
          <p:nvPr/>
        </p:nvSpPr>
        <p:spPr bwMode="auto">
          <a:xfrm>
            <a:off x="4759325" y="1530350"/>
            <a:ext cx="38306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LSA</a:t>
            </a:r>
            <a:r>
              <a:rPr lang="en-US" altLang="zh-CN" sz="1600" b="1" dirty="0">
                <a:solidFill>
                  <a:schemeClr val="tx1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sp>
        <p:nvSpPr>
          <p:cNvPr id="75792" name="AutoShape 16"/>
          <p:cNvSpPr>
            <a:spLocks noChangeArrowheads="1"/>
          </p:cNvSpPr>
          <p:nvPr/>
        </p:nvSpPr>
        <p:spPr bwMode="auto">
          <a:xfrm>
            <a:off x="-209550" y="1304925"/>
            <a:ext cx="5516562" cy="4814888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1. the washington post has the best reporting from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iraq</a:t>
            </a:r>
            <a:r>
              <a:rPr lang="en-US" altLang="zh-CN" sz="10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that i've found.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[War and Terrorist]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2. when I first saw the movie Carmen Jones, I was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convinced that back in the day, Harry Belafonte was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the finest thing walking.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[Race Issues] </a:t>
            </a:r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b="1">
                <a:latin typeface="Arial" pitchFamily="34" charset="0"/>
                <a:ea typeface="宋体" pitchFamily="2" charset="-122"/>
              </a:rPr>
              <a:t> </a:t>
            </a:r>
            <a:endParaRPr lang="en-US" altLang="zh-CN" sz="1000" b="1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3.</a:t>
            </a:r>
            <a:r>
              <a:rPr lang="en-US" altLang="zh-CN" sz="1000" b="1">
                <a:ea typeface="宋体" pitchFamily="2" charset="-122"/>
              </a:rPr>
              <a:t> </a:t>
            </a:r>
            <a:r>
              <a:rPr lang="en-US" altLang="zh-CN" sz="1000">
                <a:ea typeface="宋体" pitchFamily="2" charset="-122"/>
              </a:rPr>
              <a:t>the "duke rape" case has been salaciously splashed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all over the news.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[Duke Lacrosse Case]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4. One More Look At Prague My last post reviews a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rather obscure report on the discovery of an Iraqi spy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ring in Germany in February or March of 2001, resulting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in the capture of two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Iraqi</a:t>
            </a:r>
            <a:r>
              <a:rPr lang="en-US" altLang="zh-CN" sz="1000">
                <a:ea typeface="宋体" pitchFamily="2" charset="-122"/>
              </a:rPr>
              <a:t> Intelligence Services agents.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[911 Commission] </a:t>
            </a:r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X</a:t>
            </a:r>
            <a:endParaRPr lang="en-US" altLang="zh-CN" sz="1200" b="1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5. Notes on Chinese first-strike threat Since I think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it's probably the most important real story of the day.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[China]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6. "Things I Used to Teach that I No Longer Believe"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was the Title of the Panel... ...at the journalism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professors' annual convention.“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[Religion] </a:t>
            </a:r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X</a:t>
            </a:r>
            <a:endParaRPr lang="en-US" altLang="zh-CN" sz="1200" b="1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7. several people have asked what, if anything,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they could do to help.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[Hurricane Katrina]</a:t>
            </a: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</p:txBody>
      </p:sp>
      <p:sp>
        <p:nvSpPr>
          <p:cNvPr id="75793" name="Text Box 17"/>
          <p:cNvSpPr txBox="1">
            <a:spLocks noChangeArrowheads="1"/>
          </p:cNvSpPr>
          <p:nvPr/>
        </p:nvSpPr>
        <p:spPr bwMode="auto">
          <a:xfrm>
            <a:off x="949325" y="1457325"/>
            <a:ext cx="38306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 err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LeadBase</a:t>
            </a:r>
            <a:r>
              <a:rPr lang="en-US" altLang="zh-CN" sz="1600" b="1" dirty="0">
                <a:solidFill>
                  <a:schemeClr val="tx1"/>
                </a:solidFill>
                <a:latin typeface="Comic Sans MS" pitchFamily="66" charset="0"/>
                <a:ea typeface="宋体" pitchFamily="2" charset="-122"/>
              </a:rPr>
              <a:t> </a:t>
            </a:r>
          </a:p>
        </p:txBody>
      </p:sp>
      <p:sp>
        <p:nvSpPr>
          <p:cNvPr id="75794" name="AutoShape 18"/>
          <p:cNvSpPr>
            <a:spLocks noChangeArrowheads="1"/>
          </p:cNvSpPr>
          <p:nvPr/>
        </p:nvSpPr>
        <p:spPr bwMode="auto">
          <a:xfrm>
            <a:off x="3398837" y="1295400"/>
            <a:ext cx="5516563" cy="4814888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1. for this, he says, the bush team "needs the dying,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withering, but still powerful press axis."</a:t>
            </a:r>
            <a:r>
              <a:rPr lang="en-US" altLang="zh-CN" sz="1200">
                <a:ea typeface="宋体" pitchFamily="2" charset="-122"/>
              </a:rPr>
              <a:t>        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[War and Terrorist]</a:t>
            </a:r>
            <a:r>
              <a:rPr lang="en-US" altLang="zh-CN" sz="1000">
                <a:ea typeface="宋体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400" b="1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2. start with the predominantly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black</a:t>
            </a:r>
            <a:r>
              <a:rPr lang="en-US" altLang="zh-CN" sz="1000">
                <a:ea typeface="宋体" pitchFamily="2" charset="-122"/>
              </a:rPr>
              <a:t>, heavily-funded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government school system in our nation's capital.</a:t>
            </a:r>
            <a:r>
              <a:rPr lang="en-US" altLang="zh-CN" sz="1200">
                <a:ea typeface="宋体" pitchFamily="2" charset="-122"/>
              </a:rPr>
              <a:t>     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[Race Issues]</a:t>
            </a:r>
            <a:r>
              <a:rPr lang="en-US" altLang="zh-CN" sz="1200">
                <a:ea typeface="宋体" pitchFamily="2" charset="-122"/>
              </a:rPr>
              <a:t>             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3. there is no current trend of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white</a:t>
            </a:r>
            <a:r>
              <a:rPr lang="en-US" altLang="zh-CN" sz="1000">
                <a:ea typeface="宋体" pitchFamily="2" charset="-122"/>
              </a:rPr>
              <a:t> men raping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black</a:t>
            </a:r>
            <a:r>
              <a:rPr lang="en-US" altLang="zh-CN" sz="10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women, in other words.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[Duke Lacrosse Case]</a:t>
            </a:r>
            <a:r>
              <a:rPr lang="en-US" altLang="zh-CN" sz="1200">
                <a:ea typeface="宋体" pitchFamily="2" charset="-122"/>
              </a:rPr>
              <a:t>           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4. one person comes to the commission a week prior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to the release of the report and says, wait.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[911 Commission]</a:t>
            </a:r>
            <a:r>
              <a:rPr lang="en-US" altLang="zh-CN" sz="1200">
                <a:ea typeface="宋体" pitchFamily="2" charset="-122"/>
              </a:rPr>
              <a:t>              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5. chinese sources seem to raise doubts on the official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government version of the story.</a:t>
            </a:r>
            <a:r>
              <a:rPr lang="en-US" altLang="zh-CN" sz="1200">
                <a:ea typeface="宋体" pitchFamily="2" charset="-122"/>
              </a:rPr>
              <a:t>                    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[China]</a:t>
            </a:r>
            <a:r>
              <a:rPr lang="en-US" altLang="zh-CN" sz="1200">
                <a:ea typeface="宋体" pitchFamily="2" charset="-122"/>
              </a:rPr>
              <a:t>            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6. he didn't say it was gone; plenty of journalists still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heard the call.</a:t>
            </a:r>
            <a:r>
              <a:rPr lang="en-US" altLang="zh-CN" sz="1200">
                <a:ea typeface="宋体" pitchFamily="2" charset="-122"/>
              </a:rPr>
              <a:t>                                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[Religion]</a:t>
            </a:r>
            <a:r>
              <a:rPr lang="en-US" altLang="zh-CN" sz="1000">
                <a:ea typeface="宋体" pitchFamily="2" charset="-122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 b="1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7. while the feds were killing themselves to get poor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black</a:t>
            </a:r>
          </a:p>
          <a:p>
            <a:pPr marL="457200" indent="-457200" eaLnBrk="0" hangingPunct="0"/>
            <a:r>
              <a:rPr lang="en-US" altLang="zh-CN" sz="1000">
                <a:ea typeface="宋体" pitchFamily="2" charset="-122"/>
              </a:rPr>
              <a:t> people out the city, the </a:t>
            </a:r>
            <a:r>
              <a:rPr lang="en-US" altLang="zh-CN" sz="1000">
                <a:solidFill>
                  <a:srgbClr val="FF0000"/>
                </a:solidFill>
                <a:ea typeface="宋体" pitchFamily="2" charset="-122"/>
              </a:rPr>
              <a:t>white</a:t>
            </a:r>
            <a:r>
              <a:rPr lang="en-US" altLang="zh-CN" sz="1000">
                <a:ea typeface="宋体" pitchFamily="2" charset="-122"/>
              </a:rPr>
              <a:t> people got ignored.</a:t>
            </a:r>
            <a:r>
              <a:rPr lang="en-US" altLang="zh-CN" sz="1200">
                <a:ea typeface="宋体" pitchFamily="2" charset="-122"/>
              </a:rPr>
              <a:t>       </a:t>
            </a:r>
          </a:p>
          <a:p>
            <a:pPr marL="457200" indent="-457200" eaLnBrk="0" hangingPunct="0"/>
            <a:r>
              <a:rPr lang="en-US" altLang="zh-CN" sz="1000" b="1">
                <a:ea typeface="宋体" pitchFamily="2" charset="-122"/>
              </a:rPr>
              <a:t> [Hurricane Katrina]</a:t>
            </a:r>
            <a:r>
              <a:rPr lang="en-US" altLang="zh-CN">
                <a:latin typeface="Arial" pitchFamily="34" charset="0"/>
                <a:ea typeface="宋体" pitchFamily="2" charset="-122"/>
              </a:rPr>
              <a:t>  </a:t>
            </a: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4557712" y="1447800"/>
            <a:ext cx="383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Community centers </a:t>
            </a:r>
          </a:p>
        </p:txBody>
      </p:sp>
      <p:sp>
        <p:nvSpPr>
          <p:cNvPr id="75796" name="AutoShape 20"/>
          <p:cNvSpPr>
            <a:spLocks noChangeArrowheads="1"/>
          </p:cNvSpPr>
          <p:nvPr/>
        </p:nvSpPr>
        <p:spPr bwMode="auto">
          <a:xfrm>
            <a:off x="1581150" y="1295400"/>
            <a:ext cx="5516563" cy="4814887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>
              <a:ea typeface="宋体" pitchFamily="2" charset="-122"/>
            </a:endParaRPr>
          </a:p>
          <a:p>
            <a:pPr marL="457200" indent="-457200" eaLnBrk="0" hangingPunct="0"/>
            <a:endParaRPr lang="en-US" altLang="zh-CN" sz="120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1. a shift to "no proxy war" would put it in a vise between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israel and iraq.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[War and Terrorist]</a:t>
            </a:r>
            <a:r>
              <a:rPr lang="en-US" altLang="zh-CN" sz="1200">
                <a:ea typeface="宋体" pitchFamily="2" charset="-122"/>
              </a:rPr>
              <a:t>                       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2. he didn't say it was gone; plenty of journalists still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heard the call.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[Religion</a:t>
            </a:r>
            <a:r>
              <a:rPr lang="en-US" altLang="zh-CN" sz="1400">
                <a:ea typeface="宋体" pitchFamily="2" charset="-122"/>
              </a:rPr>
              <a:t>]</a:t>
            </a:r>
            <a:r>
              <a:rPr lang="en-US" altLang="zh-CN" sz="1400">
                <a:solidFill>
                  <a:srgbClr val="FF0000"/>
                </a:solidFill>
                <a:ea typeface="宋体" pitchFamily="2" charset="-122"/>
              </a:rPr>
              <a:t> 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                         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3. blacks tend to attack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 blacks</a:t>
            </a:r>
            <a:r>
              <a:rPr lang="en-US" altLang="zh-CN" sz="1200">
                <a:ea typeface="宋体" pitchFamily="2" charset="-122"/>
              </a:rPr>
              <a:t>, and 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whites</a:t>
            </a:r>
            <a:r>
              <a:rPr lang="en-US" altLang="zh-CN" sz="1200">
                <a:ea typeface="宋体" pitchFamily="2" charset="-122"/>
              </a:rPr>
              <a:t> tend to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attack whites.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[Duke Lacrosse Case]</a:t>
            </a:r>
            <a:r>
              <a:rPr lang="en-US" altLang="zh-CN" sz="1200">
                <a:ea typeface="宋体" pitchFamily="2" charset="-12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ea typeface="宋体" pitchFamily="2" charset="-122"/>
              </a:rPr>
              <a:t>X</a:t>
            </a:r>
            <a:r>
              <a:rPr lang="en-US" altLang="zh-CN" sz="1200">
                <a:ea typeface="宋体" pitchFamily="2" charset="-122"/>
              </a:rPr>
              <a:t>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4. not going to discuss my or cnn's coversations with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the chinese government, he said. 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[China]</a:t>
            </a:r>
            <a:r>
              <a:rPr lang="en-US" altLang="zh-CN" sz="1200">
                <a:ea typeface="宋体" pitchFamily="2" charset="-122"/>
              </a:rPr>
              <a:t>                             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5. while the feds were killing themselves to get poor </a:t>
            </a:r>
          </a:p>
          <a:p>
            <a:pPr marL="457200" indent="-457200" eaLnBrk="0" hangingPunct="0"/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black</a:t>
            </a:r>
            <a:r>
              <a:rPr lang="en-US" altLang="zh-CN" sz="1200">
                <a:ea typeface="宋体" pitchFamily="2" charset="-122"/>
              </a:rPr>
              <a:t> people out the city, the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 white </a:t>
            </a:r>
            <a:r>
              <a:rPr lang="en-US" altLang="zh-CN" sz="1200">
                <a:ea typeface="宋体" pitchFamily="2" charset="-122"/>
              </a:rPr>
              <a:t>people got ignored.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[Hurricane Katrina]</a:t>
            </a:r>
            <a:r>
              <a:rPr lang="en-US" altLang="zh-CN" sz="1200">
                <a:ea typeface="宋体" pitchFamily="2" charset="-122"/>
              </a:rPr>
              <a:t>  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6. one cannot help but draw the conclusion, especially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in this case, that the commission deliberately excluded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it from their report.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[911 Commission]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7. my indignation against this garbage is only one of </a:t>
            </a:r>
          </a:p>
          <a:p>
            <a:pPr marL="457200" indent="-457200" eaLnBrk="0" hangingPunct="0"/>
            <a:r>
              <a:rPr lang="en-US" altLang="zh-CN" sz="1200">
                <a:ea typeface="宋体" pitchFamily="2" charset="-122"/>
              </a:rPr>
              <a:t>many reasons </a:t>
            </a:r>
            <a:r>
              <a:rPr lang="en-US" altLang="zh-CN" sz="1200">
                <a:solidFill>
                  <a:srgbClr val="FF0000"/>
                </a:solidFill>
                <a:ea typeface="宋体" pitchFamily="2" charset="-122"/>
              </a:rPr>
              <a:t>black</a:t>
            </a:r>
            <a:r>
              <a:rPr lang="en-US" altLang="zh-CN" sz="1200">
                <a:ea typeface="宋体" pitchFamily="2" charset="-122"/>
              </a:rPr>
              <a:t> liberals "take issue" with me. </a:t>
            </a:r>
          </a:p>
          <a:p>
            <a:pPr marL="457200" indent="-457200" eaLnBrk="0" hangingPunct="0"/>
            <a:r>
              <a:rPr lang="en-US" altLang="zh-CN" sz="1200" b="1">
                <a:ea typeface="宋体" pitchFamily="2" charset="-122"/>
              </a:rPr>
              <a:t>[Race Issues]</a:t>
            </a:r>
            <a:r>
              <a:rPr lang="en-US" altLang="zh-CN">
                <a:latin typeface="Arial" pitchFamily="34" charset="0"/>
                <a:ea typeface="宋体" pitchFamily="2" charset="-122"/>
              </a:rPr>
              <a:t>               </a:t>
            </a:r>
          </a:p>
          <a:p>
            <a:pPr marL="457200" indent="-457200" eaLnBrk="0" hangingPunct="0"/>
            <a:endParaRPr lang="en-US" altLang="zh-CN" sz="1000">
              <a:ea typeface="宋体" pitchFamily="2" charset="-122"/>
            </a:endParaRPr>
          </a:p>
        </p:txBody>
      </p:sp>
      <p:sp>
        <p:nvSpPr>
          <p:cNvPr id="75797" name="Text Box 21"/>
          <p:cNvSpPr txBox="1">
            <a:spLocks noChangeArrowheads="1"/>
          </p:cNvSpPr>
          <p:nvPr/>
        </p:nvSpPr>
        <p:spPr bwMode="auto">
          <a:xfrm>
            <a:off x="2740025" y="1447800"/>
            <a:ext cx="383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NMF on doc-sent similarity matrix</a:t>
            </a:r>
          </a:p>
        </p:txBody>
      </p:sp>
      <p:sp>
        <p:nvSpPr>
          <p:cNvPr id="75798" name="AutoShape 22"/>
          <p:cNvSpPr>
            <a:spLocks noChangeArrowheads="1"/>
          </p:cNvSpPr>
          <p:nvPr/>
        </p:nvSpPr>
        <p:spPr bwMode="auto">
          <a:xfrm>
            <a:off x="1574800" y="1295400"/>
            <a:ext cx="5516563" cy="4814887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457200" indent="-457200" eaLnBrk="0" hangingPunct="0"/>
            <a:endParaRPr lang="en-US" altLang="zh-CN" sz="1200" dirty="0">
              <a:ea typeface="宋体" pitchFamily="2" charset="-122"/>
            </a:endParaRP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1. there is no cold</a:t>
            </a:r>
            <a:r>
              <a:rPr lang="en-US" altLang="zh-CN" sz="1200" dirty="0">
                <a:solidFill>
                  <a:srgbClr val="660066"/>
                </a:solidFill>
                <a:ea typeface="宋体" pitchFamily="2" charset="-122"/>
              </a:rPr>
              <a:t>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war</a:t>
            </a:r>
            <a:r>
              <a:rPr lang="en-US" altLang="zh-CN" sz="1200" dirty="0">
                <a:ea typeface="宋体" pitchFamily="2" charset="-122"/>
              </a:rPr>
              <a:t>, there is no </a:t>
            </a:r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saddam</a:t>
            </a:r>
            <a:r>
              <a:rPr lang="en-US" altLang="zh-CN" sz="1200" dirty="0">
                <a:ea typeface="宋体" pitchFamily="2" charset="-122"/>
              </a:rPr>
              <a:t>. </a:t>
            </a:r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lebanon</a:t>
            </a:r>
            <a:r>
              <a:rPr lang="en-US" altLang="zh-CN" sz="1200" dirty="0">
                <a:ea typeface="宋体" pitchFamily="2" charset="-122"/>
              </a:rPr>
              <a:t> has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also changed.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[war and Terrorist]</a:t>
            </a:r>
            <a:r>
              <a:rPr lang="en-US" altLang="zh-CN" sz="1200" dirty="0">
                <a:ea typeface="宋体" pitchFamily="2" charset="-122"/>
              </a:rPr>
              <a:t>                     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2. he should drop the case against the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lacrosse</a:t>
            </a:r>
            <a:r>
              <a:rPr lang="en-US" altLang="zh-CN" sz="1200" dirty="0">
                <a:ea typeface="宋体" pitchFamily="2" charset="-122"/>
              </a:rPr>
              <a:t> players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but not the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sexual assault case</a:t>
            </a:r>
            <a:r>
              <a:rPr lang="en-US" altLang="zh-CN" sz="1200" dirty="0">
                <a:ea typeface="宋体" pitchFamily="2" charset="-122"/>
              </a:rPr>
              <a:t> itself.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[Duke Lacrosse Case]</a:t>
            </a:r>
            <a:r>
              <a:rPr lang="en-US" altLang="zh-CN" sz="1200" dirty="0">
                <a:ea typeface="宋体" pitchFamily="2" charset="-122"/>
              </a:rPr>
              <a:t>    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3. </a:t>
            </a:r>
            <a:r>
              <a:rPr lang="en-US" altLang="zh-CN" sz="1200" dirty="0" err="1">
                <a:ea typeface="宋体" pitchFamily="2" charset="-122"/>
              </a:rPr>
              <a:t>rahman</a:t>
            </a:r>
            <a:r>
              <a:rPr lang="en-US" altLang="zh-CN" sz="1200" dirty="0">
                <a:ea typeface="宋体" pitchFamily="2" charset="-122"/>
              </a:rPr>
              <a:t>, who is about 41 years old, converted from </a:t>
            </a:r>
          </a:p>
          <a:p>
            <a:pPr marL="457200" indent="-457200" eaLnBrk="0" hangingPunct="0"/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islam</a:t>
            </a:r>
            <a:r>
              <a:rPr lang="en-US" altLang="zh-CN" sz="1200" dirty="0">
                <a:ea typeface="宋体" pitchFamily="2" charset="-122"/>
              </a:rPr>
              <a:t> to </a:t>
            </a:r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christianity</a:t>
            </a:r>
            <a:r>
              <a:rPr lang="en-US" altLang="zh-CN" sz="1200" dirty="0">
                <a:ea typeface="宋体" pitchFamily="2" charset="-122"/>
              </a:rPr>
              <a:t> over 16 years ago.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[Religion]</a:t>
            </a:r>
            <a:r>
              <a:rPr lang="en-US" altLang="zh-CN" sz="1200" dirty="0">
                <a:ea typeface="宋体" pitchFamily="2" charset="-122"/>
              </a:rPr>
              <a:t>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4. in both the short and long term what those displaced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by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hurricane </a:t>
            </a:r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katrina</a:t>
            </a:r>
            <a:r>
              <a:rPr lang="en-US" altLang="zh-CN" sz="1200" dirty="0">
                <a:ea typeface="宋体" pitchFamily="2" charset="-122"/>
              </a:rPr>
              <a:t> need most is money.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[Hurricane Katrina]</a:t>
            </a:r>
            <a:r>
              <a:rPr lang="en-US" altLang="zh-CN" sz="1200" dirty="0">
                <a:ea typeface="宋体" pitchFamily="2" charset="-122"/>
              </a:rPr>
              <a:t> 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5. to be totally honest with you, we believed that there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may have been a classified</a:t>
            </a:r>
            <a:r>
              <a:rPr lang="en-US" altLang="zh-CN" sz="1200" b="1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annex</a:t>
            </a:r>
            <a:r>
              <a:rPr lang="en-US" altLang="zh-CN" sz="1200" dirty="0">
                <a:ea typeface="宋体" pitchFamily="2" charset="-122"/>
              </a:rPr>
              <a:t>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[911 Commission]</a:t>
            </a:r>
            <a:r>
              <a:rPr lang="en-US" altLang="zh-CN" sz="1200" dirty="0">
                <a:ea typeface="宋体" pitchFamily="2" charset="-122"/>
              </a:rPr>
              <a:t>      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6. </a:t>
            </a:r>
            <a:r>
              <a:rPr lang="en-US" altLang="zh-CN" sz="1200" dirty="0" err="1">
                <a:ea typeface="宋体" pitchFamily="2" charset="-122"/>
              </a:rPr>
              <a:t>i</a:t>
            </a:r>
            <a:r>
              <a:rPr lang="en-US" altLang="zh-CN" sz="1200" dirty="0">
                <a:ea typeface="宋体" pitchFamily="2" charset="-122"/>
              </a:rPr>
              <a:t> suspect that his position reflects conventional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wisdom among the </a:t>
            </a:r>
            <a:r>
              <a:rPr lang="en-US" altLang="zh-CN" sz="1200" b="1" dirty="0" err="1">
                <a:solidFill>
                  <a:srgbClr val="660066"/>
                </a:solidFill>
                <a:ea typeface="宋体" pitchFamily="2" charset="-122"/>
              </a:rPr>
              <a:t>chinese</a:t>
            </a:r>
            <a:r>
              <a:rPr lang="en-US" altLang="zh-CN" sz="1200" dirty="0">
                <a:ea typeface="宋体" pitchFamily="2" charset="-122"/>
              </a:rPr>
              <a:t> military establishment.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[China]</a:t>
            </a:r>
            <a:r>
              <a:rPr lang="en-US" altLang="zh-CN" sz="1200" dirty="0">
                <a:ea typeface="宋体" pitchFamily="2" charset="-122"/>
              </a:rPr>
              <a:t>              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7. if hiring rap sheet-free intelligent people means they </a:t>
            </a:r>
          </a:p>
          <a:p>
            <a:pPr marL="457200" indent="-457200" eaLnBrk="0" hangingPunct="0"/>
            <a:r>
              <a:rPr lang="en-US" altLang="zh-CN" sz="1200" dirty="0">
                <a:ea typeface="宋体" pitchFamily="2" charset="-122"/>
              </a:rPr>
              <a:t>won't hire a </a:t>
            </a:r>
            <a:r>
              <a:rPr lang="en-US" altLang="zh-CN" sz="1200" b="1" dirty="0">
                <a:solidFill>
                  <a:srgbClr val="660066"/>
                </a:solidFill>
                <a:ea typeface="宋体" pitchFamily="2" charset="-122"/>
              </a:rPr>
              <a:t>black</a:t>
            </a:r>
            <a:r>
              <a:rPr lang="en-US" altLang="zh-CN" sz="1200" dirty="0">
                <a:ea typeface="宋体" pitchFamily="2" charset="-122"/>
              </a:rPr>
              <a:t> applicant for another five years. </a:t>
            </a:r>
          </a:p>
          <a:p>
            <a:pPr marL="457200" indent="-457200" eaLnBrk="0" hangingPunct="0"/>
            <a:r>
              <a:rPr lang="en-US" altLang="zh-CN" sz="1200" b="1" dirty="0">
                <a:ea typeface="宋体" pitchFamily="2" charset="-122"/>
              </a:rPr>
              <a:t>[Race Issues]</a:t>
            </a:r>
            <a:r>
              <a:rPr lang="en-US" altLang="zh-CN" sz="12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 marL="457200" indent="-457200" eaLnBrk="0" hangingPunct="0"/>
            <a:endParaRPr lang="en-US" altLang="zh-CN" sz="1200" dirty="0">
              <a:ea typeface="宋体" pitchFamily="2" charset="-122"/>
            </a:endParaRPr>
          </a:p>
        </p:txBody>
      </p:sp>
      <p:sp>
        <p:nvSpPr>
          <p:cNvPr id="75799" name="Text Box 23"/>
          <p:cNvSpPr txBox="1">
            <a:spLocks noChangeArrowheads="1"/>
          </p:cNvSpPr>
          <p:nvPr/>
        </p:nvSpPr>
        <p:spPr bwMode="auto">
          <a:xfrm>
            <a:off x="2801938" y="1417637"/>
            <a:ext cx="38306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500">
                <a:solidFill>
                  <a:srgbClr val="305486"/>
                </a:solidFill>
                <a:latin typeface="AGaramond"/>
              </a:defRPr>
            </a:lvl1pPr>
            <a:lvl2pPr marL="742950" indent="-285750" eaLnBrk="0" hangingPunct="0">
              <a:defRPr sz="1500">
                <a:solidFill>
                  <a:srgbClr val="305486"/>
                </a:solidFill>
                <a:latin typeface="AGaramond"/>
              </a:defRPr>
            </a:lvl2pPr>
            <a:lvl3pPr marL="11430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3pPr>
            <a:lvl4pPr marL="16002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4pPr>
            <a:lvl5pPr marL="2057400" indent="-228600" eaLnBrk="0" hangingPunct="0">
              <a:defRPr sz="1500">
                <a:solidFill>
                  <a:srgbClr val="305486"/>
                </a:solidFill>
                <a:latin typeface="AGaramon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305486"/>
                </a:solidFill>
                <a:latin typeface="AGaramond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Discriminative Sentence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Selection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228600"/>
            <a:ext cx="220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buFont typeface="Wingdings" pitchFamily="2" charset="2"/>
              <a:buChar char="Ø"/>
            </a:pPr>
            <a:r>
              <a:rPr lang="en-US" altLang="zh-CN" sz="1800" dirty="0" smtClean="0">
                <a:solidFill>
                  <a:schemeClr val="accent2"/>
                </a:solidFill>
                <a:ea typeface="宋体" pitchFamily="2" charset="-122"/>
                <a:cs typeface="Times New Roman" pitchFamily="18" charset="0"/>
              </a:rPr>
              <a:t> A Case Study</a:t>
            </a:r>
            <a:endParaRPr lang="en-US" altLang="zh-CN" sz="1800" dirty="0">
              <a:solidFill>
                <a:schemeClr val="accent2"/>
              </a:solidFill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0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5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5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75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75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75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5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75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75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0" dur="500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9" dur="500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4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nimBg="1"/>
      <p:bldP spid="75779" grpId="1" animBg="1"/>
      <p:bldP spid="75780" grpId="0" animBg="1"/>
      <p:bldP spid="75780" grpId="1" animBg="1"/>
      <p:bldP spid="75781" grpId="0" animBg="1"/>
      <p:bldP spid="75781" grpId="1" animBg="1"/>
      <p:bldP spid="75782" grpId="0" animBg="1"/>
      <p:bldP spid="75782" grpId="1" animBg="1"/>
      <p:bldP spid="75783" grpId="0" animBg="1"/>
      <p:bldP spid="75784" grpId="0" animBg="1"/>
      <p:bldP spid="75785" grpId="0" animBg="1"/>
      <p:bldP spid="75785" grpId="1" animBg="1"/>
      <p:bldP spid="75786" grpId="0" animBg="1"/>
      <p:bldP spid="75786" grpId="1" animBg="1"/>
      <p:bldP spid="75787" grpId="0"/>
      <p:bldP spid="75787" grpId="1"/>
      <p:bldP spid="75788" grpId="0" animBg="1"/>
      <p:bldP spid="75788" grpId="1" animBg="1"/>
      <p:bldP spid="75789" grpId="0"/>
      <p:bldP spid="75789" grpId="1"/>
      <p:bldP spid="75790" grpId="0" animBg="1"/>
      <p:bldP spid="75790" grpId="1" animBg="1"/>
      <p:bldP spid="75791" grpId="0"/>
      <p:bldP spid="75791" grpId="1"/>
      <p:bldP spid="75792" grpId="0" animBg="1"/>
      <p:bldP spid="75793" grpId="0"/>
      <p:bldP spid="75793" grpId="1"/>
      <p:bldP spid="75796" grpId="0" animBg="1"/>
      <p:bldP spid="75796" grpId="1" animBg="1"/>
      <p:bldP spid="75797" grpId="0"/>
      <p:bldP spid="75797" grpId="1"/>
      <p:bldP spid="75798" grpId="0" animBg="1"/>
      <p:bldP spid="75798" grpId="1" animBg="1"/>
      <p:bldP spid="75799" grpId="0"/>
      <p:bldP spid="75799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Char char="ü"/>
            </a:pPr>
            <a:endParaRPr lang="en-US" altLang="zh-CN" sz="1800" dirty="0" smtClean="0">
              <a:latin typeface="Comic Sans MS" pitchFamily="66" charset="0"/>
              <a:ea typeface="宋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CN" sz="1800" dirty="0" smtClean="0">
              <a:latin typeface="Comic Sans MS" pitchFamily="66" charset="0"/>
              <a:ea typeface="宋体" pitchFamily="2" charset="-122"/>
            </a:endParaRPr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A novel problem to compare and summarize documents 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is defined.</a:t>
            </a: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Different from traditional multi-document summarization, our work aims to find the differences between document groups.</a:t>
            </a:r>
          </a:p>
          <a:p>
            <a:pPr lvl="1" eaLnBrk="1" hangingPunct="1">
              <a:buFont typeface="Wingdings" pitchFamily="2" charset="2"/>
              <a:buChar char="ü"/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Instead of word level comparison, it’s more natural to select sentence features.</a:t>
            </a:r>
          </a:p>
          <a:p>
            <a:pPr eaLnBrk="1" hangingPunct="1"/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CDS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457200" y="1096963"/>
            <a:ext cx="2438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6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Motivation</a:t>
            </a: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sz="1800" smtClean="0">
                <a:latin typeface="Times New Roman" pitchFamily="18" charset="0"/>
              </a:rPr>
              <a:t>he summaries need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to be updated periodically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.</a:t>
            </a: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sz="1800" smtClean="0">
                <a:latin typeface="Times New Roman" pitchFamily="18" charset="0"/>
              </a:rPr>
              <a:t>urrent batch document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summarization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methods requires repeatedly processing previous existing documents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.</a:t>
            </a:r>
          </a:p>
          <a:p>
            <a:pPr lvl="1" eaLnBrk="1" hangingPunct="1"/>
            <a:r>
              <a:rPr lang="en-US" sz="1800" smtClean="0">
                <a:latin typeface="Times New Roman" pitchFamily="18" charset="0"/>
              </a:rPr>
              <a:t>In some real applications, e.g.,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disaster management, the time delay is unacceptable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.</a:t>
            </a:r>
          </a:p>
          <a:p>
            <a:pPr lvl="1" eaLnBrk="1" hangingPunct="1"/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New Problem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smtClean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sz="2000" smtClean="0">
                <a:solidFill>
                  <a:srgbClr val="FF6600"/>
                </a:solidFill>
                <a:latin typeface="Times New Roman" pitchFamily="18" charset="0"/>
              </a:rPr>
              <a:t>updating summaries as soon as new documents arrive</a:t>
            </a:r>
            <a:endParaRPr lang="en-US" altLang="zh-CN" sz="2000" smtClean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smtClean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Our Solution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sz="2000" smtClean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incremental hierarchical clustering </a:t>
            </a:r>
            <a:endParaRPr lang="en-US" sz="2000" smtClean="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b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1600">
                <a:solidFill>
                  <a:schemeClr val="tx2"/>
                </a:solidFill>
                <a:ea typeface="宋体" pitchFamily="2" charset="-122"/>
              </a:rPr>
              <a:t>[Wang et. al. CIKM 2010]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457200" y="12192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8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45059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AutoShape 6"/>
          <p:cNvSpPr>
            <a:spLocks noChangeArrowheads="1"/>
          </p:cNvSpPr>
          <p:nvPr/>
        </p:nvSpPr>
        <p:spPr bwMode="auto">
          <a:xfrm>
            <a:off x="1371600" y="1905000"/>
            <a:ext cx="1295400" cy="838200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Rectangle 7"/>
          <p:cNvSpPr>
            <a:spLocks noChangeArrowheads="1"/>
          </p:cNvSpPr>
          <p:nvPr/>
        </p:nvSpPr>
        <p:spPr bwMode="auto">
          <a:xfrm>
            <a:off x="3581400" y="1752600"/>
            <a:ext cx="2438400" cy="2133600"/>
          </a:xfrm>
          <a:prstGeom prst="rect">
            <a:avLst/>
          </a:prstGeom>
          <a:solidFill>
            <a:srgbClr val="FFFF99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Rectangle 8"/>
          <p:cNvSpPr>
            <a:spLocks noChangeArrowheads="1"/>
          </p:cNvSpPr>
          <p:nvPr/>
        </p:nvSpPr>
        <p:spPr bwMode="auto">
          <a:xfrm>
            <a:off x="3886200" y="1905000"/>
            <a:ext cx="1752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documents</a:t>
            </a:r>
            <a:r>
              <a:rPr lang="en-US" altLang="zh-CN" sz="1200">
                <a:ea typeface="宋体" pitchFamily="2" charset="-122"/>
                <a:sym typeface="Wingdings" pitchFamily="2" charset="2"/>
              </a:rPr>
              <a:t>sentences</a:t>
            </a:r>
            <a:endParaRPr lang="en-US" sz="1200"/>
          </a:p>
        </p:txBody>
      </p:sp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3886200" y="2362200"/>
            <a:ext cx="1752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remove stopwords</a:t>
            </a:r>
            <a:endParaRPr lang="en-US" sz="1200"/>
          </a:p>
        </p:txBody>
      </p:sp>
      <p:sp>
        <p:nvSpPr>
          <p:cNvPr id="45064" name="Rectangle 10"/>
          <p:cNvSpPr>
            <a:spLocks noChangeArrowheads="1"/>
          </p:cNvSpPr>
          <p:nvPr/>
        </p:nvSpPr>
        <p:spPr bwMode="auto">
          <a:xfrm>
            <a:off x="3886200" y="2819400"/>
            <a:ext cx="1752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stemming</a:t>
            </a:r>
            <a:endParaRPr lang="en-US" sz="1200"/>
          </a:p>
        </p:txBody>
      </p:sp>
      <p:sp>
        <p:nvSpPr>
          <p:cNvPr id="45065" name="Rectangle 11"/>
          <p:cNvSpPr>
            <a:spLocks noChangeArrowheads="1"/>
          </p:cNvSpPr>
          <p:nvPr/>
        </p:nvSpPr>
        <p:spPr bwMode="auto">
          <a:xfrm>
            <a:off x="3886200" y="3276600"/>
            <a:ext cx="1752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sentence matrix</a:t>
            </a:r>
            <a:endParaRPr lang="en-US" sz="1200"/>
          </a:p>
        </p:txBody>
      </p:sp>
      <p:sp>
        <p:nvSpPr>
          <p:cNvPr id="45066" name="Rectangle 12"/>
          <p:cNvSpPr>
            <a:spLocks noChangeArrowheads="1"/>
          </p:cNvSpPr>
          <p:nvPr/>
        </p:nvSpPr>
        <p:spPr bwMode="auto">
          <a:xfrm>
            <a:off x="3429000" y="4419600"/>
            <a:ext cx="28956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Oval 13"/>
          <p:cNvSpPr>
            <a:spLocks noChangeArrowheads="1"/>
          </p:cNvSpPr>
          <p:nvPr/>
        </p:nvSpPr>
        <p:spPr bwMode="auto">
          <a:xfrm>
            <a:off x="4572000" y="4648200"/>
            <a:ext cx="457200" cy="152400"/>
          </a:xfrm>
          <a:prstGeom prst="ellipse">
            <a:avLst/>
          </a:prstGeom>
          <a:solidFill>
            <a:srgbClr val="FF99CC"/>
          </a:solidFill>
          <a:ln w="9525">
            <a:solidFill>
              <a:srgbClr val="CC99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8" name="Oval 14"/>
          <p:cNvSpPr>
            <a:spLocks noChangeArrowheads="1"/>
          </p:cNvSpPr>
          <p:nvPr/>
        </p:nvSpPr>
        <p:spPr bwMode="auto">
          <a:xfrm>
            <a:off x="4114800" y="5105400"/>
            <a:ext cx="381000" cy="152400"/>
          </a:xfrm>
          <a:prstGeom prst="ellipse">
            <a:avLst/>
          </a:prstGeom>
          <a:solidFill>
            <a:srgbClr val="FF99CC"/>
          </a:solidFill>
          <a:ln w="9525">
            <a:solidFill>
              <a:srgbClr val="CC99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Oval 15"/>
          <p:cNvSpPr>
            <a:spLocks noChangeArrowheads="1"/>
          </p:cNvSpPr>
          <p:nvPr/>
        </p:nvSpPr>
        <p:spPr bwMode="auto">
          <a:xfrm>
            <a:off x="4648200" y="5105400"/>
            <a:ext cx="381000" cy="152400"/>
          </a:xfrm>
          <a:prstGeom prst="ellipse">
            <a:avLst/>
          </a:prstGeom>
          <a:solidFill>
            <a:srgbClr val="FF99CC"/>
          </a:solidFill>
          <a:ln w="9525">
            <a:solidFill>
              <a:srgbClr val="CC99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Oval 16"/>
          <p:cNvSpPr>
            <a:spLocks noChangeArrowheads="1"/>
          </p:cNvSpPr>
          <p:nvPr/>
        </p:nvSpPr>
        <p:spPr bwMode="auto">
          <a:xfrm>
            <a:off x="5181600" y="5105400"/>
            <a:ext cx="381000" cy="152400"/>
          </a:xfrm>
          <a:prstGeom prst="ellipse">
            <a:avLst/>
          </a:prstGeom>
          <a:solidFill>
            <a:srgbClr val="FF99CC"/>
          </a:solidFill>
          <a:ln w="9525">
            <a:solidFill>
              <a:srgbClr val="CC99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Rectangle 17"/>
          <p:cNvSpPr>
            <a:spLocks noChangeArrowheads="1"/>
          </p:cNvSpPr>
          <p:nvPr/>
        </p:nvSpPr>
        <p:spPr bwMode="auto">
          <a:xfrm>
            <a:off x="3733800" y="5486400"/>
            <a:ext cx="228600" cy="152400"/>
          </a:xfrm>
          <a:prstGeom prst="rect">
            <a:avLst/>
          </a:prstGeom>
          <a:solidFill>
            <a:srgbClr val="FF99CC"/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Rectangle 18"/>
          <p:cNvSpPr>
            <a:spLocks noChangeArrowheads="1"/>
          </p:cNvSpPr>
          <p:nvPr/>
        </p:nvSpPr>
        <p:spPr bwMode="auto">
          <a:xfrm>
            <a:off x="4114800" y="5486400"/>
            <a:ext cx="228600" cy="152400"/>
          </a:xfrm>
          <a:prstGeom prst="rect">
            <a:avLst/>
          </a:prstGeom>
          <a:solidFill>
            <a:srgbClr val="FF99CC"/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Rectangle 19"/>
          <p:cNvSpPr>
            <a:spLocks noChangeArrowheads="1"/>
          </p:cNvSpPr>
          <p:nvPr/>
        </p:nvSpPr>
        <p:spPr bwMode="auto">
          <a:xfrm>
            <a:off x="4495800" y="5486400"/>
            <a:ext cx="228600" cy="152400"/>
          </a:xfrm>
          <a:prstGeom prst="rect">
            <a:avLst/>
          </a:prstGeom>
          <a:solidFill>
            <a:srgbClr val="FF99CC"/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Rectangle 20"/>
          <p:cNvSpPr>
            <a:spLocks noChangeArrowheads="1"/>
          </p:cNvSpPr>
          <p:nvPr/>
        </p:nvSpPr>
        <p:spPr bwMode="auto">
          <a:xfrm>
            <a:off x="5486400" y="5486400"/>
            <a:ext cx="228600" cy="152400"/>
          </a:xfrm>
          <a:prstGeom prst="rect">
            <a:avLst/>
          </a:prstGeom>
          <a:solidFill>
            <a:srgbClr val="FF99CC"/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5" name="Text Box 21"/>
          <p:cNvSpPr txBox="1">
            <a:spLocks noChangeArrowheads="1"/>
          </p:cNvSpPr>
          <p:nvPr/>
        </p:nvSpPr>
        <p:spPr bwMode="auto">
          <a:xfrm>
            <a:off x="4876800" y="53340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Arial" charset="0"/>
                <a:ea typeface="宋体" pitchFamily="2" charset="-122"/>
              </a:rPr>
              <a:t>…</a:t>
            </a:r>
            <a:endParaRPr lang="en-US" sz="1800">
              <a:latin typeface="Arial" charset="0"/>
            </a:endParaRPr>
          </a:p>
        </p:txBody>
      </p:sp>
      <p:sp>
        <p:nvSpPr>
          <p:cNvPr id="45076" name="Text Box 22"/>
          <p:cNvSpPr txBox="1">
            <a:spLocks noChangeArrowheads="1"/>
          </p:cNvSpPr>
          <p:nvPr/>
        </p:nvSpPr>
        <p:spPr bwMode="auto">
          <a:xfrm>
            <a:off x="5562600" y="49530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Arial" charset="0"/>
                <a:ea typeface="宋体" pitchFamily="2" charset="-122"/>
              </a:rPr>
              <a:t>…</a:t>
            </a:r>
            <a:endParaRPr lang="en-US" sz="1800">
              <a:latin typeface="Arial" charset="0"/>
            </a:endParaRPr>
          </a:p>
        </p:txBody>
      </p:sp>
      <p:sp>
        <p:nvSpPr>
          <p:cNvPr id="45077" name="Line 23"/>
          <p:cNvSpPr>
            <a:spLocks noChangeShapeType="1"/>
          </p:cNvSpPr>
          <p:nvPr/>
        </p:nvSpPr>
        <p:spPr bwMode="auto">
          <a:xfrm flipH="1">
            <a:off x="4343400" y="48006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8" name="Line 24"/>
          <p:cNvSpPr>
            <a:spLocks noChangeShapeType="1"/>
          </p:cNvSpPr>
          <p:nvPr/>
        </p:nvSpPr>
        <p:spPr bwMode="auto">
          <a:xfrm>
            <a:off x="4800600" y="4800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9" name="Line 25"/>
          <p:cNvSpPr>
            <a:spLocks noChangeShapeType="1"/>
          </p:cNvSpPr>
          <p:nvPr/>
        </p:nvSpPr>
        <p:spPr bwMode="auto">
          <a:xfrm>
            <a:off x="4953000" y="4800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0" name="Line 26"/>
          <p:cNvSpPr>
            <a:spLocks noChangeShapeType="1"/>
          </p:cNvSpPr>
          <p:nvPr/>
        </p:nvSpPr>
        <p:spPr bwMode="auto">
          <a:xfrm flipH="1">
            <a:off x="3810000" y="5257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1" name="Line 27"/>
          <p:cNvSpPr>
            <a:spLocks noChangeShapeType="1"/>
          </p:cNvSpPr>
          <p:nvPr/>
        </p:nvSpPr>
        <p:spPr bwMode="auto">
          <a:xfrm>
            <a:off x="4267200" y="5257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2" name="Line 28"/>
          <p:cNvSpPr>
            <a:spLocks noChangeShapeType="1"/>
          </p:cNvSpPr>
          <p:nvPr/>
        </p:nvSpPr>
        <p:spPr bwMode="auto">
          <a:xfrm>
            <a:off x="4343400" y="5257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3" name="Line 29"/>
          <p:cNvSpPr>
            <a:spLocks noChangeShapeType="1"/>
          </p:cNvSpPr>
          <p:nvPr/>
        </p:nvSpPr>
        <p:spPr bwMode="auto">
          <a:xfrm>
            <a:off x="5486400" y="5257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4" name="AutoShape 30"/>
          <p:cNvSpPr>
            <a:spLocks noChangeArrowheads="1"/>
          </p:cNvSpPr>
          <p:nvPr/>
        </p:nvSpPr>
        <p:spPr bwMode="auto">
          <a:xfrm>
            <a:off x="6934200" y="1828800"/>
            <a:ext cx="1295400" cy="838200"/>
          </a:xfrm>
          <a:prstGeom prst="flowChartMultidocumen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5" name="AutoShape 31"/>
          <p:cNvSpPr>
            <a:spLocks noChangeArrowheads="1"/>
          </p:cNvSpPr>
          <p:nvPr/>
        </p:nvSpPr>
        <p:spPr bwMode="auto">
          <a:xfrm>
            <a:off x="2743200" y="21336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6" name="AutoShape 32"/>
          <p:cNvSpPr>
            <a:spLocks noChangeArrowheads="1"/>
          </p:cNvSpPr>
          <p:nvPr/>
        </p:nvSpPr>
        <p:spPr bwMode="auto">
          <a:xfrm>
            <a:off x="6172200" y="2209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7" name="Text Box 33"/>
          <p:cNvSpPr txBox="1">
            <a:spLocks noChangeArrowheads="1"/>
          </p:cNvSpPr>
          <p:nvPr/>
        </p:nvSpPr>
        <p:spPr bwMode="auto">
          <a:xfrm>
            <a:off x="3581400" y="57912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200" b="1">
                <a:solidFill>
                  <a:srgbClr val="FF6600"/>
                </a:solidFill>
                <a:ea typeface="宋体" pitchFamily="2" charset="-122"/>
              </a:rPr>
              <a:t>Incremental Hierarchical Clustering</a:t>
            </a:r>
            <a:r>
              <a:rPr lang="en-US" altLang="zh-CN" sz="1200" b="1">
                <a:ea typeface="宋体" pitchFamily="2" charset="-122"/>
              </a:rPr>
              <a:t> based Update Summarization Engine</a:t>
            </a:r>
            <a:endParaRPr lang="en-US" sz="1200" b="1"/>
          </a:p>
        </p:txBody>
      </p:sp>
      <p:sp>
        <p:nvSpPr>
          <p:cNvPr id="45088" name="Text Box 34"/>
          <p:cNvSpPr txBox="1">
            <a:spLocks noChangeArrowheads="1"/>
          </p:cNvSpPr>
          <p:nvPr/>
        </p:nvSpPr>
        <p:spPr bwMode="auto">
          <a:xfrm>
            <a:off x="3810000" y="3657600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b="1">
                <a:ea typeface="宋体" pitchFamily="2" charset="-122"/>
              </a:rPr>
              <a:t>Preprocessing</a:t>
            </a:r>
            <a:endParaRPr lang="en-US" sz="1200" b="1"/>
          </a:p>
        </p:txBody>
      </p:sp>
      <p:sp>
        <p:nvSpPr>
          <p:cNvPr id="45089" name="Text Box 35"/>
          <p:cNvSpPr txBox="1">
            <a:spLocks noChangeArrowheads="1"/>
          </p:cNvSpPr>
          <p:nvPr/>
        </p:nvSpPr>
        <p:spPr bwMode="auto">
          <a:xfrm>
            <a:off x="1371600" y="2209800"/>
            <a:ext cx="1600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ea typeface="宋体" pitchFamily="2" charset="-122"/>
              </a:rPr>
              <a:t>multi-documents</a:t>
            </a:r>
            <a:endParaRPr lang="en-US" sz="1200" dirty="0"/>
          </a:p>
        </p:txBody>
      </p:sp>
      <p:sp>
        <p:nvSpPr>
          <p:cNvPr id="45090" name="Text Box 36"/>
          <p:cNvSpPr txBox="1">
            <a:spLocks noChangeArrowheads="1"/>
          </p:cNvSpPr>
          <p:nvPr/>
        </p:nvSpPr>
        <p:spPr bwMode="auto">
          <a:xfrm>
            <a:off x="7010400" y="1981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new documents</a:t>
            </a:r>
            <a:endParaRPr lang="en-US" sz="1200"/>
          </a:p>
        </p:txBody>
      </p:sp>
      <p:sp>
        <p:nvSpPr>
          <p:cNvPr id="45091" name="AutoShape 37"/>
          <p:cNvSpPr>
            <a:spLocks noChangeArrowheads="1"/>
          </p:cNvSpPr>
          <p:nvPr/>
        </p:nvSpPr>
        <p:spPr bwMode="auto">
          <a:xfrm>
            <a:off x="4724400" y="39624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2" name="AutoShape 38"/>
          <p:cNvSpPr>
            <a:spLocks noChangeArrowheads="1"/>
          </p:cNvSpPr>
          <p:nvPr/>
        </p:nvSpPr>
        <p:spPr bwMode="auto">
          <a:xfrm>
            <a:off x="1066800" y="4800600"/>
            <a:ext cx="685800" cy="762000"/>
          </a:xfrm>
          <a:prstGeom prst="foldedCorner">
            <a:avLst>
              <a:gd name="adj" fmla="val 12500"/>
            </a:avLst>
          </a:prstGeom>
          <a:solidFill>
            <a:srgbClr val="FFCC99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summary</a:t>
            </a:r>
            <a:endParaRPr lang="en-US" sz="1200"/>
          </a:p>
        </p:txBody>
      </p:sp>
      <p:sp>
        <p:nvSpPr>
          <p:cNvPr id="45093" name="Rectangle 39"/>
          <p:cNvSpPr>
            <a:spLocks noChangeArrowheads="1"/>
          </p:cNvSpPr>
          <p:nvPr/>
        </p:nvSpPr>
        <p:spPr bwMode="auto">
          <a:xfrm>
            <a:off x="1981200" y="4648200"/>
            <a:ext cx="1295400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length of summary</a:t>
            </a:r>
            <a:endParaRPr lang="en-US" sz="1200"/>
          </a:p>
        </p:txBody>
      </p:sp>
      <p:sp>
        <p:nvSpPr>
          <p:cNvPr id="45094" name="AutoShape 40"/>
          <p:cNvSpPr>
            <a:spLocks noChangeArrowheads="1"/>
          </p:cNvSpPr>
          <p:nvPr/>
        </p:nvSpPr>
        <p:spPr bwMode="auto">
          <a:xfrm>
            <a:off x="1828800" y="5181600"/>
            <a:ext cx="1524000" cy="228600"/>
          </a:xfrm>
          <a:prstGeom prst="leftArrow">
            <a:avLst>
              <a:gd name="adj1" fmla="val 50000"/>
              <a:gd name="adj2" fmla="val 16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5" name="Line 41"/>
          <p:cNvSpPr>
            <a:spLocks noChangeShapeType="1"/>
          </p:cNvSpPr>
          <p:nvPr/>
        </p:nvSpPr>
        <p:spPr bwMode="auto">
          <a:xfrm>
            <a:off x="266700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6" name="AutoShape 42"/>
          <p:cNvSpPr>
            <a:spLocks noChangeArrowheads="1"/>
          </p:cNvSpPr>
          <p:nvPr/>
        </p:nvSpPr>
        <p:spPr bwMode="auto">
          <a:xfrm rot="5400000">
            <a:off x="7581900" y="3771900"/>
            <a:ext cx="457200" cy="1752600"/>
          </a:xfrm>
          <a:prstGeom prst="wedgeRoundRectCallout">
            <a:avLst>
              <a:gd name="adj1" fmla="val 189583"/>
              <a:gd name="adj2" fmla="val 92569"/>
              <a:gd name="adj3" fmla="val 16667"/>
            </a:avLst>
          </a:prstGeom>
          <a:solidFill>
            <a:srgbClr val="FFCCFF"/>
          </a:solidFill>
          <a:ln w="9525" algn="ctr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/>
          <a:lstStyle/>
          <a:p>
            <a:r>
              <a:rPr lang="en-US" altLang="zh-CN">
                <a:solidFill>
                  <a:srgbClr val="CC0000"/>
                </a:solidFill>
                <a:ea typeface="宋体" pitchFamily="2" charset="-122"/>
              </a:rPr>
              <a:t>Our Solution: IHC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45097" name="Text Box 43"/>
          <p:cNvSpPr txBox="1">
            <a:spLocks noChangeArrowheads="1"/>
          </p:cNvSpPr>
          <p:nvPr/>
        </p:nvSpPr>
        <p:spPr bwMode="auto">
          <a:xfrm>
            <a:off x="457200" y="1447800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>
                <a:ea typeface="宋体" pitchFamily="2" charset="-122"/>
              </a:rPr>
              <a:t>  </a:t>
            </a:r>
            <a:r>
              <a:rPr lang="en-US" altLang="zh-CN" sz="2000">
                <a:solidFill>
                  <a:srgbClr val="0000CC"/>
                </a:solidFill>
                <a:ea typeface="宋体" pitchFamily="2" charset="-122"/>
              </a:rPr>
              <a:t>Framework</a:t>
            </a:r>
            <a:endParaRPr lang="en-US" sz="200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69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Why IHC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zh-CN" sz="2000" smtClean="0">
              <a:solidFill>
                <a:srgbClr val="0000CC"/>
              </a:solidFill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E</a:t>
            </a:r>
            <a:r>
              <a:rPr lang="en-US" sz="1800" smtClean="0">
                <a:latin typeface="Times New Roman" pitchFamily="18" charset="0"/>
              </a:rPr>
              <a:t>fficiently process the dynamic documents in the sense that new documents are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continuously added to the data set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/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B</a:t>
            </a:r>
            <a:r>
              <a:rPr lang="en-US" sz="1800" smtClean="0">
                <a:latin typeface="Times New Roman" pitchFamily="18" charset="0"/>
              </a:rPr>
              <a:t>uilt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a hierarchy</a:t>
            </a:r>
            <a:r>
              <a:rPr lang="en-US" sz="1800" smtClean="0">
                <a:latin typeface="Times New Roman" pitchFamily="18" charset="0"/>
              </a:rPr>
              <a:t> to facilitate users to explore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the structure and relationship between the sentences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/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sz="1800" smtClean="0">
                <a:latin typeface="Times New Roman" pitchFamily="18" charset="0"/>
              </a:rPr>
              <a:t>The number of clusters is not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pre-defined so that users can cut the hierarchy tree at any level based on their needs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5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Cobweb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zh-CN" sz="1800" i="1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Category Utility (CU)</a:t>
            </a:r>
            <a:r>
              <a:rPr lang="en-US" altLang="zh-CN" sz="1800" i="1" dirty="0" smtClean="0">
                <a:latin typeface="Times New Roman" pitchFamily="18" charset="0"/>
                <a:ea typeface="宋体" pitchFamily="2" charset="-122"/>
              </a:rPr>
              <a:t> -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the criterion function to determine the partitions in the hierarchy [15, 16]</a:t>
            </a:r>
          </a:p>
          <a:p>
            <a:pPr marL="990600" lvl="1" indent="-533400" eaLnBrk="1" hangingPunct="1">
              <a:buClr>
                <a:schemeClr val="tx1"/>
              </a:buClr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marL="990600" lvl="1" indent="-533400" eaLnBrk="1" hangingPunct="1">
              <a:buClr>
                <a:schemeClr val="tx1"/>
              </a:buClr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marL="990600" lvl="1" indent="-533400" eaLnBrk="1" hangingPunct="1">
              <a:buClr>
                <a:schemeClr val="tx1"/>
              </a:buClr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zh-CN" sz="18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Four Operations</a:t>
            </a:r>
          </a:p>
          <a:p>
            <a:pPr marL="990600" lvl="1" indent="-533400" eaLnBrk="1" hangingPunct="1">
              <a:buFontTx/>
              <a:buAutoNum type="arabicParenBoth"/>
            </a:pPr>
            <a:r>
              <a:rPr lang="en-US" altLang="zh-CN" sz="1800" b="1" i="1" dirty="0" smtClean="0">
                <a:latin typeface="Times New Roman" pitchFamily="18" charset="0"/>
                <a:ea typeface="宋体" pitchFamily="2" charset="-122"/>
              </a:rPr>
              <a:t>Insert: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add the sentence into an existing cluster. </a:t>
            </a:r>
          </a:p>
          <a:p>
            <a:pPr marL="990600" lvl="1" indent="-533400" eaLnBrk="1" hangingPunct="1">
              <a:buFontTx/>
              <a:buAutoNum type="arabicParenBoth"/>
            </a:pPr>
            <a:r>
              <a:rPr lang="en-US" altLang="zh-CN" sz="1800" b="1" i="1" dirty="0" smtClean="0">
                <a:latin typeface="Times New Roman" pitchFamily="18" charset="0"/>
                <a:ea typeface="宋体" pitchFamily="2" charset="-122"/>
              </a:rPr>
              <a:t>Create: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create a new cluster. </a:t>
            </a:r>
          </a:p>
          <a:p>
            <a:pPr marL="990600" lvl="1" indent="-533400" eaLnBrk="1" hangingPunct="1">
              <a:buFontTx/>
              <a:buAutoNum type="arabicParenBoth"/>
            </a:pPr>
            <a:r>
              <a:rPr lang="en-US" altLang="zh-CN" sz="1800" b="1" i="1" dirty="0" smtClean="0">
                <a:latin typeface="Times New Roman" pitchFamily="18" charset="0"/>
                <a:ea typeface="宋体" pitchFamily="2" charset="-122"/>
              </a:rPr>
              <a:t>Merge: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combine two clusters into a single cluster. </a:t>
            </a:r>
          </a:p>
          <a:p>
            <a:pPr marL="990600" lvl="1" indent="-533400" eaLnBrk="1" hangingPunct="1">
              <a:buFontTx/>
              <a:buAutoNum type="arabicParenBoth"/>
            </a:pPr>
            <a:r>
              <a:rPr lang="en-US" altLang="zh-CN" sz="1800" b="1" i="1" dirty="0" smtClean="0">
                <a:latin typeface="Times New Roman" pitchFamily="18" charset="0"/>
                <a:ea typeface="宋体" pitchFamily="2" charset="-122"/>
              </a:rPr>
              <a:t>Split: 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divide an existing cluster into several clusters.</a:t>
            </a:r>
            <a:endParaRPr lang="en-US" altLang="zh-CN" sz="1800" dirty="0" smtClean="0">
              <a:solidFill>
                <a:srgbClr val="0000CC"/>
              </a:solidFill>
              <a:latin typeface="Times New Roman" pitchFamily="18" charset="0"/>
              <a:ea typeface="宋体" pitchFamily="2" charset="-122"/>
            </a:endParaRPr>
          </a:p>
          <a:p>
            <a:pPr marL="609600" indent="-609600" eaLnBrk="1" hangingPunct="1">
              <a:buFont typeface="Wingdings" pitchFamily="2" charset="2"/>
              <a:buChar char="Ø"/>
            </a:pPr>
            <a:endParaRPr lang="en-US" altLang="zh-CN" sz="1800" dirty="0" smtClean="0">
              <a:solidFill>
                <a:srgbClr val="0000CC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710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19400"/>
            <a:ext cx="3657600" cy="57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003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1800" b="1" smtClean="0">
                <a:solidFill>
                  <a:srgbClr val="FF6600"/>
                </a:solidFill>
                <a:latin typeface="Times New Roman" pitchFamily="18" charset="0"/>
              </a:rPr>
              <a:t>Case 1:</a:t>
            </a:r>
            <a:r>
              <a:rPr lang="en-US" sz="1800" b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If insert a sentence into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k</a:t>
            </a:r>
            <a:r>
              <a:rPr lang="en-US" sz="1800" smtClean="0">
                <a:latin typeface="Times New Roman" pitchFamily="18" charset="0"/>
              </a:rPr>
              <a:t>, then recalculate the representative sentence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i="1" smtClean="0">
                <a:latin typeface="Times New Roman" pitchFamily="18" charset="0"/>
              </a:rPr>
              <a:t>R</a:t>
            </a:r>
            <a:r>
              <a:rPr lang="en-US" sz="1200" i="1" smtClean="0">
                <a:latin typeface="Times New Roman" pitchFamily="18" charset="0"/>
              </a:rPr>
              <a:t>k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of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k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using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1800" b="1" smtClean="0">
                <a:solidFill>
                  <a:srgbClr val="FF6600"/>
                </a:solidFill>
                <a:latin typeface="Times New Roman" pitchFamily="18" charset="0"/>
              </a:rPr>
              <a:t>Case 2:</a:t>
            </a:r>
            <a:r>
              <a:rPr lang="en-US" sz="1800" b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If create a new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k</a:t>
            </a:r>
            <a:r>
              <a:rPr lang="en-US" sz="1800" smtClean="0">
                <a:latin typeface="Times New Roman" pitchFamily="18" charset="0"/>
              </a:rPr>
              <a:t>, the newly coming sentence </a:t>
            </a:r>
            <a:r>
              <a:rPr lang="en-US" sz="1800" i="1" smtClean="0">
                <a:latin typeface="Times New Roman" pitchFamily="18" charset="0"/>
              </a:rPr>
              <a:t>s</a:t>
            </a:r>
            <a:r>
              <a:rPr lang="en-US" sz="1200" i="1" smtClean="0">
                <a:latin typeface="Times New Roman" pitchFamily="18" charset="0"/>
              </a:rPr>
              <a:t>new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represents the new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cluster, i.e., </a:t>
            </a:r>
            <a:r>
              <a:rPr lang="en-US" sz="1800" i="1" smtClean="0">
                <a:latin typeface="Times New Roman" pitchFamily="18" charset="0"/>
              </a:rPr>
              <a:t>R</a:t>
            </a:r>
            <a:r>
              <a:rPr lang="en-US" sz="1200" i="1" smtClean="0">
                <a:latin typeface="Times New Roman" pitchFamily="18" charset="0"/>
              </a:rPr>
              <a:t>k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= </a:t>
            </a:r>
            <a:r>
              <a:rPr lang="en-US" sz="1800" i="1" smtClean="0">
                <a:latin typeface="Times New Roman" pitchFamily="18" charset="0"/>
              </a:rPr>
              <a:t>s</a:t>
            </a:r>
            <a:r>
              <a:rPr lang="en-US" sz="1200" i="1" smtClean="0">
                <a:latin typeface="Times New Roman" pitchFamily="18" charset="0"/>
              </a:rPr>
              <a:t>new</a:t>
            </a:r>
            <a:endParaRPr lang="en-US" altLang="zh-CN" sz="1200" i="1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200" i="1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1800" b="1" smtClean="0">
                <a:solidFill>
                  <a:srgbClr val="FF6600"/>
                </a:solidFill>
                <a:latin typeface="Times New Roman" pitchFamily="18" charset="0"/>
              </a:rPr>
              <a:t>Case 3:</a:t>
            </a:r>
            <a:r>
              <a:rPr lang="en-US" sz="1800" b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If merge two clusters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a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and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b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into a new cluster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c</a:t>
            </a:r>
            <a:r>
              <a:rPr lang="en-US" sz="1800" smtClean="0">
                <a:latin typeface="Times New Roman" pitchFamily="18" charset="0"/>
              </a:rPr>
              <a:t>,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the sentence obtaining the higher similarity with the query is selected as the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representative sentence at the new merged node.</a:t>
            </a: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18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b="1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1800" b="1" smtClean="0">
                <a:solidFill>
                  <a:srgbClr val="FF6600"/>
                </a:solidFill>
                <a:latin typeface="Times New Roman" pitchFamily="18" charset="0"/>
              </a:rPr>
              <a:t>Case 4:</a:t>
            </a:r>
            <a:r>
              <a:rPr lang="en-US" sz="1800" b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If split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a</a:t>
            </a:r>
            <a:r>
              <a:rPr lang="en-US" sz="1800" i="1" smtClean="0">
                <a:latin typeface="Times New Roman" pitchFamily="18" charset="0"/>
              </a:rPr>
              <a:t> </a:t>
            </a:r>
            <a:r>
              <a:rPr lang="en-US" sz="1800" smtClean="0">
                <a:latin typeface="Times New Roman" pitchFamily="18" charset="0"/>
              </a:rPr>
              <a:t>into a set of clusters as {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smtClean="0">
                <a:latin typeface="Times New Roman" pitchFamily="18" charset="0"/>
              </a:rPr>
              <a:t>1</a:t>
            </a:r>
            <a:r>
              <a:rPr lang="en-US" sz="1800" smtClean="0">
                <a:latin typeface="Times New Roman" pitchFamily="18" charset="0"/>
              </a:rPr>
              <a:t>,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smtClean="0">
                <a:latin typeface="Times New Roman" pitchFamily="18" charset="0"/>
              </a:rPr>
              <a:t>2</a:t>
            </a:r>
            <a:r>
              <a:rPr lang="en-US" sz="1800" smtClean="0">
                <a:latin typeface="Times New Roman" pitchFamily="18" charset="0"/>
              </a:rPr>
              <a:t>, ..., </a:t>
            </a:r>
            <a:r>
              <a:rPr lang="en-US" sz="1800" i="1" smtClean="0">
                <a:latin typeface="Times New Roman" pitchFamily="18" charset="0"/>
              </a:rPr>
              <a:t>cluster</a:t>
            </a:r>
            <a:r>
              <a:rPr lang="en-US" sz="1200" i="1" smtClean="0">
                <a:latin typeface="Times New Roman" pitchFamily="18" charset="0"/>
              </a:rPr>
              <a:t>n</a:t>
            </a:r>
            <a:r>
              <a:rPr lang="en-US" sz="1800" smtClean="0">
                <a:latin typeface="Times New Roman" pitchFamily="18" charset="0"/>
              </a:rPr>
              <a:t>},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remove node </a:t>
            </a:r>
            <a:r>
              <a:rPr lang="en-US" sz="1800" i="1" smtClean="0">
                <a:latin typeface="Times New Roman" pitchFamily="18" charset="0"/>
              </a:rPr>
              <a:t>a </a:t>
            </a:r>
            <a:r>
              <a:rPr lang="en-US" sz="1800" smtClean="0">
                <a:latin typeface="Times New Roman" pitchFamily="18" charset="0"/>
              </a:rPr>
              <a:t>and substitute it using the roots of its subtrees. The corresponding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representative sentences are the representative sentences for the original subtree roots</a:t>
            </a: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smtClean="0">
                <a:latin typeface="Times New Roman" pitchFamily="18" charset="0"/>
              </a:rPr>
              <a:t>{</a:t>
            </a:r>
            <a:r>
              <a:rPr lang="en-US" sz="1800" i="1" smtClean="0">
                <a:latin typeface="Times New Roman" pitchFamily="18" charset="0"/>
              </a:rPr>
              <a:t>R</a:t>
            </a:r>
            <a:r>
              <a:rPr lang="en-US" sz="1200" smtClean="0">
                <a:latin typeface="Times New Roman" pitchFamily="18" charset="0"/>
              </a:rPr>
              <a:t>1</a:t>
            </a:r>
            <a:r>
              <a:rPr lang="en-US" sz="1800" smtClean="0">
                <a:latin typeface="Times New Roman" pitchFamily="18" charset="0"/>
              </a:rPr>
              <a:t>,</a:t>
            </a:r>
            <a:r>
              <a:rPr lang="en-US" sz="1800" i="1" smtClean="0">
                <a:latin typeface="Times New Roman" pitchFamily="18" charset="0"/>
              </a:rPr>
              <a:t>R</a:t>
            </a:r>
            <a:r>
              <a:rPr lang="en-US" sz="1200" smtClean="0">
                <a:latin typeface="Times New Roman" pitchFamily="18" charset="0"/>
              </a:rPr>
              <a:t>2</a:t>
            </a:r>
            <a:r>
              <a:rPr lang="en-US" sz="1800" smtClean="0">
                <a:latin typeface="Times New Roman" pitchFamily="18" charset="0"/>
              </a:rPr>
              <a:t>, ...,</a:t>
            </a:r>
            <a:r>
              <a:rPr lang="en-US" sz="1800" i="1" smtClean="0">
                <a:latin typeface="Times New Roman" pitchFamily="18" charset="0"/>
              </a:rPr>
              <a:t>R</a:t>
            </a:r>
            <a:r>
              <a:rPr lang="en-US" sz="1200" i="1" smtClean="0">
                <a:latin typeface="Times New Roman" pitchFamily="18" charset="0"/>
              </a:rPr>
              <a:t>n</a:t>
            </a:r>
            <a:r>
              <a:rPr lang="en-US" sz="1800" smtClean="0">
                <a:latin typeface="Times New Roman" pitchFamily="18" charset="0"/>
              </a:rPr>
              <a:t>}.</a:t>
            </a:r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70125"/>
            <a:ext cx="35052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13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419600"/>
            <a:ext cx="35052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969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9156" name="Picture 8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874838"/>
            <a:ext cx="3262313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91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025" y="2895600"/>
            <a:ext cx="3482975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158" name="Text Box 10"/>
          <p:cNvSpPr txBox="1">
            <a:spLocks noChangeArrowheads="1"/>
          </p:cNvSpPr>
          <p:nvPr/>
        </p:nvSpPr>
        <p:spPr bwMode="auto">
          <a:xfrm>
            <a:off x="457200" y="1447800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800">
                <a:solidFill>
                  <a:srgbClr val="0000CC"/>
                </a:solidFill>
                <a:ea typeface="宋体" pitchFamily="2" charset="-122"/>
              </a:rPr>
              <a:t>Algorithm</a:t>
            </a:r>
            <a:endParaRPr lang="en-US" sz="1800">
              <a:solidFill>
                <a:srgbClr val="0000CC"/>
              </a:solidFill>
            </a:endParaRPr>
          </a:p>
        </p:txBody>
      </p:sp>
      <p:sp>
        <p:nvSpPr>
          <p:cNvPr id="49159" name="Line 11"/>
          <p:cNvSpPr>
            <a:spLocks noChangeShapeType="1"/>
          </p:cNvSpPr>
          <p:nvPr/>
        </p:nvSpPr>
        <p:spPr bwMode="auto">
          <a:xfrm flipV="1">
            <a:off x="3810000" y="3124200"/>
            <a:ext cx="6858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5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Data Set</a:t>
            </a:r>
          </a:p>
          <a:p>
            <a:pPr lvl="1" eaLnBrk="1" hangingPunct="1">
              <a:buFontTx/>
              <a:buChar char="•"/>
            </a:pPr>
            <a:r>
              <a:rPr lang="en-US" sz="1600" smtClean="0">
                <a:solidFill>
                  <a:srgbClr val="FF6600"/>
                </a:solidFill>
                <a:latin typeface="Times New Roman" pitchFamily="18" charset="0"/>
              </a:rPr>
              <a:t>Hurricane Wilma Releases (Hurricane)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-</a:t>
            </a:r>
            <a:r>
              <a:rPr lang="en-US" sz="1600" smtClean="0">
                <a:latin typeface="Times New Roman" pitchFamily="18" charset="0"/>
              </a:rPr>
              <a:t> press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releases by Miami-Dade County Department of Emergency Management and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Homeland Security during Hurricane Wilma from Oct. 19, 2005 to Nov. 4,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2005. 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Char char="•"/>
            </a:pPr>
            <a:r>
              <a:rPr lang="en-US" sz="1600" smtClean="0">
                <a:latin typeface="Times New Roman" pitchFamily="18" charset="0"/>
              </a:rPr>
              <a:t>1,700 documents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of </a:t>
            </a:r>
            <a:r>
              <a:rPr lang="en-US" sz="1600" smtClean="0">
                <a:latin typeface="Times New Roman" pitchFamily="18" charset="0"/>
              </a:rPr>
              <a:t>3 phases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:</a:t>
            </a:r>
          </a:p>
          <a:p>
            <a:pPr lvl="1" eaLnBrk="1" hangingPunct="1">
              <a:buFontTx/>
              <a:buNone/>
            </a:pPr>
            <a:r>
              <a:rPr lang="en-US" altLang="zh-CN" sz="1800" smtClean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sz="1600" smtClean="0">
                <a:latin typeface="Times New Roman" pitchFamily="18" charset="0"/>
              </a:rPr>
              <a:t>(1) preparation before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hurricane Wilma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sz="1600" smtClean="0">
                <a:latin typeface="Times New Roman" pitchFamily="18" charset="0"/>
              </a:rPr>
              <a:t>(2) damage during the growth of Wilma 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sz="1600" smtClean="0">
                <a:latin typeface="Times New Roman" pitchFamily="18" charset="0"/>
              </a:rPr>
              <a:t>(3) the recovery after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the hurricane. The approximate numbers of documents obtained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at the end of the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three phases are 360, 1310, and 1700, respectively.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Data Annotation</a:t>
            </a:r>
            <a:endParaRPr lang="en-US" sz="2000" smtClean="0">
              <a:solidFill>
                <a:srgbClr val="0000CC"/>
              </a:solidFill>
              <a:latin typeface="Times New Roman" pitchFamily="18" charset="0"/>
            </a:endParaRPr>
          </a:p>
          <a:p>
            <a:pPr lvl="1" eaLnBrk="1" hangingPunct="1"/>
            <a:r>
              <a:rPr lang="en-US" sz="1600" smtClean="0">
                <a:latin typeface="Times New Roman" pitchFamily="18" charset="0"/>
              </a:rPr>
              <a:t>10 human labelers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sz="1600" smtClean="0">
                <a:latin typeface="Times New Roman" pitchFamily="18" charset="0"/>
              </a:rPr>
              <a:t>10 queries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, 3 phases</a:t>
            </a:r>
            <a:r>
              <a:rPr lang="en-US" sz="1600" smtClean="0">
                <a:latin typeface="Times New Roman" pitchFamily="18" charset="0"/>
              </a:rPr>
              <a:t> 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sz="1600" smtClean="0">
                <a:latin typeface="Times New Roman" pitchFamily="18" charset="0"/>
              </a:rPr>
              <a:t>Each query is given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to 5 different annotators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lvl="1" eaLnBrk="1" hangingPunct="1"/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E</a:t>
            </a:r>
            <a:r>
              <a:rPr lang="en-US" sz="1600" smtClean="0">
                <a:latin typeface="Times New Roman" pitchFamily="18" charset="0"/>
              </a:rPr>
              <a:t>ach annotator create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s</a:t>
            </a:r>
            <a:r>
              <a:rPr lang="en-US" sz="1600" smtClean="0">
                <a:latin typeface="Times New Roman" pitchFamily="18" charset="0"/>
              </a:rPr>
              <a:t> three 100 words summaries for each query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  S</a:t>
            </a:r>
            <a:r>
              <a:rPr lang="en-US" sz="1600" smtClean="0">
                <a:latin typeface="Times New Roman" pitchFamily="18" charset="0"/>
              </a:rPr>
              <a:t>ample150 reports</a:t>
            </a: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600" smtClean="0">
                <a:latin typeface="Times New Roman" pitchFamily="18" charset="0"/>
              </a:rPr>
              <a:t>from the original dataset</a:t>
            </a:r>
            <a:endParaRPr lang="en-US" altLang="zh-CN" sz="160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400" smtClean="0"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14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Query:</a:t>
            </a:r>
            <a:r>
              <a:rPr lang="en-US" altLang="zh-CN" sz="14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400" smtClean="0">
                <a:latin typeface="Times New Roman" pitchFamily="18" charset="0"/>
              </a:rPr>
              <a:t>What are the situations of Miami-Dade County services including public transit, airport</a:t>
            </a:r>
            <a:r>
              <a:rPr lang="en-US" altLang="zh-CN" sz="140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400" smtClean="0">
                <a:latin typeface="Times New Roman" pitchFamily="18" charset="0"/>
              </a:rPr>
              <a:t>information and public schools</a:t>
            </a:r>
            <a:r>
              <a:rPr lang="en-US" altLang="zh-CN" sz="1400" smtClean="0">
                <a:latin typeface="Times New Roman" pitchFamily="18" charset="0"/>
                <a:ea typeface="宋体" pitchFamily="2" charset="-122"/>
              </a:rPr>
              <a:t>?</a:t>
            </a:r>
            <a:endParaRPr lang="en-US" sz="1400" smtClean="0">
              <a:latin typeface="Times New Roman" pitchFamily="18" charset="0"/>
            </a:endParaRPr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51204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Oval 7"/>
          <p:cNvSpPr>
            <a:spLocks noChangeArrowheads="1"/>
          </p:cNvSpPr>
          <p:nvPr/>
        </p:nvSpPr>
        <p:spPr bwMode="auto">
          <a:xfrm>
            <a:off x="3810000" y="30480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1200">
                <a:ea typeface="宋体" pitchFamily="2" charset="-122"/>
              </a:rPr>
              <a:t>root</a:t>
            </a:r>
            <a:endParaRPr lang="en-US" sz="1200"/>
          </a:p>
        </p:txBody>
      </p:sp>
      <p:sp>
        <p:nvSpPr>
          <p:cNvPr id="51206" name="Line 8"/>
          <p:cNvSpPr>
            <a:spLocks noChangeShapeType="1"/>
          </p:cNvSpPr>
          <p:nvPr/>
        </p:nvSpPr>
        <p:spPr bwMode="auto">
          <a:xfrm flipH="1">
            <a:off x="1828800" y="3352800"/>
            <a:ext cx="2286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Text Box 9"/>
          <p:cNvSpPr txBox="1">
            <a:spLocks noChangeArrowheads="1"/>
          </p:cNvSpPr>
          <p:nvPr/>
        </p:nvSpPr>
        <p:spPr bwMode="auto">
          <a:xfrm>
            <a:off x="609600" y="4267200"/>
            <a:ext cx="16764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A decision has not yet been made as to whether Miami Dade Public Schools will be open on Monday.</a:t>
            </a:r>
            <a:endParaRPr lang="en-US" sz="1200"/>
          </a:p>
        </p:txBody>
      </p:sp>
      <p:sp>
        <p:nvSpPr>
          <p:cNvPr id="51208" name="Line 10"/>
          <p:cNvSpPr>
            <a:spLocks noChangeShapeType="1"/>
          </p:cNvSpPr>
          <p:nvPr/>
        </p:nvSpPr>
        <p:spPr bwMode="auto">
          <a:xfrm>
            <a:off x="4267200" y="3352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9" name="Oval 11"/>
          <p:cNvSpPr>
            <a:spLocks noChangeArrowheads="1"/>
          </p:cNvSpPr>
          <p:nvPr/>
        </p:nvSpPr>
        <p:spPr bwMode="auto">
          <a:xfrm>
            <a:off x="3048000" y="4114800"/>
            <a:ext cx="2133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200">
                <a:ea typeface="宋体" pitchFamily="2" charset="-122"/>
              </a:rPr>
              <a:t>All Miami-Dade County </a:t>
            </a:r>
          </a:p>
          <a:p>
            <a:pPr algn="l" eaLnBrk="1" hangingPunct="1"/>
            <a:r>
              <a:rPr lang="en-US" altLang="zh-CN" sz="1200">
                <a:ea typeface="宋体" pitchFamily="2" charset="-122"/>
              </a:rPr>
              <a:t>services continue normal </a:t>
            </a:r>
          </a:p>
          <a:p>
            <a:pPr algn="l" eaLnBrk="1" hangingPunct="1"/>
            <a:r>
              <a:rPr lang="en-US" altLang="zh-CN" sz="1200">
                <a:ea typeface="宋体" pitchFamily="2" charset="-122"/>
              </a:rPr>
              <a:t>operations.</a:t>
            </a:r>
            <a:endParaRPr lang="en-US" sz="1200"/>
          </a:p>
        </p:txBody>
      </p:sp>
      <p:sp>
        <p:nvSpPr>
          <p:cNvPr id="51210" name="Line 12"/>
          <p:cNvSpPr>
            <a:spLocks noChangeShapeType="1"/>
          </p:cNvSpPr>
          <p:nvPr/>
        </p:nvSpPr>
        <p:spPr bwMode="auto">
          <a:xfrm flipH="1">
            <a:off x="3352800" y="50292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Text Box 13"/>
          <p:cNvSpPr txBox="1">
            <a:spLocks noChangeArrowheads="1"/>
          </p:cNvSpPr>
          <p:nvPr/>
        </p:nvSpPr>
        <p:spPr bwMode="auto">
          <a:xfrm>
            <a:off x="2590800" y="5562600"/>
            <a:ext cx="12192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200">
                <a:ea typeface="宋体" pitchFamily="2" charset="-122"/>
              </a:rPr>
              <a:t>All Miami-Dade County services continue normal </a:t>
            </a:r>
          </a:p>
          <a:p>
            <a:pPr algn="l" eaLnBrk="1" hangingPunct="1"/>
            <a:r>
              <a:rPr lang="en-US" altLang="zh-CN" sz="1200">
                <a:ea typeface="宋体" pitchFamily="2" charset="-122"/>
              </a:rPr>
              <a:t>operations.</a:t>
            </a:r>
            <a:endParaRPr lang="en-US" sz="1200"/>
          </a:p>
        </p:txBody>
      </p:sp>
      <p:sp>
        <p:nvSpPr>
          <p:cNvPr id="51212" name="Line 14"/>
          <p:cNvSpPr>
            <a:spLocks noChangeShapeType="1"/>
          </p:cNvSpPr>
          <p:nvPr/>
        </p:nvSpPr>
        <p:spPr bwMode="auto">
          <a:xfrm>
            <a:off x="4419600" y="50292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3" name="Text Box 15"/>
          <p:cNvSpPr txBox="1">
            <a:spLocks noChangeArrowheads="1"/>
          </p:cNvSpPr>
          <p:nvPr/>
        </p:nvSpPr>
        <p:spPr bwMode="auto">
          <a:xfrm>
            <a:off x="4038600" y="5562600"/>
            <a:ext cx="15240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Miami-Dade transit will be providing including Metrobus and Metrorail.</a:t>
            </a:r>
            <a:endParaRPr lang="en-US" sz="1200"/>
          </a:p>
        </p:txBody>
      </p:sp>
      <p:sp>
        <p:nvSpPr>
          <p:cNvPr id="51214" name="Line 16"/>
          <p:cNvSpPr>
            <a:spLocks noChangeShapeType="1"/>
          </p:cNvSpPr>
          <p:nvPr/>
        </p:nvSpPr>
        <p:spPr bwMode="auto">
          <a:xfrm>
            <a:off x="4648200" y="3276600"/>
            <a:ext cx="1981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Oval 17"/>
          <p:cNvSpPr>
            <a:spLocks noChangeArrowheads="1"/>
          </p:cNvSpPr>
          <p:nvPr/>
        </p:nvSpPr>
        <p:spPr bwMode="auto">
          <a:xfrm>
            <a:off x="5867400" y="4114800"/>
            <a:ext cx="2057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2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200">
                <a:ea typeface="宋体" pitchFamily="2" charset="-122"/>
              </a:rPr>
              <a:t>Airport is open.</a:t>
            </a:r>
            <a:endParaRPr lang="en-US" sz="1200"/>
          </a:p>
        </p:txBody>
      </p:sp>
      <p:sp>
        <p:nvSpPr>
          <p:cNvPr id="51216" name="Line 18"/>
          <p:cNvSpPr>
            <a:spLocks noChangeShapeType="1"/>
          </p:cNvSpPr>
          <p:nvPr/>
        </p:nvSpPr>
        <p:spPr bwMode="auto">
          <a:xfrm flipH="1">
            <a:off x="6248400" y="4953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7" name="Text Box 19"/>
          <p:cNvSpPr txBox="1">
            <a:spLocks noChangeArrowheads="1"/>
          </p:cNvSpPr>
          <p:nvPr/>
        </p:nvSpPr>
        <p:spPr bwMode="auto">
          <a:xfrm>
            <a:off x="5867400" y="5562600"/>
            <a:ext cx="1143000" cy="649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Miami International Airport is open.</a:t>
            </a:r>
            <a:endParaRPr lang="en-US" sz="1200"/>
          </a:p>
        </p:txBody>
      </p:sp>
      <p:sp>
        <p:nvSpPr>
          <p:cNvPr id="51218" name="Line 20"/>
          <p:cNvSpPr>
            <a:spLocks noChangeShapeType="1"/>
          </p:cNvSpPr>
          <p:nvPr/>
        </p:nvSpPr>
        <p:spPr bwMode="auto">
          <a:xfrm>
            <a:off x="7315200" y="4953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9" name="Text Box 21"/>
          <p:cNvSpPr txBox="1">
            <a:spLocks noChangeArrowheads="1"/>
          </p:cNvSpPr>
          <p:nvPr/>
        </p:nvSpPr>
        <p:spPr bwMode="auto">
          <a:xfrm>
            <a:off x="7315200" y="5562600"/>
            <a:ext cx="12192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200">
                <a:ea typeface="宋体" pitchFamily="2" charset="-122"/>
              </a:rPr>
              <a:t>However, please check with your airline for flight information.</a:t>
            </a:r>
            <a:endParaRPr lang="en-US" sz="1200"/>
          </a:p>
        </p:txBody>
      </p:sp>
      <p:sp>
        <p:nvSpPr>
          <p:cNvPr id="51220" name="Text Box 22"/>
          <p:cNvSpPr txBox="1">
            <a:spLocks noChangeArrowheads="1"/>
          </p:cNvSpPr>
          <p:nvPr/>
        </p:nvSpPr>
        <p:spPr bwMode="auto">
          <a:xfrm>
            <a:off x="838200" y="2743200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solidFill>
                  <a:srgbClr val="FF6600"/>
                </a:solidFill>
                <a:ea typeface="宋体" pitchFamily="2" charset="-122"/>
              </a:rPr>
              <a:t>Phase 1</a:t>
            </a:r>
            <a:endParaRPr lang="en-US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02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  </a:t>
            </a:r>
            <a:endParaRPr lang="en-US" sz="1600" smtClean="0">
              <a:latin typeface="Times New Roman" pitchFamily="18" charset="0"/>
            </a:endParaRPr>
          </a:p>
        </p:txBody>
      </p:sp>
      <p:sp>
        <p:nvSpPr>
          <p:cNvPr id="52227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52228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9" name="Text Box 21"/>
          <p:cNvSpPr txBox="1">
            <a:spLocks noChangeArrowheads="1"/>
          </p:cNvSpPr>
          <p:nvPr/>
        </p:nvSpPr>
        <p:spPr bwMode="auto">
          <a:xfrm>
            <a:off x="838200" y="1981200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solidFill>
                  <a:srgbClr val="FF6600"/>
                </a:solidFill>
                <a:ea typeface="宋体" pitchFamily="2" charset="-122"/>
              </a:rPr>
              <a:t>Phase 2</a:t>
            </a:r>
            <a:endParaRPr lang="en-US">
              <a:solidFill>
                <a:srgbClr val="FF6600"/>
              </a:solidFill>
            </a:endParaRPr>
          </a:p>
        </p:txBody>
      </p:sp>
      <p:sp>
        <p:nvSpPr>
          <p:cNvPr id="52230" name="Oval 22"/>
          <p:cNvSpPr>
            <a:spLocks noChangeArrowheads="1"/>
          </p:cNvSpPr>
          <p:nvPr/>
        </p:nvSpPr>
        <p:spPr bwMode="auto">
          <a:xfrm>
            <a:off x="3657600" y="18034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1200">
                <a:ea typeface="宋体" pitchFamily="2" charset="-122"/>
              </a:rPr>
              <a:t>root</a:t>
            </a:r>
            <a:endParaRPr lang="en-US" sz="1200"/>
          </a:p>
        </p:txBody>
      </p:sp>
      <p:sp>
        <p:nvSpPr>
          <p:cNvPr id="52231" name="Line 23"/>
          <p:cNvSpPr>
            <a:spLocks noChangeShapeType="1"/>
          </p:cNvSpPr>
          <p:nvPr/>
        </p:nvSpPr>
        <p:spPr bwMode="auto">
          <a:xfrm flipH="1">
            <a:off x="1676400" y="2108200"/>
            <a:ext cx="2438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2" name="Text Box 24"/>
          <p:cNvSpPr txBox="1">
            <a:spLocks noChangeArrowheads="1"/>
          </p:cNvSpPr>
          <p:nvPr/>
        </p:nvSpPr>
        <p:spPr bwMode="auto">
          <a:xfrm>
            <a:off x="76200" y="5461000"/>
            <a:ext cx="11430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A decision has not yet been made as to whether Miami Dade Public Schools will be open on Monday.</a:t>
            </a:r>
            <a:endParaRPr lang="en-US" sz="1000"/>
          </a:p>
        </p:txBody>
      </p:sp>
      <p:sp>
        <p:nvSpPr>
          <p:cNvPr id="52233" name="Line 25"/>
          <p:cNvSpPr>
            <a:spLocks noChangeShapeType="1"/>
          </p:cNvSpPr>
          <p:nvPr/>
        </p:nvSpPr>
        <p:spPr bwMode="auto">
          <a:xfrm>
            <a:off x="4114800" y="210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4" name="Oval 26"/>
          <p:cNvSpPr>
            <a:spLocks noChangeArrowheads="1"/>
          </p:cNvSpPr>
          <p:nvPr/>
        </p:nvSpPr>
        <p:spPr bwMode="auto">
          <a:xfrm>
            <a:off x="3048000" y="2870200"/>
            <a:ext cx="1676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en-US" altLang="zh-CN" sz="1200">
              <a:ea typeface="宋体" pitchFamily="2" charset="-122"/>
            </a:endParaRP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bus and rail service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remain closed.</a:t>
            </a:r>
            <a:endParaRPr lang="en-US" sz="1000"/>
          </a:p>
          <a:p>
            <a:pPr eaLnBrk="1" hangingPunct="1">
              <a:spcBef>
                <a:spcPct val="50000"/>
              </a:spcBef>
            </a:pPr>
            <a:endParaRPr lang="en-US" sz="1000"/>
          </a:p>
        </p:txBody>
      </p:sp>
      <p:sp>
        <p:nvSpPr>
          <p:cNvPr id="52235" name="Line 27"/>
          <p:cNvSpPr>
            <a:spLocks noChangeShapeType="1"/>
          </p:cNvSpPr>
          <p:nvPr/>
        </p:nvSpPr>
        <p:spPr bwMode="auto">
          <a:xfrm flipH="1">
            <a:off x="3352800" y="37846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6" name="Text Box 28"/>
          <p:cNvSpPr txBox="1">
            <a:spLocks noChangeArrowheads="1"/>
          </p:cNvSpPr>
          <p:nvPr/>
        </p:nvSpPr>
        <p:spPr bwMode="auto">
          <a:xfrm>
            <a:off x="2590800" y="4318000"/>
            <a:ext cx="12192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All Miami-Dade County services continue normal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operations.</a:t>
            </a:r>
            <a:endParaRPr lang="en-US" sz="1000"/>
          </a:p>
        </p:txBody>
      </p:sp>
      <p:sp>
        <p:nvSpPr>
          <p:cNvPr id="52237" name="Line 29"/>
          <p:cNvSpPr>
            <a:spLocks noChangeShapeType="1"/>
          </p:cNvSpPr>
          <p:nvPr/>
        </p:nvSpPr>
        <p:spPr bwMode="auto">
          <a:xfrm>
            <a:off x="4191000" y="3784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8" name="Text Box 30"/>
          <p:cNvSpPr txBox="1">
            <a:spLocks noChangeArrowheads="1"/>
          </p:cNvSpPr>
          <p:nvPr/>
        </p:nvSpPr>
        <p:spPr bwMode="auto">
          <a:xfrm>
            <a:off x="3810000" y="5689600"/>
            <a:ext cx="12192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Miami-Dade transit is not in operation and will continue to be closed for at least 48 hours.</a:t>
            </a:r>
            <a:endParaRPr lang="en-US" sz="1000"/>
          </a:p>
        </p:txBody>
      </p:sp>
      <p:sp>
        <p:nvSpPr>
          <p:cNvPr id="52239" name="Line 31"/>
          <p:cNvSpPr>
            <a:spLocks noChangeShapeType="1"/>
          </p:cNvSpPr>
          <p:nvPr/>
        </p:nvSpPr>
        <p:spPr bwMode="auto">
          <a:xfrm>
            <a:off x="4114800" y="2108200"/>
            <a:ext cx="2286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0" name="Oval 32"/>
          <p:cNvSpPr>
            <a:spLocks noChangeArrowheads="1"/>
          </p:cNvSpPr>
          <p:nvPr/>
        </p:nvSpPr>
        <p:spPr bwMode="auto">
          <a:xfrm>
            <a:off x="5791200" y="4241800"/>
            <a:ext cx="1295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is open.</a:t>
            </a:r>
            <a:endParaRPr lang="en-US" sz="1000"/>
          </a:p>
        </p:txBody>
      </p:sp>
      <p:sp>
        <p:nvSpPr>
          <p:cNvPr id="52241" name="Line 33"/>
          <p:cNvSpPr>
            <a:spLocks noChangeShapeType="1"/>
          </p:cNvSpPr>
          <p:nvPr/>
        </p:nvSpPr>
        <p:spPr bwMode="auto">
          <a:xfrm flipH="1">
            <a:off x="6248400" y="5080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2" name="Text Box 34"/>
          <p:cNvSpPr txBox="1">
            <a:spLocks noChangeArrowheads="1"/>
          </p:cNvSpPr>
          <p:nvPr/>
        </p:nvSpPr>
        <p:spPr bwMode="auto">
          <a:xfrm>
            <a:off x="6096000" y="56896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 International Airport is open.</a:t>
            </a:r>
            <a:endParaRPr lang="en-US" sz="1000"/>
          </a:p>
        </p:txBody>
      </p:sp>
      <p:sp>
        <p:nvSpPr>
          <p:cNvPr id="52243" name="Line 35"/>
          <p:cNvSpPr>
            <a:spLocks noChangeShapeType="1"/>
          </p:cNvSpPr>
          <p:nvPr/>
        </p:nvSpPr>
        <p:spPr bwMode="auto">
          <a:xfrm>
            <a:off x="6705600" y="508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4" name="Text Box 36"/>
          <p:cNvSpPr txBox="1">
            <a:spLocks noChangeArrowheads="1"/>
          </p:cNvSpPr>
          <p:nvPr/>
        </p:nvSpPr>
        <p:spPr bwMode="auto">
          <a:xfrm>
            <a:off x="7086600" y="5689600"/>
            <a:ext cx="9144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However, please check with your airline for flight information.</a:t>
            </a:r>
            <a:endParaRPr lang="en-US" sz="1000"/>
          </a:p>
        </p:txBody>
      </p:sp>
      <p:sp>
        <p:nvSpPr>
          <p:cNvPr id="52245" name="Text Box 37"/>
          <p:cNvSpPr txBox="1">
            <a:spLocks noChangeArrowheads="1"/>
          </p:cNvSpPr>
          <p:nvPr/>
        </p:nvSpPr>
        <p:spPr bwMode="auto">
          <a:xfrm>
            <a:off x="1295400" y="5842000"/>
            <a:ext cx="12192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On Monday, Miami-Dade County public schools will be closed.</a:t>
            </a:r>
            <a:endParaRPr lang="en-US" sz="1000"/>
          </a:p>
        </p:txBody>
      </p:sp>
      <p:sp>
        <p:nvSpPr>
          <p:cNvPr id="52246" name="Text Box 38"/>
          <p:cNvSpPr txBox="1">
            <a:spLocks noChangeArrowheads="1"/>
          </p:cNvSpPr>
          <p:nvPr/>
        </p:nvSpPr>
        <p:spPr bwMode="auto">
          <a:xfrm>
            <a:off x="2590800" y="5842000"/>
            <a:ext cx="11430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Miami-Dade County Public Schools closed through Tuesday.</a:t>
            </a:r>
            <a:endParaRPr lang="en-US" sz="1000"/>
          </a:p>
        </p:txBody>
      </p:sp>
      <p:sp>
        <p:nvSpPr>
          <p:cNvPr id="52247" name="Oval 39"/>
          <p:cNvSpPr>
            <a:spLocks noChangeArrowheads="1"/>
          </p:cNvSpPr>
          <p:nvPr/>
        </p:nvSpPr>
        <p:spPr bwMode="auto">
          <a:xfrm>
            <a:off x="457200" y="3098800"/>
            <a:ext cx="1600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000">
                <a:ea typeface="宋体" pitchFamily="2" charset="-122"/>
              </a:rPr>
              <a:t>Miami-Dade County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Public Schools closed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through Tuesday.</a:t>
            </a:r>
            <a:endParaRPr lang="en-US" sz="1000">
              <a:ea typeface="宋体" pitchFamily="2" charset="-122"/>
            </a:endParaRPr>
          </a:p>
        </p:txBody>
      </p:sp>
      <p:sp>
        <p:nvSpPr>
          <p:cNvPr id="52248" name="Line 40"/>
          <p:cNvSpPr>
            <a:spLocks noChangeShapeType="1"/>
          </p:cNvSpPr>
          <p:nvPr/>
        </p:nvSpPr>
        <p:spPr bwMode="auto">
          <a:xfrm flipH="1">
            <a:off x="457200" y="4013200"/>
            <a:ext cx="685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9" name="Line 41"/>
          <p:cNvSpPr>
            <a:spLocks noChangeShapeType="1"/>
          </p:cNvSpPr>
          <p:nvPr/>
        </p:nvSpPr>
        <p:spPr bwMode="auto">
          <a:xfrm>
            <a:off x="1524000" y="40132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0" name="Line 42"/>
          <p:cNvSpPr>
            <a:spLocks noChangeShapeType="1"/>
          </p:cNvSpPr>
          <p:nvPr/>
        </p:nvSpPr>
        <p:spPr bwMode="auto">
          <a:xfrm>
            <a:off x="1752600" y="3937000"/>
            <a:ext cx="9906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1" name="Line 43"/>
          <p:cNvSpPr>
            <a:spLocks noChangeShapeType="1"/>
          </p:cNvSpPr>
          <p:nvPr/>
        </p:nvSpPr>
        <p:spPr bwMode="auto">
          <a:xfrm>
            <a:off x="5029200" y="5080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2" name="Text Box 44"/>
          <p:cNvSpPr txBox="1">
            <a:spLocks noChangeArrowheads="1"/>
          </p:cNvSpPr>
          <p:nvPr/>
        </p:nvSpPr>
        <p:spPr bwMode="auto">
          <a:xfrm>
            <a:off x="5105400" y="5689600"/>
            <a:ext cx="9144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bus and rail service remain closed.</a:t>
            </a:r>
            <a:endParaRPr lang="en-US" sz="1000"/>
          </a:p>
        </p:txBody>
      </p:sp>
      <p:sp>
        <p:nvSpPr>
          <p:cNvPr id="52253" name="Line 45"/>
          <p:cNvSpPr>
            <a:spLocks noChangeShapeType="1"/>
          </p:cNvSpPr>
          <p:nvPr/>
        </p:nvSpPr>
        <p:spPr bwMode="auto">
          <a:xfrm flipH="1">
            <a:off x="4343400" y="5080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4" name="Oval 46"/>
          <p:cNvSpPr>
            <a:spLocks noChangeArrowheads="1"/>
          </p:cNvSpPr>
          <p:nvPr/>
        </p:nvSpPr>
        <p:spPr bwMode="auto">
          <a:xfrm>
            <a:off x="3886200" y="4241800"/>
            <a:ext cx="1676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en-US" altLang="zh-CN" sz="1200">
              <a:ea typeface="宋体" pitchFamily="2" charset="-122"/>
            </a:endParaRP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bus and rail service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remain closed.</a:t>
            </a:r>
            <a:endParaRPr lang="en-US" sz="1000"/>
          </a:p>
          <a:p>
            <a:pPr eaLnBrk="1" hangingPunct="1">
              <a:spcBef>
                <a:spcPct val="50000"/>
              </a:spcBef>
            </a:pPr>
            <a:endParaRPr lang="en-US" sz="1000"/>
          </a:p>
        </p:txBody>
      </p:sp>
      <p:sp>
        <p:nvSpPr>
          <p:cNvPr id="52255" name="Oval 47"/>
          <p:cNvSpPr>
            <a:spLocks noChangeArrowheads="1"/>
          </p:cNvSpPr>
          <p:nvPr/>
        </p:nvSpPr>
        <p:spPr bwMode="auto">
          <a:xfrm>
            <a:off x="6096000" y="2870200"/>
            <a:ext cx="1600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is will remain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closed.</a:t>
            </a:r>
            <a:endParaRPr lang="en-US" sz="1000"/>
          </a:p>
        </p:txBody>
      </p:sp>
      <p:sp>
        <p:nvSpPr>
          <p:cNvPr id="52256" name="Line 48"/>
          <p:cNvSpPr>
            <a:spLocks noChangeShapeType="1"/>
          </p:cNvSpPr>
          <p:nvPr/>
        </p:nvSpPr>
        <p:spPr bwMode="auto">
          <a:xfrm flipH="1">
            <a:off x="6629400" y="3708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7" name="Line 49"/>
          <p:cNvSpPr>
            <a:spLocks noChangeShapeType="1"/>
          </p:cNvSpPr>
          <p:nvPr/>
        </p:nvSpPr>
        <p:spPr bwMode="auto">
          <a:xfrm>
            <a:off x="7239000" y="37084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58" name="Text Box 50"/>
          <p:cNvSpPr txBox="1">
            <a:spLocks noChangeArrowheads="1"/>
          </p:cNvSpPr>
          <p:nvPr/>
        </p:nvSpPr>
        <p:spPr bwMode="auto">
          <a:xfrm>
            <a:off x="7239000" y="4622800"/>
            <a:ext cx="8382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Airlines are not expected to resume operations.</a:t>
            </a:r>
            <a:endParaRPr lang="en-US" sz="1000"/>
          </a:p>
        </p:txBody>
      </p:sp>
      <p:sp>
        <p:nvSpPr>
          <p:cNvPr id="52259" name="Line 51"/>
          <p:cNvSpPr>
            <a:spLocks noChangeShapeType="1"/>
          </p:cNvSpPr>
          <p:nvPr/>
        </p:nvSpPr>
        <p:spPr bwMode="auto">
          <a:xfrm>
            <a:off x="7391400" y="3632200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60" name="Text Box 52"/>
          <p:cNvSpPr txBox="1">
            <a:spLocks noChangeArrowheads="1"/>
          </p:cNvSpPr>
          <p:nvPr/>
        </p:nvSpPr>
        <p:spPr bwMode="auto">
          <a:xfrm>
            <a:off x="8153400" y="4622800"/>
            <a:ext cx="9144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will remain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closed.</a:t>
            </a:r>
            <a:endParaRPr lang="en-US" sz="1000"/>
          </a:p>
        </p:txBody>
      </p:sp>
      <p:sp>
        <p:nvSpPr>
          <p:cNvPr id="95285" name="Rectangle 53"/>
          <p:cNvSpPr>
            <a:spLocks noChangeArrowheads="1"/>
          </p:cNvSpPr>
          <p:nvPr/>
        </p:nvSpPr>
        <p:spPr bwMode="auto">
          <a:xfrm>
            <a:off x="76200" y="5486400"/>
            <a:ext cx="1143000" cy="990600"/>
          </a:xfrm>
          <a:prstGeom prst="rect">
            <a:avLst/>
          </a:prstGeom>
          <a:noFill/>
          <a:ln w="25400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95286" name="Rectangle 54"/>
          <p:cNvSpPr>
            <a:spLocks noChangeArrowheads="1"/>
          </p:cNvSpPr>
          <p:nvPr/>
        </p:nvSpPr>
        <p:spPr bwMode="auto">
          <a:xfrm>
            <a:off x="2590800" y="4343400"/>
            <a:ext cx="1219200" cy="685800"/>
          </a:xfrm>
          <a:prstGeom prst="rect">
            <a:avLst/>
          </a:prstGeom>
          <a:noFill/>
          <a:ln w="25400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  <p:sp>
        <p:nvSpPr>
          <p:cNvPr id="95287" name="Oval 55"/>
          <p:cNvSpPr>
            <a:spLocks noChangeArrowheads="1"/>
          </p:cNvSpPr>
          <p:nvPr/>
        </p:nvSpPr>
        <p:spPr bwMode="auto">
          <a:xfrm>
            <a:off x="5791200" y="4267200"/>
            <a:ext cx="1295400" cy="762000"/>
          </a:xfrm>
          <a:prstGeom prst="ellipse">
            <a:avLst/>
          </a:prstGeom>
          <a:noFill/>
          <a:ln w="25400" algn="ctr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0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85" grpId="0" animBg="1"/>
      <p:bldP spid="95286" grpId="0" animBg="1"/>
      <p:bldP spid="9528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180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altLang="zh-CN" sz="1600" smtClean="0">
                <a:latin typeface="Times New Roman" pitchFamily="18" charset="0"/>
                <a:ea typeface="宋体" pitchFamily="2" charset="-122"/>
              </a:rPr>
              <a:t>       </a:t>
            </a:r>
            <a:endParaRPr lang="en-US" sz="1600" smtClean="0">
              <a:latin typeface="Times New Roman" pitchFamily="18" charset="0"/>
            </a:endParaRPr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53252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Text Box 6"/>
          <p:cNvSpPr txBox="1">
            <a:spLocks noChangeArrowheads="1"/>
          </p:cNvSpPr>
          <p:nvPr/>
        </p:nvSpPr>
        <p:spPr bwMode="auto">
          <a:xfrm>
            <a:off x="838200" y="1981200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solidFill>
                  <a:srgbClr val="FF6600"/>
                </a:solidFill>
                <a:ea typeface="宋体" pitchFamily="2" charset="-122"/>
              </a:rPr>
              <a:t>Phase 3</a:t>
            </a:r>
            <a:endParaRPr lang="en-US">
              <a:solidFill>
                <a:srgbClr val="FF6600"/>
              </a:solidFill>
            </a:endParaRPr>
          </a:p>
        </p:txBody>
      </p:sp>
      <p:sp>
        <p:nvSpPr>
          <p:cNvPr id="53254" name="Oval 41"/>
          <p:cNvSpPr>
            <a:spLocks noChangeArrowheads="1"/>
          </p:cNvSpPr>
          <p:nvPr/>
        </p:nvSpPr>
        <p:spPr bwMode="auto">
          <a:xfrm>
            <a:off x="3657600" y="20320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1200">
                <a:ea typeface="宋体" pitchFamily="2" charset="-122"/>
              </a:rPr>
              <a:t>root</a:t>
            </a:r>
            <a:endParaRPr lang="en-US" sz="1200"/>
          </a:p>
        </p:txBody>
      </p:sp>
      <p:sp>
        <p:nvSpPr>
          <p:cNvPr id="53255" name="Line 42"/>
          <p:cNvSpPr>
            <a:spLocks noChangeShapeType="1"/>
          </p:cNvSpPr>
          <p:nvPr/>
        </p:nvSpPr>
        <p:spPr bwMode="auto">
          <a:xfrm flipH="1">
            <a:off x="1676400" y="2336800"/>
            <a:ext cx="2438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Text Box 43"/>
          <p:cNvSpPr txBox="1">
            <a:spLocks noChangeArrowheads="1"/>
          </p:cNvSpPr>
          <p:nvPr/>
        </p:nvSpPr>
        <p:spPr bwMode="auto">
          <a:xfrm>
            <a:off x="76200" y="5689600"/>
            <a:ext cx="6858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A decision has not yet been made …</a:t>
            </a:r>
            <a:endParaRPr lang="en-US" sz="1000"/>
          </a:p>
        </p:txBody>
      </p:sp>
      <p:sp>
        <p:nvSpPr>
          <p:cNvPr id="53257" name="Line 44"/>
          <p:cNvSpPr>
            <a:spLocks noChangeShapeType="1"/>
          </p:cNvSpPr>
          <p:nvPr/>
        </p:nvSpPr>
        <p:spPr bwMode="auto">
          <a:xfrm>
            <a:off x="4114800" y="233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Oval 45"/>
          <p:cNvSpPr>
            <a:spLocks noChangeArrowheads="1"/>
          </p:cNvSpPr>
          <p:nvPr/>
        </p:nvSpPr>
        <p:spPr bwMode="auto">
          <a:xfrm>
            <a:off x="3048000" y="3098800"/>
            <a:ext cx="1676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en-US" altLang="zh-CN" sz="1200">
              <a:ea typeface="宋体" pitchFamily="2" charset="-122"/>
            </a:endParaRP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bus and rail service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remain closed. </a:t>
            </a:r>
            <a:endParaRPr lang="en-US" sz="1000"/>
          </a:p>
          <a:p>
            <a:pPr eaLnBrk="1" hangingPunct="1">
              <a:spcBef>
                <a:spcPct val="50000"/>
              </a:spcBef>
            </a:pPr>
            <a:endParaRPr lang="en-US" sz="1000"/>
          </a:p>
        </p:txBody>
      </p:sp>
      <p:sp>
        <p:nvSpPr>
          <p:cNvPr id="53259" name="Line 46"/>
          <p:cNvSpPr>
            <a:spLocks noChangeShapeType="1"/>
          </p:cNvSpPr>
          <p:nvPr/>
        </p:nvSpPr>
        <p:spPr bwMode="auto">
          <a:xfrm>
            <a:off x="4114800" y="2336800"/>
            <a:ext cx="2286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Oval 47"/>
          <p:cNvSpPr>
            <a:spLocks noChangeArrowheads="1"/>
          </p:cNvSpPr>
          <p:nvPr/>
        </p:nvSpPr>
        <p:spPr bwMode="auto">
          <a:xfrm>
            <a:off x="5029200" y="4394200"/>
            <a:ext cx="1295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is open.</a:t>
            </a:r>
            <a:endParaRPr lang="en-US" sz="1000"/>
          </a:p>
        </p:txBody>
      </p:sp>
      <p:sp>
        <p:nvSpPr>
          <p:cNvPr id="53261" name="Line 48"/>
          <p:cNvSpPr>
            <a:spLocks noChangeShapeType="1"/>
          </p:cNvSpPr>
          <p:nvPr/>
        </p:nvSpPr>
        <p:spPr bwMode="auto">
          <a:xfrm flipH="1">
            <a:off x="5257800" y="5232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2" name="Text Box 49"/>
          <p:cNvSpPr txBox="1">
            <a:spLocks noChangeArrowheads="1"/>
          </p:cNvSpPr>
          <p:nvPr/>
        </p:nvSpPr>
        <p:spPr bwMode="auto">
          <a:xfrm>
            <a:off x="4800600" y="56896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 International Airport is open.</a:t>
            </a:r>
            <a:endParaRPr lang="en-US" sz="1000"/>
          </a:p>
        </p:txBody>
      </p:sp>
      <p:sp>
        <p:nvSpPr>
          <p:cNvPr id="53263" name="Text Box 50"/>
          <p:cNvSpPr txBox="1">
            <a:spLocks noChangeArrowheads="1"/>
          </p:cNvSpPr>
          <p:nvPr/>
        </p:nvSpPr>
        <p:spPr bwMode="auto">
          <a:xfrm>
            <a:off x="1066800" y="5689600"/>
            <a:ext cx="10668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Miami-Dade Public Schools will remain closed on Wednesday.</a:t>
            </a:r>
            <a:endParaRPr lang="en-US" sz="1000"/>
          </a:p>
        </p:txBody>
      </p:sp>
      <p:sp>
        <p:nvSpPr>
          <p:cNvPr id="53264" name="Oval 51"/>
          <p:cNvSpPr>
            <a:spLocks noChangeArrowheads="1"/>
          </p:cNvSpPr>
          <p:nvPr/>
        </p:nvSpPr>
        <p:spPr bwMode="auto">
          <a:xfrm>
            <a:off x="457200" y="3327400"/>
            <a:ext cx="1600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r>
              <a:rPr lang="en-US" altLang="zh-CN" sz="1000">
                <a:ea typeface="宋体" pitchFamily="2" charset="-122"/>
              </a:rPr>
              <a:t>Miami-Dade Public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 Schools will remain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closed on Wednesday.</a:t>
            </a:r>
            <a:endParaRPr lang="en-US" sz="1000"/>
          </a:p>
        </p:txBody>
      </p:sp>
      <p:sp>
        <p:nvSpPr>
          <p:cNvPr id="53265" name="Line 52"/>
          <p:cNvSpPr>
            <a:spLocks noChangeShapeType="1"/>
          </p:cNvSpPr>
          <p:nvPr/>
        </p:nvSpPr>
        <p:spPr bwMode="auto">
          <a:xfrm flipH="1">
            <a:off x="457200" y="4241800"/>
            <a:ext cx="685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6" name="Line 53"/>
          <p:cNvSpPr>
            <a:spLocks noChangeShapeType="1"/>
          </p:cNvSpPr>
          <p:nvPr/>
        </p:nvSpPr>
        <p:spPr bwMode="auto">
          <a:xfrm>
            <a:off x="1447800" y="4241800"/>
            <a:ext cx="152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7" name="Oval 54"/>
          <p:cNvSpPr>
            <a:spLocks noChangeArrowheads="1"/>
          </p:cNvSpPr>
          <p:nvPr/>
        </p:nvSpPr>
        <p:spPr bwMode="auto">
          <a:xfrm>
            <a:off x="6096000" y="3098800"/>
            <a:ext cx="1600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Airport has re-opened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with limited service.</a:t>
            </a:r>
            <a:endParaRPr lang="en-US" sz="1000"/>
          </a:p>
        </p:txBody>
      </p:sp>
      <p:sp>
        <p:nvSpPr>
          <p:cNvPr id="53268" name="Line 55"/>
          <p:cNvSpPr>
            <a:spLocks noChangeShapeType="1"/>
          </p:cNvSpPr>
          <p:nvPr/>
        </p:nvSpPr>
        <p:spPr bwMode="auto">
          <a:xfrm flipH="1">
            <a:off x="5715000" y="3937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9" name="Line 56"/>
          <p:cNvSpPr>
            <a:spLocks noChangeShapeType="1"/>
          </p:cNvSpPr>
          <p:nvPr/>
        </p:nvSpPr>
        <p:spPr bwMode="auto">
          <a:xfrm>
            <a:off x="6934200" y="3937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0" name="Text Box 57"/>
          <p:cNvSpPr txBox="1">
            <a:spLocks noChangeArrowheads="1"/>
          </p:cNvSpPr>
          <p:nvPr/>
        </p:nvSpPr>
        <p:spPr bwMode="auto">
          <a:xfrm>
            <a:off x="6553200" y="5689600"/>
            <a:ext cx="8382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Airlines are not expected to resume operations.</a:t>
            </a:r>
            <a:endParaRPr lang="en-US" sz="1000"/>
          </a:p>
        </p:txBody>
      </p:sp>
      <p:sp>
        <p:nvSpPr>
          <p:cNvPr id="53271" name="Line 58"/>
          <p:cNvSpPr>
            <a:spLocks noChangeShapeType="1"/>
          </p:cNvSpPr>
          <p:nvPr/>
        </p:nvSpPr>
        <p:spPr bwMode="auto">
          <a:xfrm>
            <a:off x="7391400" y="3860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Text Box 59"/>
          <p:cNvSpPr txBox="1">
            <a:spLocks noChangeArrowheads="1"/>
          </p:cNvSpPr>
          <p:nvPr/>
        </p:nvSpPr>
        <p:spPr bwMode="auto">
          <a:xfrm>
            <a:off x="7467600" y="5689600"/>
            <a:ext cx="9144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will remain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closed.</a:t>
            </a:r>
            <a:endParaRPr lang="en-US" sz="1000"/>
          </a:p>
        </p:txBody>
      </p:sp>
      <p:sp>
        <p:nvSpPr>
          <p:cNvPr id="53273" name="Text Box 60"/>
          <p:cNvSpPr txBox="1">
            <a:spLocks noChangeArrowheads="1"/>
          </p:cNvSpPr>
          <p:nvPr/>
        </p:nvSpPr>
        <p:spPr bwMode="auto">
          <a:xfrm>
            <a:off x="685800" y="59182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Arial" charset="0"/>
                <a:ea typeface="宋体" pitchFamily="2" charset="-122"/>
              </a:rPr>
              <a:t>…</a:t>
            </a:r>
            <a:endParaRPr lang="en-US" sz="1800">
              <a:latin typeface="Arial" charset="0"/>
            </a:endParaRPr>
          </a:p>
        </p:txBody>
      </p:sp>
      <p:sp>
        <p:nvSpPr>
          <p:cNvPr id="53274" name="Line 61"/>
          <p:cNvSpPr>
            <a:spLocks noChangeShapeType="1"/>
          </p:cNvSpPr>
          <p:nvPr/>
        </p:nvSpPr>
        <p:spPr bwMode="auto">
          <a:xfrm>
            <a:off x="5791200" y="5232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Text Box 62"/>
          <p:cNvSpPr txBox="1">
            <a:spLocks noChangeArrowheads="1"/>
          </p:cNvSpPr>
          <p:nvPr/>
        </p:nvSpPr>
        <p:spPr bwMode="auto">
          <a:xfrm>
            <a:off x="5791200" y="5689600"/>
            <a:ext cx="685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However, please check …</a:t>
            </a:r>
            <a:endParaRPr lang="en-US" sz="1000"/>
          </a:p>
        </p:txBody>
      </p:sp>
      <p:sp>
        <p:nvSpPr>
          <p:cNvPr id="53276" name="Oval 63"/>
          <p:cNvSpPr>
            <a:spLocks noChangeArrowheads="1"/>
          </p:cNvSpPr>
          <p:nvPr/>
        </p:nvSpPr>
        <p:spPr bwMode="auto">
          <a:xfrm>
            <a:off x="6400800" y="4470400"/>
            <a:ext cx="1295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Airport will remain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closed.</a:t>
            </a:r>
            <a:endParaRPr lang="en-US" sz="1000"/>
          </a:p>
        </p:txBody>
      </p:sp>
      <p:sp>
        <p:nvSpPr>
          <p:cNvPr id="53277" name="Line 64"/>
          <p:cNvSpPr>
            <a:spLocks noChangeShapeType="1"/>
          </p:cNvSpPr>
          <p:nvPr/>
        </p:nvSpPr>
        <p:spPr bwMode="auto">
          <a:xfrm>
            <a:off x="6934200" y="530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8" name="Line 65"/>
          <p:cNvSpPr>
            <a:spLocks noChangeShapeType="1"/>
          </p:cNvSpPr>
          <p:nvPr/>
        </p:nvSpPr>
        <p:spPr bwMode="auto">
          <a:xfrm>
            <a:off x="7086600" y="5308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9" name="Line 66"/>
          <p:cNvSpPr>
            <a:spLocks noChangeShapeType="1"/>
          </p:cNvSpPr>
          <p:nvPr/>
        </p:nvSpPr>
        <p:spPr bwMode="auto">
          <a:xfrm flipH="1">
            <a:off x="2362200" y="3860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0" name="Line 67"/>
          <p:cNvSpPr>
            <a:spLocks noChangeShapeType="1"/>
          </p:cNvSpPr>
          <p:nvPr/>
        </p:nvSpPr>
        <p:spPr bwMode="auto">
          <a:xfrm flipH="1">
            <a:off x="3429000" y="4013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1" name="Text Box 68"/>
          <p:cNvSpPr txBox="1">
            <a:spLocks noChangeArrowheads="1"/>
          </p:cNvSpPr>
          <p:nvPr/>
        </p:nvSpPr>
        <p:spPr bwMode="auto">
          <a:xfrm>
            <a:off x="2286000" y="5689600"/>
            <a:ext cx="8382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Miami-Dade transit is not in operation …</a:t>
            </a:r>
            <a:endParaRPr lang="en-US" sz="1000"/>
          </a:p>
        </p:txBody>
      </p:sp>
      <p:sp>
        <p:nvSpPr>
          <p:cNvPr id="53282" name="Line 69"/>
          <p:cNvSpPr>
            <a:spLocks noChangeShapeType="1"/>
          </p:cNvSpPr>
          <p:nvPr/>
        </p:nvSpPr>
        <p:spPr bwMode="auto">
          <a:xfrm>
            <a:off x="3505200" y="50800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3" name="Text Box 70"/>
          <p:cNvSpPr txBox="1">
            <a:spLocks noChangeArrowheads="1"/>
          </p:cNvSpPr>
          <p:nvPr/>
        </p:nvSpPr>
        <p:spPr bwMode="auto">
          <a:xfrm>
            <a:off x="3200400" y="5689600"/>
            <a:ext cx="914400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bus and rail service remain closed.</a:t>
            </a:r>
            <a:endParaRPr lang="en-US" sz="1000"/>
          </a:p>
        </p:txBody>
      </p:sp>
      <p:sp>
        <p:nvSpPr>
          <p:cNvPr id="53284" name="Line 71"/>
          <p:cNvSpPr>
            <a:spLocks noChangeShapeType="1"/>
          </p:cNvSpPr>
          <p:nvPr/>
        </p:nvSpPr>
        <p:spPr bwMode="auto">
          <a:xfrm flipH="1">
            <a:off x="2819400" y="508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5" name="Oval 72"/>
          <p:cNvSpPr>
            <a:spLocks noChangeArrowheads="1"/>
          </p:cNvSpPr>
          <p:nvPr/>
        </p:nvSpPr>
        <p:spPr bwMode="auto">
          <a:xfrm>
            <a:off x="2743200" y="4241800"/>
            <a:ext cx="13716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endParaRPr lang="en-US" altLang="zh-CN" sz="1200">
              <a:ea typeface="宋体" pitchFamily="2" charset="-122"/>
            </a:endParaRP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Miami-Dade transit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bus and rail service </a:t>
            </a:r>
          </a:p>
          <a:p>
            <a:pPr eaLnBrk="1" hangingPunct="1"/>
            <a:r>
              <a:rPr lang="en-US" altLang="zh-CN" sz="1000">
                <a:ea typeface="宋体" pitchFamily="2" charset="-122"/>
              </a:rPr>
              <a:t>remain closed.</a:t>
            </a:r>
            <a:endParaRPr lang="en-US" sz="1000"/>
          </a:p>
          <a:p>
            <a:pPr eaLnBrk="1" hangingPunct="1">
              <a:spcBef>
                <a:spcPct val="50000"/>
              </a:spcBef>
            </a:pPr>
            <a:endParaRPr lang="en-US" sz="1000"/>
          </a:p>
        </p:txBody>
      </p:sp>
      <p:sp>
        <p:nvSpPr>
          <p:cNvPr id="53286" name="Text Box 73"/>
          <p:cNvSpPr txBox="1">
            <a:spLocks noChangeArrowheads="1"/>
          </p:cNvSpPr>
          <p:nvPr/>
        </p:nvSpPr>
        <p:spPr bwMode="auto">
          <a:xfrm>
            <a:off x="1676400" y="4394200"/>
            <a:ext cx="9906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All Miami-Dade County services continue normal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operations.</a:t>
            </a:r>
            <a:endParaRPr lang="en-US" sz="1000"/>
          </a:p>
        </p:txBody>
      </p:sp>
      <p:sp>
        <p:nvSpPr>
          <p:cNvPr id="53287" name="Line 74"/>
          <p:cNvSpPr>
            <a:spLocks noChangeShapeType="1"/>
          </p:cNvSpPr>
          <p:nvPr/>
        </p:nvSpPr>
        <p:spPr bwMode="auto">
          <a:xfrm>
            <a:off x="4038600" y="4013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8" name="Text Box 75"/>
          <p:cNvSpPr txBox="1">
            <a:spLocks noChangeArrowheads="1"/>
          </p:cNvSpPr>
          <p:nvPr/>
        </p:nvSpPr>
        <p:spPr bwMode="auto">
          <a:xfrm>
            <a:off x="4038600" y="4851400"/>
            <a:ext cx="9144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>
                <a:ea typeface="宋体" pitchFamily="2" charset="-122"/>
              </a:rPr>
              <a:t>Metrorail is undergoing repairs.</a:t>
            </a:r>
            <a:endParaRPr lang="en-US" sz="1000"/>
          </a:p>
        </p:txBody>
      </p:sp>
      <p:sp>
        <p:nvSpPr>
          <p:cNvPr id="53289" name="Text Box 76"/>
          <p:cNvSpPr txBox="1">
            <a:spLocks noChangeArrowheads="1"/>
          </p:cNvSpPr>
          <p:nvPr/>
        </p:nvSpPr>
        <p:spPr bwMode="auto">
          <a:xfrm>
            <a:off x="7772400" y="4546600"/>
            <a:ext cx="9144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Miami International </a:t>
            </a:r>
          </a:p>
          <a:p>
            <a:pPr algn="l" eaLnBrk="1" hangingPunct="1"/>
            <a:r>
              <a:rPr lang="en-US" altLang="zh-CN" sz="1000">
                <a:ea typeface="宋体" pitchFamily="2" charset="-122"/>
              </a:rPr>
              <a:t>Airport has re-opened with limited service.</a:t>
            </a:r>
            <a:endParaRPr lang="en-US" sz="1000"/>
          </a:p>
        </p:txBody>
      </p:sp>
      <p:sp>
        <p:nvSpPr>
          <p:cNvPr id="53290" name="Text Box 77"/>
          <p:cNvSpPr txBox="1">
            <a:spLocks noChangeArrowheads="1"/>
          </p:cNvSpPr>
          <p:nvPr/>
        </p:nvSpPr>
        <p:spPr bwMode="auto">
          <a:xfrm>
            <a:off x="8077200" y="34036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zh-CN" sz="1000">
                <a:ea typeface="宋体" pitchFamily="2" charset="-122"/>
              </a:rPr>
              <a:t>Services is expected to begin this evening.</a:t>
            </a:r>
            <a:endParaRPr lang="en-US" sz="1000"/>
          </a:p>
        </p:txBody>
      </p:sp>
      <p:sp>
        <p:nvSpPr>
          <p:cNvPr id="53291" name="Line 78"/>
          <p:cNvSpPr>
            <a:spLocks noChangeShapeType="1"/>
          </p:cNvSpPr>
          <p:nvPr/>
        </p:nvSpPr>
        <p:spPr bwMode="auto">
          <a:xfrm>
            <a:off x="7696200" y="36322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4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Update Summarization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457200" y="1066800"/>
            <a:ext cx="3352800" cy="106363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6" name="Rectangle 7"/>
          <p:cNvSpPr>
            <a:spLocks noChangeArrowheads="1"/>
          </p:cNvSpPr>
          <p:nvPr/>
        </p:nvSpPr>
        <p:spPr bwMode="auto"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1800">
                <a:solidFill>
                  <a:srgbClr val="0000CC"/>
                </a:solidFill>
                <a:ea typeface="宋体" pitchFamily="2" charset="-122"/>
              </a:rPr>
              <a:t>Example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1600">
                <a:ea typeface="宋体" pitchFamily="2" charset="-122"/>
              </a:rPr>
              <a:t>       </a:t>
            </a:r>
            <a:endParaRPr lang="en-US" sz="1600"/>
          </a:p>
        </p:txBody>
      </p:sp>
      <p:sp>
        <p:nvSpPr>
          <p:cNvPr id="54277" name="Text Box 8"/>
          <p:cNvSpPr txBox="1">
            <a:spLocks noChangeArrowheads="1"/>
          </p:cNvSpPr>
          <p:nvPr/>
        </p:nvSpPr>
        <p:spPr bwMode="auto">
          <a:xfrm>
            <a:off x="838200" y="1905000"/>
            <a:ext cx="2209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600">
                <a:solidFill>
                  <a:srgbClr val="FF6600"/>
                </a:solidFill>
                <a:ea typeface="宋体" pitchFamily="2" charset="-122"/>
              </a:rPr>
              <a:t>3-sentence summaries</a:t>
            </a:r>
            <a:endParaRPr lang="en-US" sz="1600">
              <a:solidFill>
                <a:srgbClr val="FF6600"/>
              </a:solidFill>
            </a:endParaRPr>
          </a:p>
        </p:txBody>
      </p:sp>
      <p:pic>
        <p:nvPicPr>
          <p:cNvPr id="54278" name="Picture 1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7775" y="2528888"/>
            <a:ext cx="3806825" cy="3033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806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Motivation</a:t>
            </a:r>
          </a:p>
          <a:p>
            <a:pPr lvl="1" eaLnBrk="1" hangingPunct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Summarization lack of the theme structure to capture the event evolution.</a:t>
            </a:r>
          </a:p>
          <a:p>
            <a:pPr lvl="1" eaLnBrk="1" hangingPunct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Timeline systems  present the sequence of events based on the order of time, the linear-structured timelines usually lose comprehensive information of the evolutionary processes [11, 12].</a:t>
            </a:r>
          </a:p>
          <a:p>
            <a:pPr lvl="1" eaLnBrk="1" hangingPunct="1"/>
            <a:r>
              <a:rPr lang="en-US" sz="18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Only texts are presented as summaries. </a:t>
            </a: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New Problem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 smtClean="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sz="2000" dirty="0" smtClean="0">
                <a:solidFill>
                  <a:srgbClr val="FF6600"/>
                </a:solidFill>
                <a:latin typeface="Times New Roman" pitchFamily="18" charset="0"/>
              </a:rPr>
              <a:t>generating a novel framework of pictorial and temporal storylines</a:t>
            </a:r>
            <a:endParaRPr lang="en-US" altLang="zh-CN" sz="2000" dirty="0" smtClean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 smtClean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Our Solution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sz="2000" dirty="0" smtClean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minimum weighted connected dominating set approximation in multi-view graphs</a:t>
            </a:r>
            <a:endParaRPr lang="en-US" sz="2000" dirty="0" smtClean="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  <a:t>Pictorial Storyline Generation</a:t>
            </a:r>
            <a:b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</a:b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[Wang </a:t>
            </a:r>
            <a:r>
              <a:rPr lang="en-US" altLang="zh-CN" sz="1600" dirty="0" smtClean="0">
                <a:solidFill>
                  <a:schemeClr val="tx2"/>
                </a:solidFill>
                <a:ea typeface="宋体" pitchFamily="2" charset="-122"/>
              </a:rPr>
              <a:t>et </a:t>
            </a:r>
            <a:r>
              <a:rPr lang="en-US" altLang="zh-CN" sz="1600" dirty="0">
                <a:solidFill>
                  <a:schemeClr val="tx2"/>
                </a:solidFill>
                <a:ea typeface="宋体" pitchFamily="2" charset="-122"/>
              </a:rPr>
              <a:t>al. AAAI 2012]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457200" y="1219200"/>
            <a:ext cx="4114800" cy="53181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8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457200" y="-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  <a:t>Pictorial Storyline Generation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34820" name="Picture 4" descr="1_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547813"/>
            <a:ext cx="685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 descr="1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852613"/>
            <a:ext cx="6858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6" descr="3_9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852613"/>
            <a:ext cx="609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 descr="3_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005013"/>
            <a:ext cx="609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4" name="Picture 8" descr="3_25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471613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9" descr="Text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336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10" descr="Text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3098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Picture 11" descr="Text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812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12" descr="Text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02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13" descr="Text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7161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0" name="Oval 14"/>
          <p:cNvSpPr>
            <a:spLocks noChangeArrowheads="1"/>
          </p:cNvSpPr>
          <p:nvPr/>
        </p:nvSpPr>
        <p:spPr bwMode="auto">
          <a:xfrm>
            <a:off x="1600200" y="3452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1" name="Oval 15"/>
          <p:cNvSpPr>
            <a:spLocks noChangeArrowheads="1"/>
          </p:cNvSpPr>
          <p:nvPr/>
        </p:nvSpPr>
        <p:spPr bwMode="auto">
          <a:xfrm>
            <a:off x="1295400" y="36052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2" name="Oval 16"/>
          <p:cNvSpPr>
            <a:spLocks noChangeArrowheads="1"/>
          </p:cNvSpPr>
          <p:nvPr/>
        </p:nvSpPr>
        <p:spPr bwMode="auto">
          <a:xfrm>
            <a:off x="2057400" y="3452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3" name="Oval 17"/>
          <p:cNvSpPr>
            <a:spLocks noChangeArrowheads="1"/>
          </p:cNvSpPr>
          <p:nvPr/>
        </p:nvSpPr>
        <p:spPr bwMode="auto">
          <a:xfrm>
            <a:off x="1600200" y="3757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4" name="Oval 18"/>
          <p:cNvSpPr>
            <a:spLocks noChangeArrowheads="1"/>
          </p:cNvSpPr>
          <p:nvPr/>
        </p:nvSpPr>
        <p:spPr bwMode="auto">
          <a:xfrm>
            <a:off x="1066800" y="3910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5" name="Oval 19"/>
          <p:cNvSpPr>
            <a:spLocks noChangeArrowheads="1"/>
          </p:cNvSpPr>
          <p:nvPr/>
        </p:nvSpPr>
        <p:spPr bwMode="auto">
          <a:xfrm>
            <a:off x="914400" y="40624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6" name="Oval 20"/>
          <p:cNvSpPr>
            <a:spLocks noChangeArrowheads="1"/>
          </p:cNvSpPr>
          <p:nvPr/>
        </p:nvSpPr>
        <p:spPr bwMode="auto">
          <a:xfrm>
            <a:off x="12192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7" name="Oval 21"/>
          <p:cNvSpPr>
            <a:spLocks noChangeArrowheads="1"/>
          </p:cNvSpPr>
          <p:nvPr/>
        </p:nvSpPr>
        <p:spPr bwMode="auto">
          <a:xfrm>
            <a:off x="1752600" y="36052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8" name="Oval 22"/>
          <p:cNvSpPr>
            <a:spLocks noChangeArrowheads="1"/>
          </p:cNvSpPr>
          <p:nvPr/>
        </p:nvSpPr>
        <p:spPr bwMode="auto">
          <a:xfrm>
            <a:off x="1905000" y="3757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39" name="Oval 23"/>
          <p:cNvSpPr>
            <a:spLocks noChangeArrowheads="1"/>
          </p:cNvSpPr>
          <p:nvPr/>
        </p:nvSpPr>
        <p:spPr bwMode="auto">
          <a:xfrm>
            <a:off x="1905000" y="39862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0" name="Oval 24"/>
          <p:cNvSpPr>
            <a:spLocks noChangeArrowheads="1"/>
          </p:cNvSpPr>
          <p:nvPr/>
        </p:nvSpPr>
        <p:spPr bwMode="auto">
          <a:xfrm>
            <a:off x="2133600" y="3833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1" name="Oval 25"/>
          <p:cNvSpPr>
            <a:spLocks noChangeArrowheads="1"/>
          </p:cNvSpPr>
          <p:nvPr/>
        </p:nvSpPr>
        <p:spPr bwMode="auto">
          <a:xfrm>
            <a:off x="21336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2" name="Oval 26"/>
          <p:cNvSpPr>
            <a:spLocks noChangeArrowheads="1"/>
          </p:cNvSpPr>
          <p:nvPr/>
        </p:nvSpPr>
        <p:spPr bwMode="auto">
          <a:xfrm>
            <a:off x="2286000" y="40624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3" name="Oval 27"/>
          <p:cNvSpPr>
            <a:spLocks noChangeArrowheads="1"/>
          </p:cNvSpPr>
          <p:nvPr/>
        </p:nvSpPr>
        <p:spPr bwMode="auto">
          <a:xfrm>
            <a:off x="2362200" y="4291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4" name="Oval 28"/>
          <p:cNvSpPr>
            <a:spLocks noChangeArrowheads="1"/>
          </p:cNvSpPr>
          <p:nvPr/>
        </p:nvSpPr>
        <p:spPr bwMode="auto">
          <a:xfrm>
            <a:off x="2057400" y="43672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5" name="Oval 29"/>
          <p:cNvSpPr>
            <a:spLocks noChangeArrowheads="1"/>
          </p:cNvSpPr>
          <p:nvPr/>
        </p:nvSpPr>
        <p:spPr bwMode="auto">
          <a:xfrm>
            <a:off x="1447800" y="40624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6" name="Oval 30"/>
          <p:cNvSpPr>
            <a:spLocks noChangeArrowheads="1"/>
          </p:cNvSpPr>
          <p:nvPr/>
        </p:nvSpPr>
        <p:spPr bwMode="auto">
          <a:xfrm>
            <a:off x="17526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7" name="Oval 31"/>
          <p:cNvSpPr>
            <a:spLocks noChangeArrowheads="1"/>
          </p:cNvSpPr>
          <p:nvPr/>
        </p:nvSpPr>
        <p:spPr bwMode="auto">
          <a:xfrm>
            <a:off x="1600200" y="4291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48" name="Line 37"/>
          <p:cNvSpPr>
            <a:spLocks noChangeShapeType="1"/>
          </p:cNvSpPr>
          <p:nvPr/>
        </p:nvSpPr>
        <p:spPr bwMode="auto">
          <a:xfrm flipV="1">
            <a:off x="990600" y="39862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Line 38"/>
          <p:cNvSpPr>
            <a:spLocks noChangeShapeType="1"/>
          </p:cNvSpPr>
          <p:nvPr/>
        </p:nvSpPr>
        <p:spPr bwMode="auto">
          <a:xfrm flipV="1">
            <a:off x="1143000" y="368141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0" name="Line 39"/>
          <p:cNvSpPr>
            <a:spLocks noChangeShapeType="1"/>
          </p:cNvSpPr>
          <p:nvPr/>
        </p:nvSpPr>
        <p:spPr bwMode="auto">
          <a:xfrm flipV="1">
            <a:off x="1371600" y="35290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1" name="Line 41"/>
          <p:cNvSpPr>
            <a:spLocks noChangeShapeType="1"/>
          </p:cNvSpPr>
          <p:nvPr/>
        </p:nvSpPr>
        <p:spPr bwMode="auto">
          <a:xfrm>
            <a:off x="1143000" y="3986213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Line 42"/>
          <p:cNvSpPr>
            <a:spLocks noChangeShapeType="1"/>
          </p:cNvSpPr>
          <p:nvPr/>
        </p:nvSpPr>
        <p:spPr bwMode="auto">
          <a:xfrm>
            <a:off x="990600" y="41386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3" name="Line 46"/>
          <p:cNvSpPr>
            <a:spLocks noChangeShapeType="1"/>
          </p:cNvSpPr>
          <p:nvPr/>
        </p:nvSpPr>
        <p:spPr bwMode="auto">
          <a:xfrm>
            <a:off x="1600200" y="3529013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4" name="Line 47"/>
          <p:cNvSpPr>
            <a:spLocks noChangeShapeType="1"/>
          </p:cNvSpPr>
          <p:nvPr/>
        </p:nvSpPr>
        <p:spPr bwMode="auto">
          <a:xfrm flipV="1">
            <a:off x="1676400" y="3681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5" name="Line 50"/>
          <p:cNvSpPr>
            <a:spLocks noChangeShapeType="1"/>
          </p:cNvSpPr>
          <p:nvPr/>
        </p:nvSpPr>
        <p:spPr bwMode="auto">
          <a:xfrm flipV="1">
            <a:off x="1828800" y="35290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6" name="Line 51"/>
          <p:cNvSpPr>
            <a:spLocks noChangeShapeType="1"/>
          </p:cNvSpPr>
          <p:nvPr/>
        </p:nvSpPr>
        <p:spPr bwMode="auto">
          <a:xfrm flipH="1">
            <a:off x="1981200" y="3529013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7" name="Line 52"/>
          <p:cNvSpPr>
            <a:spLocks noChangeShapeType="1"/>
          </p:cNvSpPr>
          <p:nvPr/>
        </p:nvSpPr>
        <p:spPr bwMode="auto">
          <a:xfrm>
            <a:off x="1828800" y="3681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8" name="Line 53"/>
          <p:cNvSpPr>
            <a:spLocks noChangeShapeType="1"/>
          </p:cNvSpPr>
          <p:nvPr/>
        </p:nvSpPr>
        <p:spPr bwMode="auto">
          <a:xfrm flipV="1">
            <a:off x="1676400" y="3529013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Line 54"/>
          <p:cNvSpPr>
            <a:spLocks noChangeShapeType="1"/>
          </p:cNvSpPr>
          <p:nvPr/>
        </p:nvSpPr>
        <p:spPr bwMode="auto">
          <a:xfrm>
            <a:off x="1676400" y="38338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0" name="Line 55"/>
          <p:cNvSpPr>
            <a:spLocks noChangeShapeType="1"/>
          </p:cNvSpPr>
          <p:nvPr/>
        </p:nvSpPr>
        <p:spPr bwMode="auto">
          <a:xfrm>
            <a:off x="1981200" y="38338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1" name="Line 56"/>
          <p:cNvSpPr>
            <a:spLocks noChangeShapeType="1"/>
          </p:cNvSpPr>
          <p:nvPr/>
        </p:nvSpPr>
        <p:spPr bwMode="auto">
          <a:xfrm flipV="1">
            <a:off x="1981200" y="39100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2" name="Line 57"/>
          <p:cNvSpPr>
            <a:spLocks noChangeShapeType="1"/>
          </p:cNvSpPr>
          <p:nvPr/>
        </p:nvSpPr>
        <p:spPr bwMode="auto">
          <a:xfrm>
            <a:off x="1981200" y="3986213"/>
            <a:ext cx="304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3" name="Line 58"/>
          <p:cNvSpPr>
            <a:spLocks noChangeShapeType="1"/>
          </p:cNvSpPr>
          <p:nvPr/>
        </p:nvSpPr>
        <p:spPr bwMode="auto">
          <a:xfrm>
            <a:off x="2133600" y="39100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4" name="Line 59"/>
          <p:cNvSpPr>
            <a:spLocks noChangeShapeType="1"/>
          </p:cNvSpPr>
          <p:nvPr/>
        </p:nvSpPr>
        <p:spPr bwMode="auto">
          <a:xfrm flipH="1">
            <a:off x="1828800" y="4062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Line 60"/>
          <p:cNvSpPr>
            <a:spLocks noChangeShapeType="1"/>
          </p:cNvSpPr>
          <p:nvPr/>
        </p:nvSpPr>
        <p:spPr bwMode="auto">
          <a:xfrm>
            <a:off x="2133600" y="3910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Line 61"/>
          <p:cNvSpPr>
            <a:spLocks noChangeShapeType="1"/>
          </p:cNvSpPr>
          <p:nvPr/>
        </p:nvSpPr>
        <p:spPr bwMode="auto">
          <a:xfrm>
            <a:off x="1981200" y="39862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Line 62"/>
          <p:cNvSpPr>
            <a:spLocks noChangeShapeType="1"/>
          </p:cNvSpPr>
          <p:nvPr/>
        </p:nvSpPr>
        <p:spPr bwMode="auto">
          <a:xfrm>
            <a:off x="2133600" y="43672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Line 63"/>
          <p:cNvSpPr>
            <a:spLocks noChangeShapeType="1"/>
          </p:cNvSpPr>
          <p:nvPr/>
        </p:nvSpPr>
        <p:spPr bwMode="auto">
          <a:xfrm flipH="1">
            <a:off x="2133600" y="413861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Line 64"/>
          <p:cNvSpPr>
            <a:spLocks noChangeShapeType="1"/>
          </p:cNvSpPr>
          <p:nvPr/>
        </p:nvSpPr>
        <p:spPr bwMode="auto">
          <a:xfrm>
            <a:off x="2209800" y="42148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Line 65"/>
          <p:cNvSpPr>
            <a:spLocks noChangeShapeType="1"/>
          </p:cNvSpPr>
          <p:nvPr/>
        </p:nvSpPr>
        <p:spPr bwMode="auto">
          <a:xfrm>
            <a:off x="2133600" y="3529013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Line 67"/>
          <p:cNvSpPr>
            <a:spLocks noChangeShapeType="1"/>
          </p:cNvSpPr>
          <p:nvPr/>
        </p:nvSpPr>
        <p:spPr bwMode="auto">
          <a:xfrm>
            <a:off x="1524000" y="4138613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2" name="Line 69"/>
          <p:cNvSpPr>
            <a:spLocks noChangeShapeType="1"/>
          </p:cNvSpPr>
          <p:nvPr/>
        </p:nvSpPr>
        <p:spPr bwMode="auto">
          <a:xfrm>
            <a:off x="1676400" y="4291013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3" name="Line 70"/>
          <p:cNvSpPr>
            <a:spLocks noChangeShapeType="1"/>
          </p:cNvSpPr>
          <p:nvPr/>
        </p:nvSpPr>
        <p:spPr bwMode="auto">
          <a:xfrm flipV="1">
            <a:off x="1676400" y="42148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4" name="Line 71"/>
          <p:cNvSpPr>
            <a:spLocks noChangeShapeType="1"/>
          </p:cNvSpPr>
          <p:nvPr/>
        </p:nvSpPr>
        <p:spPr bwMode="auto">
          <a:xfrm flipV="1">
            <a:off x="1143000" y="3529013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Line 72"/>
          <p:cNvSpPr>
            <a:spLocks noChangeShapeType="1"/>
          </p:cNvSpPr>
          <p:nvPr/>
        </p:nvSpPr>
        <p:spPr bwMode="auto">
          <a:xfrm flipV="1">
            <a:off x="914400" y="39100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6" name="Line 73"/>
          <p:cNvSpPr>
            <a:spLocks noChangeShapeType="1"/>
          </p:cNvSpPr>
          <p:nvPr/>
        </p:nvSpPr>
        <p:spPr bwMode="auto">
          <a:xfrm>
            <a:off x="990600" y="41386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7" name="Line 74"/>
          <p:cNvSpPr>
            <a:spLocks noChangeShapeType="1"/>
          </p:cNvSpPr>
          <p:nvPr/>
        </p:nvSpPr>
        <p:spPr bwMode="auto">
          <a:xfrm flipV="1">
            <a:off x="1143000" y="3833813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8" name="Line 75"/>
          <p:cNvSpPr>
            <a:spLocks noChangeShapeType="1"/>
          </p:cNvSpPr>
          <p:nvPr/>
        </p:nvSpPr>
        <p:spPr bwMode="auto">
          <a:xfrm flipV="1">
            <a:off x="1066800" y="360521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9" name="Line 76"/>
          <p:cNvSpPr>
            <a:spLocks noChangeShapeType="1"/>
          </p:cNvSpPr>
          <p:nvPr/>
        </p:nvSpPr>
        <p:spPr bwMode="auto">
          <a:xfrm>
            <a:off x="1676400" y="37576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0" name="Line 77"/>
          <p:cNvSpPr>
            <a:spLocks noChangeShapeType="1"/>
          </p:cNvSpPr>
          <p:nvPr/>
        </p:nvSpPr>
        <p:spPr bwMode="auto">
          <a:xfrm flipV="1">
            <a:off x="1981200" y="3529013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1" name="Line 78"/>
          <p:cNvSpPr>
            <a:spLocks noChangeShapeType="1"/>
          </p:cNvSpPr>
          <p:nvPr/>
        </p:nvSpPr>
        <p:spPr bwMode="auto">
          <a:xfrm>
            <a:off x="2057400" y="3529013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2" name="Line 79"/>
          <p:cNvSpPr>
            <a:spLocks noChangeShapeType="1"/>
          </p:cNvSpPr>
          <p:nvPr/>
        </p:nvSpPr>
        <p:spPr bwMode="auto">
          <a:xfrm>
            <a:off x="2209800" y="3910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3" name="Line 80"/>
          <p:cNvSpPr>
            <a:spLocks noChangeShapeType="1"/>
          </p:cNvSpPr>
          <p:nvPr/>
        </p:nvSpPr>
        <p:spPr bwMode="auto">
          <a:xfrm>
            <a:off x="2209800" y="42148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Line 82"/>
          <p:cNvSpPr>
            <a:spLocks noChangeShapeType="1"/>
          </p:cNvSpPr>
          <p:nvPr/>
        </p:nvSpPr>
        <p:spPr bwMode="auto">
          <a:xfrm flipH="1" flipV="1">
            <a:off x="1600200" y="4367213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Line 84"/>
          <p:cNvSpPr>
            <a:spLocks noChangeShapeType="1"/>
          </p:cNvSpPr>
          <p:nvPr/>
        </p:nvSpPr>
        <p:spPr bwMode="auto">
          <a:xfrm flipH="1">
            <a:off x="1752600" y="39862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Line 85"/>
          <p:cNvSpPr>
            <a:spLocks noChangeShapeType="1"/>
          </p:cNvSpPr>
          <p:nvPr/>
        </p:nvSpPr>
        <p:spPr bwMode="auto">
          <a:xfrm flipH="1">
            <a:off x="1600200" y="41386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Oval 71"/>
          <p:cNvSpPr>
            <a:spLocks noChangeArrowheads="1"/>
          </p:cNvSpPr>
          <p:nvPr/>
        </p:nvSpPr>
        <p:spPr bwMode="auto">
          <a:xfrm>
            <a:off x="990600" y="3376613"/>
            <a:ext cx="76200" cy="76200"/>
          </a:xfrm>
          <a:prstGeom prst="ellipse">
            <a:avLst/>
          </a:prstGeom>
          <a:solidFill>
            <a:srgbClr val="CC99FF"/>
          </a:solidFill>
          <a:ln w="9525">
            <a:solidFill>
              <a:srgbClr val="000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88" name="Text Box 87"/>
          <p:cNvSpPr txBox="1">
            <a:spLocks noChangeArrowheads="1"/>
          </p:cNvSpPr>
          <p:nvPr/>
        </p:nvSpPr>
        <p:spPr bwMode="auto">
          <a:xfrm>
            <a:off x="762000" y="3452813"/>
            <a:ext cx="762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solidFill>
                  <a:srgbClr val="00CC00"/>
                </a:solidFill>
                <a:latin typeface="Arial" charset="0"/>
                <a:ea typeface="宋体" pitchFamily="2" charset="-122"/>
              </a:rPr>
              <a:t>query</a:t>
            </a:r>
            <a:endParaRPr lang="en-US" sz="1000" b="1">
              <a:solidFill>
                <a:srgbClr val="00CC00"/>
              </a:solidFill>
              <a:latin typeface="Arial" charset="0"/>
            </a:endParaRPr>
          </a:p>
        </p:txBody>
      </p:sp>
      <p:sp>
        <p:nvSpPr>
          <p:cNvPr id="34889" name="Text Box 88"/>
          <p:cNvSpPr txBox="1">
            <a:spLocks noChangeArrowheads="1"/>
          </p:cNvSpPr>
          <p:nvPr/>
        </p:nvSpPr>
        <p:spPr bwMode="auto">
          <a:xfrm>
            <a:off x="533400" y="4519613"/>
            <a:ext cx="2667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t>multi-view objective graph G:=(V,E,A)</a:t>
            </a:r>
            <a:endParaRPr lang="en-US" sz="1000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4890" name="Oval 74"/>
          <p:cNvSpPr>
            <a:spLocks noChangeArrowheads="1"/>
          </p:cNvSpPr>
          <p:nvPr/>
        </p:nvSpPr>
        <p:spPr bwMode="auto">
          <a:xfrm>
            <a:off x="4114800" y="3529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1" name="Oval 75"/>
          <p:cNvSpPr>
            <a:spLocks noChangeArrowheads="1"/>
          </p:cNvSpPr>
          <p:nvPr/>
        </p:nvSpPr>
        <p:spPr bwMode="auto">
          <a:xfrm>
            <a:off x="3810000" y="36814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2" name="Oval 76"/>
          <p:cNvSpPr>
            <a:spLocks noChangeArrowheads="1"/>
          </p:cNvSpPr>
          <p:nvPr/>
        </p:nvSpPr>
        <p:spPr bwMode="auto">
          <a:xfrm>
            <a:off x="4572000" y="3529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3" name="Oval 77"/>
          <p:cNvSpPr>
            <a:spLocks noChangeArrowheads="1"/>
          </p:cNvSpPr>
          <p:nvPr/>
        </p:nvSpPr>
        <p:spPr bwMode="auto">
          <a:xfrm>
            <a:off x="4114800" y="3833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4" name="Oval 78"/>
          <p:cNvSpPr>
            <a:spLocks noChangeArrowheads="1"/>
          </p:cNvSpPr>
          <p:nvPr/>
        </p:nvSpPr>
        <p:spPr bwMode="auto">
          <a:xfrm>
            <a:off x="3581400" y="39862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5" name="Oval 79"/>
          <p:cNvSpPr>
            <a:spLocks noChangeArrowheads="1"/>
          </p:cNvSpPr>
          <p:nvPr/>
        </p:nvSpPr>
        <p:spPr bwMode="auto">
          <a:xfrm>
            <a:off x="3429000" y="41386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6" name="Oval 80"/>
          <p:cNvSpPr>
            <a:spLocks noChangeArrowheads="1"/>
          </p:cNvSpPr>
          <p:nvPr/>
        </p:nvSpPr>
        <p:spPr bwMode="auto">
          <a:xfrm>
            <a:off x="3733800" y="4214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7" name="Oval 81"/>
          <p:cNvSpPr>
            <a:spLocks noChangeArrowheads="1"/>
          </p:cNvSpPr>
          <p:nvPr/>
        </p:nvSpPr>
        <p:spPr bwMode="auto">
          <a:xfrm>
            <a:off x="4267200" y="36814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8" name="Oval 82"/>
          <p:cNvSpPr>
            <a:spLocks noChangeArrowheads="1"/>
          </p:cNvSpPr>
          <p:nvPr/>
        </p:nvSpPr>
        <p:spPr bwMode="auto">
          <a:xfrm>
            <a:off x="4419600" y="3833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899" name="Oval 83"/>
          <p:cNvSpPr>
            <a:spLocks noChangeArrowheads="1"/>
          </p:cNvSpPr>
          <p:nvPr/>
        </p:nvSpPr>
        <p:spPr bwMode="auto">
          <a:xfrm>
            <a:off x="4419600" y="40624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0" name="Oval 84"/>
          <p:cNvSpPr>
            <a:spLocks noChangeArrowheads="1"/>
          </p:cNvSpPr>
          <p:nvPr/>
        </p:nvSpPr>
        <p:spPr bwMode="auto">
          <a:xfrm>
            <a:off x="4648200" y="3910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1" name="Oval 85"/>
          <p:cNvSpPr>
            <a:spLocks noChangeArrowheads="1"/>
          </p:cNvSpPr>
          <p:nvPr/>
        </p:nvSpPr>
        <p:spPr bwMode="auto">
          <a:xfrm>
            <a:off x="4648200" y="4214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2" name="Oval 86"/>
          <p:cNvSpPr>
            <a:spLocks noChangeArrowheads="1"/>
          </p:cNvSpPr>
          <p:nvPr/>
        </p:nvSpPr>
        <p:spPr bwMode="auto">
          <a:xfrm>
            <a:off x="48006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3" name="Oval 87"/>
          <p:cNvSpPr>
            <a:spLocks noChangeArrowheads="1"/>
          </p:cNvSpPr>
          <p:nvPr/>
        </p:nvSpPr>
        <p:spPr bwMode="auto">
          <a:xfrm>
            <a:off x="4876800" y="43672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4" name="Oval 88"/>
          <p:cNvSpPr>
            <a:spLocks noChangeArrowheads="1"/>
          </p:cNvSpPr>
          <p:nvPr/>
        </p:nvSpPr>
        <p:spPr bwMode="auto">
          <a:xfrm>
            <a:off x="4572000" y="44434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5" name="Oval 89"/>
          <p:cNvSpPr>
            <a:spLocks noChangeArrowheads="1"/>
          </p:cNvSpPr>
          <p:nvPr/>
        </p:nvSpPr>
        <p:spPr bwMode="auto">
          <a:xfrm>
            <a:off x="39624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6" name="Oval 90"/>
          <p:cNvSpPr>
            <a:spLocks noChangeArrowheads="1"/>
          </p:cNvSpPr>
          <p:nvPr/>
        </p:nvSpPr>
        <p:spPr bwMode="auto">
          <a:xfrm>
            <a:off x="4267200" y="4214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7" name="Oval 91"/>
          <p:cNvSpPr>
            <a:spLocks noChangeArrowheads="1"/>
          </p:cNvSpPr>
          <p:nvPr/>
        </p:nvSpPr>
        <p:spPr bwMode="auto">
          <a:xfrm>
            <a:off x="4114800" y="43672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08" name="Line 107"/>
          <p:cNvSpPr>
            <a:spLocks noChangeShapeType="1"/>
          </p:cNvSpPr>
          <p:nvPr/>
        </p:nvSpPr>
        <p:spPr bwMode="auto">
          <a:xfrm flipV="1">
            <a:off x="3505200" y="4062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9" name="Line 108"/>
          <p:cNvSpPr>
            <a:spLocks noChangeShapeType="1"/>
          </p:cNvSpPr>
          <p:nvPr/>
        </p:nvSpPr>
        <p:spPr bwMode="auto">
          <a:xfrm flipV="1">
            <a:off x="3657600" y="375761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0" name="Line 109"/>
          <p:cNvSpPr>
            <a:spLocks noChangeShapeType="1"/>
          </p:cNvSpPr>
          <p:nvPr/>
        </p:nvSpPr>
        <p:spPr bwMode="auto">
          <a:xfrm flipV="1">
            <a:off x="3886200" y="36052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1" name="Line 110"/>
          <p:cNvSpPr>
            <a:spLocks noChangeShapeType="1"/>
          </p:cNvSpPr>
          <p:nvPr/>
        </p:nvSpPr>
        <p:spPr bwMode="auto">
          <a:xfrm>
            <a:off x="3657600" y="4062413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2" name="Line 111"/>
          <p:cNvSpPr>
            <a:spLocks noChangeShapeType="1"/>
          </p:cNvSpPr>
          <p:nvPr/>
        </p:nvSpPr>
        <p:spPr bwMode="auto">
          <a:xfrm>
            <a:off x="3505200" y="42148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3" name="Line 112"/>
          <p:cNvSpPr>
            <a:spLocks noChangeShapeType="1"/>
          </p:cNvSpPr>
          <p:nvPr/>
        </p:nvSpPr>
        <p:spPr bwMode="auto">
          <a:xfrm>
            <a:off x="4114800" y="3605213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4" name="Line 113"/>
          <p:cNvSpPr>
            <a:spLocks noChangeShapeType="1"/>
          </p:cNvSpPr>
          <p:nvPr/>
        </p:nvSpPr>
        <p:spPr bwMode="auto">
          <a:xfrm flipV="1">
            <a:off x="4191000" y="37576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5" name="Line 114"/>
          <p:cNvSpPr>
            <a:spLocks noChangeShapeType="1"/>
          </p:cNvSpPr>
          <p:nvPr/>
        </p:nvSpPr>
        <p:spPr bwMode="auto">
          <a:xfrm flipV="1">
            <a:off x="4343400" y="36052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6" name="Line 115"/>
          <p:cNvSpPr>
            <a:spLocks noChangeShapeType="1"/>
          </p:cNvSpPr>
          <p:nvPr/>
        </p:nvSpPr>
        <p:spPr bwMode="auto">
          <a:xfrm flipH="1">
            <a:off x="4495800" y="3605213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7" name="Line 116"/>
          <p:cNvSpPr>
            <a:spLocks noChangeShapeType="1"/>
          </p:cNvSpPr>
          <p:nvPr/>
        </p:nvSpPr>
        <p:spPr bwMode="auto">
          <a:xfrm>
            <a:off x="4343400" y="37576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8" name="Line 117"/>
          <p:cNvSpPr>
            <a:spLocks noChangeShapeType="1"/>
          </p:cNvSpPr>
          <p:nvPr/>
        </p:nvSpPr>
        <p:spPr bwMode="auto">
          <a:xfrm flipV="1">
            <a:off x="4191000" y="3605213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9" name="Line 118"/>
          <p:cNvSpPr>
            <a:spLocks noChangeShapeType="1"/>
          </p:cNvSpPr>
          <p:nvPr/>
        </p:nvSpPr>
        <p:spPr bwMode="auto">
          <a:xfrm>
            <a:off x="4191000" y="39100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0" name="Line 119"/>
          <p:cNvSpPr>
            <a:spLocks noChangeShapeType="1"/>
          </p:cNvSpPr>
          <p:nvPr/>
        </p:nvSpPr>
        <p:spPr bwMode="auto">
          <a:xfrm>
            <a:off x="4495800" y="39100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1" name="Line 120"/>
          <p:cNvSpPr>
            <a:spLocks noChangeShapeType="1"/>
          </p:cNvSpPr>
          <p:nvPr/>
        </p:nvSpPr>
        <p:spPr bwMode="auto">
          <a:xfrm flipV="1">
            <a:off x="4495800" y="39862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2" name="Line 121"/>
          <p:cNvSpPr>
            <a:spLocks noChangeShapeType="1"/>
          </p:cNvSpPr>
          <p:nvPr/>
        </p:nvSpPr>
        <p:spPr bwMode="auto">
          <a:xfrm>
            <a:off x="4495800" y="4062413"/>
            <a:ext cx="304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3" name="Line 122"/>
          <p:cNvSpPr>
            <a:spLocks noChangeShapeType="1"/>
          </p:cNvSpPr>
          <p:nvPr/>
        </p:nvSpPr>
        <p:spPr bwMode="auto">
          <a:xfrm>
            <a:off x="4648200" y="39862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4" name="Line 123"/>
          <p:cNvSpPr>
            <a:spLocks noChangeShapeType="1"/>
          </p:cNvSpPr>
          <p:nvPr/>
        </p:nvSpPr>
        <p:spPr bwMode="auto">
          <a:xfrm flipH="1">
            <a:off x="4343400" y="41386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5" name="Line 124"/>
          <p:cNvSpPr>
            <a:spLocks noChangeShapeType="1"/>
          </p:cNvSpPr>
          <p:nvPr/>
        </p:nvSpPr>
        <p:spPr bwMode="auto">
          <a:xfrm>
            <a:off x="4648200" y="3986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6" name="Line 125"/>
          <p:cNvSpPr>
            <a:spLocks noChangeShapeType="1"/>
          </p:cNvSpPr>
          <p:nvPr/>
        </p:nvSpPr>
        <p:spPr bwMode="auto">
          <a:xfrm>
            <a:off x="4495800" y="4062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7" name="Line 126"/>
          <p:cNvSpPr>
            <a:spLocks noChangeShapeType="1"/>
          </p:cNvSpPr>
          <p:nvPr/>
        </p:nvSpPr>
        <p:spPr bwMode="auto">
          <a:xfrm>
            <a:off x="4648200" y="44434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8" name="Line 127"/>
          <p:cNvSpPr>
            <a:spLocks noChangeShapeType="1"/>
          </p:cNvSpPr>
          <p:nvPr/>
        </p:nvSpPr>
        <p:spPr bwMode="auto">
          <a:xfrm flipH="1">
            <a:off x="4648200" y="421481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9" name="Line 128"/>
          <p:cNvSpPr>
            <a:spLocks noChangeShapeType="1"/>
          </p:cNvSpPr>
          <p:nvPr/>
        </p:nvSpPr>
        <p:spPr bwMode="auto">
          <a:xfrm>
            <a:off x="4724400" y="42910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0" name="Line 129"/>
          <p:cNvSpPr>
            <a:spLocks noChangeShapeType="1"/>
          </p:cNvSpPr>
          <p:nvPr/>
        </p:nvSpPr>
        <p:spPr bwMode="auto">
          <a:xfrm>
            <a:off x="4648200" y="3605213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1" name="Line 130"/>
          <p:cNvSpPr>
            <a:spLocks noChangeShapeType="1"/>
          </p:cNvSpPr>
          <p:nvPr/>
        </p:nvSpPr>
        <p:spPr bwMode="auto">
          <a:xfrm>
            <a:off x="4038600" y="4214813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2" name="Line 131"/>
          <p:cNvSpPr>
            <a:spLocks noChangeShapeType="1"/>
          </p:cNvSpPr>
          <p:nvPr/>
        </p:nvSpPr>
        <p:spPr bwMode="auto">
          <a:xfrm>
            <a:off x="4191000" y="4367213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3" name="Line 132"/>
          <p:cNvSpPr>
            <a:spLocks noChangeShapeType="1"/>
          </p:cNvSpPr>
          <p:nvPr/>
        </p:nvSpPr>
        <p:spPr bwMode="auto">
          <a:xfrm flipV="1">
            <a:off x="4191000" y="42910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4" name="Line 133"/>
          <p:cNvSpPr>
            <a:spLocks noChangeShapeType="1"/>
          </p:cNvSpPr>
          <p:nvPr/>
        </p:nvSpPr>
        <p:spPr bwMode="auto">
          <a:xfrm flipV="1">
            <a:off x="3657600" y="3605213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5" name="Text Box 151"/>
          <p:cNvSpPr txBox="1">
            <a:spLocks noChangeArrowheads="1"/>
          </p:cNvSpPr>
          <p:nvPr/>
        </p:nvSpPr>
        <p:spPr bwMode="auto">
          <a:xfrm>
            <a:off x="3124200" y="4503738"/>
            <a:ext cx="3352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t>dominating objectives on graph G:=(V,E)</a:t>
            </a:r>
            <a:endParaRPr lang="en-US" sz="1000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4936" name="Line 152"/>
          <p:cNvSpPr>
            <a:spLocks noChangeShapeType="1"/>
          </p:cNvSpPr>
          <p:nvPr/>
        </p:nvSpPr>
        <p:spPr bwMode="auto">
          <a:xfrm flipV="1">
            <a:off x="1676400" y="3681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7" name="Line 153"/>
          <p:cNvSpPr>
            <a:spLocks noChangeShapeType="1"/>
          </p:cNvSpPr>
          <p:nvPr/>
        </p:nvSpPr>
        <p:spPr bwMode="auto">
          <a:xfrm>
            <a:off x="1371600" y="3605213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8" name="Line 154"/>
          <p:cNvSpPr>
            <a:spLocks noChangeShapeType="1"/>
          </p:cNvSpPr>
          <p:nvPr/>
        </p:nvSpPr>
        <p:spPr bwMode="auto">
          <a:xfrm flipV="1">
            <a:off x="1752600" y="3452813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9" name="Line 155"/>
          <p:cNvSpPr>
            <a:spLocks noChangeShapeType="1"/>
          </p:cNvSpPr>
          <p:nvPr/>
        </p:nvSpPr>
        <p:spPr bwMode="auto">
          <a:xfrm flipH="1">
            <a:off x="1905000" y="3833813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0" name="Oval 124"/>
          <p:cNvSpPr>
            <a:spLocks noChangeArrowheads="1"/>
          </p:cNvSpPr>
          <p:nvPr/>
        </p:nvSpPr>
        <p:spPr bwMode="auto">
          <a:xfrm>
            <a:off x="6629400" y="36052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1" name="Oval 125"/>
          <p:cNvSpPr>
            <a:spLocks noChangeArrowheads="1"/>
          </p:cNvSpPr>
          <p:nvPr/>
        </p:nvSpPr>
        <p:spPr bwMode="auto">
          <a:xfrm>
            <a:off x="7391400" y="3452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2" name="Oval 126"/>
          <p:cNvSpPr>
            <a:spLocks noChangeArrowheads="1"/>
          </p:cNvSpPr>
          <p:nvPr/>
        </p:nvSpPr>
        <p:spPr bwMode="auto">
          <a:xfrm>
            <a:off x="6934200" y="3757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3" name="Oval 127"/>
          <p:cNvSpPr>
            <a:spLocks noChangeArrowheads="1"/>
          </p:cNvSpPr>
          <p:nvPr/>
        </p:nvSpPr>
        <p:spPr bwMode="auto">
          <a:xfrm>
            <a:off x="6400800" y="39100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4" name="Oval 128"/>
          <p:cNvSpPr>
            <a:spLocks noChangeArrowheads="1"/>
          </p:cNvSpPr>
          <p:nvPr/>
        </p:nvSpPr>
        <p:spPr bwMode="auto">
          <a:xfrm>
            <a:off x="6248400" y="40624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5" name="Oval 129"/>
          <p:cNvSpPr>
            <a:spLocks noChangeArrowheads="1"/>
          </p:cNvSpPr>
          <p:nvPr/>
        </p:nvSpPr>
        <p:spPr bwMode="auto">
          <a:xfrm>
            <a:off x="7086600" y="36052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6" name="Oval 130"/>
          <p:cNvSpPr>
            <a:spLocks noChangeArrowheads="1"/>
          </p:cNvSpPr>
          <p:nvPr/>
        </p:nvSpPr>
        <p:spPr bwMode="auto">
          <a:xfrm>
            <a:off x="7239000" y="39862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7" name="Oval 131"/>
          <p:cNvSpPr>
            <a:spLocks noChangeArrowheads="1"/>
          </p:cNvSpPr>
          <p:nvPr/>
        </p:nvSpPr>
        <p:spPr bwMode="auto">
          <a:xfrm>
            <a:off x="7467600" y="38338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8" name="Oval 132"/>
          <p:cNvSpPr>
            <a:spLocks noChangeArrowheads="1"/>
          </p:cNvSpPr>
          <p:nvPr/>
        </p:nvSpPr>
        <p:spPr bwMode="auto">
          <a:xfrm>
            <a:off x="75438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49" name="Oval 133"/>
          <p:cNvSpPr>
            <a:spLocks noChangeArrowheads="1"/>
          </p:cNvSpPr>
          <p:nvPr/>
        </p:nvSpPr>
        <p:spPr bwMode="auto">
          <a:xfrm>
            <a:off x="7772400" y="42910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50" name="Oval 134"/>
          <p:cNvSpPr>
            <a:spLocks noChangeArrowheads="1"/>
          </p:cNvSpPr>
          <p:nvPr/>
        </p:nvSpPr>
        <p:spPr bwMode="auto">
          <a:xfrm>
            <a:off x="7162800" y="4138613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51" name="Oval 135"/>
          <p:cNvSpPr>
            <a:spLocks noChangeArrowheads="1"/>
          </p:cNvSpPr>
          <p:nvPr/>
        </p:nvSpPr>
        <p:spPr bwMode="auto">
          <a:xfrm>
            <a:off x="7010400" y="4291013"/>
            <a:ext cx="76200" cy="762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52" name="Line 174"/>
          <p:cNvSpPr>
            <a:spLocks noChangeShapeType="1"/>
          </p:cNvSpPr>
          <p:nvPr/>
        </p:nvSpPr>
        <p:spPr bwMode="auto">
          <a:xfrm flipV="1">
            <a:off x="6324600" y="39862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3" name="Line 175"/>
          <p:cNvSpPr>
            <a:spLocks noChangeShapeType="1"/>
          </p:cNvSpPr>
          <p:nvPr/>
        </p:nvSpPr>
        <p:spPr bwMode="auto">
          <a:xfrm flipV="1">
            <a:off x="6477000" y="368141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4" name="Line 180"/>
          <p:cNvSpPr>
            <a:spLocks noChangeShapeType="1"/>
          </p:cNvSpPr>
          <p:nvPr/>
        </p:nvSpPr>
        <p:spPr bwMode="auto">
          <a:xfrm flipV="1">
            <a:off x="7010400" y="3681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5" name="Line 181"/>
          <p:cNvSpPr>
            <a:spLocks noChangeShapeType="1"/>
          </p:cNvSpPr>
          <p:nvPr/>
        </p:nvSpPr>
        <p:spPr bwMode="auto">
          <a:xfrm flipV="1">
            <a:off x="7162800" y="35290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6" name="Line 187"/>
          <p:cNvSpPr>
            <a:spLocks noChangeShapeType="1"/>
          </p:cNvSpPr>
          <p:nvPr/>
        </p:nvSpPr>
        <p:spPr bwMode="auto">
          <a:xfrm flipV="1">
            <a:off x="7315200" y="39100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7" name="Line 190"/>
          <p:cNvSpPr>
            <a:spLocks noChangeShapeType="1"/>
          </p:cNvSpPr>
          <p:nvPr/>
        </p:nvSpPr>
        <p:spPr bwMode="auto">
          <a:xfrm flipH="1">
            <a:off x="7239000" y="40624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8" name="Line 191"/>
          <p:cNvSpPr>
            <a:spLocks noChangeShapeType="1"/>
          </p:cNvSpPr>
          <p:nvPr/>
        </p:nvSpPr>
        <p:spPr bwMode="auto">
          <a:xfrm>
            <a:off x="7467600" y="3910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9" name="Line 195"/>
          <p:cNvSpPr>
            <a:spLocks noChangeShapeType="1"/>
          </p:cNvSpPr>
          <p:nvPr/>
        </p:nvSpPr>
        <p:spPr bwMode="auto">
          <a:xfrm>
            <a:off x="7620000" y="4214813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0" name="Line 199"/>
          <p:cNvSpPr>
            <a:spLocks noChangeShapeType="1"/>
          </p:cNvSpPr>
          <p:nvPr/>
        </p:nvSpPr>
        <p:spPr bwMode="auto">
          <a:xfrm flipV="1">
            <a:off x="7086600" y="4214813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1" name="Line 201"/>
          <p:cNvSpPr>
            <a:spLocks noChangeShapeType="1"/>
          </p:cNvSpPr>
          <p:nvPr/>
        </p:nvSpPr>
        <p:spPr bwMode="auto">
          <a:xfrm>
            <a:off x="6705600" y="36814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2" name="Line 202"/>
          <p:cNvSpPr>
            <a:spLocks noChangeShapeType="1"/>
          </p:cNvSpPr>
          <p:nvPr/>
        </p:nvSpPr>
        <p:spPr bwMode="auto">
          <a:xfrm>
            <a:off x="7391400" y="3529013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3" name="Line 204"/>
          <p:cNvSpPr>
            <a:spLocks noChangeShapeType="1"/>
          </p:cNvSpPr>
          <p:nvPr/>
        </p:nvSpPr>
        <p:spPr bwMode="auto">
          <a:xfrm flipH="1">
            <a:off x="2057400" y="4367213"/>
            <a:ext cx="304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4" name="Text Box 205"/>
          <p:cNvSpPr txBox="1">
            <a:spLocks noChangeArrowheads="1"/>
          </p:cNvSpPr>
          <p:nvPr/>
        </p:nvSpPr>
        <p:spPr bwMode="auto">
          <a:xfrm>
            <a:off x="6019800" y="4519613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t>storyline generation via steiner tree construction on graph G:=(V,A)</a:t>
            </a:r>
            <a:endParaRPr lang="en-US" sz="1000" b="1">
              <a:solidFill>
                <a:schemeClr val="accent2"/>
              </a:solidFill>
              <a:latin typeface="Arial" charset="0"/>
            </a:endParaRPr>
          </a:p>
        </p:txBody>
      </p:sp>
      <p:pic>
        <p:nvPicPr>
          <p:cNvPr id="34965" name="Picture 149" descr="3_25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738813"/>
            <a:ext cx="3048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66" name="Picture 150" descr="3_3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738813"/>
            <a:ext cx="3048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67" name="Picture 151" descr="3_3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510213"/>
            <a:ext cx="304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68" name="Picture 152" descr="4_5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967413"/>
            <a:ext cx="3048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69" name="Picture 153" descr="4_6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967413"/>
            <a:ext cx="3048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970" name="Line 216"/>
          <p:cNvSpPr>
            <a:spLocks noChangeShapeType="1"/>
          </p:cNvSpPr>
          <p:nvPr/>
        </p:nvSpPr>
        <p:spPr bwMode="auto">
          <a:xfrm>
            <a:off x="3581400" y="58150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1" name="Line 217"/>
          <p:cNvSpPr>
            <a:spLocks noChangeShapeType="1"/>
          </p:cNvSpPr>
          <p:nvPr/>
        </p:nvSpPr>
        <p:spPr bwMode="auto">
          <a:xfrm flipV="1">
            <a:off x="4114800" y="5662613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2" name="Line 218"/>
          <p:cNvSpPr>
            <a:spLocks noChangeShapeType="1"/>
          </p:cNvSpPr>
          <p:nvPr/>
        </p:nvSpPr>
        <p:spPr bwMode="auto">
          <a:xfrm>
            <a:off x="4114800" y="5891213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3" name="Line 219"/>
          <p:cNvSpPr>
            <a:spLocks noChangeShapeType="1"/>
          </p:cNvSpPr>
          <p:nvPr/>
        </p:nvSpPr>
        <p:spPr bwMode="auto">
          <a:xfrm>
            <a:off x="4648200" y="60436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4" name="Text Box 220"/>
          <p:cNvSpPr txBox="1">
            <a:spLocks noChangeArrowheads="1"/>
          </p:cNvSpPr>
          <p:nvPr/>
        </p:nvSpPr>
        <p:spPr bwMode="auto">
          <a:xfrm>
            <a:off x="4800600" y="5586413"/>
            <a:ext cx="914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>
                <a:latin typeface="Arial" charset="0"/>
                <a:ea typeface="宋体" pitchFamily="2" charset="-122"/>
              </a:rPr>
              <a:t>… …</a:t>
            </a:r>
            <a:endParaRPr lang="en-US" sz="1800">
              <a:latin typeface="Arial" charset="0"/>
            </a:endParaRPr>
          </a:p>
        </p:txBody>
      </p:sp>
      <p:sp>
        <p:nvSpPr>
          <p:cNvPr id="34975" name="AutoShape 223"/>
          <p:cNvSpPr>
            <a:spLocks noChangeArrowheads="1"/>
          </p:cNvSpPr>
          <p:nvPr/>
        </p:nvSpPr>
        <p:spPr bwMode="auto">
          <a:xfrm>
            <a:off x="3200400" y="5891213"/>
            <a:ext cx="228600" cy="152400"/>
          </a:xfrm>
          <a:prstGeom prst="flowChartDocument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800" b="1">
                <a:latin typeface="Arial" charset="0"/>
                <a:ea typeface="宋体" pitchFamily="2" charset="-122"/>
              </a:rPr>
              <a:t>… ..</a:t>
            </a:r>
            <a:endParaRPr lang="en-US" sz="800" b="1">
              <a:latin typeface="Arial" charset="0"/>
            </a:endParaRPr>
          </a:p>
        </p:txBody>
      </p:sp>
      <p:sp>
        <p:nvSpPr>
          <p:cNvPr id="34976" name="AutoShape 225"/>
          <p:cNvSpPr>
            <a:spLocks noChangeArrowheads="1"/>
          </p:cNvSpPr>
          <p:nvPr/>
        </p:nvSpPr>
        <p:spPr bwMode="auto">
          <a:xfrm>
            <a:off x="3733800" y="5891213"/>
            <a:ext cx="228600" cy="152400"/>
          </a:xfrm>
          <a:prstGeom prst="flowChartDocument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800" b="1">
                <a:latin typeface="Arial" charset="0"/>
                <a:ea typeface="宋体" pitchFamily="2" charset="-122"/>
              </a:rPr>
              <a:t>… ..</a:t>
            </a:r>
            <a:endParaRPr lang="en-US" sz="800" b="1">
              <a:latin typeface="Arial" charset="0"/>
            </a:endParaRPr>
          </a:p>
        </p:txBody>
      </p:sp>
      <p:sp>
        <p:nvSpPr>
          <p:cNvPr id="34977" name="AutoShape 226"/>
          <p:cNvSpPr>
            <a:spLocks noChangeArrowheads="1"/>
          </p:cNvSpPr>
          <p:nvPr/>
        </p:nvSpPr>
        <p:spPr bwMode="auto">
          <a:xfrm>
            <a:off x="4495800" y="5434013"/>
            <a:ext cx="228600" cy="152400"/>
          </a:xfrm>
          <a:prstGeom prst="flowChartDocument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800" b="1">
                <a:latin typeface="Arial" charset="0"/>
                <a:ea typeface="宋体" pitchFamily="2" charset="-122"/>
              </a:rPr>
              <a:t>… ..</a:t>
            </a:r>
            <a:endParaRPr lang="en-US" sz="800" b="1">
              <a:latin typeface="Arial" charset="0"/>
            </a:endParaRPr>
          </a:p>
        </p:txBody>
      </p:sp>
      <p:sp>
        <p:nvSpPr>
          <p:cNvPr id="34978" name="AutoShape 227"/>
          <p:cNvSpPr>
            <a:spLocks noChangeArrowheads="1"/>
          </p:cNvSpPr>
          <p:nvPr/>
        </p:nvSpPr>
        <p:spPr bwMode="auto">
          <a:xfrm>
            <a:off x="4495800" y="6119813"/>
            <a:ext cx="228600" cy="152400"/>
          </a:xfrm>
          <a:prstGeom prst="flowChartDocument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800" b="1">
                <a:latin typeface="Arial" charset="0"/>
                <a:ea typeface="宋体" pitchFamily="2" charset="-122"/>
              </a:rPr>
              <a:t>… ..</a:t>
            </a:r>
            <a:endParaRPr lang="en-US" sz="800" b="1">
              <a:latin typeface="Arial" charset="0"/>
            </a:endParaRPr>
          </a:p>
        </p:txBody>
      </p:sp>
      <p:sp>
        <p:nvSpPr>
          <p:cNvPr id="34979" name="AutoShape 228"/>
          <p:cNvSpPr>
            <a:spLocks noChangeArrowheads="1"/>
          </p:cNvSpPr>
          <p:nvPr/>
        </p:nvSpPr>
        <p:spPr bwMode="auto">
          <a:xfrm>
            <a:off x="5181600" y="6119813"/>
            <a:ext cx="228600" cy="152400"/>
          </a:xfrm>
          <a:prstGeom prst="flowChartDocument">
            <a:avLst/>
          </a:prstGeom>
          <a:solidFill>
            <a:srgbClr val="FFFF99"/>
          </a:solidFill>
          <a:ln w="9525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zh-CN" sz="800" b="1">
                <a:latin typeface="Arial" charset="0"/>
                <a:ea typeface="宋体" pitchFamily="2" charset="-122"/>
              </a:rPr>
              <a:t>… ..</a:t>
            </a:r>
            <a:endParaRPr lang="en-US" sz="800" b="1">
              <a:latin typeface="Arial" charset="0"/>
            </a:endParaRPr>
          </a:p>
        </p:txBody>
      </p:sp>
      <p:sp>
        <p:nvSpPr>
          <p:cNvPr id="34980" name="Text Box 229"/>
          <p:cNvSpPr txBox="1">
            <a:spLocks noChangeArrowheads="1"/>
          </p:cNvSpPr>
          <p:nvPr/>
        </p:nvSpPr>
        <p:spPr bwMode="auto">
          <a:xfrm>
            <a:off x="3048000" y="6288088"/>
            <a:ext cx="37719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t>A pictorial storyline with summarized texts</a:t>
            </a:r>
            <a:endParaRPr lang="en-US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4981" name="AutoShape 233"/>
          <p:cNvSpPr>
            <a:spLocks noChangeArrowheads="1"/>
          </p:cNvSpPr>
          <p:nvPr/>
        </p:nvSpPr>
        <p:spPr bwMode="auto">
          <a:xfrm>
            <a:off x="2667000" y="3925888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99CCFF"/>
          </a:solidFill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82" name="AutoShape 234"/>
          <p:cNvSpPr>
            <a:spLocks noChangeArrowheads="1"/>
          </p:cNvSpPr>
          <p:nvPr/>
        </p:nvSpPr>
        <p:spPr bwMode="auto">
          <a:xfrm>
            <a:off x="5410200" y="3925888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99CCFF"/>
          </a:solidFill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83" name="AutoShape 236"/>
          <p:cNvSpPr>
            <a:spLocks noChangeArrowheads="1"/>
          </p:cNvSpPr>
          <p:nvPr/>
        </p:nvSpPr>
        <p:spPr bwMode="auto">
          <a:xfrm>
            <a:off x="381000" y="3316288"/>
            <a:ext cx="8153400" cy="1600200"/>
          </a:xfrm>
          <a:prstGeom prst="flowChartAlternateProcess">
            <a:avLst/>
          </a:prstGeom>
          <a:solidFill>
            <a:schemeClr val="accent1">
              <a:alpha val="0"/>
            </a:schemeClr>
          </a:solidFill>
          <a:ln w="9525">
            <a:solidFill>
              <a:srgbClr val="CC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84" name="AutoShape 237"/>
          <p:cNvSpPr>
            <a:spLocks noChangeArrowheads="1"/>
          </p:cNvSpPr>
          <p:nvPr/>
        </p:nvSpPr>
        <p:spPr bwMode="auto">
          <a:xfrm>
            <a:off x="4038600" y="293528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85" name="AutoShape 238"/>
          <p:cNvSpPr>
            <a:spLocks noChangeArrowheads="1"/>
          </p:cNvSpPr>
          <p:nvPr/>
        </p:nvSpPr>
        <p:spPr bwMode="auto">
          <a:xfrm>
            <a:off x="4038600" y="499268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/>
            <a:endParaRPr lang="en-US" sz="1800">
              <a:latin typeface="Arial" charset="0"/>
            </a:endParaRPr>
          </a:p>
        </p:txBody>
      </p:sp>
      <p:sp>
        <p:nvSpPr>
          <p:cNvPr id="34986" name="Text Box 239"/>
          <p:cNvSpPr txBox="1">
            <a:spLocks noChangeArrowheads="1"/>
          </p:cNvSpPr>
          <p:nvPr/>
        </p:nvSpPr>
        <p:spPr bwMode="auto">
          <a:xfrm>
            <a:off x="2055813" y="2614613"/>
            <a:ext cx="47625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latin typeface="Arial" charset="0"/>
                <a:ea typeface="宋体" pitchFamily="2" charset="-122"/>
              </a:rPr>
              <a:t>A query and a collection of images and corresponding texts</a:t>
            </a:r>
            <a:endParaRPr lang="en-US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172" name="Line Callout 1 171"/>
          <p:cNvSpPr/>
          <p:nvPr/>
        </p:nvSpPr>
        <p:spPr>
          <a:xfrm>
            <a:off x="5600700" y="1316038"/>
            <a:ext cx="1219200" cy="515937"/>
          </a:xfrm>
          <a:prstGeom prst="borderCallout1">
            <a:avLst>
              <a:gd name="adj1" fmla="val 18750"/>
              <a:gd name="adj2" fmla="val -8333"/>
              <a:gd name="adj3" fmla="val 87215"/>
              <a:gd name="adj4" fmla="val -463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 Input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3" name="Line Callout 1 172"/>
          <p:cNvSpPr/>
          <p:nvPr/>
        </p:nvSpPr>
        <p:spPr>
          <a:xfrm>
            <a:off x="6592888" y="5564188"/>
            <a:ext cx="1219200" cy="515937"/>
          </a:xfrm>
          <a:prstGeom prst="borderCallout1">
            <a:avLst>
              <a:gd name="adj1" fmla="val 18750"/>
              <a:gd name="adj2" fmla="val -8333"/>
              <a:gd name="adj3" fmla="val 87215"/>
              <a:gd name="adj4" fmla="val -463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 Output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68263" y="792163"/>
            <a:ext cx="29114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Ø"/>
              <a:defRPr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System </a:t>
            </a:r>
            <a:r>
              <a:rPr lang="en-US" sz="1800" dirty="0" smtClean="0">
                <a:solidFill>
                  <a:schemeClr val="accent6"/>
                </a:solidFill>
              </a:rPr>
              <a:t>framework</a:t>
            </a:r>
            <a:endParaRPr lang="en-US" sz="1800" dirty="0">
              <a:solidFill>
                <a:schemeClr val="accent6"/>
              </a:solidFill>
            </a:endParaRPr>
          </a:p>
        </p:txBody>
      </p:sp>
      <p:sp>
        <p:nvSpPr>
          <p:cNvPr id="174" name="Rectangle 5"/>
          <p:cNvSpPr>
            <a:spLocks noChangeArrowheads="1"/>
          </p:cNvSpPr>
          <p:nvPr/>
        </p:nvSpPr>
        <p:spPr bwMode="auto">
          <a:xfrm>
            <a:off x="457200" y="609600"/>
            <a:ext cx="4114800" cy="53181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0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Pictorial Storyline Generation</a:t>
            </a:r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461963" y="14478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  <a:defRPr/>
            </a:pPr>
            <a:r>
              <a:rPr lang="en-US" sz="18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Identifying Query-relevant Dominating Objects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1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   The </a:t>
            </a:r>
            <a:r>
              <a:rPr lang="en-US" sz="1600" dirty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Minimum-Weight Dominating Set Problem (MWDS</a:t>
            </a:r>
            <a:r>
              <a:rPr lang="en-US" sz="1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 smtClean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8" charset="0"/>
              <a:buChar char="−"/>
              <a:defRPr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Given a vertex-weighted undirected graph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from all dominating sets of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one whose total vertex weight is the smallest. </a:t>
            </a:r>
            <a:endParaRPr lang="en-US" sz="18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8" charset="0"/>
              <a:buChar char="−"/>
              <a:defRPr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is an NP-hard problem. 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en-US" sz="1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   Approximation Algorithm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[13]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838200" y="3425683"/>
            <a:ext cx="43434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838200" y="3425683"/>
            <a:ext cx="434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 smtClean="0">
                <a:solidFill>
                  <a:schemeClr val="accent2"/>
                </a:solidFill>
              </a:rPr>
              <a:t>Algorithm</a:t>
            </a:r>
            <a:r>
              <a:rPr lang="en-US" sz="1400" dirty="0" smtClean="0"/>
              <a:t>: Greedy MWDS Approximation</a:t>
            </a: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838200" y="3771758"/>
            <a:ext cx="43434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3924158"/>
                <a:ext cx="4419600" cy="2857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b="1" dirty="0" smtClean="0"/>
                  <a:t>Input: </a:t>
                </a:r>
                <a:r>
                  <a:rPr lang="en-US" sz="1400" dirty="0" smtClean="0"/>
                  <a:t>G=(V, E): vertex weighted object graph</a:t>
                </a:r>
              </a:p>
              <a:p>
                <a:pPr algn="l"/>
                <a:r>
                  <a:rPr lang="en-US" sz="1400" dirty="0"/>
                  <a:t> </a:t>
                </a:r>
                <a:r>
                  <a:rPr lang="en-US" sz="1400" dirty="0" smtClean="0"/>
                  <a:t>           W: maximal number of dominators</a:t>
                </a:r>
              </a:p>
              <a:p>
                <a:pPr algn="l"/>
                <a:r>
                  <a:rPr lang="en-US" sz="1400" b="1" dirty="0" smtClean="0"/>
                  <a:t>Output: </a:t>
                </a:r>
                <a:r>
                  <a:rPr lang="en-US" sz="1400" dirty="0" smtClean="0"/>
                  <a:t>dominating set S</a:t>
                </a:r>
              </a:p>
              <a:p>
                <a:pPr marL="342900" indent="-342900" algn="l">
                  <a:buAutoNum type="arabicPeriod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𝑆</m:t>
                    </m:r>
                    <m:r>
                      <a:rPr lang="en-US" sz="1400" b="0" i="1" smtClean="0">
                        <a:latin typeface="Cambria Math"/>
                      </a:rPr>
                      <m:t>=∅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 smtClean="0"/>
                  <a:t>T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/>
                      </a:rPr>
                      <m:t> </m:t>
                    </m:r>
                    <m:r>
                      <a:rPr lang="en-US" sz="1400" i="1">
                        <a:latin typeface="Cambria Math"/>
                      </a:rPr>
                      <m:t>=∅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/>
                  <a:t>w</a:t>
                </a:r>
                <a:r>
                  <a:rPr lang="en-US" sz="1400" dirty="0" smtClean="0"/>
                  <a:t>hile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|</m:t>
                    </m:r>
                    <m:r>
                      <a:rPr lang="en-US" sz="1400" b="0" i="1" smtClean="0">
                        <a:latin typeface="Cambria Math"/>
                      </a:rPr>
                      <m:t>𝑆</m:t>
                    </m:r>
                    <m:r>
                      <a:rPr lang="en-US" sz="1400" b="0" i="1" smtClean="0">
                        <a:latin typeface="Cambria Math"/>
                      </a:rPr>
                      <m:t>|&lt;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𝑊</m:t>
                    </m:r>
                  </m:oMath>
                </a14:m>
                <a:r>
                  <a:rPr lang="en-US" sz="1400" dirty="0" smtClean="0"/>
                  <a:t> and S!=V do</a:t>
                </a:r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 for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𝑣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𝑉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𝑆</m:t>
                    </m:r>
                  </m:oMath>
                </a14:m>
                <a:r>
                  <a:rPr lang="en-US" sz="1400" dirty="0" smtClean="0"/>
                  <a:t> do</a:t>
                </a:r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1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/>
                          </a:rPr>
                          <m:t>{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/>
                          </a:rPr>
                          <m:t>|(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  <m:r>
                          <a:rPr lang="en-US" sz="1400" b="0" i="1" smtClean="0">
                            <a:latin typeface="Cambria Math"/>
                          </a:rPr>
                          <m:t>)∈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}\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/>
                            <a:ea typeface="Cambria Math"/>
                          </a:rPr>
                          <m:t>T</m:t>
                        </m:r>
                      </m:e>
                    </m:d>
                  </m:oMath>
                </a14:m>
                <a:endParaRPr lang="en-US" sz="1400" dirty="0" smtClean="0"/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1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𝑎𝑟𝑔𝑚𝑖𝑛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</m:sub>
                    </m:sSub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/>
                          </a:rPr>
                          <m:t>𝑤</m:t>
                        </m:r>
                        <m:r>
                          <a:rPr lang="en-US" sz="1400" b="0" i="1" smtClean="0">
                            <a:latin typeface="Cambria Math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  <m:r>
                          <a:rPr lang="en-US" sz="1400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14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  <m:r>
                          <a:rPr lang="en-US" sz="1400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sz="1400" dirty="0" smtClean="0"/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𝑆</m:t>
                    </m:r>
                    <m:r>
                      <a:rPr lang="en-US" sz="1400" b="0" i="1" smtClean="0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𝑆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sz="1400" b="0" dirty="0" smtClean="0">
                  <a:ea typeface="Cambria Math"/>
                </a:endParaRPr>
              </a:p>
              <a:p>
                <a:pPr marL="342900" indent="-342900" algn="l">
                  <a:buFontTx/>
                  <a:buAutoNum type="arabicPeriod"/>
                </a:pPr>
                <a:r>
                  <a:rPr lang="en-US" sz="1400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𝑇</m:t>
                    </m:r>
                    <m:r>
                      <a:rPr lang="en-US" sz="1400" b="0" i="1" smtClean="0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𝑇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∪{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′′</m:t>
                        </m:r>
                      </m:sup>
                    </m:sSup>
                    <m:r>
                      <a:rPr lang="en-US" sz="1400" b="0" i="1" smtClean="0">
                        <a:latin typeface="Cambria Math"/>
                        <a:ea typeface="Cambria Math"/>
                      </a:rPr>
                      <m:t>|(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′′</m:t>
                        </m:r>
                      </m:sup>
                    </m:sSup>
                    <m:r>
                      <a:rPr lang="en-US" sz="1400" b="0" i="1" smtClean="0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</m:sup>
                    </m:sSup>
                    <m:r>
                      <a:rPr lang="en-US" sz="1400" b="0" i="1" smtClean="0">
                        <a:latin typeface="Cambria Math"/>
                        <a:ea typeface="Cambria Math"/>
                      </a:rPr>
                      <m:t>)∈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𝐸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sz="1400" dirty="0"/>
              </a:p>
              <a:p>
                <a:pPr marL="342900" indent="-342900" algn="l">
                  <a:buAutoNum type="arabicPeriod"/>
                </a:pPr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24158"/>
                <a:ext cx="4419600" cy="2857642"/>
              </a:xfrm>
              <a:prstGeom prst="rect">
                <a:avLst/>
              </a:prstGeom>
              <a:blipFill rotWithShape="1">
                <a:blip r:embed="rId2"/>
                <a:stretch>
                  <a:fillRect l="-552" t="-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 bwMode="auto">
          <a:xfrm>
            <a:off x="838200" y="6591158"/>
            <a:ext cx="43434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57200" y="1143000"/>
            <a:ext cx="4114800" cy="53181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ChangeArrowheads="1"/>
          </p:cNvSpPr>
          <p:nvPr/>
        </p:nvSpPr>
        <p:spPr bwMode="auto"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 dirty="0">
                <a:solidFill>
                  <a:schemeClr val="tx2"/>
                </a:solidFill>
                <a:ea typeface="宋体" pitchFamily="2" charset="-122"/>
              </a:rPr>
              <a:t>Pictorial Storyline Generation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461963" y="838200"/>
            <a:ext cx="8229600" cy="1676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  <a:defRPr/>
            </a:pP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Generating Storylines by Connecting </a:t>
            </a:r>
            <a:r>
              <a:rPr lang="en-US" sz="16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Dominating Objects </a:t>
            </a: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via Directed Steiner Tree</a:t>
            </a:r>
            <a:r>
              <a:rPr lang="en-US" sz="1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      Steiner Tree</a:t>
            </a:r>
            <a:endParaRPr lang="en-US" sz="1600" dirty="0" smtClean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8" charset="0"/>
              <a:buChar char="−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Steiner tree of a graph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w.r.t. a vertex subset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is the edge-induced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that contains all the vertices of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having the minimum total cost, where the cost is the total weight of the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vertices.</a:t>
            </a:r>
          </a:p>
          <a:p>
            <a:pPr>
              <a:buFont typeface="Times New Roman" pitchFamily="18" charset="0"/>
              <a:buChar char="−"/>
              <a:defRPr/>
            </a:pPr>
            <a:r>
              <a:rPr lang="en-US" sz="1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Approximation Algorithm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[14]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708819"/>
            <a:ext cx="4114800" cy="53181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838200" y="2590800"/>
            <a:ext cx="44958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29342" y="2601685"/>
                <a:ext cx="449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600" b="1" dirty="0" smtClean="0">
                    <a:solidFill>
                      <a:schemeClr val="accent2"/>
                    </a:solidFill>
                  </a:rPr>
                  <a:t>Algorithm: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latin typeface="Cambria Math"/>
                      </a:rPr>
                      <m:t>𝐺</m:t>
                    </m:r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latin typeface="Cambria Math"/>
                      </a:rPr>
                      <m:t>𝑘</m:t>
                    </m:r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latin typeface="Cambria Math"/>
                      </a:rPr>
                      <m:t>𝑟</m:t>
                    </m:r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latin typeface="Cambria Math"/>
                      </a:rPr>
                      <m:t>𝑋</m:t>
                    </m:r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2" y="2601685"/>
                <a:ext cx="4495800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81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838200" y="2895600"/>
            <a:ext cx="44958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8200" y="2971800"/>
                <a:ext cx="4572000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b="1" dirty="0" smtClean="0"/>
                  <a:t>Input: </a:t>
                </a:r>
                <a:r>
                  <a:rPr lang="en-US" sz="1400" dirty="0" smtClean="0"/>
                  <a:t>G=(V,A): vertex-weighted directed graph</a:t>
                </a:r>
              </a:p>
              <a:p>
                <a:pPr algn="l"/>
                <a:r>
                  <a:rPr lang="en-US" sz="1400" dirty="0"/>
                  <a:t> </a:t>
                </a:r>
                <a:r>
                  <a:rPr lang="en-US" sz="1400" dirty="0" smtClean="0"/>
                  <a:t>          X: target vertex set X</a:t>
                </a:r>
              </a:p>
              <a:p>
                <a:pPr algn="l"/>
                <a:r>
                  <a:rPr lang="en-US" sz="1400" dirty="0"/>
                  <a:t> </a:t>
                </a:r>
                <a:r>
                  <a:rPr lang="en-US" sz="1400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𝑟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r>
                  <a:rPr lang="en-US" sz="1400" dirty="0" smtClean="0"/>
                  <a:t>: the root</a:t>
                </a:r>
              </a:p>
              <a:p>
                <a:pPr algn="l"/>
                <a:r>
                  <a:rPr lang="en-US" sz="1400" dirty="0"/>
                  <a:t> </a:t>
                </a:r>
                <a:r>
                  <a:rPr lang="en-US" sz="1400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𝑘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≥1</m:t>
                    </m:r>
                  </m:oMath>
                </a14:m>
                <a:r>
                  <a:rPr lang="en-US" sz="1400" dirty="0" smtClean="0"/>
                  <a:t>: the target size</a:t>
                </a:r>
              </a:p>
              <a:p>
                <a:pPr algn="l"/>
                <a:r>
                  <a:rPr lang="en-US" sz="1400" b="1" dirty="0" smtClean="0"/>
                  <a:t>Output: </a:t>
                </a:r>
                <a:r>
                  <a:rPr lang="en-US" sz="1400" dirty="0" smtClean="0"/>
                  <a:t>T: a Steiner tree rooted at r </a:t>
                </a:r>
              </a:p>
              <a:p>
                <a:pPr algn="l"/>
                <a:r>
                  <a:rPr lang="en-US" sz="1400" dirty="0"/>
                  <a:t> </a:t>
                </a:r>
                <a:r>
                  <a:rPr lang="en-US" sz="1400" dirty="0" smtClean="0"/>
                  <a:t>                 covering at least k vertices in X</a:t>
                </a:r>
              </a:p>
              <a:p>
                <a:pPr marL="342900" indent="-342900" algn="l">
                  <a:buAutoNum type="arabicPeriod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𝑇</m:t>
                    </m:r>
                    <m:r>
                      <a:rPr lang="en-US" sz="1400" b="0" i="1" smtClean="0">
                        <a:latin typeface="Cambria Math"/>
                      </a:rPr>
                      <m:t>=∅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AutoNum type="arabicPeriod"/>
                </a:pPr>
                <a:r>
                  <a:rPr lang="en-US" sz="1400" b="1" i="1" dirty="0" smtClean="0"/>
                  <a:t>while</a:t>
                </a:r>
                <a:r>
                  <a:rPr lang="en-US" sz="1400" dirty="0" smtClean="0"/>
                  <a:t> k &gt; 0</a:t>
                </a:r>
              </a:p>
              <a:p>
                <a:pPr marL="342900" indent="-342900" algn="l"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𝑏𝑒𝑠𝑡</m:t>
                        </m:r>
                      </m:sub>
                    </m:sSub>
                    <m:r>
                      <a:rPr lang="en-US" sz="1400" i="1" smtClean="0">
                        <a:latin typeface="Cambria Math"/>
                        <a:ea typeface="Cambria Math"/>
                      </a:rPr>
                      <m:t>←∅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𝑐𝑜𝑠𝑡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</a:rPr>
                              <m:t>𝑏𝑒𝑠𝑡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←∞</m:t>
                    </m:r>
                  </m:oMath>
                </a14:m>
                <a:endParaRPr lang="en-US" sz="1400" b="0" dirty="0" smtClean="0">
                  <a:ea typeface="Cambria Math"/>
                </a:endParaRPr>
              </a:p>
              <a:p>
                <a:pPr marL="342900" indent="-342900" algn="l">
                  <a:buAutoNum type="arabicPeriod"/>
                </a:pPr>
                <a:r>
                  <a:rPr lang="en-US" sz="1400" dirty="0" smtClean="0"/>
                  <a:t>      for each vertex v,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en-US" sz="1400" dirty="0" smtClean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dirty="0" smtClean="0"/>
                  <a:t>,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/>
                      </a:rPr>
                      <m:t>1</m:t>
                    </m:r>
                    <m:r>
                      <a:rPr lang="en-US" sz="1400" b="0" i="1" dirty="0" smtClean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dirty="0" smtClean="0">
                            <a:latin typeface="Cambria Math"/>
                            <a:ea typeface="Cambria Math"/>
                          </a:rPr>
                          <m:t>𝑘</m:t>
                        </m:r>
                      </m:e>
                      <m:sup>
                        <m:r>
                          <a:rPr lang="en-US" sz="1400" b="0" i="1" dirty="0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1400" b="0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400" b="0" i="1" dirty="0" smtClean="0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400" i="1" smtClean="0">
                        <a:latin typeface="Cambria Math"/>
                        <a:ea typeface="Cambria Math"/>
                      </a:rPr>
                      <m:t>←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</m:d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∪{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d>
                    <m:r>
                      <a:rPr lang="en-US" sz="1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sz="1400" dirty="0" smtClean="0"/>
              </a:p>
              <a:p>
                <a:pPr marL="342900" indent="-342900" algn="l"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if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𝑐𝑜𝑠𝑡</m:t>
                    </m:r>
                    <m:r>
                      <a:rPr lang="en-US" sz="14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𝑏𝑒𝑠𝑡</m:t>
                        </m:r>
                      </m:sub>
                    </m:sSub>
                    <m:r>
                      <a:rPr lang="en-US" sz="1400" b="0" i="1" smtClean="0">
                        <a:latin typeface="Cambria Math"/>
                        <a:ea typeface="Cambria Math"/>
                      </a:rPr>
                      <m:t>&gt;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𝑐𝑜𝑠𝑡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(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1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400" dirty="0" smtClean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𝑏𝑒𝑠𝑡</m:t>
                        </m:r>
                      </m:sub>
                    </m:sSub>
                    <m:r>
                      <a:rPr lang="en-US" sz="1400" i="1" smtClean="0">
                        <a:latin typeface="Cambria Math"/>
                        <a:ea typeface="Cambria Math"/>
                      </a:rPr>
                      <m:t>←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p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</m:oMath>
                </a14:m>
                <a:endParaRPr lang="en-US" sz="1400" dirty="0" smtClean="0">
                  <a:ea typeface="Cambria Math"/>
                </a:endParaRPr>
              </a:p>
              <a:p>
                <a:pPr marL="342900" indent="-342900" algn="l">
                  <a:buAutoNum type="arabicPeriod"/>
                </a:pPr>
                <a:r>
                  <a:rPr lang="en-US" sz="14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𝑇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𝑏𝑒𝑠𝑡</m:t>
                        </m:r>
                      </m:sub>
                    </m:sSub>
                  </m:oMath>
                </a14:m>
                <a:endParaRPr lang="en-US" sz="1400" b="0" dirty="0" smtClean="0">
                  <a:ea typeface="Cambria Math"/>
                </a:endParaRPr>
              </a:p>
              <a:p>
                <a:pPr marL="342900" indent="-342900" algn="l">
                  <a:buAutoNum type="arabicPeriod"/>
                </a:pPr>
                <a:r>
                  <a:rPr lang="en-US" sz="14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𝑘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−</m:t>
                    </m:r>
                    <m:d>
                      <m:dPr>
                        <m:begChr m:val="‖"/>
                        <m:endChr m:val="‖"/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𝑉</m:t>
                        </m:r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𝑏𝑒𝑠𝑡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d>
                  </m:oMath>
                </a14:m>
                <a:endParaRPr lang="en-US" sz="1400" dirty="0" smtClean="0"/>
              </a:p>
              <a:p>
                <a:pPr marL="342900" indent="-342900" algn="l">
                  <a:buAutoNum type="arabicPeriod"/>
                </a:pPr>
                <a:r>
                  <a:rPr lang="en-US" sz="1400" dirty="0"/>
                  <a:t> </a:t>
                </a:r>
                <a:r>
                  <a:rPr lang="en-US" sz="1400" dirty="0" smtClean="0"/>
                  <a:t>   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𝑋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\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/>
                        <a:ea typeface="Cambria Math"/>
                      </a:rPr>
                      <m:t>V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  <a:ea typeface="Cambria Math"/>
                              </a:rPr>
                              <m:t>𝑏𝑒𝑠𝑡</m:t>
                            </m:r>
                          </m:sub>
                        </m:sSub>
                      </m:e>
                    </m:d>
                  </m:oMath>
                </a14:m>
                <a:endParaRPr lang="en-US" sz="1400" b="0" dirty="0" smtClean="0">
                  <a:ea typeface="Cambria Math"/>
                </a:endParaRPr>
              </a:p>
              <a:p>
                <a:pPr marL="342900" indent="-342900" algn="l">
                  <a:buAutoNum type="arabicPeriod"/>
                </a:pPr>
                <a:r>
                  <a:rPr lang="en-US" sz="1400" dirty="0" smtClean="0"/>
                  <a:t>   </a:t>
                </a:r>
                <a:r>
                  <a:rPr lang="en-US" sz="1400" b="1" i="1" dirty="0" smtClean="0"/>
                  <a:t>return</a:t>
                </a:r>
                <a:r>
                  <a:rPr lang="en-US" sz="1400" dirty="0" smtClean="0"/>
                  <a:t> T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1800"/>
                <a:ext cx="4572000" cy="3754874"/>
              </a:xfrm>
              <a:prstGeom prst="rect">
                <a:avLst/>
              </a:prstGeom>
              <a:blipFill rotWithShape="1">
                <a:blip r:embed="rId4"/>
                <a:stretch>
                  <a:fillRect l="-533" t="-163" b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 bwMode="auto">
          <a:xfrm>
            <a:off x="838200" y="6705600"/>
            <a:ext cx="4495800" cy="0"/>
          </a:xfrm>
          <a:prstGeom prst="line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6285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457200" y="-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 eaLnBrk="1" hangingPunct="1"/>
            <a:r>
              <a:rPr lang="en-US" altLang="zh-CN" sz="2400" b="1">
                <a:solidFill>
                  <a:schemeClr val="tx2"/>
                </a:solidFill>
                <a:ea typeface="宋体" pitchFamily="2" charset="-122"/>
              </a:rPr>
              <a:t>Pictorial Storyline Generation</a:t>
            </a:r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858963"/>
            <a:ext cx="7127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5" descr="4_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7921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 descr="4_8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26971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7" descr="4_6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26971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8" descr="4_5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7921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1" name="Picture 9" descr="4_3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3" y="1782763"/>
            <a:ext cx="8382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2" name="Picture 10" descr="4_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17827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3" name="Picture 11" descr="4_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17827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4" name="Picture 12" descr="4_4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4602163"/>
            <a:ext cx="83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Text Box 15"/>
          <p:cNvSpPr txBox="1">
            <a:spLocks noChangeArrowheads="1"/>
          </p:cNvSpPr>
          <p:nvPr/>
        </p:nvSpPr>
        <p:spPr bwMode="auto">
          <a:xfrm>
            <a:off x="157163" y="2909888"/>
            <a:ext cx="10668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An oil covered brown pelican sits behind another bird on the beach at East Grand Terre Island along the coast of Louisiana</a:t>
            </a:r>
            <a:r>
              <a:rPr lang="en-US" altLang="zh-CN" sz="1000" b="1">
                <a:ea typeface="宋体" pitchFamily="2" charset="-122"/>
              </a:rPr>
              <a:t>.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06/03/2010</a:t>
            </a:r>
            <a:endParaRPr lang="en-US" sz="1000" b="1"/>
          </a:p>
        </p:txBody>
      </p:sp>
      <p:sp>
        <p:nvSpPr>
          <p:cNvPr id="33806" name="Text Box 17"/>
          <p:cNvSpPr txBox="1">
            <a:spLocks noChangeArrowheads="1"/>
          </p:cNvSpPr>
          <p:nvPr/>
        </p:nvSpPr>
        <p:spPr bwMode="auto">
          <a:xfrm>
            <a:off x="1604963" y="1477963"/>
            <a:ext cx="10668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An oiled pelican unable to fly tries to leap over a wave on the shore of Isle Grande Terre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06/04/2010</a:t>
            </a:r>
            <a:endParaRPr lang="en-US" sz="1000" b="1"/>
          </a:p>
        </p:txBody>
      </p:sp>
      <p:sp>
        <p:nvSpPr>
          <p:cNvPr id="33807" name="Text Box 19"/>
          <p:cNvSpPr txBox="1">
            <a:spLocks noChangeArrowheads="1"/>
          </p:cNvSpPr>
          <p:nvPr/>
        </p:nvSpPr>
        <p:spPr bwMode="auto">
          <a:xfrm>
            <a:off x="1604963" y="3306763"/>
            <a:ext cx="9906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 brown pelican coated in heavy oil wallows in the surf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06/04/2010</a:t>
            </a:r>
            <a:endParaRPr lang="en-US" sz="1000" b="1"/>
          </a:p>
        </p:txBody>
      </p:sp>
      <p:sp>
        <p:nvSpPr>
          <p:cNvPr id="33808" name="Text Box 20"/>
          <p:cNvSpPr txBox="1">
            <a:spLocks noChangeArrowheads="1"/>
          </p:cNvSpPr>
          <p:nvPr/>
        </p:nvSpPr>
        <p:spPr bwMode="auto">
          <a:xfrm>
            <a:off x="2976563" y="1462088"/>
            <a:ext cx="11430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An oil-covered pelican tries unsuccessfully to fly off a post at Wilkerson Canal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06/05/2010</a:t>
            </a:r>
            <a:endParaRPr lang="en-US" sz="1000" b="1"/>
          </a:p>
        </p:txBody>
      </p:sp>
      <p:sp>
        <p:nvSpPr>
          <p:cNvPr id="33809" name="Text Box 21"/>
          <p:cNvSpPr txBox="1">
            <a:spLocks noChangeArrowheads="1"/>
          </p:cNvSpPr>
          <p:nvPr/>
        </p:nvSpPr>
        <p:spPr bwMode="auto">
          <a:xfrm>
            <a:off x="2976563" y="3306763"/>
            <a:ext cx="11430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An oil covered pelican sits stuck in thick beached oil at Queen Bess Island in Barataria Bay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06/05/2010</a:t>
            </a:r>
            <a:endParaRPr lang="en-US" sz="1000" b="1"/>
          </a:p>
        </p:txBody>
      </p:sp>
      <p:sp>
        <p:nvSpPr>
          <p:cNvPr id="33810" name="Text Box 22"/>
          <p:cNvSpPr txBox="1">
            <a:spLocks noChangeArrowheads="1"/>
          </p:cNvSpPr>
          <p:nvPr/>
        </p:nvSpPr>
        <p:spPr bwMode="auto">
          <a:xfrm>
            <a:off x="4195763" y="2452688"/>
            <a:ext cx="12192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Volunteers clean an oil covered brown pelican found off the Louisiana coast and affected by the BP Deepwater Horizon oil spill in the Gulf of Mexico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06/09/2010</a:t>
            </a:r>
            <a:endParaRPr lang="en-US" sz="1000" b="1"/>
          </a:p>
        </p:txBody>
      </p:sp>
      <p:sp>
        <p:nvSpPr>
          <p:cNvPr id="33811" name="Text Box 23"/>
          <p:cNvSpPr txBox="1">
            <a:spLocks noChangeArrowheads="1"/>
          </p:cNvSpPr>
          <p:nvPr/>
        </p:nvSpPr>
        <p:spPr bwMode="auto">
          <a:xfrm>
            <a:off x="5567363" y="2452688"/>
            <a:ext cx="1219200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A</a:t>
            </a:r>
            <a:r>
              <a:rPr lang="en-US" sz="1000" b="1"/>
              <a:t> brown pelican chick that had just been washed</a:t>
            </a:r>
            <a:r>
              <a:rPr lang="en-US" altLang="zh-CN" sz="1000" b="1">
                <a:ea typeface="宋体" pitchFamily="2" charset="-122"/>
              </a:rPr>
              <a:t> in the </a:t>
            </a:r>
            <a:r>
              <a:rPr lang="en-US" sz="1000" b="1"/>
              <a:t>center for birds oiled from the Gulf of Mexico spill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06/11/2010</a:t>
            </a:r>
            <a:endParaRPr lang="en-US" sz="1000" b="1"/>
          </a:p>
        </p:txBody>
      </p:sp>
      <p:sp>
        <p:nvSpPr>
          <p:cNvPr id="33812" name="Text Box 24"/>
          <p:cNvSpPr txBox="1">
            <a:spLocks noChangeArrowheads="1"/>
          </p:cNvSpPr>
          <p:nvPr/>
        </p:nvSpPr>
        <p:spPr bwMode="auto">
          <a:xfrm>
            <a:off x="6938963" y="2468563"/>
            <a:ext cx="12192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Rescued pelicans cleaned of oil are seen at The Sector Mobile Wildlife Operations Branch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06/14/2010</a:t>
            </a:r>
            <a:endParaRPr lang="en-US" sz="1000" b="1"/>
          </a:p>
        </p:txBody>
      </p:sp>
      <p:sp>
        <p:nvSpPr>
          <p:cNvPr id="33813" name="Text Box 25"/>
          <p:cNvSpPr txBox="1">
            <a:spLocks noChangeArrowheads="1"/>
          </p:cNvSpPr>
          <p:nvPr/>
        </p:nvSpPr>
        <p:spPr bwMode="auto">
          <a:xfrm>
            <a:off x="2976563" y="5287963"/>
            <a:ext cx="1219200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000" b="1"/>
              <a:t>A dead turtle floats on a pool of oil from the Deepwater Horizon spill in Barataria Bay off the coast of Louisiana</a:t>
            </a:r>
            <a:r>
              <a:rPr lang="en-US" altLang="zh-CN" sz="1000" b="1">
                <a:ea typeface="宋体" pitchFamily="2" charset="-122"/>
              </a:rPr>
              <a:t>.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1000" b="1">
                <a:ea typeface="宋体" pitchFamily="2" charset="-122"/>
              </a:rPr>
              <a:t>06/07/2010</a:t>
            </a:r>
            <a:endParaRPr lang="en-US" sz="1000" b="1"/>
          </a:p>
        </p:txBody>
      </p:sp>
      <p:pic>
        <p:nvPicPr>
          <p:cNvPr id="33814" name="Picture 22" descr="turtl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3" y="4602163"/>
            <a:ext cx="8382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15" name="Text Box 27"/>
          <p:cNvSpPr txBox="1">
            <a:spLocks noChangeArrowheads="1"/>
          </p:cNvSpPr>
          <p:nvPr/>
        </p:nvSpPr>
        <p:spPr bwMode="auto">
          <a:xfrm>
            <a:off x="4271963" y="5287963"/>
            <a:ext cx="1219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sz="1000" b="1"/>
              <a:t>Oceana explains the variety of threats to sea turtles from the </a:t>
            </a:r>
          </a:p>
          <a:p>
            <a:pPr algn="l" eaLnBrk="1" hangingPunct="1"/>
            <a:r>
              <a:rPr lang="en-US" sz="1000" b="1"/>
              <a:t>spill as well as risks specific to the different species of turtle that inhabit the affected area.</a:t>
            </a:r>
            <a:endParaRPr lang="en-US" altLang="zh-CN" sz="1000" b="1">
              <a:ea typeface="宋体" pitchFamily="2" charset="-122"/>
            </a:endParaRPr>
          </a:p>
          <a:p>
            <a:pPr algn="l" eaLnBrk="1" hangingPunct="1"/>
            <a:r>
              <a:rPr lang="en-US" altLang="zh-CN" sz="1000" b="1">
                <a:ea typeface="宋体" pitchFamily="2" charset="-122"/>
              </a:rPr>
              <a:t>06/09/2010</a:t>
            </a:r>
            <a:endParaRPr lang="en-US" sz="1000" b="1"/>
          </a:p>
        </p:txBody>
      </p:sp>
      <p:sp>
        <p:nvSpPr>
          <p:cNvPr id="33816" name="Line 28"/>
          <p:cNvSpPr>
            <a:spLocks noChangeShapeType="1"/>
          </p:cNvSpPr>
          <p:nvPr/>
        </p:nvSpPr>
        <p:spPr bwMode="auto">
          <a:xfrm flipV="1">
            <a:off x="1147763" y="1477963"/>
            <a:ext cx="45720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Line 29"/>
          <p:cNvSpPr>
            <a:spLocks noChangeShapeType="1"/>
          </p:cNvSpPr>
          <p:nvPr/>
        </p:nvSpPr>
        <p:spPr bwMode="auto">
          <a:xfrm>
            <a:off x="1147763" y="2316163"/>
            <a:ext cx="4572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8" name="Line 35"/>
          <p:cNvSpPr>
            <a:spLocks noChangeShapeType="1"/>
          </p:cNvSpPr>
          <p:nvPr/>
        </p:nvSpPr>
        <p:spPr bwMode="auto">
          <a:xfrm>
            <a:off x="1147763" y="2316163"/>
            <a:ext cx="0" cy="2514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Line 36"/>
          <p:cNvSpPr>
            <a:spLocks noChangeShapeType="1"/>
          </p:cNvSpPr>
          <p:nvPr/>
        </p:nvSpPr>
        <p:spPr bwMode="auto">
          <a:xfrm>
            <a:off x="1147763" y="4830763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Line 37"/>
          <p:cNvSpPr>
            <a:spLocks noChangeShapeType="1"/>
          </p:cNvSpPr>
          <p:nvPr/>
        </p:nvSpPr>
        <p:spPr bwMode="auto">
          <a:xfrm>
            <a:off x="2595563" y="1096963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1" name="Line 38"/>
          <p:cNvSpPr>
            <a:spLocks noChangeShapeType="1"/>
          </p:cNvSpPr>
          <p:nvPr/>
        </p:nvSpPr>
        <p:spPr bwMode="auto">
          <a:xfrm>
            <a:off x="2595563" y="3078163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Line 39"/>
          <p:cNvSpPr>
            <a:spLocks noChangeShapeType="1"/>
          </p:cNvSpPr>
          <p:nvPr/>
        </p:nvSpPr>
        <p:spPr bwMode="auto">
          <a:xfrm>
            <a:off x="3967163" y="1173163"/>
            <a:ext cx="304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3" name="Line 40"/>
          <p:cNvSpPr>
            <a:spLocks noChangeShapeType="1"/>
          </p:cNvSpPr>
          <p:nvPr/>
        </p:nvSpPr>
        <p:spPr bwMode="auto">
          <a:xfrm flipV="1">
            <a:off x="3967163" y="2316163"/>
            <a:ext cx="30480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Line 41"/>
          <p:cNvSpPr>
            <a:spLocks noChangeShapeType="1"/>
          </p:cNvSpPr>
          <p:nvPr/>
        </p:nvSpPr>
        <p:spPr bwMode="auto">
          <a:xfrm>
            <a:off x="5262563" y="20875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5" name="Line 42"/>
          <p:cNvSpPr>
            <a:spLocks noChangeShapeType="1"/>
          </p:cNvSpPr>
          <p:nvPr/>
        </p:nvSpPr>
        <p:spPr bwMode="auto">
          <a:xfrm>
            <a:off x="6557963" y="2087563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6" name="Line 43"/>
          <p:cNvSpPr>
            <a:spLocks noChangeShapeType="1"/>
          </p:cNvSpPr>
          <p:nvPr/>
        </p:nvSpPr>
        <p:spPr bwMode="auto">
          <a:xfrm>
            <a:off x="3967163" y="483076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8" name="TextBox 36"/>
          <p:cNvSpPr txBox="1">
            <a:spLocks noChangeArrowheads="1"/>
          </p:cNvSpPr>
          <p:nvPr/>
        </p:nvSpPr>
        <p:spPr bwMode="auto">
          <a:xfrm>
            <a:off x="7119938" y="5867400"/>
            <a:ext cx="19367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itchFamily="2" charset="-122"/>
              </a:rPr>
              <a:t>An Illustrative Example</a:t>
            </a:r>
          </a:p>
          <a:p>
            <a:endParaRPr lang="en-US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533400" y="533400"/>
            <a:ext cx="4114800" cy="53181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TextBox 34"/>
          <p:cNvSpPr txBox="1"/>
          <p:nvPr/>
        </p:nvSpPr>
        <p:spPr>
          <a:xfrm>
            <a:off x="6025006" y="4486870"/>
            <a:ext cx="2890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Query: </a:t>
            </a:r>
            <a:r>
              <a:rPr lang="en-US" b="1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“How BP oil spill </a:t>
            </a:r>
            <a:r>
              <a:rPr lang="en-US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affects animals </a:t>
            </a:r>
            <a:r>
              <a:rPr lang="en-US" b="1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such as pelicans and turtles</a:t>
            </a:r>
            <a:r>
              <a:rPr lang="en-US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?”</a:t>
            </a:r>
            <a:endParaRPr lang="en-US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29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zh-CN" sz="2000" dirty="0" smtClean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rPr>
              <a:t>Summary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      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     Three</a:t>
            </a:r>
            <a:r>
              <a:rPr lang="en-US" sz="1800" dirty="0" smtClean="0">
                <a:latin typeface="Times New Roman" pitchFamily="18" charset="0"/>
              </a:rPr>
              <a:t> successful examples of capturing the differences/changes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sz="1800" dirty="0" smtClean="0">
                <a:latin typeface="Times New Roman" pitchFamily="18" charset="0"/>
              </a:rPr>
              <a:t>and evolution of documents over time</a:t>
            </a: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:</a:t>
            </a:r>
          </a:p>
          <a:p>
            <a:pPr eaLnBrk="1" hangingPunct="1">
              <a:buClr>
                <a:srgbClr val="0000CC"/>
              </a:buClr>
              <a:buFont typeface="Wingdings" pitchFamily="2" charset="2"/>
              <a:buNone/>
            </a:pPr>
            <a:endParaRPr lang="en-US" altLang="zh-CN" sz="1800" dirty="0" smtClean="0">
              <a:latin typeface="Times New Roman" pitchFamily="18" charset="0"/>
              <a:ea typeface="宋体" pitchFamily="2" charset="-122"/>
            </a:endParaRPr>
          </a:p>
          <a:p>
            <a:pPr lvl="2" eaLnBrk="1" hangingPunct="1">
              <a:buClr>
                <a:schemeClr val="tx1"/>
              </a:buClr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Comparing documents and summarizing differences</a:t>
            </a:r>
          </a:p>
          <a:p>
            <a:pPr lvl="2" eaLnBrk="1" hangingPunct="1">
              <a:buClr>
                <a:schemeClr val="tx1"/>
              </a:buClr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Update summarization</a:t>
            </a:r>
          </a:p>
          <a:p>
            <a:pPr lvl="2" eaLnBrk="1" hangingPunct="1">
              <a:buClr>
                <a:schemeClr val="tx1"/>
              </a:buClr>
            </a:pPr>
            <a:r>
              <a:rPr lang="en-US" altLang="zh-CN" sz="1800" dirty="0" smtClean="0">
                <a:latin typeface="Times New Roman" pitchFamily="18" charset="0"/>
                <a:ea typeface="宋体" pitchFamily="2" charset="-122"/>
              </a:rPr>
              <a:t>Generating storylines to update event development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>
                <a:solidFill>
                  <a:schemeClr val="tx2"/>
                </a:solidFill>
                <a:ea typeface="宋体" pitchFamily="2" charset="-122"/>
              </a:rPr>
              <a:t>Evolution-Related Novel Problems</a:t>
            </a:r>
            <a:endParaRPr lang="en-US" sz="2000" b="1">
              <a:solidFill>
                <a:schemeClr val="tx2"/>
              </a:solidFill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457200" y="1143000"/>
            <a:ext cx="4343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0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635812"/>
            <a:ext cx="8229600" cy="4105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1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D.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Radev</a:t>
            </a:r>
            <a:r>
              <a:rPr lang="en-US" altLang="zh-CN" sz="1200" dirty="0">
                <a:latin typeface="+mj-lt"/>
                <a:ea typeface="宋体" pitchFamily="2" charset="-122"/>
              </a:rPr>
              <a:t>, H. Jing, M. Stys, and D. Tam. Centroid-based summarization of multiple documents.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Information  Processing and Management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919–938, 2004.</a:t>
            </a:r>
            <a:endParaRPr lang="en-US" altLang="zh-CN" sz="1200" i="1" dirty="0">
              <a:latin typeface="+mj-lt"/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2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G.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Erkan</a:t>
            </a:r>
            <a:r>
              <a:rPr lang="en-US" altLang="zh-CN" sz="1200" dirty="0">
                <a:latin typeface="+mj-lt"/>
                <a:ea typeface="宋体" pitchFamily="2" charset="-122"/>
              </a:rPr>
              <a:t> and D.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Radev</a:t>
            </a:r>
            <a:r>
              <a:rPr lang="en-US" altLang="zh-CN" sz="1200" dirty="0">
                <a:latin typeface="+mj-lt"/>
                <a:ea typeface="宋体" pitchFamily="2" charset="-122"/>
              </a:rPr>
              <a:t>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Lexpagerank</a:t>
            </a:r>
            <a:r>
              <a:rPr lang="en-US" altLang="zh-CN" sz="1200" dirty="0">
                <a:latin typeface="+mj-lt"/>
                <a:ea typeface="宋体" pitchFamily="2" charset="-122"/>
              </a:rPr>
              <a:t>: Prestige in multi-document text summarization.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</a:t>
            </a:r>
            <a:r>
              <a:rPr lang="en-US" altLang="zh-CN" sz="1200" dirty="0">
                <a:latin typeface="+mj-lt"/>
                <a:ea typeface="宋体" pitchFamily="2" charset="-122"/>
              </a:rPr>
              <a:t> 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EMNLP</a:t>
            </a:r>
            <a:r>
              <a:rPr lang="en-US" altLang="zh-CN" sz="1200" dirty="0">
                <a:latin typeface="+mj-lt"/>
                <a:ea typeface="宋体" pitchFamily="2" charset="-122"/>
              </a:rPr>
              <a:t>, 2004.</a:t>
            </a:r>
          </a:p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3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X. Wan and J. Yang. Multi-document summarization using cluster-based link analysis.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  SIGIR </a:t>
            </a:r>
            <a:r>
              <a:rPr lang="en-US" altLang="zh-CN" sz="1200" dirty="0">
                <a:latin typeface="+mj-lt"/>
                <a:ea typeface="宋体" pitchFamily="2" charset="-122"/>
              </a:rPr>
              <a:t>2008.</a:t>
            </a:r>
          </a:p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4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Y. Gong and X. Liu. Generic text summarization using relevance measure and latent semantic analysis.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 SIGIR 2001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19–25, 2001.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5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S. Park, J. Lee, D. Kim, and C.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Ahn</a:t>
            </a:r>
            <a:r>
              <a:rPr lang="en-US" altLang="zh-CN" sz="1200" dirty="0">
                <a:latin typeface="+mj-lt"/>
                <a:ea typeface="宋体" pitchFamily="2" charset="-122"/>
              </a:rPr>
              <a:t>. Multi-document summarization based on cluster using non-negative matrix factorization.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</a:t>
            </a:r>
            <a:r>
              <a:rPr lang="en-US" altLang="zh-CN" sz="1200" dirty="0">
                <a:latin typeface="+mj-lt"/>
                <a:ea typeface="宋体" pitchFamily="2" charset="-122"/>
              </a:rPr>
              <a:t> 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SOFSEM ’07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761–770, 2007.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6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J. Goldstein, M.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Kantrowitz</a:t>
            </a:r>
            <a:r>
              <a:rPr lang="en-US" altLang="zh-CN" sz="1200" dirty="0">
                <a:latin typeface="+mj-lt"/>
                <a:ea typeface="宋体" pitchFamily="2" charset="-122"/>
              </a:rPr>
              <a:t>, V. Mittal, and J.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Carbonell</a:t>
            </a:r>
            <a:r>
              <a:rPr lang="en-US" altLang="zh-CN" sz="1200" dirty="0">
                <a:latin typeface="+mj-lt"/>
                <a:ea typeface="宋体" pitchFamily="2" charset="-122"/>
              </a:rPr>
              <a:t>. Summarizing text documents: Sentence selection and evaluation metrics.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In Research  and  Development in  Information Retrieval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121–128, 1999.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7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J. Conroy and D.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O’leary</a:t>
            </a:r>
            <a:r>
              <a:rPr lang="en-US" altLang="zh-CN" sz="1200" dirty="0">
                <a:latin typeface="+mj-lt"/>
                <a:ea typeface="宋体" pitchFamily="2" charset="-122"/>
              </a:rPr>
              <a:t>. Text summarization via hidden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markov</a:t>
            </a:r>
            <a:r>
              <a:rPr lang="en-US" altLang="zh-CN" sz="1200" dirty="0">
                <a:latin typeface="+mj-lt"/>
                <a:ea typeface="宋体" pitchFamily="2" charset="-122"/>
              </a:rPr>
              <a:t> models.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  SIGIR’01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406–407, 2001.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8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D.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Shen</a:t>
            </a:r>
            <a:r>
              <a:rPr lang="en-US" altLang="zh-CN" sz="1200" dirty="0">
                <a:latin typeface="+mj-lt"/>
                <a:ea typeface="宋体" pitchFamily="2" charset="-122"/>
              </a:rPr>
              <a:t>, J. Sun, H. Li, Q. Yang, and Z. Chen. Document summarization using conditional random fields.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</a:t>
            </a:r>
            <a:r>
              <a:rPr lang="en-US" altLang="zh-CN" sz="1200" dirty="0">
                <a:latin typeface="+mj-lt"/>
                <a:ea typeface="宋体" pitchFamily="2" charset="-122"/>
              </a:rPr>
              <a:t>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of</a:t>
            </a:r>
            <a:r>
              <a:rPr lang="en-US" altLang="zh-CN" sz="1200" dirty="0">
                <a:latin typeface="+mj-lt"/>
                <a:ea typeface="宋体" pitchFamily="2" charset="-122"/>
              </a:rPr>
              <a:t>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IJCAI’07, </a:t>
            </a:r>
            <a:r>
              <a:rPr lang="en-US" altLang="zh-CN" sz="1200" dirty="0">
                <a:latin typeface="+mj-lt"/>
                <a:ea typeface="宋体" pitchFamily="2" charset="-122"/>
              </a:rPr>
              <a:t>pages 2862–2867, 2007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.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</a:t>
            </a:r>
            <a:r>
              <a:rPr lang="en-US" altLang="zh-CN" sz="1200" dirty="0">
                <a:latin typeface="+mj-lt"/>
                <a:ea typeface="宋体" pitchFamily="2" charset="-122"/>
              </a:rPr>
              <a:t>9</a:t>
            </a:r>
            <a:r>
              <a:rPr lang="en-US" altLang="zh-CN" sz="1200" dirty="0" smtClean="0">
                <a:latin typeface="+mj-lt"/>
                <a:ea typeface="宋体" pitchFamily="2" charset="-122"/>
              </a:rPr>
              <a:t>] </a:t>
            </a:r>
            <a:r>
              <a:rPr lang="en-US" altLang="zh-CN" sz="1200" dirty="0">
                <a:latin typeface="+mj-lt"/>
                <a:ea typeface="宋体" pitchFamily="2" charset="-122"/>
              </a:rPr>
              <a:t>C. Lin and E.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Hovy</a:t>
            </a:r>
            <a:r>
              <a:rPr lang="en-US" altLang="zh-CN" sz="1200" dirty="0">
                <a:latin typeface="+mj-lt"/>
                <a:ea typeface="宋体" pitchFamily="2" charset="-122"/>
              </a:rPr>
              <a:t>. Automatic evaluation of summaries using n-gram co-occurrence statistics.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</a:t>
            </a:r>
            <a:r>
              <a:rPr lang="en-US" altLang="zh-CN" sz="1200" dirty="0">
                <a:latin typeface="+mj-lt"/>
                <a:ea typeface="宋体" pitchFamily="2" charset="-122"/>
              </a:rPr>
              <a:t> 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NAACL ’03</a:t>
            </a:r>
            <a:r>
              <a:rPr lang="en-US" altLang="zh-CN" sz="1200" i="1" dirty="0" smtClean="0">
                <a:latin typeface="+mj-lt"/>
                <a:ea typeface="宋体" pitchFamily="2" charset="-122"/>
              </a:rPr>
              <a:t>.</a:t>
            </a:r>
            <a:endParaRPr lang="en-US" altLang="zh-CN" sz="1200" dirty="0" smtClean="0">
              <a:latin typeface="+mj-lt"/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[10] </a:t>
            </a:r>
            <a:r>
              <a:rPr lang="en-US" altLang="zh-CN" sz="1200" dirty="0">
                <a:latin typeface="+mj-lt"/>
                <a:ea typeface="宋体" pitchFamily="2" charset="-122"/>
              </a:rPr>
              <a:t>S. Zhu, D. Wang, K. Yu, T. Li, and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Yihong</a:t>
            </a:r>
            <a:r>
              <a:rPr lang="en-US" altLang="zh-CN" sz="1200" dirty="0">
                <a:latin typeface="+mj-lt"/>
                <a:ea typeface="宋体" pitchFamily="2" charset="-122"/>
              </a:rPr>
              <a:t> Gong. Feature selection for gene expression using model-based entropy.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IEEE/ACM  Transactions on  Computational  Biology and  Bioinformatics</a:t>
            </a:r>
            <a:r>
              <a:rPr lang="en-US" altLang="zh-CN" sz="1200" dirty="0">
                <a:latin typeface="+mj-lt"/>
                <a:ea typeface="宋体" pitchFamily="2" charset="-122"/>
              </a:rPr>
              <a:t>, 2008.</a:t>
            </a:r>
          </a:p>
          <a:p>
            <a:pPr>
              <a:defRPr/>
            </a:pPr>
            <a:r>
              <a:rPr lang="de-DE" sz="1200" dirty="0" smtClean="0">
                <a:latin typeface="+mj-lt"/>
                <a:cs typeface="Times New Roman" pitchFamily="18" charset="0"/>
              </a:rPr>
              <a:t>[11] </a:t>
            </a:r>
            <a:r>
              <a:rPr lang="de-DE" sz="1200" dirty="0">
                <a:latin typeface="+mj-lt"/>
                <a:cs typeface="Times New Roman" pitchFamily="18" charset="0"/>
              </a:rPr>
              <a:t>R. Yan, X. Wan, J. Otterbacher, L. Kong,  X. Li, and Y. Zhang. </a:t>
            </a:r>
            <a:r>
              <a:rPr lang="en-US" sz="1200" dirty="0">
                <a:latin typeface="+mj-lt"/>
                <a:cs typeface="Times New Roman" pitchFamily="18" charset="0"/>
              </a:rPr>
              <a:t> Evolutionary timeline summarization: a balanced optimization framework via iterative substitution. In  </a:t>
            </a:r>
            <a:r>
              <a:rPr lang="en-US" sz="1200" i="1" dirty="0">
                <a:latin typeface="+mj-lt"/>
                <a:cs typeface="Times New Roman" pitchFamily="18" charset="0"/>
              </a:rPr>
              <a:t>Proceedings of  SIGIR</a:t>
            </a:r>
            <a:r>
              <a:rPr lang="en-US" sz="1200" dirty="0">
                <a:latin typeface="+mj-lt"/>
                <a:cs typeface="Times New Roman" pitchFamily="18" charset="0"/>
              </a:rPr>
              <a:t>’11.</a:t>
            </a:r>
          </a:p>
          <a:p>
            <a:pPr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[12] </a:t>
            </a:r>
            <a:r>
              <a:rPr lang="en-US" sz="1200" dirty="0">
                <a:latin typeface="+mj-lt"/>
                <a:cs typeface="Times New Roman" pitchFamily="18" charset="0"/>
              </a:rPr>
              <a:t>O. Alonso, R. </a:t>
            </a:r>
            <a:r>
              <a:rPr lang="en-US" sz="1200" dirty="0" err="1">
                <a:latin typeface="+mj-lt"/>
                <a:cs typeface="Times New Roman" pitchFamily="18" charset="0"/>
              </a:rPr>
              <a:t>Baeza</a:t>
            </a:r>
            <a:r>
              <a:rPr lang="en-US" sz="1200" dirty="0">
                <a:latin typeface="+mj-lt"/>
                <a:cs typeface="Times New Roman" pitchFamily="18" charset="0"/>
              </a:rPr>
              <a:t>-Yates, and  M. </a:t>
            </a:r>
            <a:r>
              <a:rPr lang="en-US" sz="1200" dirty="0" err="1">
                <a:latin typeface="+mj-lt"/>
                <a:cs typeface="Times New Roman" pitchFamily="18" charset="0"/>
              </a:rPr>
              <a:t>Gertz</a:t>
            </a:r>
            <a:r>
              <a:rPr lang="en-US" sz="1200" dirty="0">
                <a:latin typeface="+mj-lt"/>
                <a:cs typeface="Times New Roman" pitchFamily="18" charset="0"/>
              </a:rPr>
              <a:t>. Effectiveness of  temporal  snippets. In </a:t>
            </a:r>
            <a:r>
              <a:rPr lang="en-US" sz="1200" i="1" dirty="0">
                <a:latin typeface="+mj-lt"/>
                <a:cs typeface="Times New Roman" pitchFamily="18" charset="0"/>
              </a:rPr>
              <a:t>Proceedings  of  WWW’09.</a:t>
            </a:r>
          </a:p>
          <a:p>
            <a:pPr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[13] </a:t>
            </a:r>
            <a:r>
              <a:rPr lang="en-US" sz="1200" dirty="0">
                <a:latin typeface="+mj-lt"/>
                <a:cs typeface="Times New Roman" pitchFamily="18" charset="0"/>
              </a:rPr>
              <a:t>C. </a:t>
            </a:r>
            <a:r>
              <a:rPr lang="en-US" sz="1200" dirty="0" err="1">
                <a:latin typeface="+mj-lt"/>
                <a:cs typeface="Times New Roman" pitchFamily="18" charset="0"/>
              </a:rPr>
              <a:t>Shen</a:t>
            </a:r>
            <a:r>
              <a:rPr lang="en-US" sz="1200" dirty="0">
                <a:latin typeface="+mj-lt"/>
                <a:cs typeface="Times New Roman" pitchFamily="18" charset="0"/>
              </a:rPr>
              <a:t> and T.  Li. Multi-document summarization via the minimum dominating set. In </a:t>
            </a:r>
            <a:r>
              <a:rPr lang="en-US" sz="1200" i="1" dirty="0">
                <a:latin typeface="+mj-lt"/>
                <a:cs typeface="Times New Roman" pitchFamily="18" charset="0"/>
              </a:rPr>
              <a:t>Proceedings of  COLING ’10</a:t>
            </a:r>
            <a:r>
              <a:rPr lang="en-US" sz="1200" dirty="0">
                <a:latin typeface="+mj-lt"/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[14] </a:t>
            </a:r>
            <a:r>
              <a:rPr lang="en-US" sz="1200" dirty="0">
                <a:latin typeface="+mj-lt"/>
                <a:cs typeface="Times New Roman" pitchFamily="18" charset="0"/>
              </a:rPr>
              <a:t>M. </a:t>
            </a:r>
            <a:r>
              <a:rPr lang="en-US" sz="1200" dirty="0" err="1">
                <a:latin typeface="+mj-lt"/>
                <a:cs typeface="Times New Roman" pitchFamily="18" charset="0"/>
              </a:rPr>
              <a:t>Charikar</a:t>
            </a:r>
            <a:r>
              <a:rPr lang="en-US" sz="1200" dirty="0">
                <a:latin typeface="+mj-lt"/>
                <a:cs typeface="Times New Roman" pitchFamily="18" charset="0"/>
              </a:rPr>
              <a:t> and  C. </a:t>
            </a:r>
            <a:r>
              <a:rPr lang="en-US" sz="1200" dirty="0" err="1">
                <a:latin typeface="+mj-lt"/>
                <a:cs typeface="Times New Roman" pitchFamily="18" charset="0"/>
              </a:rPr>
              <a:t>Chekuri</a:t>
            </a:r>
            <a:r>
              <a:rPr lang="en-US" sz="1200" dirty="0">
                <a:latin typeface="+mj-lt"/>
                <a:cs typeface="Times New Roman" pitchFamily="18" charset="0"/>
              </a:rPr>
              <a:t>, C. Approximation algorithms for directed </a:t>
            </a:r>
            <a:r>
              <a:rPr lang="en-US" sz="1200" dirty="0" err="1">
                <a:latin typeface="+mj-lt"/>
                <a:cs typeface="Times New Roman" pitchFamily="18" charset="0"/>
              </a:rPr>
              <a:t>steiner</a:t>
            </a:r>
            <a:r>
              <a:rPr lang="en-US" sz="1200" dirty="0">
                <a:latin typeface="+mj-lt"/>
                <a:cs typeface="Times New Roman" pitchFamily="18" charset="0"/>
              </a:rPr>
              <a:t> problems. </a:t>
            </a:r>
            <a:r>
              <a:rPr lang="en-US" sz="1200" i="1" dirty="0">
                <a:latin typeface="+mj-lt"/>
                <a:cs typeface="Times New Roman" pitchFamily="18" charset="0"/>
              </a:rPr>
              <a:t>J. Algorithms </a:t>
            </a:r>
            <a:r>
              <a:rPr lang="en-US" sz="1200" dirty="0">
                <a:latin typeface="+mj-lt"/>
                <a:cs typeface="Times New Roman" pitchFamily="18" charset="0"/>
              </a:rPr>
              <a:t>33:73–91</a:t>
            </a:r>
            <a:r>
              <a:rPr lang="en-US" sz="1200" dirty="0" smtClean="0">
                <a:latin typeface="+mj-lt"/>
                <a:cs typeface="Times New Roman" pitchFamily="18" charset="0"/>
              </a:rPr>
              <a:t>.</a:t>
            </a:r>
            <a:endParaRPr lang="en-US" altLang="zh-CN" sz="1200" dirty="0">
              <a:latin typeface="+mj-lt"/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[15] </a:t>
            </a:r>
            <a:r>
              <a:rPr lang="en-US" altLang="zh-CN" sz="1200" dirty="0">
                <a:latin typeface="+mj-lt"/>
                <a:ea typeface="宋体" pitchFamily="2" charset="-122"/>
              </a:rPr>
              <a:t>J. H.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Gennari</a:t>
            </a:r>
            <a:r>
              <a:rPr lang="en-US" altLang="zh-CN" sz="1200" dirty="0">
                <a:latin typeface="+mj-lt"/>
                <a:ea typeface="宋体" pitchFamily="2" charset="-122"/>
              </a:rPr>
              <a:t>, P. Langley, and D. Fisher. Models of incremental concept formation.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Journal of Artificial Intelligence</a:t>
            </a:r>
            <a:r>
              <a:rPr lang="en-US" altLang="zh-CN" sz="1200" dirty="0">
                <a:latin typeface="+mj-lt"/>
                <a:ea typeface="宋体" pitchFamily="2" charset="-122"/>
              </a:rPr>
              <a:t>, pages 40:11–61, 1989.</a:t>
            </a:r>
          </a:p>
          <a:p>
            <a:pPr>
              <a:lnSpc>
                <a:spcPct val="80000"/>
              </a:lnSpc>
            </a:pPr>
            <a:r>
              <a:rPr lang="en-US" altLang="zh-CN" sz="1200" dirty="0" smtClean="0">
                <a:latin typeface="+mj-lt"/>
                <a:ea typeface="宋体" pitchFamily="2" charset="-122"/>
              </a:rPr>
              <a:t>[16] </a:t>
            </a:r>
            <a:r>
              <a:rPr lang="en-US" altLang="zh-CN" sz="1200" dirty="0">
                <a:latin typeface="+mj-lt"/>
                <a:ea typeface="宋体" pitchFamily="2" charset="-122"/>
              </a:rPr>
              <a:t>N.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Sahoo</a:t>
            </a:r>
            <a:r>
              <a:rPr lang="en-US" altLang="zh-CN" sz="1200" dirty="0">
                <a:latin typeface="+mj-lt"/>
                <a:ea typeface="宋体" pitchFamily="2" charset="-122"/>
              </a:rPr>
              <a:t>, J.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Callan</a:t>
            </a:r>
            <a:r>
              <a:rPr lang="en-US" altLang="zh-CN" sz="1200" dirty="0">
                <a:latin typeface="+mj-lt"/>
                <a:ea typeface="宋体" pitchFamily="2" charset="-122"/>
              </a:rPr>
              <a:t>, R. Krishnan, G. Duncan, and R. </a:t>
            </a:r>
            <a:r>
              <a:rPr lang="en-US" altLang="zh-CN" sz="1200" dirty="0" err="1">
                <a:latin typeface="+mj-lt"/>
                <a:ea typeface="宋体" pitchFamily="2" charset="-122"/>
              </a:rPr>
              <a:t>Padman</a:t>
            </a:r>
            <a:r>
              <a:rPr lang="en-US" altLang="zh-CN" sz="1200" dirty="0">
                <a:latin typeface="+mj-lt"/>
                <a:ea typeface="宋体" pitchFamily="2" charset="-122"/>
              </a:rPr>
              <a:t>. Incremental hierarchical clustering of text documents. In </a:t>
            </a:r>
            <a:r>
              <a:rPr lang="en-US" altLang="zh-CN" sz="1200" i="1" dirty="0">
                <a:latin typeface="+mj-lt"/>
                <a:ea typeface="宋体" pitchFamily="2" charset="-122"/>
              </a:rPr>
              <a:t>Proceedings of CIKM 2006</a:t>
            </a:r>
            <a:r>
              <a:rPr lang="en-US" altLang="zh-CN" sz="1200" dirty="0">
                <a:latin typeface="+mj-lt"/>
                <a:ea typeface="宋体" pitchFamily="2" charset="-122"/>
              </a:rPr>
              <a:t>.</a:t>
            </a:r>
            <a:endParaRPr lang="zh-CN" altLang="en-US" sz="1200" dirty="0">
              <a:latin typeface="+mj-lt"/>
              <a:ea typeface="宋体" pitchFamily="2" charset="-122"/>
            </a:endParaRPr>
          </a:p>
          <a:p>
            <a:pPr>
              <a:lnSpc>
                <a:spcPct val="80000"/>
              </a:lnSpc>
              <a:defRPr/>
            </a:pPr>
            <a:endParaRPr lang="en-US" altLang="zh-CN" sz="1100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 dirty="0" smtClean="0">
                <a:solidFill>
                  <a:schemeClr val="tx2"/>
                </a:solidFill>
                <a:ea typeface="宋体" pitchFamily="2" charset="-122"/>
              </a:rPr>
              <a:t>References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990600"/>
            <a:ext cx="2819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0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 dirty="0" smtClean="0">
                <a:solidFill>
                  <a:schemeClr val="tx2"/>
                </a:solidFill>
                <a:ea typeface="宋体" pitchFamily="2" charset="-122"/>
              </a:rPr>
              <a:t>Journal Publications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57200" y="990600"/>
            <a:ext cx="2819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85344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Li, and </a:t>
            </a:r>
            <a:r>
              <a:rPr lang="en-US" sz="1200" dirty="0" err="1"/>
              <a:t>Yihong</a:t>
            </a:r>
            <a:r>
              <a:rPr lang="en-US" sz="1200" dirty="0"/>
              <a:t> Gong. Comparative Document </a:t>
            </a:r>
            <a:r>
              <a:rPr lang="en-US" sz="1200" dirty="0" smtClean="0"/>
              <a:t>Summarization via </a:t>
            </a:r>
            <a:r>
              <a:rPr lang="en-US" sz="1200" dirty="0"/>
              <a:t>Discriminative Sentence Selection. In </a:t>
            </a:r>
            <a:r>
              <a:rPr lang="en-US" sz="1200" i="1" dirty="0"/>
              <a:t>ACM Transactions on Knowledge </a:t>
            </a:r>
            <a:r>
              <a:rPr lang="en-US" sz="1200" i="1" dirty="0" smtClean="0"/>
              <a:t>Discovery</a:t>
            </a:r>
            <a:r>
              <a:rPr lang="en-US" sz="1200" dirty="0"/>
              <a:t> </a:t>
            </a:r>
            <a:r>
              <a:rPr lang="en-US" sz="1200" i="1" dirty="0" smtClean="0"/>
              <a:t>from </a:t>
            </a:r>
            <a:r>
              <a:rPr lang="en-US" sz="1200" i="1" dirty="0"/>
              <a:t>Data (ACM TKDD)</a:t>
            </a:r>
            <a:r>
              <a:rPr lang="en-US" sz="1200" dirty="0"/>
              <a:t>, 6(3):12:1-18, 2013.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Li. </a:t>
            </a:r>
            <a:r>
              <a:rPr lang="en-US" sz="1200" dirty="0" err="1"/>
              <a:t>SumView</a:t>
            </a:r>
            <a:r>
              <a:rPr lang="en-US" sz="1200" dirty="0"/>
              <a:t>: A Web-Based Engine for </a:t>
            </a:r>
            <a:r>
              <a:rPr lang="en-US" sz="1200" dirty="0" smtClean="0"/>
              <a:t>Summarizing Product </a:t>
            </a:r>
            <a:r>
              <a:rPr lang="en-US" sz="1200" dirty="0"/>
              <a:t>Reviews and Customer Opinions. In </a:t>
            </a:r>
            <a:r>
              <a:rPr lang="en-US" sz="1200" i="1" dirty="0"/>
              <a:t>Expert Systems and Applications</a:t>
            </a:r>
            <a:r>
              <a:rPr lang="en-US" sz="1200" dirty="0"/>
              <a:t>,40(1):</a:t>
            </a:r>
            <a:r>
              <a:rPr lang="en-US" sz="1200" dirty="0" smtClean="0"/>
              <a:t>27-33, 2013</a:t>
            </a:r>
            <a:r>
              <a:rPr lang="en-US" sz="1200" dirty="0"/>
              <a:t>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 and Tao Li. Weighted Consensus Multi-Document Summarization. </a:t>
            </a:r>
            <a:r>
              <a:rPr lang="en-US" sz="1200" dirty="0" smtClean="0"/>
              <a:t>In </a:t>
            </a:r>
            <a:r>
              <a:rPr lang="en-US" sz="1200" i="1" dirty="0" smtClean="0"/>
              <a:t>Information </a:t>
            </a:r>
            <a:r>
              <a:rPr lang="en-US" sz="1200" i="1" dirty="0"/>
              <a:t>Processing &amp; Management (IPM)</a:t>
            </a:r>
            <a:r>
              <a:rPr lang="en-US" sz="1200" dirty="0"/>
              <a:t>, 48(3):513-523, </a:t>
            </a:r>
            <a:r>
              <a:rPr lang="en-US" sz="1200" dirty="0" smtClean="0"/>
              <a:t>2012. Lei </a:t>
            </a:r>
            <a:r>
              <a:rPr lang="en-US" sz="1200" dirty="0"/>
              <a:t>Li, Dingding Wang, </a:t>
            </a:r>
            <a:r>
              <a:rPr lang="en-US" sz="1200" dirty="0" err="1"/>
              <a:t>Shunzhi</a:t>
            </a:r>
            <a:r>
              <a:rPr lang="en-US" sz="1200" dirty="0"/>
              <a:t> Zhu, and Tao Li. Personalized News Recommendation: A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Review and An Experimental Investigation. In </a:t>
            </a:r>
            <a:r>
              <a:rPr lang="en-US" sz="1200" i="1" dirty="0"/>
              <a:t>Journal of Computer Science and </a:t>
            </a:r>
            <a:r>
              <a:rPr lang="en-US" sz="1200" i="1" dirty="0" smtClean="0"/>
              <a:t>Technology</a:t>
            </a:r>
            <a:r>
              <a:rPr lang="en-US" sz="1200" dirty="0" smtClean="0"/>
              <a:t>, 26(5</a:t>
            </a:r>
            <a:r>
              <a:rPr lang="en-US" sz="1200" dirty="0"/>
              <a:t>):754-766, 2011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Li, Yun Chi, and </a:t>
            </a:r>
            <a:r>
              <a:rPr lang="en-US" sz="1200" dirty="0" err="1"/>
              <a:t>Yihong</a:t>
            </a:r>
            <a:r>
              <a:rPr lang="en-US" sz="1200" dirty="0"/>
              <a:t> Gong. Integrating </a:t>
            </a:r>
            <a:r>
              <a:rPr lang="en-US" sz="1200" dirty="0" smtClean="0"/>
              <a:t>Document Clustering </a:t>
            </a:r>
            <a:r>
              <a:rPr lang="en-US" sz="1200" dirty="0"/>
              <a:t>and Multi-Document Summarization. In </a:t>
            </a:r>
            <a:r>
              <a:rPr lang="en-US" sz="1200" i="1" dirty="0"/>
              <a:t>ACM Transactions on Knowledge </a:t>
            </a:r>
            <a:r>
              <a:rPr lang="en-US" sz="1200" i="1" dirty="0" smtClean="0"/>
              <a:t>Discovery </a:t>
            </a:r>
            <a:r>
              <a:rPr lang="en-US" sz="1200" i="1" dirty="0"/>
              <a:t>from Data (ACM TKDD)</a:t>
            </a:r>
            <a:r>
              <a:rPr lang="en-US" sz="1200" dirty="0"/>
              <a:t>, 5(3):14:1-26, 2011.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Li, and </a:t>
            </a:r>
            <a:r>
              <a:rPr lang="en-US" sz="1200" dirty="0" err="1"/>
              <a:t>Yihong</a:t>
            </a:r>
            <a:r>
              <a:rPr lang="en-US" sz="1200" dirty="0"/>
              <a:t> Gong. </a:t>
            </a:r>
            <a:r>
              <a:rPr lang="en-US" sz="1200" dirty="0" err="1"/>
              <a:t>iHelp</a:t>
            </a:r>
            <a:r>
              <a:rPr lang="en-US" sz="1200" dirty="0"/>
              <a:t>: An Intelligent </a:t>
            </a:r>
            <a:r>
              <a:rPr lang="en-US" sz="1200" dirty="0" smtClean="0"/>
              <a:t>Online Helpdesk </a:t>
            </a:r>
            <a:r>
              <a:rPr lang="en-US" sz="1200" dirty="0"/>
              <a:t>System. In </a:t>
            </a:r>
            <a:r>
              <a:rPr lang="en-US" sz="1200" i="1" dirty="0"/>
              <a:t>IEEE Transactions on Systems, Man, and Cybernetics: Part B</a:t>
            </a:r>
            <a:r>
              <a:rPr lang="en-US" sz="1200" dirty="0"/>
              <a:t>, 41(1</a:t>
            </a:r>
            <a:r>
              <a:rPr lang="en-US" sz="1200" dirty="0" smtClean="0"/>
              <a:t>): 173-182</a:t>
            </a:r>
            <a:r>
              <a:rPr lang="en-US" sz="1200" dirty="0"/>
              <a:t>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 err="1"/>
              <a:t>Shunzhi</a:t>
            </a:r>
            <a:r>
              <a:rPr lang="en-US" sz="1200" dirty="0"/>
              <a:t> Zhu, Dingding Wang, and Tao Li. Data </a:t>
            </a:r>
            <a:r>
              <a:rPr lang="en-US" sz="1200" dirty="0" err="1"/>
              <a:t>Clusteirng</a:t>
            </a:r>
            <a:r>
              <a:rPr lang="en-US" sz="1200" dirty="0"/>
              <a:t> with Size Constraints. </a:t>
            </a:r>
            <a:r>
              <a:rPr lang="en-US" sz="1200" dirty="0" smtClean="0"/>
              <a:t>In </a:t>
            </a:r>
            <a:r>
              <a:rPr lang="en-US" sz="1200" i="1" dirty="0" smtClean="0"/>
              <a:t>Knowledge-based </a:t>
            </a:r>
            <a:r>
              <a:rPr lang="en-US" sz="1200" i="1" dirty="0"/>
              <a:t>Systems</a:t>
            </a:r>
            <a:r>
              <a:rPr lang="en-US" sz="1200" dirty="0"/>
              <a:t>, 23(8): 883-889,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 err="1"/>
              <a:t>Shenghuo</a:t>
            </a:r>
            <a:r>
              <a:rPr lang="en-US" sz="1200" dirty="0"/>
              <a:t> Zhu, Dingding Wang, Kai Yu, Tao Li, and </a:t>
            </a:r>
            <a:r>
              <a:rPr lang="en-US" sz="1200" dirty="0" err="1"/>
              <a:t>Yihong</a:t>
            </a:r>
            <a:r>
              <a:rPr lang="en-US" sz="1200" dirty="0"/>
              <a:t> Gong. Feature Selection for </a:t>
            </a:r>
            <a:r>
              <a:rPr lang="en-US" sz="1200" dirty="0" smtClean="0"/>
              <a:t>Gene Expression </a:t>
            </a:r>
            <a:r>
              <a:rPr lang="en-US" sz="1200" dirty="0"/>
              <a:t>using Model-based Entropy. In </a:t>
            </a:r>
            <a:r>
              <a:rPr lang="en-US" sz="1200" i="1" dirty="0"/>
              <a:t>IEEE/ACM Transactions on Computational </a:t>
            </a:r>
            <a:r>
              <a:rPr lang="en-US" sz="1200" i="1" dirty="0" smtClean="0"/>
              <a:t>Biology </a:t>
            </a:r>
            <a:r>
              <a:rPr lang="en-US" sz="1200" i="1" dirty="0"/>
              <a:t>and Bioinformatics</a:t>
            </a:r>
            <a:r>
              <a:rPr lang="en-US" sz="1200" dirty="0"/>
              <a:t>, 7(1): 25-36,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Yi Zhang, Dingding Wang, and Tao Li. LIBGS: A MATLAB </a:t>
            </a:r>
            <a:r>
              <a:rPr lang="en-US" sz="1200" dirty="0" err="1"/>
              <a:t>Softeware</a:t>
            </a:r>
            <a:r>
              <a:rPr lang="en-US" sz="1200" dirty="0"/>
              <a:t> Package For </a:t>
            </a:r>
            <a:r>
              <a:rPr lang="en-US" sz="1200" dirty="0" smtClean="0"/>
              <a:t>Gene Selection</a:t>
            </a:r>
            <a:r>
              <a:rPr lang="en-US" sz="1200" dirty="0"/>
              <a:t>. In </a:t>
            </a:r>
            <a:r>
              <a:rPr lang="en-US" sz="1200" i="1" dirty="0"/>
              <a:t>International Journal of Data Mining and Bioinformatics</a:t>
            </a:r>
            <a:r>
              <a:rPr lang="en-US" sz="1200" dirty="0"/>
              <a:t>, 4(3): 348-355,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Bo Shao, Dingding Wang, Tao Li, and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. Music Recommendation Based </a:t>
            </a:r>
            <a:r>
              <a:rPr lang="en-US" sz="1200" dirty="0" smtClean="0"/>
              <a:t>on Acoustic </a:t>
            </a:r>
            <a:r>
              <a:rPr lang="en-US" sz="1200" dirty="0"/>
              <a:t>Features and User Access Patterns. In </a:t>
            </a:r>
            <a:r>
              <a:rPr lang="en-US" sz="1200" i="1" dirty="0"/>
              <a:t>IEEE Transactions on Audio, Speech </a:t>
            </a:r>
            <a:r>
              <a:rPr lang="en-US" sz="1200" i="1" dirty="0" smtClean="0"/>
              <a:t>and</a:t>
            </a:r>
            <a:r>
              <a:rPr lang="en-US" sz="1200" dirty="0"/>
              <a:t> </a:t>
            </a:r>
            <a:r>
              <a:rPr lang="en-US" sz="1200" i="1" dirty="0" smtClean="0"/>
              <a:t>Language </a:t>
            </a:r>
            <a:r>
              <a:rPr lang="en-US" sz="1200" i="1" dirty="0"/>
              <a:t>Processing</a:t>
            </a:r>
            <a:r>
              <a:rPr lang="en-US" sz="1200" dirty="0"/>
              <a:t>, 17(8):1602-1611, 2009.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Tao Li,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, Bo Shao, and Dingding Wang. Machine Learning </a:t>
            </a:r>
            <a:r>
              <a:rPr lang="en-US" sz="1200" dirty="0" smtClean="0"/>
              <a:t>Approaches for </a:t>
            </a:r>
            <a:r>
              <a:rPr lang="en-US" sz="1200" dirty="0"/>
              <a:t>Music Information Retrieval. In M. J. </a:t>
            </a:r>
            <a:r>
              <a:rPr lang="en-US" sz="1200" dirty="0" err="1"/>
              <a:t>Er</a:t>
            </a:r>
            <a:r>
              <a:rPr lang="en-US" sz="1200" dirty="0"/>
              <a:t> and Y. Zhou, eds., </a:t>
            </a:r>
            <a:r>
              <a:rPr lang="en-US" sz="1200" i="1" dirty="0"/>
              <a:t>Machine Learning</a:t>
            </a:r>
            <a:r>
              <a:rPr lang="en-US" sz="1200" dirty="0"/>
              <a:t>, </a:t>
            </a:r>
            <a:r>
              <a:rPr lang="en-US" sz="1200" dirty="0" smtClean="0"/>
              <a:t>In-Tech Education </a:t>
            </a:r>
            <a:r>
              <a:rPr lang="en-US" sz="1200" dirty="0"/>
              <a:t>and Publishing, 2009, ISBN 978-953-7619-55-4.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 err="1"/>
              <a:t>Yanfang</a:t>
            </a:r>
            <a:r>
              <a:rPr lang="en-US" sz="1200" dirty="0"/>
              <a:t> Ye, Dingding Wang, Tao Li, and </a:t>
            </a:r>
            <a:r>
              <a:rPr lang="en-US" sz="1200" dirty="0" err="1"/>
              <a:t>Dongyi</a:t>
            </a:r>
            <a:r>
              <a:rPr lang="en-US" sz="1200" dirty="0"/>
              <a:t> Ye. An Intelligent PE-Malware </a:t>
            </a:r>
            <a:r>
              <a:rPr lang="en-US" sz="1200" dirty="0" smtClean="0"/>
              <a:t>Detection System </a:t>
            </a:r>
            <a:r>
              <a:rPr lang="en-US" sz="1200" dirty="0"/>
              <a:t>Based on Association Mining. In </a:t>
            </a:r>
            <a:r>
              <a:rPr lang="en-US" sz="1200" i="1" dirty="0"/>
              <a:t>Journal in Computer Virology</a:t>
            </a:r>
            <a:r>
              <a:rPr lang="en-US" sz="1200" dirty="0"/>
              <a:t>, 4(4):323-334, 2008.</a:t>
            </a:r>
          </a:p>
        </p:txBody>
      </p:sp>
    </p:spTree>
    <p:extLst>
      <p:ext uri="{BB962C8B-B14F-4D97-AF65-F5344CB8AC3E}">
        <p14:creationId xmlns:p14="http://schemas.microsoft.com/office/powerpoint/2010/main" val="28967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 dirty="0" smtClean="0">
                <a:solidFill>
                  <a:schemeClr val="tx2"/>
                </a:solidFill>
                <a:ea typeface="宋体" pitchFamily="2" charset="-122"/>
              </a:rPr>
              <a:t>Conference Publications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57200" y="838200"/>
            <a:ext cx="28194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222950"/>
            <a:ext cx="84582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Tao Li, and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. Generating Pictorial Storylines via </a:t>
            </a:r>
            <a:r>
              <a:rPr lang="en-US" sz="1200" dirty="0" smtClean="0"/>
              <a:t>Minimum-Weight </a:t>
            </a:r>
            <a:r>
              <a:rPr lang="en-US" sz="1200" dirty="0"/>
              <a:t>Connected Dominating Set Approximation in Multi-view Graphs. In </a:t>
            </a:r>
            <a:r>
              <a:rPr lang="en-US" sz="1200" i="1" dirty="0" smtClean="0"/>
              <a:t>Proceedings</a:t>
            </a:r>
            <a:r>
              <a:rPr lang="en-US" sz="1200" dirty="0"/>
              <a:t> </a:t>
            </a:r>
            <a:r>
              <a:rPr lang="en-US" sz="1200" i="1" dirty="0" smtClean="0"/>
              <a:t>of </a:t>
            </a:r>
            <a:r>
              <a:rPr lang="en-US" sz="1200" i="1" dirty="0"/>
              <a:t>the Twenty-Sixth AAAI Conference on </a:t>
            </a:r>
            <a:r>
              <a:rPr lang="en-US" sz="1200" i="1" dirty="0" smtClean="0"/>
              <a:t>Artificial </a:t>
            </a:r>
            <a:r>
              <a:rPr lang="en-US" sz="1200" i="1" dirty="0"/>
              <a:t>Intelligence (AAAI 2012)</a:t>
            </a:r>
            <a:r>
              <a:rPr lang="en-US" sz="1200" dirty="0"/>
              <a:t>, pages 683-690, 2012.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Chen Lin, Chun Lin, </a:t>
            </a:r>
            <a:r>
              <a:rPr lang="en-US" sz="1200" dirty="0" err="1"/>
              <a:t>Jingxuan</a:t>
            </a:r>
            <a:r>
              <a:rPr lang="en-US" sz="1200" dirty="0"/>
              <a:t> Li, Dingding Wang, Yang Chen, and Tao Li. Generating </a:t>
            </a:r>
            <a:r>
              <a:rPr lang="en-US" sz="1200" dirty="0" smtClean="0"/>
              <a:t>Event Storyline </a:t>
            </a:r>
            <a:r>
              <a:rPr lang="en-US" sz="1200" dirty="0"/>
              <a:t>from </a:t>
            </a:r>
            <a:r>
              <a:rPr lang="en-US" sz="1200" dirty="0" err="1"/>
              <a:t>Microblogs</a:t>
            </a:r>
            <a:r>
              <a:rPr lang="en-US" sz="1200" dirty="0"/>
              <a:t>. In </a:t>
            </a:r>
            <a:r>
              <a:rPr lang="en-US" sz="1200" i="1" dirty="0"/>
              <a:t>Proceedings of the 21st ACM Conference on Information </a:t>
            </a:r>
            <a:r>
              <a:rPr lang="en-US" sz="1200" i="1" dirty="0" smtClean="0"/>
              <a:t>and</a:t>
            </a:r>
            <a:r>
              <a:rPr lang="en-US" sz="1200" dirty="0"/>
              <a:t> </a:t>
            </a:r>
            <a:r>
              <a:rPr lang="en-US" sz="1200" i="1" dirty="0" smtClean="0"/>
              <a:t>Knowledge </a:t>
            </a:r>
            <a:r>
              <a:rPr lang="en-US" sz="1200" i="1" dirty="0"/>
              <a:t>Management (CIKM'12)</a:t>
            </a:r>
            <a:r>
              <a:rPr lang="en-US" sz="1200" dirty="0"/>
              <a:t>, pages 175-184, 2012.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, </a:t>
            </a:r>
            <a:r>
              <a:rPr lang="en-US" sz="1200" dirty="0" err="1"/>
              <a:t>Erliang</a:t>
            </a:r>
            <a:r>
              <a:rPr lang="en-US" sz="1200" dirty="0"/>
              <a:t> </a:t>
            </a:r>
            <a:r>
              <a:rPr lang="en-US" sz="1200" dirty="0" err="1"/>
              <a:t>Zeng</a:t>
            </a:r>
            <a:r>
              <a:rPr lang="en-US" sz="1200" dirty="0"/>
              <a:t>, and Tao Li. Combining Gene </a:t>
            </a:r>
            <a:r>
              <a:rPr lang="en-US" sz="1200" dirty="0" smtClean="0"/>
              <a:t>Expression Profiles </a:t>
            </a:r>
            <a:r>
              <a:rPr lang="en-US" sz="1200" dirty="0"/>
              <a:t>and Protein-Protein Interactions for Identifying Functional Modules. In </a:t>
            </a:r>
            <a:r>
              <a:rPr lang="en-US" sz="1200" i="1" dirty="0" smtClean="0"/>
              <a:t>Proceedings </a:t>
            </a:r>
            <a:r>
              <a:rPr lang="en-US" sz="1200" i="1" dirty="0"/>
              <a:t>of 11th International Conference on Machine Learning and Applications (ICMLA 2012</a:t>
            </a:r>
            <a:r>
              <a:rPr lang="en-US" sz="1200" i="1" dirty="0" smtClean="0"/>
              <a:t>)</a:t>
            </a:r>
            <a:r>
              <a:rPr lang="en-US" sz="1200" dirty="0" smtClean="0"/>
              <a:t>, pages </a:t>
            </a:r>
            <a:r>
              <a:rPr lang="en-US" sz="1200" dirty="0"/>
              <a:t>114-119, 2012.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 and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. Potential Relationship Discovery in </a:t>
            </a:r>
            <a:r>
              <a:rPr lang="en-US" sz="1200" dirty="0" smtClean="0"/>
              <a:t>Tag-Aware Music </a:t>
            </a:r>
            <a:r>
              <a:rPr lang="en-US" sz="1200" dirty="0"/>
              <a:t>Style Clustering and Artist Social Networks. In </a:t>
            </a:r>
            <a:r>
              <a:rPr lang="en-US" sz="1200" i="1" dirty="0"/>
              <a:t>Proceedings of the 12th </a:t>
            </a:r>
            <a:r>
              <a:rPr lang="en-US" sz="1200" i="1" dirty="0" smtClean="0"/>
              <a:t>International</a:t>
            </a:r>
            <a:r>
              <a:rPr lang="en-US" sz="1200" dirty="0"/>
              <a:t> </a:t>
            </a:r>
            <a:r>
              <a:rPr lang="en-US" sz="1200" i="1" dirty="0" smtClean="0"/>
              <a:t>Society </a:t>
            </a:r>
            <a:r>
              <a:rPr lang="en-US" sz="1200" i="1" dirty="0"/>
              <a:t>for Music Information Retrieval Conference </a:t>
            </a:r>
            <a:r>
              <a:rPr lang="en-US" sz="1200" dirty="0"/>
              <a:t>(ISMIR 2011), pages 435-440, 2011.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Lei Li, Dingding Wang, Tao Li, Daniel Knox, and </a:t>
            </a:r>
            <a:r>
              <a:rPr lang="en-US" sz="1200" dirty="0" err="1"/>
              <a:t>Balaji</a:t>
            </a:r>
            <a:r>
              <a:rPr lang="en-US" sz="1200" dirty="0"/>
              <a:t> </a:t>
            </a:r>
            <a:r>
              <a:rPr lang="en-US" sz="1200" dirty="0" err="1"/>
              <a:t>Padmanabhan</a:t>
            </a:r>
            <a:r>
              <a:rPr lang="en-US" sz="1200" dirty="0"/>
              <a:t>. SCENE : A </a:t>
            </a:r>
            <a:r>
              <a:rPr lang="en-US" sz="1200" dirty="0" smtClean="0"/>
              <a:t>Scalable Two-Stage </a:t>
            </a:r>
            <a:r>
              <a:rPr lang="en-US" sz="1200" dirty="0"/>
              <a:t>Personalized News Recommendation System. In </a:t>
            </a:r>
            <a:r>
              <a:rPr lang="en-US" sz="1200" i="1" dirty="0"/>
              <a:t>Proceedings of the 34th </a:t>
            </a:r>
            <a:r>
              <a:rPr lang="en-US" sz="1200" i="1" dirty="0" smtClean="0"/>
              <a:t>Annual</a:t>
            </a:r>
            <a:r>
              <a:rPr lang="en-US" sz="1200" dirty="0"/>
              <a:t> </a:t>
            </a:r>
            <a:r>
              <a:rPr lang="en-US" sz="1200" i="1" dirty="0" smtClean="0"/>
              <a:t>ACM </a:t>
            </a:r>
            <a:r>
              <a:rPr lang="en-US" sz="1200" i="1" dirty="0"/>
              <a:t>SIGIR Conference </a:t>
            </a:r>
            <a:r>
              <a:rPr lang="en-US" sz="1200" dirty="0"/>
              <a:t>(SIGIR 2011), pages 125-134, 2011.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Yi Zhang, Dingding Wang, and Tao Li. </a:t>
            </a:r>
            <a:r>
              <a:rPr lang="en-US" sz="1200" dirty="0" err="1"/>
              <a:t>iDVS</a:t>
            </a:r>
            <a:r>
              <a:rPr lang="en-US" sz="1200" dirty="0"/>
              <a:t>: An Interactive Multi-Document Visual </a:t>
            </a:r>
            <a:r>
              <a:rPr lang="en-US" sz="1200" dirty="0" smtClean="0"/>
              <a:t>Summarization System </a:t>
            </a:r>
            <a:r>
              <a:rPr lang="en-US" sz="1200" dirty="0"/>
              <a:t>. In </a:t>
            </a:r>
            <a:r>
              <a:rPr lang="en-US" sz="1200" i="1" dirty="0"/>
              <a:t>Proceedings of European Conference on Machine Learning and </a:t>
            </a:r>
            <a:r>
              <a:rPr lang="en-US" sz="1200" i="1" dirty="0" smtClean="0"/>
              <a:t>Principles</a:t>
            </a:r>
            <a:r>
              <a:rPr lang="en-US" sz="1200" dirty="0"/>
              <a:t> </a:t>
            </a:r>
            <a:r>
              <a:rPr lang="en-US" sz="1200" i="1" dirty="0" smtClean="0"/>
              <a:t>and </a:t>
            </a:r>
            <a:r>
              <a:rPr lang="en-US" sz="1200" i="1" dirty="0"/>
              <a:t>Practice of Knowledge Discovery in Databases </a:t>
            </a:r>
            <a:r>
              <a:rPr lang="en-US" sz="1200" dirty="0"/>
              <a:t>(ECML/PKDD 2011), pages 569-584, 2011.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Tao Li, and Chris Ding. Weighted Feature Subset Non-Negative </a:t>
            </a:r>
            <a:r>
              <a:rPr lang="en-US" sz="1200" dirty="0" smtClean="0"/>
              <a:t>Matrix Factorization </a:t>
            </a:r>
            <a:r>
              <a:rPr lang="en-US" sz="1200" dirty="0"/>
              <a:t>and its Applications to Document Understanding. In </a:t>
            </a:r>
            <a:r>
              <a:rPr lang="en-US" sz="1200" i="1" dirty="0"/>
              <a:t>Proceedings of </a:t>
            </a:r>
            <a:r>
              <a:rPr lang="en-US" sz="1200" i="1" dirty="0" smtClean="0"/>
              <a:t>2010</a:t>
            </a:r>
            <a:r>
              <a:rPr lang="en-US" sz="1200" dirty="0"/>
              <a:t> </a:t>
            </a:r>
            <a:r>
              <a:rPr lang="en-US" sz="1200" i="1" dirty="0" smtClean="0"/>
              <a:t>IEEE </a:t>
            </a:r>
            <a:r>
              <a:rPr lang="en-US" sz="1200" i="1" dirty="0"/>
              <a:t>International Conference on Data Mining </a:t>
            </a:r>
            <a:r>
              <a:rPr lang="en-US" sz="1200" dirty="0"/>
              <a:t>(ICDM 2010), pages 541-550,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 and Tao Li. Document Update Summarization using Incremental </a:t>
            </a:r>
            <a:r>
              <a:rPr lang="en-US" sz="1200" dirty="0" smtClean="0"/>
              <a:t>Hierarchical Clustering</a:t>
            </a:r>
            <a:r>
              <a:rPr lang="en-US" sz="1200" dirty="0"/>
              <a:t>. In </a:t>
            </a:r>
            <a:r>
              <a:rPr lang="en-US" sz="1200" i="1" dirty="0"/>
              <a:t>Proceedings of the Conference on Information and Knowledge </a:t>
            </a:r>
            <a:r>
              <a:rPr lang="en-US" sz="1200" i="1" dirty="0" smtClean="0"/>
              <a:t>Management</a:t>
            </a:r>
            <a:r>
              <a:rPr lang="en-US" sz="1200" dirty="0"/>
              <a:t> </a:t>
            </a:r>
            <a:r>
              <a:rPr lang="en-US" sz="1200" dirty="0" smtClean="0"/>
              <a:t>(CIKM </a:t>
            </a:r>
            <a:r>
              <a:rPr lang="en-US" sz="1200" dirty="0"/>
              <a:t>2010), pages 279-287,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Chao </a:t>
            </a:r>
            <a:r>
              <a:rPr lang="en-US" sz="1200" dirty="0" err="1"/>
              <a:t>Shen</a:t>
            </a:r>
            <a:r>
              <a:rPr lang="en-US" sz="1200" dirty="0"/>
              <a:t>, Dingding Wang, and Tao Li. Topic Aspect Analysis for Multi-Document </a:t>
            </a:r>
            <a:r>
              <a:rPr lang="en-US" sz="1200" dirty="0" smtClean="0"/>
              <a:t>Summarization. In </a:t>
            </a:r>
            <a:r>
              <a:rPr lang="en-US" sz="1200" i="1" dirty="0"/>
              <a:t>Proceedings of the Conference on Information and Knowledge Management </a:t>
            </a:r>
            <a:r>
              <a:rPr lang="en-US" sz="1200" dirty="0"/>
              <a:t>(</a:t>
            </a:r>
            <a:r>
              <a:rPr lang="en-US" sz="1200" dirty="0" smtClean="0"/>
              <a:t>CIKM 2010</a:t>
            </a:r>
            <a:r>
              <a:rPr lang="en-US" sz="1200" dirty="0"/>
              <a:t>), pages 1545-1548, 2010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223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287482"/>
            <a:ext cx="8305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Tao Li and </a:t>
            </a:r>
            <a:r>
              <a:rPr lang="en-US" sz="1200" dirty="0" err="1"/>
              <a:t>Mitsunori</a:t>
            </a:r>
            <a:r>
              <a:rPr lang="en-US" sz="1200" dirty="0"/>
              <a:t> </a:t>
            </a:r>
            <a:r>
              <a:rPr lang="en-US" sz="1200" dirty="0" err="1"/>
              <a:t>Ogihara</a:t>
            </a:r>
            <a:r>
              <a:rPr lang="en-US" sz="1200" dirty="0"/>
              <a:t>. Are Tags Better Than Audio? The </a:t>
            </a:r>
            <a:r>
              <a:rPr lang="en-US" sz="1200" dirty="0" smtClean="0"/>
              <a:t>Effect of </a:t>
            </a:r>
            <a:r>
              <a:rPr lang="en-US" sz="1200" dirty="0"/>
              <a:t>Joint Use of Tags and Audio Content Features for Artistic Style Clustering. In </a:t>
            </a:r>
            <a:r>
              <a:rPr lang="en-US" sz="1200" i="1" dirty="0" smtClean="0"/>
              <a:t>Proceedings </a:t>
            </a:r>
            <a:r>
              <a:rPr lang="en-US" sz="1200" i="1" dirty="0"/>
              <a:t>of the Eleventh International Society for Music Information Retrieval Conference </a:t>
            </a:r>
            <a:r>
              <a:rPr lang="en-US" sz="1200" dirty="0"/>
              <a:t>(</a:t>
            </a:r>
            <a:r>
              <a:rPr lang="en-US" sz="1200" dirty="0" smtClean="0"/>
              <a:t>ISMIR 2010</a:t>
            </a:r>
            <a:r>
              <a:rPr lang="en-US" sz="1200" dirty="0"/>
              <a:t>), pages 57-62, 2010.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Li, and </a:t>
            </a:r>
            <a:r>
              <a:rPr lang="en-US" sz="1200" dirty="0" err="1"/>
              <a:t>Yihong</a:t>
            </a:r>
            <a:r>
              <a:rPr lang="en-US" sz="1200" dirty="0"/>
              <a:t> Gong. Comparative Document </a:t>
            </a:r>
            <a:r>
              <a:rPr lang="en-US" sz="1200" dirty="0" smtClean="0"/>
              <a:t>Summarization via </a:t>
            </a:r>
            <a:r>
              <a:rPr lang="en-US" sz="1200" dirty="0"/>
              <a:t>Discriminative Sentence Selection. In </a:t>
            </a:r>
            <a:r>
              <a:rPr lang="en-US" sz="1200" i="1" dirty="0"/>
              <a:t>Proceedings of the Conference on </a:t>
            </a:r>
            <a:r>
              <a:rPr lang="en-US" sz="1200" i="1" dirty="0" smtClean="0"/>
              <a:t>Information </a:t>
            </a:r>
            <a:r>
              <a:rPr lang="en-US" sz="1200" i="1" dirty="0"/>
              <a:t>and Knowledge Management </a:t>
            </a:r>
            <a:r>
              <a:rPr lang="en-US" sz="1200" dirty="0"/>
              <a:t>(CIKM 2009), pages 1963-1966, 2009.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Chris Ding, Tao Li, and Dingding Wang. Label Propagation on K-Partite Graphs. In </a:t>
            </a:r>
            <a:r>
              <a:rPr lang="en-US" sz="1200" i="1" dirty="0" smtClean="0"/>
              <a:t>Proceedings </a:t>
            </a:r>
            <a:r>
              <a:rPr lang="en-US" sz="1200" i="1" dirty="0"/>
              <a:t>of the 8th International Conference on Machine Learning and Applications </a:t>
            </a:r>
            <a:r>
              <a:rPr lang="en-US" sz="1200" dirty="0"/>
              <a:t>(ICMLA 2009</a:t>
            </a:r>
            <a:r>
              <a:rPr lang="en-US" sz="1200" dirty="0" smtClean="0"/>
              <a:t>), pages </a:t>
            </a:r>
            <a:r>
              <a:rPr lang="en-US" sz="1200" dirty="0"/>
              <a:t>273-278, 2009.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Chris Ding, and Tao Li. K-Subspace Clustering. In </a:t>
            </a:r>
            <a:r>
              <a:rPr lang="en-US" sz="1200" i="1" dirty="0"/>
              <a:t>Proceedings of the </a:t>
            </a:r>
            <a:r>
              <a:rPr lang="en-US" sz="1200" i="1" dirty="0" smtClean="0"/>
              <a:t>European</a:t>
            </a:r>
            <a:r>
              <a:rPr lang="en-US" sz="1200" dirty="0" smtClean="0"/>
              <a:t> </a:t>
            </a:r>
            <a:r>
              <a:rPr lang="en-US" sz="1200" i="1" dirty="0" smtClean="0"/>
              <a:t>Conference </a:t>
            </a:r>
            <a:r>
              <a:rPr lang="en-US" sz="1200" i="1" dirty="0"/>
              <a:t>on Machine Learning and Principles and Practice of Knowledge Discovery in </a:t>
            </a:r>
            <a:r>
              <a:rPr lang="en-US" sz="1200" i="1" dirty="0" smtClean="0"/>
              <a:t>Databases</a:t>
            </a:r>
            <a:r>
              <a:rPr lang="en-US" sz="1200" dirty="0" smtClean="0"/>
              <a:t> (ECML/PKDD </a:t>
            </a:r>
            <a:r>
              <a:rPr lang="en-US" sz="1200" dirty="0"/>
              <a:t>2009), pages 506-521, 2009.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</a:t>
            </a:r>
            <a:r>
              <a:rPr lang="en-US" sz="1200" dirty="0" err="1"/>
              <a:t>Zhu,Tao</a:t>
            </a:r>
            <a:r>
              <a:rPr lang="en-US" sz="1200" dirty="0"/>
              <a:t> Li, and </a:t>
            </a:r>
            <a:r>
              <a:rPr lang="en-US" sz="1200" dirty="0" err="1"/>
              <a:t>Yihong</a:t>
            </a:r>
            <a:r>
              <a:rPr lang="en-US" sz="1200" dirty="0"/>
              <a:t> Gong. Multi-document Summarization </a:t>
            </a:r>
            <a:r>
              <a:rPr lang="en-US" sz="1200" dirty="0" smtClean="0"/>
              <a:t>using Sentence-based </a:t>
            </a:r>
            <a:r>
              <a:rPr lang="en-US" sz="1200" dirty="0"/>
              <a:t>Topic Models. In </a:t>
            </a:r>
            <a:r>
              <a:rPr lang="en-US" sz="1200" i="1" dirty="0"/>
              <a:t>Proceedings of the 47th Annual Meeting of the </a:t>
            </a:r>
            <a:r>
              <a:rPr lang="en-US" sz="1200" i="1" dirty="0" smtClean="0"/>
              <a:t>Association</a:t>
            </a:r>
            <a:r>
              <a:rPr lang="en-US" sz="1200" dirty="0" smtClean="0"/>
              <a:t> </a:t>
            </a:r>
            <a:r>
              <a:rPr lang="en-US" sz="1200" i="1" dirty="0" smtClean="0"/>
              <a:t>for </a:t>
            </a:r>
            <a:r>
              <a:rPr lang="en-US" sz="1200" i="1" dirty="0"/>
              <a:t>Computational Linguistics </a:t>
            </a:r>
            <a:r>
              <a:rPr lang="en-US" sz="1200" dirty="0"/>
              <a:t>(ACL 2009), pages 297-300, 2009.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</a:t>
            </a:r>
            <a:r>
              <a:rPr lang="en-US" sz="1200" dirty="0" err="1"/>
              <a:t>Shenghuo</a:t>
            </a:r>
            <a:r>
              <a:rPr lang="en-US" sz="1200" dirty="0"/>
              <a:t> Zhu, Tao Li, Yun Chi, and </a:t>
            </a:r>
            <a:r>
              <a:rPr lang="en-US" sz="1200" dirty="0" err="1"/>
              <a:t>Yihong</a:t>
            </a:r>
            <a:r>
              <a:rPr lang="en-US" sz="1200" dirty="0"/>
              <a:t> Gong. Integrating clustering </a:t>
            </a:r>
            <a:r>
              <a:rPr lang="en-US" sz="1200" dirty="0" smtClean="0"/>
              <a:t>and multi-document </a:t>
            </a:r>
            <a:r>
              <a:rPr lang="en-US" sz="1200" dirty="0"/>
              <a:t>summarization to improve document understanding. In </a:t>
            </a:r>
            <a:r>
              <a:rPr lang="en-US" sz="1200" i="1" dirty="0"/>
              <a:t>Proceedings </a:t>
            </a:r>
            <a:r>
              <a:rPr lang="en-US" sz="1200" i="1" dirty="0" smtClean="0"/>
              <a:t>of</a:t>
            </a:r>
            <a:r>
              <a:rPr lang="en-US" sz="1200" dirty="0" smtClean="0"/>
              <a:t> </a:t>
            </a:r>
            <a:r>
              <a:rPr lang="en-US" sz="1200" i="1" dirty="0" smtClean="0"/>
              <a:t>the </a:t>
            </a:r>
            <a:r>
              <a:rPr lang="en-US" sz="1200" i="1" dirty="0"/>
              <a:t>Conference on Information and Knowledge Management </a:t>
            </a:r>
            <a:r>
              <a:rPr lang="en-US" sz="1200" dirty="0"/>
              <a:t>(CIKM 2008), pages 1435-1436, 2008.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 err="1"/>
              <a:t>Shenghuo</a:t>
            </a:r>
            <a:r>
              <a:rPr lang="en-US" sz="1200" dirty="0"/>
              <a:t> Zhu, Tao Li, </a:t>
            </a:r>
            <a:r>
              <a:rPr lang="en-US" sz="1200" dirty="0" err="1"/>
              <a:t>Zhiyuan</a:t>
            </a:r>
            <a:r>
              <a:rPr lang="en-US" sz="1200" dirty="0"/>
              <a:t> Chen, Dingding Wang, and </a:t>
            </a:r>
            <a:r>
              <a:rPr lang="en-US" sz="1200" dirty="0" err="1"/>
              <a:t>Yihong</a:t>
            </a:r>
            <a:r>
              <a:rPr lang="en-US" sz="1200" dirty="0"/>
              <a:t> Gong. Dynamic </a:t>
            </a:r>
            <a:r>
              <a:rPr lang="en-US" sz="1200" dirty="0" smtClean="0"/>
              <a:t>Active Probing </a:t>
            </a:r>
            <a:r>
              <a:rPr lang="en-US" sz="1200" dirty="0"/>
              <a:t>of Helpdesk Databases. In </a:t>
            </a:r>
            <a:r>
              <a:rPr lang="en-US" sz="1200" i="1" dirty="0"/>
              <a:t>Proceedings of the International Conference on Very </a:t>
            </a:r>
            <a:r>
              <a:rPr lang="en-US" sz="1200" i="1" dirty="0" smtClean="0"/>
              <a:t>Large</a:t>
            </a:r>
            <a:r>
              <a:rPr lang="en-US" sz="1200" dirty="0" smtClean="0"/>
              <a:t> </a:t>
            </a:r>
            <a:r>
              <a:rPr lang="en-US" sz="1200" i="1" dirty="0" smtClean="0"/>
              <a:t>Data </a:t>
            </a:r>
            <a:r>
              <a:rPr lang="en-US" sz="1200" i="1" dirty="0"/>
              <a:t>Bases </a:t>
            </a:r>
            <a:r>
              <a:rPr lang="en-US" sz="1200" dirty="0"/>
              <a:t>(VLDB 2008), pages 748-760, 2008.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/>
              <a:t>Dingding Wang, Tao Li, </a:t>
            </a:r>
            <a:r>
              <a:rPr lang="en-US" sz="1200" dirty="0" err="1"/>
              <a:t>Shenghuo</a:t>
            </a:r>
            <a:r>
              <a:rPr lang="en-US" sz="1200" dirty="0"/>
              <a:t> Zhu, and Chris Ding. Multi-Document Summarization </a:t>
            </a:r>
            <a:r>
              <a:rPr lang="en-US" sz="1200" dirty="0" smtClean="0"/>
              <a:t>via Sentence-Level </a:t>
            </a:r>
            <a:r>
              <a:rPr lang="en-US" sz="1200" dirty="0"/>
              <a:t>Semantic Analysis and Symmetric Matrix Factorization. In </a:t>
            </a:r>
            <a:r>
              <a:rPr lang="en-US" sz="1200" i="1" dirty="0" smtClean="0"/>
              <a:t>Proceedings</a:t>
            </a:r>
            <a:r>
              <a:rPr lang="en-US" sz="1200" dirty="0" smtClean="0"/>
              <a:t> </a:t>
            </a:r>
            <a:r>
              <a:rPr lang="en-US" sz="1200" i="1" dirty="0" smtClean="0"/>
              <a:t>of </a:t>
            </a:r>
            <a:r>
              <a:rPr lang="en-US" sz="1200" i="1" dirty="0"/>
              <a:t>the International ACM SIGIR Conference </a:t>
            </a:r>
            <a:r>
              <a:rPr lang="en-US" sz="1200" dirty="0"/>
              <a:t>(SIGIR 2008), pages 307-314, 2008.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1200" dirty="0" err="1"/>
              <a:t>Yanfang</a:t>
            </a:r>
            <a:r>
              <a:rPr lang="en-US" sz="1200" dirty="0"/>
              <a:t> Ye, Dingding Wang, Tao Li, and </a:t>
            </a:r>
            <a:r>
              <a:rPr lang="en-US" sz="1200" dirty="0" err="1"/>
              <a:t>Dongyi</a:t>
            </a:r>
            <a:r>
              <a:rPr lang="en-US" sz="1200" dirty="0"/>
              <a:t> Ye. IMDS: Intelligent Malware </a:t>
            </a:r>
            <a:r>
              <a:rPr lang="en-US" sz="1200" dirty="0" smtClean="0"/>
              <a:t>Detection System</a:t>
            </a:r>
            <a:r>
              <a:rPr lang="en-US" sz="1200" dirty="0"/>
              <a:t>. In </a:t>
            </a:r>
            <a:r>
              <a:rPr lang="en-US" sz="1200" i="1" dirty="0"/>
              <a:t>Proceedings of ACM International Conference on Knowledge Discovery and Data </a:t>
            </a:r>
            <a:r>
              <a:rPr lang="en-US" sz="1200" i="1" dirty="0" smtClean="0"/>
              <a:t>Mining</a:t>
            </a:r>
            <a:r>
              <a:rPr lang="en-US" sz="1200" dirty="0"/>
              <a:t>, (KDD 2007), pages 1043-1047, 2007.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US" altLang="zh-CN" sz="2000" b="1" dirty="0" smtClean="0">
                <a:solidFill>
                  <a:schemeClr val="tx2"/>
                </a:solidFill>
                <a:ea typeface="宋体" pitchFamily="2" charset="-122"/>
              </a:rPr>
              <a:t>Conference Publications (cont’d)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838200"/>
            <a:ext cx="3886200" cy="762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4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685800"/>
            <a:ext cx="922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>
                <a:solidFill>
                  <a:schemeClr val="accent2"/>
                </a:solidFill>
              </a:rPr>
              <a:t>Contact:         </a:t>
            </a:r>
            <a:r>
              <a:rPr lang="en-US" sz="2000" dirty="0" smtClean="0">
                <a:solidFill>
                  <a:schemeClr val="accent2"/>
                </a:solidFill>
                <a:hlinkClick r:id="rId2"/>
              </a:rPr>
              <a:t>wangd@fau.edu</a:t>
            </a:r>
            <a:endParaRPr lang="en-US" sz="2000" dirty="0" smtClean="0">
              <a:solidFill>
                <a:schemeClr val="accent2"/>
              </a:solidFill>
            </a:endParaRPr>
          </a:p>
          <a:p>
            <a:pPr algn="l"/>
            <a:r>
              <a:rPr lang="en-US" sz="2000" dirty="0" smtClean="0">
                <a:solidFill>
                  <a:schemeClr val="accent2"/>
                </a:solidFill>
              </a:rPr>
              <a:t>Google scholar: </a:t>
            </a:r>
            <a:r>
              <a:rPr lang="en-US" sz="2000" dirty="0" smtClean="0">
                <a:solidFill>
                  <a:schemeClr val="accent2"/>
                </a:solidFill>
                <a:hlinkClick r:id="rId3"/>
              </a:rPr>
              <a:t>http</a:t>
            </a:r>
            <a:r>
              <a:rPr lang="en-US" sz="2000" dirty="0">
                <a:solidFill>
                  <a:schemeClr val="accent2"/>
                </a:solidFill>
                <a:hlinkClick r:id="rId3"/>
              </a:rPr>
              <a:t>://scholar.google.com/citations?user=c6PLjO4AAAAJ&amp;hl=en</a:t>
            </a:r>
            <a:endParaRPr lang="en-US" sz="2000" dirty="0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6027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743" y="772765"/>
            <a:ext cx="385958" cy="26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5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5941</Words>
  <Application>Microsoft Office PowerPoint</Application>
  <PresentationFormat>On-screen Show (4:3)</PresentationFormat>
  <Paragraphs>956</Paragraphs>
  <Slides>51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MS PGothic</vt:lpstr>
      <vt:lpstr>宋体</vt:lpstr>
      <vt:lpstr>Arial</vt:lpstr>
      <vt:lpstr>Calibri</vt:lpstr>
      <vt:lpstr>Cambria Math</vt:lpstr>
      <vt:lpstr>Comic Sans MS</vt:lpstr>
      <vt:lpstr>Tahoma</vt:lpstr>
      <vt:lpstr>Times New Roman</vt:lpstr>
      <vt:lpstr>Wingdings</vt:lpstr>
      <vt:lpstr>Office Theme</vt:lpstr>
      <vt:lpstr>Equation</vt:lpstr>
      <vt:lpstr>公式</vt:lpstr>
      <vt:lpstr>Document Summarization Systems</vt:lpstr>
      <vt:lpstr>PowerPoint Presentation</vt:lpstr>
      <vt:lpstr>PowerPoint Presentation</vt:lpstr>
      <vt:lpstr>PowerPoint Presentation</vt:lpstr>
      <vt:lpstr>Document Summarization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Citrix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Summarization Systems</dc:title>
  <dc:creator>dingding</dc:creator>
  <cp:lastModifiedBy>Dingding Wang</cp:lastModifiedBy>
  <cp:revision>24</cp:revision>
  <dcterms:created xsi:type="dcterms:W3CDTF">2014-10-13T14:12:22Z</dcterms:created>
  <dcterms:modified xsi:type="dcterms:W3CDTF">2017-03-01T16:37:54Z</dcterms:modified>
</cp:coreProperties>
</file>