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rts/chart1.xml" ContentType="application/vnd.openxmlformats-officedocument.drawingml.chart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charts/chart2.xml" ContentType="application/vnd.openxmlformats-officedocument.drawingml.chart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  <p:sldMasterId id="2147483650" r:id="rId2"/>
    <p:sldMasterId id="2147483728" r:id="rId3"/>
  </p:sldMasterIdLst>
  <p:notesMasterIdLst>
    <p:notesMasterId r:id="rId123"/>
  </p:notesMasterIdLst>
  <p:handoutMasterIdLst>
    <p:handoutMasterId r:id="rId124"/>
  </p:handoutMasterIdLst>
  <p:sldIdLst>
    <p:sldId id="256" r:id="rId4"/>
    <p:sldId id="819" r:id="rId5"/>
    <p:sldId id="947" r:id="rId6"/>
    <p:sldId id="948" r:id="rId7"/>
    <p:sldId id="949" r:id="rId8"/>
    <p:sldId id="611" r:id="rId9"/>
    <p:sldId id="680" r:id="rId10"/>
    <p:sldId id="818" r:id="rId11"/>
    <p:sldId id="950" r:id="rId12"/>
    <p:sldId id="951" r:id="rId13"/>
    <p:sldId id="756" r:id="rId14"/>
    <p:sldId id="952" r:id="rId15"/>
    <p:sldId id="749" r:id="rId16"/>
    <p:sldId id="750" r:id="rId17"/>
    <p:sldId id="751" r:id="rId18"/>
    <p:sldId id="752" r:id="rId19"/>
    <p:sldId id="753" r:id="rId20"/>
    <p:sldId id="754" r:id="rId21"/>
    <p:sldId id="684" r:id="rId22"/>
    <p:sldId id="656" r:id="rId23"/>
    <p:sldId id="612" r:id="rId24"/>
    <p:sldId id="842" r:id="rId25"/>
    <p:sldId id="843" r:id="rId26"/>
    <p:sldId id="613" r:id="rId27"/>
    <p:sldId id="781" r:id="rId28"/>
    <p:sldId id="614" r:id="rId29"/>
    <p:sldId id="615" r:id="rId30"/>
    <p:sldId id="616" r:id="rId31"/>
    <p:sldId id="953" r:id="rId32"/>
    <p:sldId id="617" r:id="rId33"/>
    <p:sldId id="618" r:id="rId34"/>
    <p:sldId id="844" r:id="rId35"/>
    <p:sldId id="619" r:id="rId36"/>
    <p:sldId id="620" r:id="rId37"/>
    <p:sldId id="621" r:id="rId38"/>
    <p:sldId id="622" r:id="rId39"/>
    <p:sldId id="623" r:id="rId40"/>
    <p:sldId id="624" r:id="rId41"/>
    <p:sldId id="626" r:id="rId42"/>
    <p:sldId id="625" r:id="rId43"/>
    <p:sldId id="845" r:id="rId44"/>
    <p:sldId id="846" r:id="rId45"/>
    <p:sldId id="847" r:id="rId46"/>
    <p:sldId id="628" r:id="rId47"/>
    <p:sldId id="631" r:id="rId48"/>
    <p:sldId id="848" r:id="rId49"/>
    <p:sldId id="849" r:id="rId50"/>
    <p:sldId id="850" r:id="rId51"/>
    <p:sldId id="630" r:id="rId52"/>
    <p:sldId id="927" r:id="rId53"/>
    <p:sldId id="954" r:id="rId54"/>
    <p:sldId id="955" r:id="rId55"/>
    <p:sldId id="956" r:id="rId56"/>
    <p:sldId id="957" r:id="rId57"/>
    <p:sldId id="1032" r:id="rId58"/>
    <p:sldId id="1033" r:id="rId59"/>
    <p:sldId id="1034" r:id="rId60"/>
    <p:sldId id="958" r:id="rId61"/>
    <p:sldId id="929" r:id="rId62"/>
    <p:sldId id="930" r:id="rId63"/>
    <p:sldId id="931" r:id="rId64"/>
    <p:sldId id="932" r:id="rId65"/>
    <p:sldId id="933" r:id="rId66"/>
    <p:sldId id="937" r:id="rId67"/>
    <p:sldId id="935" r:id="rId68"/>
    <p:sldId id="936" r:id="rId69"/>
    <p:sldId id="938" r:id="rId70"/>
    <p:sldId id="959" r:id="rId71"/>
    <p:sldId id="939" r:id="rId72"/>
    <p:sldId id="940" r:id="rId73"/>
    <p:sldId id="941" r:id="rId74"/>
    <p:sldId id="942" r:id="rId75"/>
    <p:sldId id="943" r:id="rId76"/>
    <p:sldId id="944" r:id="rId77"/>
    <p:sldId id="945" r:id="rId78"/>
    <p:sldId id="946" r:id="rId79"/>
    <p:sldId id="1167" r:id="rId80"/>
    <p:sldId id="1103" r:id="rId81"/>
    <p:sldId id="1104" r:id="rId82"/>
    <p:sldId id="1105" r:id="rId83"/>
    <p:sldId id="1106" r:id="rId84"/>
    <p:sldId id="1107" r:id="rId85"/>
    <p:sldId id="1108" r:id="rId86"/>
    <p:sldId id="1109" r:id="rId87"/>
    <p:sldId id="1110" r:id="rId88"/>
    <p:sldId id="1111" r:id="rId89"/>
    <p:sldId id="1112" r:id="rId90"/>
    <p:sldId id="1113" r:id="rId91"/>
    <p:sldId id="1114" r:id="rId92"/>
    <p:sldId id="1115" r:id="rId93"/>
    <p:sldId id="1116" r:id="rId94"/>
    <p:sldId id="1117" r:id="rId95"/>
    <p:sldId id="1118" r:id="rId96"/>
    <p:sldId id="1119" r:id="rId97"/>
    <p:sldId id="1120" r:id="rId98"/>
    <p:sldId id="1121" r:id="rId99"/>
    <p:sldId id="1122" r:id="rId100"/>
    <p:sldId id="1123" r:id="rId101"/>
    <p:sldId id="1124" r:id="rId102"/>
    <p:sldId id="1125" r:id="rId103"/>
    <p:sldId id="1126" r:id="rId104"/>
    <p:sldId id="1127" r:id="rId105"/>
    <p:sldId id="1128" r:id="rId106"/>
    <p:sldId id="1129" r:id="rId107"/>
    <p:sldId id="1130" r:id="rId108"/>
    <p:sldId id="1131" r:id="rId109"/>
    <p:sldId id="1132" r:id="rId110"/>
    <p:sldId id="1133" r:id="rId111"/>
    <p:sldId id="1134" r:id="rId112"/>
    <p:sldId id="1135" r:id="rId113"/>
    <p:sldId id="1136" r:id="rId114"/>
    <p:sldId id="1137" r:id="rId115"/>
    <p:sldId id="1138" r:id="rId116"/>
    <p:sldId id="1139" r:id="rId117"/>
    <p:sldId id="1140" r:id="rId118"/>
    <p:sldId id="1141" r:id="rId119"/>
    <p:sldId id="1142" r:id="rId120"/>
    <p:sldId id="1101" r:id="rId121"/>
    <p:sldId id="1102" r:id="rId122"/>
  </p:sldIdLst>
  <p:sldSz cx="9144000" cy="6858000" type="screen4x3"/>
  <p:notesSz cx="7099300" cy="10234613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Verdan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Verdan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Verdan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Verdan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Verdana" pitchFamily="34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Verdana" pitchFamily="34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Verdana" pitchFamily="34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Verdana" pitchFamily="34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Verdan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ittlere Formatvorlage 2 - Akz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42" autoAdjust="0"/>
    <p:restoredTop sz="96686" autoAdjust="0"/>
  </p:normalViewPr>
  <p:slideViewPr>
    <p:cSldViewPr>
      <p:cViewPr varScale="1">
        <p:scale>
          <a:sx n="92" d="100"/>
          <a:sy n="92" d="100"/>
        </p:scale>
        <p:origin x="118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" d="100"/>
        <a:sy n="2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117" Type="http://schemas.openxmlformats.org/officeDocument/2006/relationships/slide" Target="slides/slide114.xml"/><Relationship Id="rId21" Type="http://schemas.openxmlformats.org/officeDocument/2006/relationships/slide" Target="slides/slide18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63" Type="http://schemas.openxmlformats.org/officeDocument/2006/relationships/slide" Target="slides/slide60.xml"/><Relationship Id="rId68" Type="http://schemas.openxmlformats.org/officeDocument/2006/relationships/slide" Target="slides/slide65.xml"/><Relationship Id="rId84" Type="http://schemas.openxmlformats.org/officeDocument/2006/relationships/slide" Target="slides/slide81.xml"/><Relationship Id="rId89" Type="http://schemas.openxmlformats.org/officeDocument/2006/relationships/slide" Target="slides/slide86.xml"/><Relationship Id="rId112" Type="http://schemas.openxmlformats.org/officeDocument/2006/relationships/slide" Target="slides/slide109.xml"/><Relationship Id="rId16" Type="http://schemas.openxmlformats.org/officeDocument/2006/relationships/slide" Target="slides/slide13.xml"/><Relationship Id="rId107" Type="http://schemas.openxmlformats.org/officeDocument/2006/relationships/slide" Target="slides/slide104.xml"/><Relationship Id="rId11" Type="http://schemas.openxmlformats.org/officeDocument/2006/relationships/slide" Target="slides/slide8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74" Type="http://schemas.openxmlformats.org/officeDocument/2006/relationships/slide" Target="slides/slide71.xml"/><Relationship Id="rId79" Type="http://schemas.openxmlformats.org/officeDocument/2006/relationships/slide" Target="slides/slide76.xml"/><Relationship Id="rId102" Type="http://schemas.openxmlformats.org/officeDocument/2006/relationships/slide" Target="slides/slide99.xml"/><Relationship Id="rId123" Type="http://schemas.openxmlformats.org/officeDocument/2006/relationships/notesMaster" Target="notesMasters/notesMaster1.xml"/><Relationship Id="rId128" Type="http://schemas.openxmlformats.org/officeDocument/2006/relationships/tableStyles" Target="tableStyles.xml"/><Relationship Id="rId5" Type="http://schemas.openxmlformats.org/officeDocument/2006/relationships/slide" Target="slides/slide2.xml"/><Relationship Id="rId90" Type="http://schemas.openxmlformats.org/officeDocument/2006/relationships/slide" Target="slides/slide87.xml"/><Relationship Id="rId95" Type="http://schemas.openxmlformats.org/officeDocument/2006/relationships/slide" Target="slides/slide92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64" Type="http://schemas.openxmlformats.org/officeDocument/2006/relationships/slide" Target="slides/slide61.xml"/><Relationship Id="rId69" Type="http://schemas.openxmlformats.org/officeDocument/2006/relationships/slide" Target="slides/slide66.xml"/><Relationship Id="rId113" Type="http://schemas.openxmlformats.org/officeDocument/2006/relationships/slide" Target="slides/slide110.xml"/><Relationship Id="rId118" Type="http://schemas.openxmlformats.org/officeDocument/2006/relationships/slide" Target="slides/slide115.xml"/><Relationship Id="rId80" Type="http://schemas.openxmlformats.org/officeDocument/2006/relationships/slide" Target="slides/slide77.xml"/><Relationship Id="rId85" Type="http://schemas.openxmlformats.org/officeDocument/2006/relationships/slide" Target="slides/slide82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59" Type="http://schemas.openxmlformats.org/officeDocument/2006/relationships/slide" Target="slides/slide56.xml"/><Relationship Id="rId103" Type="http://schemas.openxmlformats.org/officeDocument/2006/relationships/slide" Target="slides/slide100.xml"/><Relationship Id="rId108" Type="http://schemas.openxmlformats.org/officeDocument/2006/relationships/slide" Target="slides/slide105.xml"/><Relationship Id="rId124" Type="http://schemas.openxmlformats.org/officeDocument/2006/relationships/handoutMaster" Target="handoutMasters/handoutMaster1.xml"/><Relationship Id="rId54" Type="http://schemas.openxmlformats.org/officeDocument/2006/relationships/slide" Target="slides/slide51.xml"/><Relationship Id="rId70" Type="http://schemas.openxmlformats.org/officeDocument/2006/relationships/slide" Target="slides/slide67.xml"/><Relationship Id="rId75" Type="http://schemas.openxmlformats.org/officeDocument/2006/relationships/slide" Target="slides/slide72.xml"/><Relationship Id="rId91" Type="http://schemas.openxmlformats.org/officeDocument/2006/relationships/slide" Target="slides/slide88.xml"/><Relationship Id="rId96" Type="http://schemas.openxmlformats.org/officeDocument/2006/relationships/slide" Target="slides/slide9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49" Type="http://schemas.openxmlformats.org/officeDocument/2006/relationships/slide" Target="slides/slide46.xml"/><Relationship Id="rId114" Type="http://schemas.openxmlformats.org/officeDocument/2006/relationships/slide" Target="slides/slide111.xml"/><Relationship Id="rId119" Type="http://schemas.openxmlformats.org/officeDocument/2006/relationships/slide" Target="slides/slide116.xml"/><Relationship Id="rId44" Type="http://schemas.openxmlformats.org/officeDocument/2006/relationships/slide" Target="slides/slide41.xml"/><Relationship Id="rId60" Type="http://schemas.openxmlformats.org/officeDocument/2006/relationships/slide" Target="slides/slide57.xml"/><Relationship Id="rId65" Type="http://schemas.openxmlformats.org/officeDocument/2006/relationships/slide" Target="slides/slide62.xml"/><Relationship Id="rId81" Type="http://schemas.openxmlformats.org/officeDocument/2006/relationships/slide" Target="slides/slide78.xml"/><Relationship Id="rId86" Type="http://schemas.openxmlformats.org/officeDocument/2006/relationships/slide" Target="slides/slide83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Relationship Id="rId109" Type="http://schemas.openxmlformats.org/officeDocument/2006/relationships/slide" Target="slides/slide106.xml"/><Relationship Id="rId34" Type="http://schemas.openxmlformats.org/officeDocument/2006/relationships/slide" Target="slides/slide31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76" Type="http://schemas.openxmlformats.org/officeDocument/2006/relationships/slide" Target="slides/slide73.xml"/><Relationship Id="rId97" Type="http://schemas.openxmlformats.org/officeDocument/2006/relationships/slide" Target="slides/slide94.xml"/><Relationship Id="rId104" Type="http://schemas.openxmlformats.org/officeDocument/2006/relationships/slide" Target="slides/slide101.xml"/><Relationship Id="rId120" Type="http://schemas.openxmlformats.org/officeDocument/2006/relationships/slide" Target="slides/slide117.xml"/><Relationship Id="rId125" Type="http://schemas.openxmlformats.org/officeDocument/2006/relationships/presProps" Target="presProps.xml"/><Relationship Id="rId7" Type="http://schemas.openxmlformats.org/officeDocument/2006/relationships/slide" Target="slides/slide4.xml"/><Relationship Id="rId71" Type="http://schemas.openxmlformats.org/officeDocument/2006/relationships/slide" Target="slides/slide68.xml"/><Relationship Id="rId92" Type="http://schemas.openxmlformats.org/officeDocument/2006/relationships/slide" Target="slides/slide8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6.xml"/><Relationship Id="rId24" Type="http://schemas.openxmlformats.org/officeDocument/2006/relationships/slide" Target="slides/slide21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66" Type="http://schemas.openxmlformats.org/officeDocument/2006/relationships/slide" Target="slides/slide63.xml"/><Relationship Id="rId87" Type="http://schemas.openxmlformats.org/officeDocument/2006/relationships/slide" Target="slides/slide84.xml"/><Relationship Id="rId110" Type="http://schemas.openxmlformats.org/officeDocument/2006/relationships/slide" Target="slides/slide107.xml"/><Relationship Id="rId115" Type="http://schemas.openxmlformats.org/officeDocument/2006/relationships/slide" Target="slides/slide112.xml"/><Relationship Id="rId61" Type="http://schemas.openxmlformats.org/officeDocument/2006/relationships/slide" Target="slides/slide58.xml"/><Relationship Id="rId82" Type="http://schemas.openxmlformats.org/officeDocument/2006/relationships/slide" Target="slides/slide79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56" Type="http://schemas.openxmlformats.org/officeDocument/2006/relationships/slide" Target="slides/slide53.xml"/><Relationship Id="rId77" Type="http://schemas.openxmlformats.org/officeDocument/2006/relationships/slide" Target="slides/slide74.xml"/><Relationship Id="rId100" Type="http://schemas.openxmlformats.org/officeDocument/2006/relationships/slide" Target="slides/slide97.xml"/><Relationship Id="rId105" Type="http://schemas.openxmlformats.org/officeDocument/2006/relationships/slide" Target="slides/slide102.xml"/><Relationship Id="rId126" Type="http://schemas.openxmlformats.org/officeDocument/2006/relationships/viewProps" Target="viewProps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72" Type="http://schemas.openxmlformats.org/officeDocument/2006/relationships/slide" Target="slides/slide69.xml"/><Relationship Id="rId93" Type="http://schemas.openxmlformats.org/officeDocument/2006/relationships/slide" Target="slides/slide90.xml"/><Relationship Id="rId98" Type="http://schemas.openxmlformats.org/officeDocument/2006/relationships/slide" Target="slides/slide95.xml"/><Relationship Id="rId121" Type="http://schemas.openxmlformats.org/officeDocument/2006/relationships/slide" Target="slides/slide118.xml"/><Relationship Id="rId3" Type="http://schemas.openxmlformats.org/officeDocument/2006/relationships/slideMaster" Target="slideMasters/slideMaster3.xml"/><Relationship Id="rId25" Type="http://schemas.openxmlformats.org/officeDocument/2006/relationships/slide" Target="slides/slide22.xml"/><Relationship Id="rId46" Type="http://schemas.openxmlformats.org/officeDocument/2006/relationships/slide" Target="slides/slide43.xml"/><Relationship Id="rId67" Type="http://schemas.openxmlformats.org/officeDocument/2006/relationships/slide" Target="slides/slide64.xml"/><Relationship Id="rId116" Type="http://schemas.openxmlformats.org/officeDocument/2006/relationships/slide" Target="slides/slide113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62" Type="http://schemas.openxmlformats.org/officeDocument/2006/relationships/slide" Target="slides/slide59.xml"/><Relationship Id="rId83" Type="http://schemas.openxmlformats.org/officeDocument/2006/relationships/slide" Target="slides/slide80.xml"/><Relationship Id="rId88" Type="http://schemas.openxmlformats.org/officeDocument/2006/relationships/slide" Target="slides/slide85.xml"/><Relationship Id="rId111" Type="http://schemas.openxmlformats.org/officeDocument/2006/relationships/slide" Target="slides/slide108.xml"/><Relationship Id="rId15" Type="http://schemas.openxmlformats.org/officeDocument/2006/relationships/slide" Target="slides/slide12.xml"/><Relationship Id="rId36" Type="http://schemas.openxmlformats.org/officeDocument/2006/relationships/slide" Target="slides/slide33.xml"/><Relationship Id="rId57" Type="http://schemas.openxmlformats.org/officeDocument/2006/relationships/slide" Target="slides/slide54.xml"/><Relationship Id="rId106" Type="http://schemas.openxmlformats.org/officeDocument/2006/relationships/slide" Target="slides/slide103.xml"/><Relationship Id="rId127" Type="http://schemas.openxmlformats.org/officeDocument/2006/relationships/theme" Target="theme/theme1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52" Type="http://schemas.openxmlformats.org/officeDocument/2006/relationships/slide" Target="slides/slide49.xml"/><Relationship Id="rId73" Type="http://schemas.openxmlformats.org/officeDocument/2006/relationships/slide" Target="slides/slide70.xml"/><Relationship Id="rId78" Type="http://schemas.openxmlformats.org/officeDocument/2006/relationships/slide" Target="slides/slide75.xml"/><Relationship Id="rId94" Type="http://schemas.openxmlformats.org/officeDocument/2006/relationships/slide" Target="slides/slide91.xml"/><Relationship Id="rId99" Type="http://schemas.openxmlformats.org/officeDocument/2006/relationships/slide" Target="slides/slide96.xml"/><Relationship Id="rId101" Type="http://schemas.openxmlformats.org/officeDocument/2006/relationships/slide" Target="slides/slide98.xml"/><Relationship Id="rId122" Type="http://schemas.openxmlformats.org/officeDocument/2006/relationships/slide" Target="slides/slide119.xml"/><Relationship Id="rId4" Type="http://schemas.openxmlformats.org/officeDocument/2006/relationships/slide" Target="slides/slide1.xml"/><Relationship Id="rId9" Type="http://schemas.openxmlformats.org/officeDocument/2006/relationships/slide" Target="slides/slide6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file:///C:\Dokumente%20und%20Einstellungen\jannach\Eigene%20Dateien\6%20papers\ZZ_OUTDATED_RecommenderBook\Chapter%202a.xls" TargetMode="Externa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file:///D:\projects\000-papers\general\habil\vortrag\svd_map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2769795387143343"/>
          <c:y val="0.14331210191082824"/>
          <c:w val="0.77158341142034648"/>
          <c:h val="0.66560509554140623"/>
        </c:manualLayout>
      </c:layout>
      <c:lineChart>
        <c:grouping val="standard"/>
        <c:varyColors val="0"/>
        <c:ser>
          <c:idx val="0"/>
          <c:order val="0"/>
          <c:tx>
            <c:strRef>
              <c:f>correlation!$B$5</c:f>
              <c:strCache>
                <c:ptCount val="1"/>
                <c:pt idx="0">
                  <c:v>Alice</c:v>
                </c:pt>
              </c:strCache>
            </c:strRef>
          </c:tx>
          <c:spPr>
            <a:ln w="25400">
              <a:solidFill>
                <a:srgbClr val="000080"/>
              </a:solidFill>
              <a:prstDash val="solid"/>
            </a:ln>
          </c:spPr>
          <c:marker>
            <c:symbol val="diamond"/>
            <c:size val="7"/>
            <c:spPr>
              <a:solidFill>
                <a:srgbClr val="000080"/>
              </a:solidFill>
              <a:ln>
                <a:solidFill>
                  <a:srgbClr val="000080"/>
                </a:solidFill>
                <a:prstDash val="solid"/>
              </a:ln>
            </c:spPr>
          </c:marker>
          <c:cat>
            <c:strRef>
              <c:f>correlation!$C$4:$F$4</c:f>
              <c:strCache>
                <c:ptCount val="4"/>
                <c:pt idx="0">
                  <c:v>Item1</c:v>
                </c:pt>
                <c:pt idx="1">
                  <c:v>Item2</c:v>
                </c:pt>
                <c:pt idx="2">
                  <c:v>Item3</c:v>
                </c:pt>
                <c:pt idx="3">
                  <c:v>Item4</c:v>
                </c:pt>
              </c:strCache>
            </c:strRef>
          </c:cat>
          <c:val>
            <c:numRef>
              <c:f>correlation!$C$5:$F$5</c:f>
              <c:numCache>
                <c:formatCode>0</c:formatCode>
                <c:ptCount val="4"/>
                <c:pt idx="0">
                  <c:v>5</c:v>
                </c:pt>
                <c:pt idx="1">
                  <c:v>3</c:v>
                </c:pt>
                <c:pt idx="2">
                  <c:v>4</c:v>
                </c:pt>
                <c:pt idx="3">
                  <c:v>4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correlation!$B$6</c:f>
              <c:strCache>
                <c:ptCount val="1"/>
                <c:pt idx="0">
                  <c:v>User1</c:v>
                </c:pt>
              </c:strCache>
            </c:strRef>
          </c:tx>
          <c:spPr>
            <a:ln w="25400">
              <a:solidFill>
                <a:srgbClr val="008000"/>
              </a:solidFill>
              <a:prstDash val="solid"/>
            </a:ln>
          </c:spPr>
          <c:marker>
            <c:symbol val="square"/>
            <c:size val="7"/>
            <c:spPr>
              <a:solidFill>
                <a:srgbClr val="003300"/>
              </a:solidFill>
              <a:ln>
                <a:solidFill>
                  <a:srgbClr val="003300"/>
                </a:solidFill>
                <a:prstDash val="solid"/>
              </a:ln>
            </c:spPr>
          </c:marker>
          <c:cat>
            <c:strRef>
              <c:f>correlation!$C$4:$F$4</c:f>
              <c:strCache>
                <c:ptCount val="4"/>
                <c:pt idx="0">
                  <c:v>Item1</c:v>
                </c:pt>
                <c:pt idx="1">
                  <c:v>Item2</c:v>
                </c:pt>
                <c:pt idx="2">
                  <c:v>Item3</c:v>
                </c:pt>
                <c:pt idx="3">
                  <c:v>Item4</c:v>
                </c:pt>
              </c:strCache>
            </c:strRef>
          </c:cat>
          <c:val>
            <c:numRef>
              <c:f>correlation!$C$6:$F$6</c:f>
              <c:numCache>
                <c:formatCode>0</c:formatCode>
                <c:ptCount val="4"/>
                <c:pt idx="0">
                  <c:v>3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</c:numCache>
            </c:numRef>
          </c:val>
          <c:smooth val="0"/>
        </c:ser>
        <c:ser>
          <c:idx val="4"/>
          <c:order val="2"/>
          <c:tx>
            <c:strRef>
              <c:f>correlation!$B$9</c:f>
              <c:strCache>
                <c:ptCount val="1"/>
                <c:pt idx="0">
                  <c:v>User4</c:v>
                </c:pt>
              </c:strCache>
            </c:strRef>
          </c:tx>
          <c:spPr>
            <a:ln w="25400">
              <a:solidFill>
                <a:srgbClr val="800080"/>
              </a:solidFill>
              <a:prstDash val="solid"/>
            </a:ln>
          </c:spPr>
          <c:marker>
            <c:symbol val="star"/>
            <c:size val="7"/>
            <c:spPr>
              <a:noFill/>
              <a:ln>
                <a:solidFill>
                  <a:srgbClr val="800080"/>
                </a:solidFill>
                <a:prstDash val="solid"/>
              </a:ln>
            </c:spPr>
          </c:marker>
          <c:cat>
            <c:strRef>
              <c:f>correlation!$C$4:$F$4</c:f>
              <c:strCache>
                <c:ptCount val="4"/>
                <c:pt idx="0">
                  <c:v>Item1</c:v>
                </c:pt>
                <c:pt idx="1">
                  <c:v>Item2</c:v>
                </c:pt>
                <c:pt idx="2">
                  <c:v>Item3</c:v>
                </c:pt>
                <c:pt idx="3">
                  <c:v>Item4</c:v>
                </c:pt>
              </c:strCache>
            </c:strRef>
          </c:cat>
          <c:val>
            <c:numRef>
              <c:f>correlation!$C$9:$F$9</c:f>
              <c:numCache>
                <c:formatCode>0</c:formatCode>
                <c:ptCount val="4"/>
                <c:pt idx="0">
                  <c:v>1</c:v>
                </c:pt>
                <c:pt idx="1">
                  <c:v>5</c:v>
                </c:pt>
                <c:pt idx="2">
                  <c:v>5</c:v>
                </c:pt>
                <c:pt idx="3">
                  <c:v>2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54814528"/>
        <c:axId val="1554819424"/>
      </c:lineChart>
      <c:catAx>
        <c:axId val="1554814528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/>
                </a:pPr>
                <a:r>
                  <a:rPr lang="de-DE"/>
                  <a:t>Ratings</a:t>
                </a:r>
              </a:p>
            </c:rich>
          </c:tx>
          <c:layout>
            <c:manualLayout>
              <c:xMode val="edge"/>
              <c:yMode val="edge"/>
              <c:x val="1.6187050359712365E-2"/>
              <c:y val="0.40127388535031888"/>
            </c:manualLayout>
          </c:layout>
          <c:overlay val="0"/>
          <c:spPr>
            <a:noFill/>
            <a:ln w="25400">
              <a:noFill/>
            </a:ln>
          </c:spPr>
        </c:title>
        <c:numFmt formatCode="General" sourceLinked="1"/>
        <c:majorTickMark val="out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/>
            </a:pPr>
            <a:endParaRPr lang="en-US"/>
          </a:p>
        </c:txPr>
        <c:crossAx val="1554819424"/>
        <c:crosses val="autoZero"/>
        <c:auto val="1"/>
        <c:lblAlgn val="ctr"/>
        <c:lblOffset val="100"/>
        <c:tickLblSkip val="1"/>
        <c:tickMarkSkip val="1"/>
        <c:noMultiLvlLbl val="0"/>
      </c:catAx>
      <c:valAx>
        <c:axId val="1554819424"/>
        <c:scaling>
          <c:orientation val="minMax"/>
        </c:scaling>
        <c:delete val="0"/>
        <c:axPos val="l"/>
        <c:majorGridlines>
          <c:spPr>
            <a:ln w="3175">
              <a:solidFill>
                <a:srgbClr val="000000"/>
              </a:solidFill>
              <a:prstDash val="solid"/>
            </a:ln>
          </c:spPr>
        </c:majorGridlines>
        <c:numFmt formatCode="0" sourceLinked="1"/>
        <c:majorTickMark val="out"/>
        <c:minorTickMark val="none"/>
        <c:tickLblPos val="nextTo"/>
        <c:spPr>
          <a:ln w="3175">
            <a:solidFill>
              <a:srgbClr val="000000"/>
            </a:solidFill>
            <a:prstDash val="solid"/>
          </a:ln>
        </c:spPr>
        <c:txPr>
          <a:bodyPr rot="0" vert="horz"/>
          <a:lstStyle/>
          <a:p>
            <a:pPr>
              <a:defRPr/>
            </a:pPr>
            <a:endParaRPr lang="en-US"/>
          </a:p>
        </c:txPr>
        <c:crossAx val="1554814528"/>
        <c:crosses val="autoZero"/>
        <c:crossBetween val="between"/>
      </c:valAx>
      <c:spPr>
        <a:noFill/>
        <a:ln w="12700">
          <a:solidFill>
            <a:srgbClr val="808080"/>
          </a:solidFill>
          <a:prstDash val="solid"/>
        </a:ln>
      </c:spPr>
    </c:plotArea>
    <c:legend>
      <c:legendPos val="r"/>
      <c:layout>
        <c:manualLayout>
          <c:xMode val="edge"/>
          <c:yMode val="edge"/>
          <c:x val="0.76798636681206156"/>
          <c:y val="8.9171974522293529E-2"/>
          <c:w val="0.12050378594762047"/>
          <c:h val="0.30573248407643311"/>
        </c:manualLayout>
      </c:layout>
      <c:overlay val="0"/>
      <c:spPr>
        <a:solidFill>
          <a:srgbClr val="FFFFFF"/>
        </a:solidFill>
        <a:ln w="3175">
          <a:solidFill>
            <a:srgbClr val="000000"/>
          </a:solidFill>
          <a:prstDash val="solid"/>
        </a:ln>
      </c:spPr>
    </c:legend>
    <c:plotVisOnly val="1"/>
    <c:dispBlanksAs val="gap"/>
    <c:showDLblsOverMax val="0"/>
  </c:chart>
  <c:spPr>
    <a:solidFill>
      <a:srgbClr val="FFFFFF"/>
    </a:solidFill>
    <a:ln w="3175">
      <a:solidFill>
        <a:srgbClr val="000000"/>
      </a:solidFill>
      <a:prstDash val="solid"/>
    </a:ln>
  </c:spPr>
  <c:txPr>
    <a:bodyPr/>
    <a:lstStyle/>
    <a:p>
      <a:pPr>
        <a:defRPr sz="800" b="0" i="0" u="none" strike="noStrike" baseline="0">
          <a:solidFill>
            <a:srgbClr val="000000"/>
          </a:solidFill>
          <a:latin typeface="+mn-lt"/>
          <a:ea typeface="Arial"/>
          <a:cs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Tabelle1!$A$2</c:f>
              <c:strCache>
                <c:ptCount val="1"/>
                <c:pt idx="0">
                  <c:v>Alice </c:v>
                </c:pt>
              </c:strCache>
            </c:strRef>
          </c:tx>
          <c:spPr>
            <a:ln w="28575">
              <a:noFill/>
            </a:ln>
          </c:spPr>
          <c:xVal>
            <c:numRef>
              <c:f>Tabelle1!$B$2</c:f>
              <c:numCache>
                <c:formatCode>General</c:formatCode>
                <c:ptCount val="1"/>
                <c:pt idx="0">
                  <c:v>0.47000000000000008</c:v>
                </c:pt>
              </c:numCache>
            </c:numRef>
          </c:xVal>
          <c:yVal>
            <c:numRef>
              <c:f>Tabelle1!$C$2</c:f>
              <c:numCache>
                <c:formatCode>General</c:formatCode>
                <c:ptCount val="1"/>
                <c:pt idx="0">
                  <c:v>-0.30000000000000016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Tabelle1!$A$3</c:f>
              <c:strCache>
                <c:ptCount val="1"/>
                <c:pt idx="0">
                  <c:v>Bob </c:v>
                </c:pt>
              </c:strCache>
            </c:strRef>
          </c:tx>
          <c:spPr>
            <a:ln w="28575">
              <a:noFill/>
            </a:ln>
          </c:spPr>
          <c:xVal>
            <c:numRef>
              <c:f>Tabelle1!$B$3</c:f>
              <c:numCache>
                <c:formatCode>General</c:formatCode>
                <c:ptCount val="1"/>
                <c:pt idx="0">
                  <c:v>-0.44</c:v>
                </c:pt>
              </c:numCache>
            </c:numRef>
          </c:xVal>
          <c:yVal>
            <c:numRef>
              <c:f>Tabelle1!$C$3</c:f>
              <c:numCache>
                <c:formatCode>General</c:formatCode>
                <c:ptCount val="1"/>
                <c:pt idx="0">
                  <c:v>0.23</c:v>
                </c:pt>
              </c:numCache>
            </c:numRef>
          </c:yVal>
          <c:smooth val="0"/>
        </c:ser>
        <c:ser>
          <c:idx val="2"/>
          <c:order val="2"/>
          <c:tx>
            <c:strRef>
              <c:f>Tabelle1!$A$4</c:f>
              <c:strCache>
                <c:ptCount val="1"/>
                <c:pt idx="0">
                  <c:v>Mary </c:v>
                </c:pt>
              </c:strCache>
            </c:strRef>
          </c:tx>
          <c:spPr>
            <a:ln w="28575">
              <a:noFill/>
            </a:ln>
          </c:spPr>
          <c:marker>
            <c:spPr>
              <a:solidFill>
                <a:schemeClr val="accent2"/>
              </a:solidFill>
            </c:spPr>
          </c:marker>
          <c:dPt>
            <c:idx val="0"/>
            <c:marker>
              <c:spPr>
                <a:solidFill>
                  <a:schemeClr val="accent2"/>
                </a:solidFill>
                <a:effectLst>
                  <a:outerShdw blurRad="50800" dist="50800" dir="5400000" algn="ctr" rotWithShape="0">
                    <a:schemeClr val="bg2">
                      <a:lumMod val="60000"/>
                      <a:lumOff val="40000"/>
                    </a:schemeClr>
                  </a:outerShdw>
                </a:effectLst>
              </c:spPr>
            </c:marker>
            <c:bubble3D val="0"/>
            <c:spPr>
              <a:ln w="28575">
                <a:noFill/>
              </a:ln>
              <a:effectLst>
                <a:outerShdw blurRad="50800" dist="50800" dir="5400000" algn="ctr" rotWithShape="0">
                  <a:schemeClr val="bg2">
                    <a:lumMod val="60000"/>
                    <a:lumOff val="40000"/>
                  </a:schemeClr>
                </a:outerShdw>
              </a:effectLst>
            </c:spPr>
          </c:dPt>
          <c:xVal>
            <c:numRef>
              <c:f>Tabelle1!$B$4</c:f>
              <c:numCache>
                <c:formatCode>General</c:formatCode>
                <c:ptCount val="1"/>
                <c:pt idx="0">
                  <c:v>0.70000000000000029</c:v>
                </c:pt>
              </c:numCache>
            </c:numRef>
          </c:xVal>
          <c:yVal>
            <c:numRef>
              <c:f>Tabelle1!$C$4</c:f>
              <c:numCache>
                <c:formatCode>General</c:formatCode>
                <c:ptCount val="1"/>
                <c:pt idx="0">
                  <c:v>-6.0000000000000026E-2</c:v>
                </c:pt>
              </c:numCache>
            </c:numRef>
          </c:yVal>
          <c:smooth val="0"/>
        </c:ser>
        <c:ser>
          <c:idx val="3"/>
          <c:order val="3"/>
          <c:tx>
            <c:strRef>
              <c:f>Tabelle1!$A$5</c:f>
              <c:strCache>
                <c:ptCount val="1"/>
                <c:pt idx="0">
                  <c:v>Sue </c:v>
                </c:pt>
              </c:strCache>
            </c:strRef>
          </c:tx>
          <c:spPr>
            <a:ln w="28575">
              <a:noFill/>
            </a:ln>
          </c:spPr>
          <c:xVal>
            <c:numRef>
              <c:f>Tabelle1!$B$5</c:f>
              <c:numCache>
                <c:formatCode>General</c:formatCode>
                <c:ptCount val="1"/>
                <c:pt idx="0">
                  <c:v>0.31000000000000016</c:v>
                </c:pt>
              </c:numCache>
            </c:numRef>
          </c:xVal>
          <c:yVal>
            <c:numRef>
              <c:f>Tabelle1!$C$5</c:f>
              <c:numCache>
                <c:formatCode>General</c:formatCode>
                <c:ptCount val="1"/>
                <c:pt idx="0">
                  <c:v>0.93</c:v>
                </c:pt>
              </c:numCache>
            </c:numRef>
          </c:yVal>
          <c:smooth val="0"/>
        </c:ser>
        <c:ser>
          <c:idx val="4"/>
          <c:order val="4"/>
          <c:tx>
            <c:strRef>
              <c:f>Tabelle1!$A$6</c:f>
              <c:strCache>
                <c:ptCount val="1"/>
                <c:pt idx="0">
                  <c:v>Terminator</c:v>
                </c:pt>
              </c:strCache>
            </c:strRef>
          </c:tx>
          <c:spPr>
            <a:ln w="28575">
              <a:noFill/>
            </a:ln>
          </c:spPr>
          <c:xVal>
            <c:numRef>
              <c:f>Tabelle1!$B$6</c:f>
              <c:numCache>
                <c:formatCode>General</c:formatCode>
                <c:ptCount val="1"/>
                <c:pt idx="0">
                  <c:v>-0.44</c:v>
                </c:pt>
              </c:numCache>
            </c:numRef>
          </c:xVal>
          <c:yVal>
            <c:numRef>
              <c:f>Tabelle1!$C$6</c:f>
              <c:numCache>
                <c:formatCode>General</c:formatCode>
                <c:ptCount val="1"/>
                <c:pt idx="0">
                  <c:v>0.58000000000000007</c:v>
                </c:pt>
              </c:numCache>
            </c:numRef>
          </c:yVal>
          <c:smooth val="0"/>
        </c:ser>
        <c:ser>
          <c:idx val="5"/>
          <c:order val="5"/>
          <c:tx>
            <c:strRef>
              <c:f>Tabelle1!$A$7</c:f>
              <c:strCache>
                <c:ptCount val="1"/>
                <c:pt idx="0">
                  <c:v>Die Hard</c:v>
                </c:pt>
              </c:strCache>
            </c:strRef>
          </c:tx>
          <c:spPr>
            <a:ln w="28575">
              <a:noFill/>
            </a:ln>
          </c:spPr>
          <c:xVal>
            <c:numRef>
              <c:f>Tabelle1!$B$7</c:f>
              <c:numCache>
                <c:formatCode>General</c:formatCode>
                <c:ptCount val="1"/>
                <c:pt idx="0">
                  <c:v>-0.56999999999999995</c:v>
                </c:pt>
              </c:numCache>
            </c:numRef>
          </c:xVal>
          <c:yVal>
            <c:numRef>
              <c:f>Tabelle1!$C$7</c:f>
              <c:numCache>
                <c:formatCode>General</c:formatCode>
                <c:ptCount val="1"/>
                <c:pt idx="0">
                  <c:v>-0.66000000000000036</c:v>
                </c:pt>
              </c:numCache>
            </c:numRef>
          </c:yVal>
          <c:smooth val="0"/>
        </c:ser>
        <c:ser>
          <c:idx val="6"/>
          <c:order val="6"/>
          <c:tx>
            <c:strRef>
              <c:f>Tabelle1!$A$8</c:f>
              <c:strCache>
                <c:ptCount val="1"/>
                <c:pt idx="0">
                  <c:v>Twins</c:v>
                </c:pt>
              </c:strCache>
            </c:strRef>
          </c:tx>
          <c:spPr>
            <a:ln w="28575">
              <a:noFill/>
            </a:ln>
          </c:spPr>
          <c:xVal>
            <c:numRef>
              <c:f>Tabelle1!$B$8</c:f>
              <c:numCache>
                <c:formatCode>General</c:formatCode>
                <c:ptCount val="1"/>
                <c:pt idx="0">
                  <c:v>6.0000000000000026E-2</c:v>
                </c:pt>
              </c:numCache>
            </c:numRef>
          </c:xVal>
          <c:yVal>
            <c:numRef>
              <c:f>Tabelle1!$C$8</c:f>
              <c:numCache>
                <c:formatCode>General</c:formatCode>
                <c:ptCount val="1"/>
                <c:pt idx="0">
                  <c:v>0.26</c:v>
                </c:pt>
              </c:numCache>
            </c:numRef>
          </c:yVal>
          <c:smooth val="0"/>
        </c:ser>
        <c:ser>
          <c:idx val="7"/>
          <c:order val="7"/>
          <c:tx>
            <c:strRef>
              <c:f>Tabelle1!$A$9</c:f>
              <c:strCache>
                <c:ptCount val="1"/>
                <c:pt idx="0">
                  <c:v>Eat Pray Love</c:v>
                </c:pt>
              </c:strCache>
            </c:strRef>
          </c:tx>
          <c:spPr>
            <a:ln w="28575">
              <a:noFill/>
            </a:ln>
          </c:spPr>
          <c:xVal>
            <c:numRef>
              <c:f>Tabelle1!$B$9</c:f>
              <c:numCache>
                <c:formatCode>General</c:formatCode>
                <c:ptCount val="1"/>
                <c:pt idx="0">
                  <c:v>0.38000000000000017</c:v>
                </c:pt>
              </c:numCache>
            </c:numRef>
          </c:xVal>
          <c:yVal>
            <c:numRef>
              <c:f>Tabelle1!$C$9</c:f>
              <c:numCache>
                <c:formatCode>General</c:formatCode>
                <c:ptCount val="1"/>
                <c:pt idx="0">
                  <c:v>0.18000000000000008</c:v>
                </c:pt>
              </c:numCache>
            </c:numRef>
          </c:yVal>
          <c:smooth val="0"/>
        </c:ser>
        <c:ser>
          <c:idx val="8"/>
          <c:order val="8"/>
          <c:tx>
            <c:strRef>
              <c:f>Tabelle1!$A$10</c:f>
              <c:strCache>
                <c:ptCount val="1"/>
                <c:pt idx="0">
                  <c:v>Pretty Woman</c:v>
                </c:pt>
              </c:strCache>
            </c:strRef>
          </c:tx>
          <c:spPr>
            <a:ln w="28575">
              <a:noFill/>
            </a:ln>
          </c:spPr>
          <c:xVal>
            <c:numRef>
              <c:f>Tabelle1!$B$10</c:f>
              <c:numCache>
                <c:formatCode>General</c:formatCode>
                <c:ptCount val="1"/>
                <c:pt idx="0">
                  <c:v>0.56999999999999995</c:v>
                </c:pt>
              </c:numCache>
            </c:numRef>
          </c:xVal>
          <c:yVal>
            <c:numRef>
              <c:f>Tabelle1!$C$10</c:f>
              <c:numCache>
                <c:formatCode>General</c:formatCode>
                <c:ptCount val="1"/>
                <c:pt idx="0">
                  <c:v>-0.36000000000000015</c:v>
                </c:pt>
              </c:numCache>
            </c:numRef>
          </c:y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54813440"/>
        <c:axId val="1361411552"/>
      </c:scatterChart>
      <c:valAx>
        <c:axId val="1554813440"/>
        <c:scaling>
          <c:orientation val="minMax"/>
          <c:max val="1"/>
          <c:min val="-1"/>
        </c:scaling>
        <c:delete val="0"/>
        <c:axPos val="b"/>
        <c:numFmt formatCode="General" sourceLinked="1"/>
        <c:majorTickMark val="out"/>
        <c:minorTickMark val="none"/>
        <c:tickLblPos val="nextTo"/>
        <c:crossAx val="1361411552"/>
        <c:crossesAt val="0"/>
        <c:crossBetween val="midCat"/>
      </c:valAx>
      <c:valAx>
        <c:axId val="1361411552"/>
        <c:scaling>
          <c:orientation val="minMax"/>
          <c:max val="1"/>
          <c:min val="-1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554813440"/>
        <c:crossesAt val="0"/>
        <c:crossBetween val="midCat"/>
      </c:valAx>
      <c:spPr>
        <a:noFill/>
        <a:ln>
          <a:noFill/>
        </a:ln>
      </c:spPr>
    </c:plotArea>
    <c:plotVisOnly val="1"/>
    <c:dispBlanksAs val="gap"/>
    <c:showDLblsOverMax val="0"/>
  </c:chart>
  <c:externalData r:id="rId1">
    <c:autoUpdate val="0"/>
  </c:externalData>
</c:chartSpace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8.wmf"/><Relationship Id="rId2" Type="http://schemas.openxmlformats.org/officeDocument/2006/relationships/image" Target="../media/image47.wmf"/><Relationship Id="rId1" Type="http://schemas.openxmlformats.org/officeDocument/2006/relationships/image" Target="../media/image46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4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57.wmf"/><Relationship Id="rId1" Type="http://schemas.openxmlformats.org/officeDocument/2006/relationships/image" Target="../media/image56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59.wmf"/><Relationship Id="rId1" Type="http://schemas.openxmlformats.org/officeDocument/2006/relationships/image" Target="../media/image58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94.wmf"/><Relationship Id="rId2" Type="http://schemas.openxmlformats.org/officeDocument/2006/relationships/image" Target="../media/image93.wmf"/><Relationship Id="rId1" Type="http://schemas.openxmlformats.org/officeDocument/2006/relationships/image" Target="../media/image92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98.wmf"/><Relationship Id="rId2" Type="http://schemas.openxmlformats.org/officeDocument/2006/relationships/image" Target="../media/image97.wmf"/><Relationship Id="rId1" Type="http://schemas.openxmlformats.org/officeDocument/2006/relationships/image" Target="../media/image96.wmf"/><Relationship Id="rId6" Type="http://schemas.openxmlformats.org/officeDocument/2006/relationships/image" Target="../media/image101.wmf"/><Relationship Id="rId5" Type="http://schemas.openxmlformats.org/officeDocument/2006/relationships/image" Target="../media/image100.wmf"/><Relationship Id="rId4" Type="http://schemas.openxmlformats.org/officeDocument/2006/relationships/image" Target="../media/image99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2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1366769-0C17-442A-895B-E938084F436D}" type="datetimeFigureOut">
              <a:rPr lang="de-DE"/>
              <a:pPr>
                <a:defRPr/>
              </a:pPr>
              <a:t>02.11.2015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05F8A2BA-4E50-4B93-8DA2-75B10B09DE6E}" type="slidenum">
              <a:rPr lang="de-DE"/>
              <a:pPr>
                <a:defRPr/>
              </a:pPr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817398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 b="0">
                <a:latin typeface="Arial" charset="0"/>
              </a:defRPr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1402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 b="0">
                <a:latin typeface="Arial" charset="0"/>
              </a:defRPr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798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02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 smtClean="0"/>
              <a:t>Textmasterformate durch Klicken bearbeiten</a:t>
            </a:r>
          </a:p>
          <a:p>
            <a:pPr lvl="1"/>
            <a:r>
              <a:rPr lang="de-DE" noProof="0" smtClean="0"/>
              <a:t>Zweite Ebene</a:t>
            </a:r>
          </a:p>
          <a:p>
            <a:pPr lvl="2"/>
            <a:r>
              <a:rPr lang="de-DE" noProof="0" smtClean="0"/>
              <a:t>Dritte Ebene</a:t>
            </a:r>
          </a:p>
          <a:p>
            <a:pPr lvl="3"/>
            <a:r>
              <a:rPr lang="de-DE" noProof="0" smtClean="0"/>
              <a:t>Vierte Ebene</a:t>
            </a:r>
          </a:p>
          <a:p>
            <a:pPr lvl="4"/>
            <a:r>
              <a:rPr lang="de-DE" noProof="0" smtClean="0"/>
              <a:t>Fünfte Ebene</a:t>
            </a:r>
          </a:p>
        </p:txBody>
      </p:sp>
      <p:sp>
        <p:nvSpPr>
          <p:cNvPr id="1402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 b="0">
                <a:latin typeface="Arial" charset="0"/>
              </a:defRPr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1402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 b="0">
                <a:latin typeface="Arial" charset="0"/>
              </a:defRPr>
            </a:lvl1pPr>
          </a:lstStyle>
          <a:p>
            <a:pPr>
              <a:defRPr/>
            </a:pPr>
            <a:fld id="{E7A11710-6318-4617-9CDC-41D645B51453}" type="slidenum">
              <a:rPr lang="de-DE"/>
              <a:pPr>
                <a:defRPr/>
              </a:pPr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1555942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794812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F8D27-57D9-4ACA-87B9-FF09F7D622B1}" type="slidenum">
              <a:rPr lang="de-DE" smtClean="0"/>
              <a:pPr/>
              <a:t>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712994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877660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CA830DC-26CF-4CEE-A68F-B1B386B81B4D}" type="slidenum">
              <a:rPr lang="de-DE" smtClean="0"/>
              <a:pPr/>
              <a:t>7</a:t>
            </a:fld>
            <a:endParaRPr lang="de-DE" dirty="0" smtClean="0"/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7382009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8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438702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11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586586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12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8241145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13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894125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14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340865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15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301374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16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408420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17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064724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18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671422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19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332080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20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833176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21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499987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22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6428974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23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0422499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24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3556642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25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2645043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26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782060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27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8038461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28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05725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30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136638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31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6927427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32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610672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33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844667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34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3123035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35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4571469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36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2540425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37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5758181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38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5279656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39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5302746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40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787459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41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7571461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42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2654664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43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9998611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44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638071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45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2086273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46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8943104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47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37207916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48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079646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49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2972040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50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8288025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D53657E-24D4-4601-8292-B2513B603E28}" type="slidenum">
              <a:rPr lang="de-DE" smtClean="0"/>
              <a:pPr/>
              <a:t>55</a:t>
            </a:fld>
            <a:endParaRPr lang="de-DE" smtClean="0"/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de-AT" smtClean="0"/>
              <a:t>Could a RS be a persuasive technology? In fact depending on the application area RS are deployed to:</a:t>
            </a:r>
          </a:p>
          <a:p>
            <a:endParaRPr lang="de-AT" smtClean="0"/>
          </a:p>
        </p:txBody>
      </p:sp>
    </p:spTree>
    <p:extLst>
      <p:ext uri="{BB962C8B-B14F-4D97-AF65-F5344CB8AC3E}">
        <p14:creationId xmlns:p14="http://schemas.microsoft.com/office/powerpoint/2010/main" val="165032671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56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4959932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57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1150367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59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9460240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60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5338265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61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7801370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62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5717193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63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6312310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64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61017403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65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95794576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66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09292526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67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24725209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69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21431919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70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78019046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71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68031229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72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14759644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73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56700110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74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46651055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75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17757202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76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49608560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78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61339385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79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75579189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80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40842082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81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93438229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Intersection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82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67535735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83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57452600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84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16412763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85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08696267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86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99066959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87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6536952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88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3494377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89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01618670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90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8292044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91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30528268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92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1394847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93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50759914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94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06472486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95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50759914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96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66304608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97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26237853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100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83653478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101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62413682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102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59497355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103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3874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104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03765884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F8D27-57D9-4ACA-87B9-FF09F7D622B1}" type="slidenum">
              <a:rPr lang="de-DE" smtClean="0"/>
              <a:pPr/>
              <a:t>105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012474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106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32800409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107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35938605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108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59206808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109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16136247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110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040371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111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23850682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112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195562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113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56253966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114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1576701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115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9665297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116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48540404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E7A11710-6318-4617-9CDC-41D645B51453}" type="slidenum">
              <a:rPr lang="de-DE" smtClean="0"/>
              <a:pPr>
                <a:defRPr/>
              </a:pPr>
              <a:t>117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807779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latin typeface="Calibri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de-DE" dirty="0" smtClean="0"/>
              <a:t>Titelmasterformat durch Klicken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200"/>
              </a:spcBef>
              <a:buFont typeface="Wingdings" pitchFamily="2" charset="2"/>
              <a:buChar char="§"/>
              <a:defRPr b="1"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buFont typeface="Wingdings" pitchFamily="2" charset="2"/>
              <a:buChar char="§"/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DE" dirty="0"/>
          </a:p>
        </p:txBody>
      </p:sp>
      <p:sp>
        <p:nvSpPr>
          <p:cNvPr id="4" name="Rechteck 3"/>
          <p:cNvSpPr/>
          <p:nvPr userDrawn="1"/>
        </p:nvSpPr>
        <p:spPr>
          <a:xfrm>
            <a:off x="428596" y="6357958"/>
            <a:ext cx="579958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0" dirty="0" smtClean="0"/>
              <a:t>© Dietmar</a:t>
            </a:r>
            <a:r>
              <a:rPr lang="en-US" sz="1200" b="0" baseline="0" dirty="0" smtClean="0"/>
              <a:t> Jannach, Markus Zanker and Gerhard Friedrich</a:t>
            </a:r>
            <a:endParaRPr lang="de-DE" sz="1200" b="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0"/>
          </p:nvPr>
        </p:nvSpPr>
        <p:spPr>
          <a:xfrm>
            <a:off x="539750" y="6245225"/>
            <a:ext cx="446405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Markus Zanker, University Klagenfurt, markus.zanker@uni-klu.ac.at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0"/>
          </p:nvPr>
        </p:nvSpPr>
        <p:spPr>
          <a:xfrm>
            <a:off x="539750" y="6245225"/>
            <a:ext cx="446405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Markus Zanker, University Klagenfurt, markus.zanker@uni-klu.ac.at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ftr" sz="quarter" idx="10"/>
          </p:nvPr>
        </p:nvSpPr>
        <p:spPr>
          <a:xfrm>
            <a:off x="539750" y="6245225"/>
            <a:ext cx="446405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Markus Zanker, University Klagenfurt, markus.zanker@uni-klu.ac.at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0"/>
          </p:nvPr>
        </p:nvSpPr>
        <p:spPr>
          <a:xfrm>
            <a:off x="539750" y="6245225"/>
            <a:ext cx="446405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Markus Zanker, University Klagenfurt, markus.zanker@uni-klu.ac.at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Grp="1" noChangeArrowheads="1"/>
          </p:cNvSpPr>
          <p:nvPr>
            <p:ph type="ftr" sz="quarter" idx="10"/>
          </p:nvPr>
        </p:nvSpPr>
        <p:spPr>
          <a:xfrm>
            <a:off x="539750" y="6245225"/>
            <a:ext cx="446405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Markus Zanker, University Klagenfurt, markus.zanker@uni-klu.ac.at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0"/>
          </p:nvPr>
        </p:nvSpPr>
        <p:spPr>
          <a:xfrm>
            <a:off x="539750" y="6245225"/>
            <a:ext cx="446405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Markus Zanker, University Klagenfurt, markus.zanker@uni-klu.ac.at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de-DE" noProof="0" dirty="0" smtClean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0"/>
          </p:nvPr>
        </p:nvSpPr>
        <p:spPr>
          <a:xfrm>
            <a:off x="539750" y="6245225"/>
            <a:ext cx="446405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Markus Zanker, University Klagenfurt, markus.zanker@uni-klu.ac.at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0"/>
          </p:nvPr>
        </p:nvSpPr>
        <p:spPr>
          <a:xfrm>
            <a:off x="539750" y="6245225"/>
            <a:ext cx="446405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Markus Zanker, University Klagenfurt, markus.zanker@uni-klu.ac.at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28600"/>
            <a:ext cx="2057400" cy="5897563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28600"/>
            <a:ext cx="6019800" cy="5897563"/>
          </a:xfrm>
        </p:spPr>
        <p:txBody>
          <a:bodyPr vert="eaVert"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0"/>
          </p:nvPr>
        </p:nvSpPr>
        <p:spPr>
          <a:xfrm>
            <a:off x="539750" y="6245225"/>
            <a:ext cx="446405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Markus Zanker, University Klagenfurt, markus.zanker@uni-klu.ac.at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el, Text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0"/>
          </p:nvPr>
        </p:nvSpPr>
        <p:spPr>
          <a:xfrm>
            <a:off x="539750" y="6245225"/>
            <a:ext cx="446405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Markus Zanker, University Klagenfurt, markus.zanker@uni-klu.ac.at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el, Text und 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Inhaltsplatzhalt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0"/>
          </p:nvPr>
        </p:nvSpPr>
        <p:spPr>
          <a:xfrm>
            <a:off x="539750" y="6245225"/>
            <a:ext cx="446405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 dirty="0"/>
              <a:t>Markus Zanker, University Klagenfurt, markus.zanker@uni-klu.ac.at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el und 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abellenplatzhalt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de-DE" noProof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Dr. Markus Zanker, markus.zanker@uni-klu.ac.at</a:t>
            </a:r>
          </a:p>
        </p:txBody>
      </p:sp>
    </p:spTree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A89924-F2A9-4BBB-9DBD-AA0F96B054D3}" type="slidenum">
              <a:rPr lang="de-DE"/>
              <a:pPr>
                <a:defRPr/>
              </a:pPr>
              <a:t>‹#›</a:t>
            </a:fld>
            <a:endParaRPr lang="de-DE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D41795E-3ECA-4C95-BCC9-8B66459B9FA3}" type="slidenum">
              <a:rPr lang="de-DE"/>
              <a:pPr>
                <a:defRPr/>
              </a:pPr>
              <a:t>‹#›</a:t>
            </a:fld>
            <a:endParaRPr lang="de-DE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EE1444-A1E0-45AF-A236-3B3D424DFBE1}" type="slidenum">
              <a:rPr lang="de-DE"/>
              <a:pPr>
                <a:defRPr/>
              </a:pPr>
              <a:t>‹#›</a:t>
            </a:fld>
            <a:endParaRPr lang="de-DE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60D5B4-BAC5-4E36-8E18-4DE2087EEF85}" type="slidenum">
              <a:rPr lang="de-DE"/>
              <a:pPr>
                <a:defRPr/>
              </a:pPr>
              <a:t>‹#›</a:t>
            </a:fld>
            <a:endParaRPr lang="de-DE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082407-C7F1-4A86-ABD2-6231783DAF67}" type="slidenum">
              <a:rPr lang="de-DE"/>
              <a:pPr>
                <a:defRPr/>
              </a:pPr>
              <a:t>‹#›</a:t>
            </a:fld>
            <a:endParaRPr lang="de-DE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623C93-6A03-4BA4-BE34-C1BBD498D457}" type="slidenum">
              <a:rPr lang="de-DE"/>
              <a:pPr>
                <a:defRPr/>
              </a:pPr>
              <a:t>‹#›</a:t>
            </a:fld>
            <a:endParaRPr lang="de-DE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3EB71DE-601B-4891-9028-39B593DA3668}" type="slidenum">
              <a:rPr lang="de-DE"/>
              <a:pPr>
                <a:defRPr/>
              </a:pPr>
              <a:t>‹#›</a:t>
            </a:fld>
            <a:endParaRPr lang="de-DE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4EEBF1-BAC0-449B-B736-909E61948D1E}" type="slidenum">
              <a:rPr lang="de-DE"/>
              <a:pPr>
                <a:defRPr/>
              </a:pPr>
              <a:t>‹#›</a:t>
            </a:fld>
            <a:endParaRPr lang="de-DE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de-DE" noProof="0" dirty="0" smtClean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Textmasterformate durch Klicken bearbeiten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61B00E-1FD8-46A3-A44A-C212E3F1B959}" type="slidenum">
              <a:rPr lang="de-DE"/>
              <a:pPr>
                <a:defRPr/>
              </a:pPr>
              <a:t>‹#›</a:t>
            </a:fld>
            <a:endParaRPr lang="de-DE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64939F-943C-492D-80C1-3D8DA17C9DB8}" type="slidenum">
              <a:rPr lang="de-DE"/>
              <a:pPr>
                <a:defRPr/>
              </a:pPr>
              <a:t>‹#›</a:t>
            </a:fld>
            <a:endParaRPr lang="de-DE" dirty="0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1FE023-C9DB-4F88-9786-13E80C3477EA}" type="slidenum">
              <a:rPr lang="de-DE"/>
              <a:pPr>
                <a:defRPr/>
              </a:pPr>
              <a:t>‹#›</a:t>
            </a:fld>
            <a:endParaRPr lang="de-DE" dirty="0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CFEF9-A7C1-4E1A-B1E8-124EF2B92D52}" type="datetimeFigureOut">
              <a:rPr lang="en-US" smtClean="0"/>
              <a:t>11/2/2015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Tutorial: Introduction to Recommender Systems, ACM SAC 2010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BD175-708B-43AC-A460-C53A61DE14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005035"/>
      </p:ext>
    </p:extLst>
  </p:cSld>
  <p:clrMapOvr>
    <a:masterClrMapping/>
  </p:clrMapOvr>
  <p:hf sldNum="0" hd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CFEF9-A7C1-4E1A-B1E8-124EF2B92D52}" type="datetimeFigureOut">
              <a:rPr lang="en-US" smtClean="0"/>
              <a:t>11/2/2015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Tutorial: Introduction to Recommender Systems, ACM SAC 2010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BD175-708B-43AC-A460-C53A61DE14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114732"/>
      </p:ext>
    </p:extLst>
  </p:cSld>
  <p:clrMapOvr>
    <a:masterClrMapping/>
  </p:clrMapOvr>
  <p:hf sldNum="0" hd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CFEF9-A7C1-4E1A-B1E8-124EF2B92D52}" type="datetimeFigureOut">
              <a:rPr lang="en-US" smtClean="0"/>
              <a:t>11/2/2015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Tutorial: Introduction to Recommender Systems, ACM SAC 2010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BD175-708B-43AC-A460-C53A61DE14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0816463"/>
      </p:ext>
    </p:extLst>
  </p:cSld>
  <p:clrMapOvr>
    <a:masterClrMapping/>
  </p:clrMapOvr>
  <p:hf sldNum="0" hd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CFEF9-A7C1-4E1A-B1E8-124EF2B92D52}" type="datetimeFigureOut">
              <a:rPr lang="en-US" smtClean="0"/>
              <a:t>11/2/2015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Tutorial: Introduction to Recommender Systems, ACM SAC 2010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BD175-708B-43AC-A460-C53A61DE14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3470555"/>
      </p:ext>
    </p:extLst>
  </p:cSld>
  <p:clrMapOvr>
    <a:masterClrMapping/>
  </p:clrMapOvr>
  <p:hf sldNum="0" hd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CFEF9-A7C1-4E1A-B1E8-124EF2B92D52}" type="datetimeFigureOut">
              <a:rPr lang="en-US" smtClean="0"/>
              <a:t>11/2/2015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Tutorial: Introduction to Recommender Systems, ACM SAC 2010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BD175-708B-43AC-A460-C53A61DE14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148837"/>
      </p:ext>
    </p:extLst>
  </p:cSld>
  <p:clrMapOvr>
    <a:masterClrMapping/>
  </p:clrMapOvr>
  <p:hf sldNum="0" hd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CFEF9-A7C1-4E1A-B1E8-124EF2B92D52}" type="datetimeFigureOut">
              <a:rPr lang="en-US" smtClean="0"/>
              <a:t>11/2/2015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Tutorial: Introduction to Recommender Systems, ACM SAC 2010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BD175-708B-43AC-A460-C53A61DE14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601456"/>
      </p:ext>
    </p:extLst>
  </p:cSld>
  <p:clrMapOvr>
    <a:masterClrMapping/>
  </p:clrMapOvr>
  <p:hf sldNum="0" hd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CFEF9-A7C1-4E1A-B1E8-124EF2B92D52}" type="datetimeFigureOut">
              <a:rPr lang="en-US" smtClean="0"/>
              <a:t>11/2/2015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Tutorial: Introduction to Recommender Systems, ACM SAC 2010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BD175-708B-43AC-A460-C53A61DE14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438009"/>
      </p:ext>
    </p:extLst>
  </p:cSld>
  <p:clrMapOvr>
    <a:masterClrMapping/>
  </p:clrMapOvr>
  <p:hf sldNum="0" hd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CFEF9-A7C1-4E1A-B1E8-124EF2B92D52}" type="datetimeFigureOut">
              <a:rPr lang="en-US" smtClean="0"/>
              <a:t>11/2/2015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Tutorial: Introduction to Recommender Systems, ACM SAC 2010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BD175-708B-43AC-A460-C53A61DE14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017353"/>
      </p:ext>
    </p:extLst>
  </p:cSld>
  <p:clrMapOvr>
    <a:masterClrMapping/>
  </p:clrMapOvr>
  <p:hf sldNum="0" hd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CFEF9-A7C1-4E1A-B1E8-124EF2B92D52}" type="datetimeFigureOut">
              <a:rPr lang="en-US" smtClean="0"/>
              <a:t>11/2/2015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Tutorial: Introduction to Recommender Systems, ACM SAC 2010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BD175-708B-43AC-A460-C53A61DE14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829139"/>
      </p:ext>
    </p:extLst>
  </p:cSld>
  <p:clrMapOvr>
    <a:masterClrMapping/>
  </p:clrMapOvr>
  <p:hf sldNum="0" hd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CFEF9-A7C1-4E1A-B1E8-124EF2B92D52}" type="datetimeFigureOut">
              <a:rPr lang="en-US" smtClean="0"/>
              <a:t>11/2/2015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Tutorial: Introduction to Recommender Systems, ACM SAC 2010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BD175-708B-43AC-A460-C53A61DE14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881030"/>
      </p:ext>
    </p:extLst>
  </p:cSld>
  <p:clrMapOvr>
    <a:masterClrMapping/>
  </p:clrMapOvr>
  <p:hf sldNum="0" hd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CFEF9-A7C1-4E1A-B1E8-124EF2B92D52}" type="datetimeFigureOut">
              <a:rPr lang="en-US" smtClean="0"/>
              <a:t>11/2/2015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Tutorial: Introduction to Recommender Systems, ACM SAC 2010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9BD175-708B-43AC-A460-C53A61DE14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2889"/>
      </p:ext>
    </p:extLst>
  </p:cSld>
  <p:clrMapOvr>
    <a:masterClrMapping/>
  </p:clrMapOvr>
  <p:hf sldNum="0" hd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el und 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1143000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abellenplatzhalt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lvl="0"/>
            <a:endParaRPr lang="de-DE" noProof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de-DE"/>
              <a:t>Dr. Markus Zanker, markus.zanker@uni-klu.ac.at</a:t>
            </a:r>
          </a:p>
        </p:txBody>
      </p:sp>
    </p:spTree>
    <p:extLst>
      <p:ext uri="{BB962C8B-B14F-4D97-AF65-F5344CB8AC3E}">
        <p14:creationId xmlns:p14="http://schemas.microsoft.com/office/powerpoint/2010/main" val="924595446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2860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smtClean="0"/>
              <a:t>Titelmasterformat durch Klicken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 smtClean="0"/>
              <a:t>Textmasterformate durch Klicken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err="1" smtClean="0"/>
              <a:t>This</a:t>
            </a:r>
            <a:r>
              <a:rPr lang="de-DE" dirty="0" smtClean="0"/>
              <a:t> </a:t>
            </a:r>
            <a:r>
              <a:rPr lang="de-DE" dirty="0" err="1" smtClean="0"/>
              <a:t>section</a:t>
            </a:r>
            <a:r>
              <a:rPr lang="de-DE" dirty="0" smtClean="0"/>
              <a:t> </a:t>
            </a:r>
          </a:p>
        </p:txBody>
      </p:sp>
      <p:sp>
        <p:nvSpPr>
          <p:cNvPr id="4100" name="Line 4"/>
          <p:cNvSpPr>
            <a:spLocks noChangeShapeType="1"/>
          </p:cNvSpPr>
          <p:nvPr/>
        </p:nvSpPr>
        <p:spPr bwMode="auto">
          <a:xfrm>
            <a:off x="533400" y="1219200"/>
            <a:ext cx="8001000" cy="0"/>
          </a:xfrm>
          <a:prstGeom prst="line">
            <a:avLst/>
          </a:prstGeom>
          <a:noFill/>
          <a:ln w="9525">
            <a:solidFill>
              <a:srgbClr val="003366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4101" name="Text Box 5"/>
          <p:cNvSpPr txBox="1">
            <a:spLocks noChangeArrowheads="1"/>
          </p:cNvSpPr>
          <p:nvPr/>
        </p:nvSpPr>
        <p:spPr bwMode="auto">
          <a:xfrm>
            <a:off x="7907338" y="6248400"/>
            <a:ext cx="696912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de-DE" sz="1000" b="0" dirty="0"/>
              <a:t>- </a:t>
            </a:r>
            <a:fld id="{2E9B48F2-B8AA-4947-B56E-BF420C312FAC}" type="slidenum">
              <a:rPr lang="de-DE" sz="1000" b="0"/>
              <a:pPr>
                <a:defRPr/>
              </a:pPr>
              <a:t>‹#›</a:t>
            </a:fld>
            <a:r>
              <a:rPr lang="de-DE" sz="1000" b="0" dirty="0"/>
              <a:t> -</a:t>
            </a:r>
          </a:p>
        </p:txBody>
      </p:sp>
      <p:sp>
        <p:nvSpPr>
          <p:cNvPr id="4102" name="Line 6"/>
          <p:cNvSpPr>
            <a:spLocks noChangeShapeType="1"/>
          </p:cNvSpPr>
          <p:nvPr/>
        </p:nvSpPr>
        <p:spPr bwMode="auto">
          <a:xfrm>
            <a:off x="609600" y="6096000"/>
            <a:ext cx="8001000" cy="0"/>
          </a:xfrm>
          <a:prstGeom prst="line">
            <a:avLst/>
          </a:prstGeom>
          <a:noFill/>
          <a:ln w="9525">
            <a:solidFill>
              <a:srgbClr val="003366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de-DE" dirty="0"/>
          </a:p>
        </p:txBody>
      </p:sp>
      <p:sp>
        <p:nvSpPr>
          <p:cNvPr id="8" name="Footer Placeholder 7"/>
          <p:cNvSpPr>
            <a:spLocks noGrp="1" noChangeArrowheads="1"/>
          </p:cNvSpPr>
          <p:nvPr>
            <p:ph type="ftr" sz="quarter" idx="3"/>
          </p:nvPr>
        </p:nvSpPr>
        <p:spPr>
          <a:xfrm>
            <a:off x="539750" y="6245225"/>
            <a:ext cx="4464050" cy="476250"/>
          </a:xfrm>
          <a:prstGeom prst="rect">
            <a:avLst/>
          </a:prstGeom>
          <a:ln/>
        </p:spPr>
        <p:txBody>
          <a:bodyPr/>
          <a:lstStyle>
            <a:lvl1pPr>
              <a:defRPr sz="1000" b="0">
                <a:latin typeface="Calibri" pitchFamily="34" charset="0"/>
              </a:defRPr>
            </a:lvl1pPr>
          </a:lstStyle>
          <a:p>
            <a:pPr>
              <a:defRPr/>
            </a:pPr>
            <a:r>
              <a:rPr lang="en-US" dirty="0" smtClean="0"/>
              <a:t>Tutorial: Introduction to Recommender Systems, ACM SAC 2010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27" r:id="rId14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3366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3366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3366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3366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 b="1">
          <a:solidFill>
            <a:srgbClr val="003366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400" b="1">
          <a:solidFill>
            <a:srgbClr val="003366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400" b="1">
          <a:solidFill>
            <a:srgbClr val="003366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400" b="1">
          <a:solidFill>
            <a:srgbClr val="003366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400" b="1">
          <a:solidFill>
            <a:srgbClr val="003366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ts val="1200"/>
        </a:spcBef>
        <a:spcAft>
          <a:spcPct val="0"/>
        </a:spcAft>
        <a:buChar char="•"/>
        <a:defRPr sz="2000">
          <a:solidFill>
            <a:srgbClr val="003366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rgbClr val="003366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700">
          <a:solidFill>
            <a:srgbClr val="003366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700">
          <a:solidFill>
            <a:srgbClr val="003366"/>
          </a:solidFill>
          <a:latin typeface="+mn-lt"/>
          <a:ea typeface="Times New Roman" pitchFamily="18" charset="0"/>
          <a:cs typeface="Helvetica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700">
          <a:solidFill>
            <a:srgbClr val="003366"/>
          </a:solidFill>
          <a:latin typeface="+mn-lt"/>
          <a:ea typeface="Times New Roman" pitchFamily="18" charset="0"/>
          <a:cs typeface="Helvetica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700">
          <a:solidFill>
            <a:srgbClr val="003366"/>
          </a:solidFill>
          <a:latin typeface="+mn-lt"/>
          <a:ea typeface="Times New Roman" pitchFamily="18" charset="0"/>
          <a:cs typeface="Helvetica" pitchFamily="34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700">
          <a:solidFill>
            <a:srgbClr val="003366"/>
          </a:solidFill>
          <a:latin typeface="+mn-lt"/>
          <a:ea typeface="Times New Roman" pitchFamily="18" charset="0"/>
          <a:cs typeface="Helvetica" pitchFamily="34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700">
          <a:solidFill>
            <a:srgbClr val="003366"/>
          </a:solidFill>
          <a:latin typeface="+mn-lt"/>
          <a:ea typeface="Times New Roman" pitchFamily="18" charset="0"/>
          <a:cs typeface="Helvetica" pitchFamily="34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700">
          <a:solidFill>
            <a:srgbClr val="003366"/>
          </a:solidFill>
          <a:latin typeface="+mn-lt"/>
          <a:ea typeface="Times New Roman" pitchFamily="18" charset="0"/>
          <a:cs typeface="Helvetica" pitchFamily="34" charset="0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smtClean="0"/>
              <a:t>Titelmasterformat durch Klicken bearbeiten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smtClean="0"/>
              <a:t>Textmasterformate durch Klicken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+mn-lt"/>
              </a:defRPr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+mn-lt"/>
              </a:defRPr>
            </a:lvl1pPr>
          </a:lstStyle>
          <a:p>
            <a:pPr>
              <a:defRPr/>
            </a:pPr>
            <a:endParaRPr lang="de-DE" dirty="0"/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+mn-lt"/>
              </a:defRPr>
            </a:lvl1pPr>
          </a:lstStyle>
          <a:p>
            <a:pPr>
              <a:defRPr/>
            </a:pPr>
            <a:fld id="{BBD004AC-48FD-42AD-B4D1-61F927313C22}" type="slidenum">
              <a:rPr lang="de-DE"/>
              <a:pPr>
                <a:defRPr/>
              </a:pPr>
              <a:t>‹#›</a:t>
            </a:fld>
            <a:endParaRPr lang="de-DE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21" r:id="rId6"/>
    <p:sldLayoutId id="2147483722" r:id="rId7"/>
    <p:sldLayoutId id="2147483723" r:id="rId8"/>
    <p:sldLayoutId id="2147483724" r:id="rId9"/>
    <p:sldLayoutId id="2147483725" r:id="rId10"/>
    <p:sldLayoutId id="2147483726" r:id="rId1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BCFEF9-A7C1-4E1A-B1E8-124EF2B92D52}" type="datetimeFigureOut">
              <a:rPr lang="en-US" smtClean="0"/>
              <a:t>11/2/2015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smtClean="0"/>
              <a:t>Tutorial: Introduction to Recommender Systems, ACM SAC 2010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9BD175-708B-43AC-A460-C53A61DE14D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436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  <p:sldLayoutId id="2147483740" r:id="rId12"/>
  </p:sldLayoutIdLst>
  <p:hf sldNum="0"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22.png"/><Relationship Id="rId11" Type="http://schemas.openxmlformats.org/officeDocument/2006/relationships/image" Target="../media/image29.png"/><Relationship Id="rId5" Type="http://schemas.openxmlformats.org/officeDocument/2006/relationships/image" Target="../media/image21.png"/><Relationship Id="rId10" Type="http://schemas.openxmlformats.org/officeDocument/2006/relationships/image" Target="../media/image28.png"/><Relationship Id="rId4" Type="http://schemas.openxmlformats.org/officeDocument/2006/relationships/image" Target="../media/image20.png"/><Relationship Id="rId9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7.xml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26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37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7.xml"/><Relationship Id="rId5" Type="http://schemas.openxmlformats.org/officeDocument/2006/relationships/image" Target="../media/image37.png"/><Relationship Id="rId4" Type="http://schemas.openxmlformats.org/officeDocument/2006/relationships/image" Target="../media/image39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7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jpeg"/><Relationship Id="rId3" Type="http://schemas.openxmlformats.org/officeDocument/2006/relationships/chart" Target="../charts/chart2.xml"/><Relationship Id="rId7" Type="http://schemas.openxmlformats.org/officeDocument/2006/relationships/image" Target="../media/image44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43.jpeg"/><Relationship Id="rId5" Type="http://schemas.openxmlformats.org/officeDocument/2006/relationships/image" Target="../media/image42.jpeg"/><Relationship Id="rId4" Type="http://schemas.openxmlformats.org/officeDocument/2006/relationships/image" Target="../media/image41.jpe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jpeg"/><Relationship Id="rId13" Type="http://schemas.openxmlformats.org/officeDocument/2006/relationships/oleObject" Target="../embeddings/oleObject3.bin"/><Relationship Id="rId3" Type="http://schemas.openxmlformats.org/officeDocument/2006/relationships/notesSlide" Target="../notesSlides/notesSlide37.xml"/><Relationship Id="rId7" Type="http://schemas.openxmlformats.org/officeDocument/2006/relationships/image" Target="../media/image52.jpeg"/><Relationship Id="rId12" Type="http://schemas.openxmlformats.org/officeDocument/2006/relationships/image" Target="../media/image47.wmf"/><Relationship Id="rId2" Type="http://schemas.openxmlformats.org/officeDocument/2006/relationships/slideLayout" Target="../slideLayouts/slideLayout2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51.jpeg"/><Relationship Id="rId11" Type="http://schemas.openxmlformats.org/officeDocument/2006/relationships/oleObject" Target="../embeddings/oleObject2.bin"/><Relationship Id="rId5" Type="http://schemas.openxmlformats.org/officeDocument/2006/relationships/image" Target="../media/image50.jpeg"/><Relationship Id="rId10" Type="http://schemas.openxmlformats.org/officeDocument/2006/relationships/image" Target="../media/image46.wmf"/><Relationship Id="rId4" Type="http://schemas.openxmlformats.org/officeDocument/2006/relationships/image" Target="../media/image49.jpeg"/><Relationship Id="rId9" Type="http://schemas.openxmlformats.org/officeDocument/2006/relationships/oleObject" Target="../embeddings/oleObject1.bin"/><Relationship Id="rId14" Type="http://schemas.openxmlformats.org/officeDocument/2006/relationships/image" Target="../media/image48.wmf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2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54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55.jpe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7" Type="http://schemas.openxmlformats.org/officeDocument/2006/relationships/image" Target="../media/image57.wmf"/><Relationship Id="rId2" Type="http://schemas.openxmlformats.org/officeDocument/2006/relationships/slideLayout" Target="../slideLayouts/slideLayout27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56.wmf"/><Relationship Id="rId4" Type="http://schemas.openxmlformats.org/officeDocument/2006/relationships/oleObject" Target="../embeddings/oleObject5.bin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2.xml"/><Relationship Id="rId7" Type="http://schemas.openxmlformats.org/officeDocument/2006/relationships/image" Target="../media/image59.wmf"/><Relationship Id="rId2" Type="http://schemas.openxmlformats.org/officeDocument/2006/relationships/slideLayout" Target="../slideLayouts/slideLayout27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58.wmf"/><Relationship Id="rId4" Type="http://schemas.openxmlformats.org/officeDocument/2006/relationships/oleObject" Target="../embeddings/oleObject7.bin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31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7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7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62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e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65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71.png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74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7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76.png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jpe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7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7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jpe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7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81.png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7.xml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27.png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7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0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7.xml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7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0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7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7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7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7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7.xml"/><Relationship Id="rId5" Type="http://schemas.openxmlformats.org/officeDocument/2006/relationships/image" Target="../media/image37.png"/><Relationship Id="rId4" Type="http://schemas.openxmlformats.org/officeDocument/2006/relationships/image" Target="../media/image86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88.png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7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7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7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91.png"/></Relationships>
</file>

<file path=ppt/slides/_rels/slide9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7.xml"/><Relationship Id="rId6" Type="http://schemas.openxmlformats.org/officeDocument/2006/relationships/image" Target="../media/image22.png"/><Relationship Id="rId11" Type="http://schemas.openxmlformats.org/officeDocument/2006/relationships/image" Target="../media/image29.png"/><Relationship Id="rId5" Type="http://schemas.openxmlformats.org/officeDocument/2006/relationships/image" Target="../media/image21.png"/><Relationship Id="rId10" Type="http://schemas.openxmlformats.org/officeDocument/2006/relationships/image" Target="../media/image28.png"/><Relationship Id="rId4" Type="http://schemas.openxmlformats.org/officeDocument/2006/relationships/image" Target="../media/image20.png"/><Relationship Id="rId9" Type="http://schemas.openxmlformats.org/officeDocument/2006/relationships/image" Target="../media/image27.png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7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7.xml"/></Relationships>
</file>

<file path=ppt/slides/_rels/slide9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3" Type="http://schemas.openxmlformats.org/officeDocument/2006/relationships/notesSlide" Target="../notesSlides/notesSlide84.xml"/><Relationship Id="rId7" Type="http://schemas.openxmlformats.org/officeDocument/2006/relationships/image" Target="../media/image93.wmf"/><Relationship Id="rId2" Type="http://schemas.openxmlformats.org/officeDocument/2006/relationships/slideLayout" Target="../slideLayouts/slideLayout27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92.wmf"/><Relationship Id="rId4" Type="http://schemas.openxmlformats.org/officeDocument/2006/relationships/oleObject" Target="../embeddings/oleObject9.bin"/><Relationship Id="rId9" Type="http://schemas.openxmlformats.org/officeDocument/2006/relationships/image" Target="../media/image94.wmf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7.xml"/></Relationships>
</file>

<file path=ppt/slides/_rels/slide10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.bin"/><Relationship Id="rId13" Type="http://schemas.openxmlformats.org/officeDocument/2006/relationships/image" Target="../media/image100.wmf"/><Relationship Id="rId3" Type="http://schemas.openxmlformats.org/officeDocument/2006/relationships/notesSlide" Target="../notesSlides/notesSlide85.xml"/><Relationship Id="rId7" Type="http://schemas.openxmlformats.org/officeDocument/2006/relationships/image" Target="../media/image97.wmf"/><Relationship Id="rId12" Type="http://schemas.openxmlformats.org/officeDocument/2006/relationships/oleObject" Target="../embeddings/oleObject16.bin"/><Relationship Id="rId2" Type="http://schemas.openxmlformats.org/officeDocument/2006/relationships/slideLayout" Target="../slideLayouts/slideLayout27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3.bin"/><Relationship Id="rId11" Type="http://schemas.openxmlformats.org/officeDocument/2006/relationships/image" Target="../media/image99.wmf"/><Relationship Id="rId5" Type="http://schemas.openxmlformats.org/officeDocument/2006/relationships/image" Target="../media/image96.wmf"/><Relationship Id="rId15" Type="http://schemas.openxmlformats.org/officeDocument/2006/relationships/image" Target="../media/image101.wmf"/><Relationship Id="rId10" Type="http://schemas.openxmlformats.org/officeDocument/2006/relationships/oleObject" Target="../embeddings/oleObject15.bin"/><Relationship Id="rId4" Type="http://schemas.openxmlformats.org/officeDocument/2006/relationships/oleObject" Target="../embeddings/oleObject12.bin"/><Relationship Id="rId9" Type="http://schemas.openxmlformats.org/officeDocument/2006/relationships/image" Target="../media/image98.wmf"/><Relationship Id="rId14" Type="http://schemas.openxmlformats.org/officeDocument/2006/relationships/oleObject" Target="../embeddings/oleObject17.bin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6.xml"/><Relationship Id="rId2" Type="http://schemas.openxmlformats.org/officeDocument/2006/relationships/slideLayout" Target="../slideLayouts/slideLayout27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102.wmf"/><Relationship Id="rId4" Type="http://schemas.openxmlformats.org/officeDocument/2006/relationships/oleObject" Target="../embeddings/oleObject18.bin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7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7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7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7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7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7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7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7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7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7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7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0.pn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108.png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7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wmf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7.xml"/><Relationship Id="rId5" Type="http://schemas.openxmlformats.org/officeDocument/2006/relationships/image" Target="../media/image112.wmf"/><Relationship Id="rId4" Type="http://schemas.openxmlformats.org/officeDocument/2006/relationships/image" Target="../media/image111.wmf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1.xml"/><Relationship Id="rId7" Type="http://schemas.openxmlformats.org/officeDocument/2006/relationships/image" Target="../media/image113.wmf"/><Relationship Id="rId2" Type="http://schemas.openxmlformats.org/officeDocument/2006/relationships/slideLayout" Target="../slideLayouts/slideLayout27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9.bin"/><Relationship Id="rId5" Type="http://schemas.openxmlformats.org/officeDocument/2006/relationships/image" Target="../media/image108.png"/><Relationship Id="rId4" Type="http://schemas.openxmlformats.org/officeDocument/2006/relationships/image" Target="../media/image990.png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2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sz="2600" dirty="0" smtClean="0"/>
              <a:t>Recommender </a:t>
            </a:r>
            <a:r>
              <a:rPr lang="en-US" sz="2600" dirty="0" smtClean="0"/>
              <a:t>Systems</a:t>
            </a:r>
            <a:br>
              <a:rPr lang="en-US" sz="2600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sz="1200" dirty="0" smtClean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214563" y="3929063"/>
            <a:ext cx="4784725" cy="1752600"/>
          </a:xfrm>
        </p:spPr>
        <p:txBody>
          <a:bodyPr/>
          <a:lstStyle/>
          <a:p>
            <a:pPr eaLnBrk="1" hangingPunct="1"/>
            <a:r>
              <a:rPr lang="en-US" sz="1400" b="1" dirty="0" smtClean="0"/>
              <a:t>Slides b</a:t>
            </a:r>
            <a:r>
              <a:rPr lang="en-US" sz="1400" b="1" dirty="0" smtClean="0"/>
              <a:t>orrowed </a:t>
            </a:r>
            <a:r>
              <a:rPr lang="en-US" sz="1400" b="1" dirty="0" smtClean="0"/>
              <a:t>from </a:t>
            </a:r>
            <a:r>
              <a:rPr lang="en-US" sz="1400" b="1" dirty="0" err="1" smtClean="0"/>
              <a:t>Dietmar</a:t>
            </a:r>
            <a:r>
              <a:rPr lang="en-US" sz="1400" b="1" dirty="0" smtClean="0"/>
              <a:t> </a:t>
            </a:r>
            <a:r>
              <a:rPr lang="en-US" sz="1400" b="1" dirty="0" smtClean="0"/>
              <a:t>Jannach</a:t>
            </a:r>
          </a:p>
          <a:p>
            <a:pPr eaLnBrk="1" hangingPunct="1">
              <a:spcBef>
                <a:spcPts val="0"/>
              </a:spcBef>
            </a:pPr>
            <a:r>
              <a:rPr lang="en-US" sz="1400" dirty="0" smtClean="0"/>
              <a:t>TU </a:t>
            </a:r>
            <a:r>
              <a:rPr lang="en-US" sz="1400" dirty="0" smtClean="0"/>
              <a:t>Dortmund and </a:t>
            </a:r>
            <a:r>
              <a:rPr lang="en-US" sz="1400" b="1" dirty="0" smtClean="0"/>
              <a:t>Gerhard </a:t>
            </a:r>
            <a:r>
              <a:rPr lang="en-US" sz="1400" b="1" dirty="0"/>
              <a:t>Friedrich</a:t>
            </a:r>
          </a:p>
          <a:p>
            <a:pPr eaLnBrk="1" hangingPunct="1">
              <a:spcBef>
                <a:spcPts val="0"/>
              </a:spcBef>
            </a:pPr>
            <a:r>
              <a:rPr lang="en-US" sz="1400" dirty="0"/>
              <a:t>Alpen-Adria Universität Klagenfurt</a:t>
            </a:r>
          </a:p>
          <a:p>
            <a:pPr eaLnBrk="1" hangingPunct="1">
              <a:spcBef>
                <a:spcPts val="0"/>
              </a:spcBef>
            </a:pPr>
            <a:endParaRPr lang="en-US" sz="1400" dirty="0" smtClean="0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 descr="D:\projects\000-papers\general\habil\vortrag\material\recsys_also_bought.bmp"/>
          <p:cNvPicPr>
            <a:picLocks noChangeAspect="1" noChangeArrowheads="1"/>
          </p:cNvPicPr>
          <p:nvPr/>
        </p:nvPicPr>
        <p:blipFill>
          <a:blip r:embed="rId3"/>
          <a:srcRect r="410" b="593"/>
          <a:stretch>
            <a:fillRect/>
          </a:stretch>
        </p:blipFill>
        <p:spPr bwMode="auto">
          <a:xfrm>
            <a:off x="0" y="332656"/>
            <a:ext cx="9144000" cy="630699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08321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4000"/>
    </mc:Choice>
    <mc:Fallback xmlns="">
      <p:transition spd="slow" advTm="84000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 smtClean="0"/>
              <a:t>Recommender Systems</a:t>
            </a:r>
            <a:endParaRPr lang="en-AU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484784"/>
            <a:ext cx="8229600" cy="576064"/>
          </a:xfrm>
        </p:spPr>
        <p:txBody>
          <a:bodyPr>
            <a:normAutofit/>
          </a:bodyPr>
          <a:lstStyle/>
          <a:p>
            <a:r>
              <a:rPr lang="en-US" dirty="0" smtClean="0"/>
              <a:t>Application areas</a:t>
            </a:r>
          </a:p>
        </p:txBody>
      </p:sp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4202" y="2732291"/>
            <a:ext cx="2438027" cy="1519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9019" y="4725144"/>
            <a:ext cx="2906114" cy="11521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684" y="1917332"/>
            <a:ext cx="1505474" cy="21768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4202" y="1412776"/>
            <a:ext cx="2990850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684" y="4353559"/>
            <a:ext cx="3710397" cy="16287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832" y="1757974"/>
            <a:ext cx="1924050" cy="249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30345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the Social Web</a:t>
            </a:r>
            <a:endParaRPr lang="en-US" dirty="0"/>
          </a:p>
        </p:txBody>
      </p:sp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904" y="1313136"/>
            <a:ext cx="4176464" cy="11523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0017" y="2618978"/>
            <a:ext cx="2672184" cy="17814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487" b="40877"/>
          <a:stretch/>
        </p:blipFill>
        <p:spPr bwMode="auto">
          <a:xfrm>
            <a:off x="3779912" y="4556140"/>
            <a:ext cx="3453443" cy="12491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5" y="1604564"/>
            <a:ext cx="1859493" cy="29515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61182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Even more …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Personalized search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"Computational advertising"</a:t>
            </a:r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348880"/>
            <a:ext cx="8507591" cy="7357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6" name="Gruppieren 5"/>
          <p:cNvGrpSpPr/>
          <p:nvPr/>
        </p:nvGrpSpPr>
        <p:grpSpPr>
          <a:xfrm>
            <a:off x="817877" y="4005064"/>
            <a:ext cx="5089161" cy="2009775"/>
            <a:chOff x="817877" y="4005064"/>
            <a:chExt cx="5089161" cy="2009775"/>
          </a:xfrm>
        </p:grpSpPr>
        <p:grpSp>
          <p:nvGrpSpPr>
            <p:cNvPr id="5" name="Gruppieren 4"/>
            <p:cNvGrpSpPr/>
            <p:nvPr/>
          </p:nvGrpSpPr>
          <p:grpSpPr>
            <a:xfrm>
              <a:off x="817877" y="4355244"/>
              <a:ext cx="2286000" cy="1141942"/>
              <a:chOff x="827584" y="4212621"/>
              <a:chExt cx="2286000" cy="1141942"/>
            </a:xfrm>
          </p:grpSpPr>
          <p:pic>
            <p:nvPicPr>
              <p:cNvPr id="4099" name="Picture 3"/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27584" y="4221088"/>
                <a:ext cx="2286000" cy="113347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4" name="Abgerundetes Rechteck 3"/>
              <p:cNvSpPr/>
              <p:nvPr/>
            </p:nvSpPr>
            <p:spPr>
              <a:xfrm>
                <a:off x="1272371" y="4212621"/>
                <a:ext cx="710952" cy="216024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pic>
          <p:nvPicPr>
            <p:cNvPr id="4100" name="Picture 4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63888" y="4005064"/>
              <a:ext cx="2343150" cy="20097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244259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Calibri" pitchFamily="34" charset="0"/>
              </a:rPr>
              <a:t>About the speakers</a:t>
            </a:r>
            <a:endParaRPr lang="en-US" dirty="0">
              <a:latin typeface="Calibri" pitchFamily="34" charset="0"/>
            </a:endParaRP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Calibri" pitchFamily="34" charset="0"/>
              </a:rPr>
              <a:t>Gerhard Friedrich</a:t>
            </a:r>
          </a:p>
          <a:p>
            <a:pPr lvl="1"/>
            <a:r>
              <a:rPr lang="en-US" dirty="0" smtClean="0">
                <a:latin typeface="Calibri" pitchFamily="34" charset="0"/>
              </a:rPr>
              <a:t>Professor at University Klagenfurt, Austria</a:t>
            </a:r>
          </a:p>
          <a:p>
            <a:pPr>
              <a:spcBef>
                <a:spcPts val="1200"/>
              </a:spcBef>
            </a:pPr>
            <a:r>
              <a:rPr lang="en-US" dirty="0" smtClean="0">
                <a:latin typeface="Calibri" pitchFamily="34" charset="0"/>
              </a:rPr>
              <a:t>Dietmar Jannach</a:t>
            </a:r>
          </a:p>
          <a:p>
            <a:pPr lvl="1"/>
            <a:r>
              <a:rPr lang="en-US" dirty="0" smtClean="0">
                <a:latin typeface="Calibri" pitchFamily="34" charset="0"/>
              </a:rPr>
              <a:t>Professor at TU Dortmund, Germany</a:t>
            </a:r>
          </a:p>
          <a:p>
            <a:r>
              <a:rPr lang="en-US" dirty="0" smtClean="0">
                <a:latin typeface="Calibri" pitchFamily="34" charset="0"/>
              </a:rPr>
              <a:t>Research background and interests</a:t>
            </a:r>
          </a:p>
          <a:p>
            <a:pPr lvl="1"/>
            <a:r>
              <a:rPr lang="en-US" dirty="0" smtClean="0">
                <a:latin typeface="Calibri" pitchFamily="34" charset="0"/>
              </a:rPr>
              <a:t>Application of Intelligent Systems technology in business</a:t>
            </a:r>
          </a:p>
          <a:p>
            <a:pPr lvl="2"/>
            <a:r>
              <a:rPr lang="en-US" dirty="0" smtClean="0">
                <a:latin typeface="Calibri" pitchFamily="34" charset="0"/>
              </a:rPr>
              <a:t>Recommender systems implementation &amp; evaluation</a:t>
            </a:r>
          </a:p>
          <a:p>
            <a:pPr lvl="2"/>
            <a:r>
              <a:rPr lang="en-US" dirty="0" smtClean="0">
                <a:latin typeface="Calibri" pitchFamily="34" charset="0"/>
              </a:rPr>
              <a:t>Product configuration systems</a:t>
            </a:r>
          </a:p>
          <a:p>
            <a:pPr lvl="2"/>
            <a:r>
              <a:rPr lang="en-US" dirty="0" smtClean="0">
                <a:latin typeface="Calibri" pitchFamily="34" charset="0"/>
              </a:rPr>
              <a:t>Web mining</a:t>
            </a:r>
          </a:p>
          <a:p>
            <a:pPr lvl="2"/>
            <a:r>
              <a:rPr lang="en-US" dirty="0" smtClean="0">
                <a:latin typeface="Calibri" pitchFamily="34" charset="0"/>
              </a:rPr>
              <a:t>Operations research</a:t>
            </a:r>
          </a:p>
          <a:p>
            <a:pPr lvl="2"/>
            <a:endParaRPr lang="en-US" dirty="0">
              <a:latin typeface="Calibri" pitchFamily="34" charset="0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Agenda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03367"/>
            <a:ext cx="8229600" cy="4689929"/>
          </a:xfrm>
        </p:spPr>
        <p:txBody>
          <a:bodyPr>
            <a:normAutofit/>
          </a:bodyPr>
          <a:lstStyle/>
          <a:p>
            <a:r>
              <a:rPr lang="en-US" dirty="0" smtClean="0"/>
              <a:t>What are recommender systems for?</a:t>
            </a:r>
          </a:p>
          <a:p>
            <a:pPr lvl="1"/>
            <a:r>
              <a:rPr lang="en-US" dirty="0" smtClean="0"/>
              <a:t>Introduction</a:t>
            </a:r>
          </a:p>
          <a:p>
            <a:r>
              <a:rPr lang="en-US" dirty="0" smtClean="0"/>
              <a:t>How do they work (Part I) ?</a:t>
            </a:r>
          </a:p>
          <a:p>
            <a:pPr lvl="1"/>
            <a:r>
              <a:rPr lang="en-US" dirty="0" smtClean="0"/>
              <a:t>Collaborative Filtering</a:t>
            </a:r>
          </a:p>
          <a:p>
            <a:r>
              <a:rPr lang="en-US" dirty="0"/>
              <a:t>How to measure their success?</a:t>
            </a:r>
          </a:p>
          <a:p>
            <a:pPr lvl="1"/>
            <a:r>
              <a:rPr lang="en-US" dirty="0"/>
              <a:t>Evaluation </a:t>
            </a:r>
            <a:r>
              <a:rPr lang="en-US" dirty="0" smtClean="0"/>
              <a:t>techniques</a:t>
            </a:r>
          </a:p>
          <a:p>
            <a:r>
              <a:rPr lang="en-US" dirty="0"/>
              <a:t>How do they work (Part </a:t>
            </a:r>
            <a:r>
              <a:rPr lang="en-US" dirty="0" smtClean="0"/>
              <a:t>II</a:t>
            </a:r>
            <a:r>
              <a:rPr lang="en-US" dirty="0"/>
              <a:t>) ?</a:t>
            </a:r>
          </a:p>
          <a:p>
            <a:pPr lvl="1"/>
            <a:r>
              <a:rPr lang="en-US" dirty="0" smtClean="0"/>
              <a:t>Content-based Filtering</a:t>
            </a:r>
          </a:p>
          <a:p>
            <a:pPr lvl="1"/>
            <a:r>
              <a:rPr lang="en-US" dirty="0" smtClean="0"/>
              <a:t>Knowledge-Based Recommendations</a:t>
            </a:r>
          </a:p>
          <a:p>
            <a:pPr lvl="1"/>
            <a:r>
              <a:rPr lang="en-US" dirty="0" smtClean="0"/>
              <a:t>Hybridization Strategies</a:t>
            </a:r>
          </a:p>
          <a:p>
            <a:r>
              <a:rPr lang="en-US" dirty="0" smtClean="0"/>
              <a:t>Advanced topics </a:t>
            </a:r>
          </a:p>
          <a:p>
            <a:pPr lvl="1"/>
            <a:r>
              <a:rPr lang="en-US" dirty="0" smtClean="0"/>
              <a:t>Explanations</a:t>
            </a:r>
          </a:p>
          <a:p>
            <a:pPr lvl="1"/>
            <a:r>
              <a:rPr lang="en-US" dirty="0" smtClean="0"/>
              <a:t>Human decision making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40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40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0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0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40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40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40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409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40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0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409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409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409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409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/>
        </p:nvSpPr>
        <p:spPr>
          <a:xfrm>
            <a:off x="1285852" y="2643182"/>
            <a:ext cx="6643734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/>
            <a:r>
              <a:rPr lang="en-US" sz="3600" dirty="0" smtClean="0">
                <a:ln>
                  <a:prstDash val="solid"/>
                </a:ln>
                <a:solidFill>
                  <a:srgbClr val="002060"/>
                </a:solidFill>
                <a:effectLst>
                  <a:outerShdw blurRad="88000" dist="50800" dir="5040000" algn="tl">
                    <a:schemeClr val="accent4">
                      <a:tint val="80000"/>
                      <a:satMod val="250000"/>
                      <a:alpha val="45000"/>
                    </a:schemeClr>
                  </a:outerShdw>
                </a:effectLst>
                <a:latin typeface="Calibri" pitchFamily="34" charset="0"/>
              </a:rPr>
              <a:t>Introduction</a:t>
            </a:r>
            <a:endParaRPr lang="en-US" sz="3600" dirty="0">
              <a:ln>
                <a:prstDash val="solid"/>
              </a:ln>
              <a:solidFill>
                <a:srgbClr val="002060"/>
              </a:solidFill>
              <a:effectLst>
                <a:outerShdw blurRad="88000" dist="50800" dir="5040000" algn="tl">
                  <a:schemeClr val="accent4">
                    <a:tint val="80000"/>
                    <a:satMod val="250000"/>
                    <a:alpha val="45000"/>
                  </a:schemeClr>
                </a:outerShdw>
              </a:effectLst>
              <a:latin typeface="Calibri" pitchFamily="34" charset="0"/>
            </a:endParaRPr>
          </a:p>
        </p:txBody>
      </p:sp>
      <p:pic>
        <p:nvPicPr>
          <p:cNvPr id="5" name="Picture 2" descr="D:\projects\000-papers\general\acmsac10\slides\Bigstock_3403911.jpg"/>
          <p:cNvPicPr>
            <a:picLocks noChangeAspect="1" noChangeArrowheads="1"/>
          </p:cNvPicPr>
          <p:nvPr/>
        </p:nvPicPr>
        <p:blipFill>
          <a:blip r:embed="rId3" cstate="print"/>
          <a:srcRect b="8387"/>
          <a:stretch>
            <a:fillRect/>
          </a:stretch>
        </p:blipFill>
        <p:spPr bwMode="auto">
          <a:xfrm>
            <a:off x="5332266" y="4220609"/>
            <a:ext cx="3811734" cy="262292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4826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using Recommender Systems?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67544" y="1340768"/>
            <a:ext cx="8229600" cy="4525963"/>
          </a:xfrm>
        </p:spPr>
        <p:txBody>
          <a:bodyPr/>
          <a:lstStyle/>
          <a:p>
            <a:r>
              <a:rPr lang="en-US" dirty="0" smtClean="0"/>
              <a:t>Value for the customer</a:t>
            </a:r>
          </a:p>
          <a:p>
            <a:pPr lvl="1"/>
            <a:r>
              <a:rPr lang="en-US" dirty="0" smtClean="0"/>
              <a:t>Find things that are interesting</a:t>
            </a:r>
          </a:p>
          <a:p>
            <a:pPr lvl="1"/>
            <a:r>
              <a:rPr lang="en-US" dirty="0" smtClean="0"/>
              <a:t>Narrow down the set of choices</a:t>
            </a:r>
          </a:p>
          <a:p>
            <a:pPr lvl="1"/>
            <a:r>
              <a:rPr lang="en-US" dirty="0" smtClean="0"/>
              <a:t>Help me explore the space of options</a:t>
            </a:r>
          </a:p>
          <a:p>
            <a:pPr lvl="1"/>
            <a:r>
              <a:rPr lang="en-US" dirty="0" smtClean="0"/>
              <a:t>Discover new things</a:t>
            </a:r>
          </a:p>
          <a:p>
            <a:pPr lvl="1"/>
            <a:r>
              <a:rPr lang="en-US" dirty="0" smtClean="0"/>
              <a:t>Entertainment</a:t>
            </a:r>
          </a:p>
          <a:p>
            <a:pPr lvl="1"/>
            <a:r>
              <a:rPr lang="en-US" dirty="0" smtClean="0"/>
              <a:t>…</a:t>
            </a:r>
          </a:p>
          <a:p>
            <a:r>
              <a:rPr lang="en-US" dirty="0" smtClean="0"/>
              <a:t>Value for the provider</a:t>
            </a:r>
          </a:p>
          <a:p>
            <a:pPr lvl="1"/>
            <a:r>
              <a:rPr lang="en-US" dirty="0" smtClean="0"/>
              <a:t>Additional and probably unique personalized service for the customer</a:t>
            </a:r>
          </a:p>
          <a:p>
            <a:pPr lvl="1"/>
            <a:r>
              <a:rPr lang="en-US" dirty="0" smtClean="0"/>
              <a:t>Increase trust and customer loyalty</a:t>
            </a:r>
          </a:p>
          <a:p>
            <a:pPr lvl="1"/>
            <a:r>
              <a:rPr lang="en-US" dirty="0" smtClean="0"/>
              <a:t>Increase sales, click trough rates, conversion etc.</a:t>
            </a:r>
          </a:p>
          <a:p>
            <a:pPr lvl="1"/>
            <a:r>
              <a:rPr lang="en-US" dirty="0" smtClean="0"/>
              <a:t>Opportunities for promotion, persuasion</a:t>
            </a:r>
          </a:p>
          <a:p>
            <a:pPr lvl="1"/>
            <a:r>
              <a:rPr lang="en-US" dirty="0" smtClean="0"/>
              <a:t>Obtain more knowledge about customers</a:t>
            </a:r>
          </a:p>
          <a:p>
            <a:pPr lvl="1"/>
            <a:r>
              <a:rPr lang="en-US" dirty="0" smtClean="0"/>
              <a:t>…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4415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Real-world check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Myths from industry</a:t>
            </a:r>
          </a:p>
          <a:p>
            <a:pPr lvl="1"/>
            <a:r>
              <a:rPr lang="en-US" dirty="0" smtClean="0"/>
              <a:t>Amazon.com generates X percent of their sales through the recommendation lists (30 &lt; X &lt; 70)</a:t>
            </a:r>
          </a:p>
          <a:p>
            <a:pPr lvl="1"/>
            <a:r>
              <a:rPr lang="en-US" dirty="0" smtClean="0"/>
              <a:t>Netflix (DVD rental and movie streaming) generates X percent of </a:t>
            </a:r>
            <a:r>
              <a:rPr lang="en-US" dirty="0"/>
              <a:t>their sales through the recommendation lists (30 &lt; X &lt; 70</a:t>
            </a:r>
            <a:r>
              <a:rPr lang="en-US" dirty="0" smtClean="0"/>
              <a:t>)</a:t>
            </a:r>
          </a:p>
          <a:p>
            <a:r>
              <a:rPr lang="en-US" dirty="0" smtClean="0"/>
              <a:t>There must be some value in it</a:t>
            </a:r>
          </a:p>
          <a:p>
            <a:pPr lvl="1"/>
            <a:r>
              <a:rPr lang="en-US" dirty="0" smtClean="0"/>
              <a:t>See recommendation of groups, jobs or people on LinkedIn</a:t>
            </a:r>
          </a:p>
          <a:p>
            <a:pPr lvl="1"/>
            <a:r>
              <a:rPr lang="en-US" dirty="0" smtClean="0"/>
              <a:t>Friend recommendation and ad personalization on Facebook</a:t>
            </a:r>
          </a:p>
          <a:p>
            <a:pPr lvl="1"/>
            <a:r>
              <a:rPr lang="en-US" dirty="0" smtClean="0"/>
              <a:t>Song recommendation at last.fm</a:t>
            </a:r>
          </a:p>
          <a:p>
            <a:pPr lvl="1"/>
            <a:r>
              <a:rPr lang="en-US" dirty="0" smtClean="0"/>
              <a:t>News recommendation at Forbes.com (plus 37% CTR)</a:t>
            </a:r>
          </a:p>
          <a:p>
            <a:r>
              <a:rPr lang="en-US" dirty="0" smtClean="0"/>
              <a:t>Academia</a:t>
            </a:r>
          </a:p>
          <a:p>
            <a:pPr lvl="1"/>
            <a:r>
              <a:rPr lang="en-US" dirty="0" smtClean="0"/>
              <a:t>A few studies exist that show the effect</a:t>
            </a:r>
          </a:p>
          <a:p>
            <a:pPr lvl="2"/>
            <a:r>
              <a:rPr lang="en-US" dirty="0" smtClean="0"/>
              <a:t>increased sales, changes in sales behavior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5067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/>
        </p:nvSpPr>
        <p:spPr bwMode="auto">
          <a:xfrm>
            <a:off x="323528" y="2852936"/>
            <a:ext cx="7429157" cy="1749880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9218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domain</a:t>
            </a:r>
          </a:p>
        </p:txBody>
      </p:sp>
      <p:sp>
        <p:nvSpPr>
          <p:cNvPr id="9219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Recommendation systems (RS) help to match users with items</a:t>
            </a:r>
          </a:p>
          <a:p>
            <a:pPr lvl="1"/>
            <a:r>
              <a:rPr lang="en-US" dirty="0" smtClean="0"/>
              <a:t>Ease information overload</a:t>
            </a:r>
          </a:p>
          <a:p>
            <a:pPr lvl="1"/>
            <a:r>
              <a:rPr lang="en-US" dirty="0" smtClean="0"/>
              <a:t>Sales assistance (guidance, advisory, persuasion,…)</a:t>
            </a:r>
          </a:p>
          <a:p>
            <a:pPr marL="457200" lvl="1" indent="0">
              <a:buNone/>
            </a:pPr>
            <a:endParaRPr lang="en-US" i="1" dirty="0" smtClean="0">
              <a:cs typeface="Calibri" pitchFamily="34" charset="0"/>
            </a:endParaRPr>
          </a:p>
          <a:p>
            <a:pPr marL="0" lvl="1" indent="0">
              <a:buNone/>
            </a:pPr>
            <a:r>
              <a:rPr lang="en-US" i="1" dirty="0" smtClean="0">
                <a:cs typeface="Calibri" pitchFamily="34" charset="0"/>
              </a:rPr>
              <a:t>RS are software agents that elicit the interests and preferences of individual consumers […] and make recommendations accordingly. </a:t>
            </a:r>
          </a:p>
          <a:p>
            <a:pPr marL="0" lvl="1" indent="0">
              <a:buNone/>
            </a:pPr>
            <a:r>
              <a:rPr lang="en-US" i="1" dirty="0" smtClean="0">
                <a:cs typeface="Calibri" pitchFamily="34" charset="0"/>
              </a:rPr>
              <a:t>They have the potential to support and improve the quality of the </a:t>
            </a:r>
            <a:br>
              <a:rPr lang="en-US" i="1" dirty="0" smtClean="0">
                <a:cs typeface="Calibri" pitchFamily="34" charset="0"/>
              </a:rPr>
            </a:br>
            <a:r>
              <a:rPr lang="en-US" i="1" dirty="0" smtClean="0">
                <a:cs typeface="Calibri" pitchFamily="34" charset="0"/>
              </a:rPr>
              <a:t>decisions consumers make while searching for and selecting products online</a:t>
            </a:r>
            <a:r>
              <a:rPr lang="en-US" dirty="0" smtClean="0">
                <a:cs typeface="Calibri" pitchFamily="34" charset="0"/>
              </a:rPr>
              <a:t>.</a:t>
            </a:r>
          </a:p>
          <a:p>
            <a:pPr lvl="8"/>
            <a:r>
              <a:rPr lang="en-US" sz="1400" dirty="0" smtClean="0">
                <a:latin typeface="Calibri" pitchFamily="34" charset="0"/>
                <a:cs typeface="Calibri" pitchFamily="34" charset="0"/>
              </a:rPr>
              <a:t>[Xiao &amp; </a:t>
            </a:r>
            <a:r>
              <a:rPr lang="en-US" sz="1400" dirty="0" err="1" smtClean="0">
                <a:latin typeface="Calibri" pitchFamily="34" charset="0"/>
                <a:cs typeface="Calibri" pitchFamily="34" charset="0"/>
              </a:rPr>
              <a:t>Benbasat</a:t>
            </a:r>
            <a:r>
              <a:rPr lang="en-US" sz="1400" dirty="0" smtClean="0">
                <a:latin typeface="Calibri" pitchFamily="34" charset="0"/>
                <a:cs typeface="Calibri" pitchFamily="34" charset="0"/>
              </a:rPr>
              <a:t>, MISQ,</a:t>
            </a:r>
            <a:r>
              <a:rPr lang="en-US" sz="1400" dirty="0" smtClean="0"/>
              <a:t> 2007]</a:t>
            </a:r>
          </a:p>
          <a:p>
            <a:endParaRPr lang="en-US" sz="600" dirty="0" smtClean="0"/>
          </a:p>
          <a:p>
            <a:r>
              <a:rPr lang="en-US" dirty="0" smtClean="0"/>
              <a:t>Different system designs / paradigms</a:t>
            </a:r>
          </a:p>
          <a:p>
            <a:pPr lvl="1"/>
            <a:r>
              <a:rPr lang="en-US" dirty="0" smtClean="0"/>
              <a:t>Based on availability of exploitable data</a:t>
            </a:r>
          </a:p>
          <a:p>
            <a:pPr lvl="1"/>
            <a:r>
              <a:rPr lang="en-US" dirty="0" smtClean="0"/>
              <a:t>Implicit and explicit user feedback</a:t>
            </a:r>
          </a:p>
          <a:p>
            <a:pPr lvl="1"/>
            <a:r>
              <a:rPr lang="en-US" dirty="0" smtClean="0"/>
              <a:t>Domain characteristics</a:t>
            </a:r>
          </a:p>
          <a:p>
            <a:pPr lvl="1"/>
            <a:endParaRPr lang="en-US" dirty="0" smtClean="0"/>
          </a:p>
          <a:p>
            <a:endParaRPr lang="en-US" dirty="0" smtClean="0"/>
          </a:p>
          <a:p>
            <a:pPr marL="0" indent="0">
              <a:buNone/>
            </a:pPr>
            <a:endParaRPr lang="en-US" dirty="0" smtClean="0"/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336" y="2209800"/>
            <a:ext cx="998240" cy="998240"/>
          </a:xfrm>
          <a:prstGeom prst="rect">
            <a:avLst/>
          </a:prstGeom>
        </p:spPr>
      </p:pic>
      <p:grpSp>
        <p:nvGrpSpPr>
          <p:cNvPr id="4" name="Gruppieren 3"/>
          <p:cNvGrpSpPr/>
          <p:nvPr/>
        </p:nvGrpSpPr>
        <p:grpSpPr>
          <a:xfrm>
            <a:off x="7749152" y="3236499"/>
            <a:ext cx="692608" cy="1366317"/>
            <a:chOff x="7164288" y="3169940"/>
            <a:chExt cx="1225451" cy="2417465"/>
          </a:xfrm>
        </p:grpSpPr>
        <p:pic>
          <p:nvPicPr>
            <p:cNvPr id="3" name="Grafik 2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7164288" y="3169940"/>
              <a:ext cx="1219200" cy="1219200"/>
            </a:xfrm>
            <a:prstGeom prst="rect">
              <a:avLst/>
            </a:prstGeom>
          </p:spPr>
        </p:pic>
        <p:pic>
          <p:nvPicPr>
            <p:cNvPr id="6" name="Grafik 5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 flipH="1">
              <a:off x="7170539" y="4368205"/>
              <a:ext cx="1219200" cy="1219200"/>
            </a:xfrm>
            <a:prstGeom prst="rect">
              <a:avLst/>
            </a:prstGeom>
          </p:spPr>
        </p:pic>
      </p:grpSp>
      <p:pic>
        <p:nvPicPr>
          <p:cNvPr id="5" name="Grafik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336" y="4725144"/>
            <a:ext cx="998240" cy="9982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Recommender systems 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RS seen as a function </a:t>
            </a:r>
            <a:r>
              <a:rPr lang="en-US" sz="1200" b="0" kern="1200" dirty="0" smtClean="0">
                <a:solidFill>
                  <a:schemeClr val="tx1"/>
                </a:solidFill>
                <a:latin typeface="Verdana" pitchFamily="34" charset="0"/>
              </a:rPr>
              <a:t>[AT05]</a:t>
            </a:r>
            <a:endParaRPr lang="en-US" dirty="0" smtClean="0"/>
          </a:p>
          <a:p>
            <a:r>
              <a:rPr lang="en-US" dirty="0" smtClean="0"/>
              <a:t>Given:</a:t>
            </a:r>
          </a:p>
          <a:p>
            <a:pPr lvl="1"/>
            <a:r>
              <a:rPr lang="en-US" dirty="0" smtClean="0"/>
              <a:t>User model (e.g. ratings, preferences, demographics, situational context)</a:t>
            </a:r>
          </a:p>
          <a:p>
            <a:pPr lvl="1"/>
            <a:r>
              <a:rPr lang="en-US" dirty="0" smtClean="0"/>
              <a:t>Items (with or without description of item characteristics)</a:t>
            </a:r>
          </a:p>
          <a:p>
            <a:r>
              <a:rPr lang="en-US" dirty="0" smtClean="0"/>
              <a:t>Find:</a:t>
            </a:r>
          </a:p>
          <a:p>
            <a:pPr lvl="1"/>
            <a:r>
              <a:rPr lang="en-US" dirty="0" smtClean="0"/>
              <a:t>Relevance score. Used for ranking.</a:t>
            </a:r>
          </a:p>
          <a:p>
            <a:r>
              <a:rPr lang="en-US" dirty="0" smtClean="0"/>
              <a:t>Finally:</a:t>
            </a:r>
          </a:p>
          <a:p>
            <a:pPr lvl="1"/>
            <a:r>
              <a:rPr lang="en-US" dirty="0" smtClean="0"/>
              <a:t>Recommend items that are assumed to be relevant</a:t>
            </a:r>
          </a:p>
          <a:p>
            <a:r>
              <a:rPr lang="en-US" dirty="0" smtClean="0"/>
              <a:t>But:</a:t>
            </a:r>
          </a:p>
          <a:p>
            <a:pPr lvl="1"/>
            <a:r>
              <a:rPr lang="en-US" dirty="0" smtClean="0"/>
              <a:t>Remember that relevance might be context-dependent</a:t>
            </a:r>
          </a:p>
          <a:p>
            <a:pPr lvl="1"/>
            <a:r>
              <a:rPr lang="en-US" dirty="0" smtClean="0"/>
              <a:t>Characteristics of the list itself might be important </a:t>
            </a:r>
            <a:r>
              <a:rPr lang="en-US" smtClean="0"/>
              <a:t>(diversity)</a:t>
            </a:r>
            <a:endParaRPr lang="en-US" dirty="0" smtClean="0"/>
          </a:p>
          <a:p>
            <a:endParaRPr lang="en-US" dirty="0" smtClean="0"/>
          </a:p>
          <a:p>
            <a:endParaRPr 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4081981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Paradigms of recommender systems</a:t>
            </a:r>
          </a:p>
        </p:txBody>
      </p:sp>
      <p:grpSp>
        <p:nvGrpSpPr>
          <p:cNvPr id="2" name="Gruppieren 12"/>
          <p:cNvGrpSpPr>
            <a:grpSpLocks/>
          </p:cNvGrpSpPr>
          <p:nvPr/>
        </p:nvGrpSpPr>
        <p:grpSpPr bwMode="auto">
          <a:xfrm>
            <a:off x="4071938" y="3000375"/>
            <a:ext cx="4181475" cy="1547813"/>
            <a:chOff x="4786314" y="3071810"/>
            <a:chExt cx="4181496" cy="1547815"/>
          </a:xfrm>
        </p:grpSpPr>
        <p:pic>
          <p:nvPicPr>
            <p:cNvPr id="10246" name="Grafik 5" descr="Box.png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786314" y="3214686"/>
              <a:ext cx="1643074" cy="13650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247" name="Grafik 6" descr="Outputarrow.png"/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6215074" y="3500438"/>
              <a:ext cx="1129063" cy="2190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248" name="Grafik 7" descr="Output.png"/>
            <p:cNvPicPr>
              <a:picLocks noChangeAspect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7358082" y="3071810"/>
              <a:ext cx="1609728" cy="15478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0244" name="Rechteck 31"/>
          <p:cNvSpPr>
            <a:spLocks noChangeArrowheads="1"/>
          </p:cNvSpPr>
          <p:nvPr/>
        </p:nvSpPr>
        <p:spPr bwMode="auto">
          <a:xfrm>
            <a:off x="4286250" y="1643063"/>
            <a:ext cx="457200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dirty="0">
                <a:solidFill>
                  <a:srgbClr val="003366"/>
                </a:solidFill>
                <a:latin typeface="Calibri" pitchFamily="34" charset="0"/>
              </a:rPr>
              <a:t>Recommender systems reduce information overload by estimating relevance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Paradigms of recommender systems</a:t>
            </a:r>
          </a:p>
        </p:txBody>
      </p:sp>
      <p:grpSp>
        <p:nvGrpSpPr>
          <p:cNvPr id="2" name="Gruppieren 12"/>
          <p:cNvGrpSpPr>
            <a:grpSpLocks/>
          </p:cNvGrpSpPr>
          <p:nvPr/>
        </p:nvGrpSpPr>
        <p:grpSpPr bwMode="auto">
          <a:xfrm>
            <a:off x="4071938" y="3000375"/>
            <a:ext cx="4181475" cy="1547813"/>
            <a:chOff x="4786314" y="3071810"/>
            <a:chExt cx="4181496" cy="1547815"/>
          </a:xfrm>
        </p:grpSpPr>
        <p:pic>
          <p:nvPicPr>
            <p:cNvPr id="11273" name="Grafik 5" descr="Box.png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786314" y="3214686"/>
              <a:ext cx="1643074" cy="13650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1274" name="Grafik 6" descr="Outputarrow.png"/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6215074" y="3500438"/>
              <a:ext cx="1129063" cy="2190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1275" name="Grafik 7" descr="Output.png"/>
            <p:cNvPicPr>
              <a:picLocks noChangeAspect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7358082" y="3071810"/>
              <a:ext cx="1609728" cy="15478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3" name="Gruppieren 13"/>
          <p:cNvGrpSpPr>
            <a:grpSpLocks/>
          </p:cNvGrpSpPr>
          <p:nvPr/>
        </p:nvGrpSpPr>
        <p:grpSpPr bwMode="auto">
          <a:xfrm>
            <a:off x="698500" y="1643063"/>
            <a:ext cx="3659188" cy="1296987"/>
            <a:chOff x="699167" y="1643050"/>
            <a:chExt cx="3658519" cy="1297164"/>
          </a:xfrm>
        </p:grpSpPr>
        <p:pic>
          <p:nvPicPr>
            <p:cNvPr id="11271" name="Grafik 10" descr="UM.png"/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699167" y="1643050"/>
              <a:ext cx="1801131" cy="9670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1272" name="Grafik 11" descr="UMarrow.png"/>
            <p:cNvPicPr>
              <a:picLocks noChangeAspect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2571736" y="2071678"/>
              <a:ext cx="1785950" cy="8685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1269" name="Rechteck 14"/>
          <p:cNvSpPr>
            <a:spLocks noChangeArrowheads="1"/>
          </p:cNvSpPr>
          <p:nvPr/>
        </p:nvSpPr>
        <p:spPr bwMode="auto">
          <a:xfrm>
            <a:off x="4286250" y="1500188"/>
            <a:ext cx="45720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dirty="0">
                <a:solidFill>
                  <a:srgbClr val="003366"/>
                </a:solidFill>
                <a:latin typeface="Calibri" pitchFamily="34" charset="0"/>
              </a:rPr>
              <a:t>Personalized recommendations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Paradigms of recommender systems</a:t>
            </a:r>
          </a:p>
        </p:txBody>
      </p:sp>
      <p:grpSp>
        <p:nvGrpSpPr>
          <p:cNvPr id="2" name="Gruppieren 12"/>
          <p:cNvGrpSpPr>
            <a:grpSpLocks/>
          </p:cNvGrpSpPr>
          <p:nvPr/>
        </p:nvGrpSpPr>
        <p:grpSpPr bwMode="auto">
          <a:xfrm>
            <a:off x="4071938" y="3000375"/>
            <a:ext cx="4181475" cy="1547813"/>
            <a:chOff x="4786314" y="3071810"/>
            <a:chExt cx="4181496" cy="1547815"/>
          </a:xfrm>
        </p:grpSpPr>
        <p:pic>
          <p:nvPicPr>
            <p:cNvPr id="12300" name="Grafik 5" descr="Box.png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786314" y="3214686"/>
              <a:ext cx="1643074" cy="13650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2301" name="Grafik 6" descr="Outputarrow.png"/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6215074" y="3500438"/>
              <a:ext cx="1129063" cy="2190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2302" name="Grafik 7" descr="Output.png"/>
            <p:cNvPicPr>
              <a:picLocks noChangeAspect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7358082" y="3071810"/>
              <a:ext cx="1609728" cy="15478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2292" name="Rechteck 8"/>
          <p:cNvSpPr>
            <a:spLocks noChangeArrowheads="1"/>
          </p:cNvSpPr>
          <p:nvPr/>
        </p:nvSpPr>
        <p:spPr bwMode="auto">
          <a:xfrm>
            <a:off x="4357688" y="1571625"/>
            <a:ext cx="45720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dirty="0">
                <a:solidFill>
                  <a:srgbClr val="003366"/>
                </a:solidFill>
                <a:latin typeface="Calibri" pitchFamily="34" charset="0"/>
              </a:rPr>
              <a:t>Collaborative: "Tell me what's popular among my peers"</a:t>
            </a:r>
          </a:p>
        </p:txBody>
      </p:sp>
      <p:grpSp>
        <p:nvGrpSpPr>
          <p:cNvPr id="3" name="Gruppieren 13"/>
          <p:cNvGrpSpPr>
            <a:grpSpLocks/>
          </p:cNvGrpSpPr>
          <p:nvPr/>
        </p:nvGrpSpPr>
        <p:grpSpPr bwMode="auto">
          <a:xfrm>
            <a:off x="698500" y="1643063"/>
            <a:ext cx="3659188" cy="1296987"/>
            <a:chOff x="699167" y="1643050"/>
            <a:chExt cx="3658519" cy="1297164"/>
          </a:xfrm>
        </p:grpSpPr>
        <p:pic>
          <p:nvPicPr>
            <p:cNvPr id="12298" name="Grafik 10" descr="UM.png"/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699167" y="1643050"/>
              <a:ext cx="1801131" cy="9670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2299" name="Grafik 11" descr="UMarrow.png"/>
            <p:cNvPicPr>
              <a:picLocks noChangeAspect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2571736" y="2071678"/>
              <a:ext cx="1785950" cy="8685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4" name="Gruppieren 18"/>
          <p:cNvGrpSpPr>
            <a:grpSpLocks/>
          </p:cNvGrpSpPr>
          <p:nvPr/>
        </p:nvGrpSpPr>
        <p:grpSpPr bwMode="auto">
          <a:xfrm>
            <a:off x="785813" y="2722563"/>
            <a:ext cx="3252787" cy="920750"/>
            <a:chOff x="857224" y="2722011"/>
            <a:chExt cx="3252812" cy="921303"/>
          </a:xfrm>
        </p:grpSpPr>
        <p:pic>
          <p:nvPicPr>
            <p:cNvPr id="12296" name="Grafik 16" descr="Commarrow.png"/>
            <p:cNvPicPr>
              <a:picLocks noChangeAspect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2143108" y="3143248"/>
              <a:ext cx="1966928" cy="5000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2297" name="Grafik 15" descr="Community.png"/>
            <p:cNvPicPr>
              <a:picLocks noChangeAspect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 bwMode="auto">
            <a:xfrm>
              <a:off x="857224" y="2722011"/>
              <a:ext cx="1428760" cy="8498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Paradigms of recommender systems</a:t>
            </a:r>
          </a:p>
        </p:txBody>
      </p:sp>
      <p:grpSp>
        <p:nvGrpSpPr>
          <p:cNvPr id="2" name="Gruppieren 12"/>
          <p:cNvGrpSpPr>
            <a:grpSpLocks/>
          </p:cNvGrpSpPr>
          <p:nvPr/>
        </p:nvGrpSpPr>
        <p:grpSpPr bwMode="auto">
          <a:xfrm>
            <a:off x="4071938" y="3000375"/>
            <a:ext cx="4181475" cy="1547813"/>
            <a:chOff x="4786314" y="3071810"/>
            <a:chExt cx="4181496" cy="1547815"/>
          </a:xfrm>
        </p:grpSpPr>
        <p:pic>
          <p:nvPicPr>
            <p:cNvPr id="13324" name="Grafik 5" descr="Box.png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786314" y="3214686"/>
              <a:ext cx="1643074" cy="13650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3325" name="Grafik 6" descr="Outputarrow.png"/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6215074" y="3500438"/>
              <a:ext cx="1129063" cy="2190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3326" name="Grafik 7" descr="Output.png"/>
            <p:cNvPicPr>
              <a:picLocks noChangeAspect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7358082" y="3071810"/>
              <a:ext cx="1609728" cy="15478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3" name="Gruppieren 13"/>
          <p:cNvGrpSpPr>
            <a:grpSpLocks/>
          </p:cNvGrpSpPr>
          <p:nvPr/>
        </p:nvGrpSpPr>
        <p:grpSpPr bwMode="auto">
          <a:xfrm>
            <a:off x="698500" y="1643063"/>
            <a:ext cx="3659188" cy="1296987"/>
            <a:chOff x="699167" y="1643050"/>
            <a:chExt cx="3658519" cy="1297164"/>
          </a:xfrm>
        </p:grpSpPr>
        <p:pic>
          <p:nvPicPr>
            <p:cNvPr id="13322" name="Grafik 10" descr="UM.png"/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699167" y="1643050"/>
              <a:ext cx="1801131" cy="9670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3323" name="Grafik 11" descr="UMarrow.png"/>
            <p:cNvPicPr>
              <a:picLocks noChangeAspect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2571736" y="2071678"/>
              <a:ext cx="1785950" cy="8685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3317" name="Rechteck 19"/>
          <p:cNvSpPr>
            <a:spLocks noChangeArrowheads="1"/>
          </p:cNvSpPr>
          <p:nvPr/>
        </p:nvSpPr>
        <p:spPr bwMode="auto">
          <a:xfrm>
            <a:off x="4286250" y="1428750"/>
            <a:ext cx="45720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dirty="0">
                <a:solidFill>
                  <a:srgbClr val="003366"/>
                </a:solidFill>
                <a:latin typeface="Calibri" pitchFamily="34" charset="0"/>
              </a:rPr>
              <a:t>Content-based: "Show me more of the same what I've liked</a:t>
            </a:r>
            <a:r>
              <a:rPr lang="en-US" sz="2400" b="0" dirty="0" smtClean="0"/>
              <a:t>"</a:t>
            </a:r>
            <a:endParaRPr lang="en-US" sz="2400" b="0" dirty="0"/>
          </a:p>
        </p:txBody>
      </p:sp>
      <p:grpSp>
        <p:nvGrpSpPr>
          <p:cNvPr id="4" name="Gruppieren 23"/>
          <p:cNvGrpSpPr>
            <a:grpSpLocks/>
          </p:cNvGrpSpPr>
          <p:nvPr/>
        </p:nvGrpSpPr>
        <p:grpSpPr bwMode="auto">
          <a:xfrm>
            <a:off x="714375" y="3857625"/>
            <a:ext cx="3143250" cy="739775"/>
            <a:chOff x="714348" y="3857628"/>
            <a:chExt cx="3143272" cy="739014"/>
          </a:xfrm>
        </p:grpSpPr>
        <p:pic>
          <p:nvPicPr>
            <p:cNvPr id="13320" name="Grafik 21" descr="PM.png"/>
            <p:cNvPicPr>
              <a:picLocks noChangeAspect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714348" y="3857628"/>
              <a:ext cx="1785950" cy="7390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3321" name="Grafik 22" descr="PMarrow.png"/>
            <p:cNvPicPr>
              <a:picLocks noChangeAspect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 bwMode="auto">
            <a:xfrm>
              <a:off x="2714612" y="3929066"/>
              <a:ext cx="1143008" cy="2857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Paradigms of recommender systems</a:t>
            </a:r>
          </a:p>
        </p:txBody>
      </p:sp>
      <p:grpSp>
        <p:nvGrpSpPr>
          <p:cNvPr id="2" name="Gruppieren 12"/>
          <p:cNvGrpSpPr>
            <a:grpSpLocks/>
          </p:cNvGrpSpPr>
          <p:nvPr/>
        </p:nvGrpSpPr>
        <p:grpSpPr bwMode="auto">
          <a:xfrm>
            <a:off x="4071938" y="3000375"/>
            <a:ext cx="4181475" cy="1547813"/>
            <a:chOff x="4786314" y="3071810"/>
            <a:chExt cx="4181496" cy="1547815"/>
          </a:xfrm>
        </p:grpSpPr>
        <p:pic>
          <p:nvPicPr>
            <p:cNvPr id="14351" name="Grafik 5" descr="Box.png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786314" y="3214686"/>
              <a:ext cx="1643074" cy="13650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4352" name="Grafik 6" descr="Outputarrow.png"/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6215074" y="3500438"/>
              <a:ext cx="1129063" cy="2190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4353" name="Grafik 7" descr="Output.png"/>
            <p:cNvPicPr>
              <a:picLocks noChangeAspect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7358082" y="3071810"/>
              <a:ext cx="1609728" cy="15478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3" name="Gruppieren 13"/>
          <p:cNvGrpSpPr>
            <a:grpSpLocks/>
          </p:cNvGrpSpPr>
          <p:nvPr/>
        </p:nvGrpSpPr>
        <p:grpSpPr bwMode="auto">
          <a:xfrm>
            <a:off x="698500" y="1643063"/>
            <a:ext cx="3659188" cy="1296987"/>
            <a:chOff x="699167" y="1643050"/>
            <a:chExt cx="3658519" cy="1297164"/>
          </a:xfrm>
        </p:grpSpPr>
        <p:pic>
          <p:nvPicPr>
            <p:cNvPr id="14349" name="Grafik 10" descr="UM.png"/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699167" y="1643050"/>
              <a:ext cx="1801131" cy="9670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4350" name="Grafik 11" descr="UMarrow.png"/>
            <p:cNvPicPr>
              <a:picLocks noChangeAspect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2571736" y="2071678"/>
              <a:ext cx="1785950" cy="8685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4" name="Gruppieren 23"/>
          <p:cNvGrpSpPr>
            <a:grpSpLocks/>
          </p:cNvGrpSpPr>
          <p:nvPr/>
        </p:nvGrpSpPr>
        <p:grpSpPr bwMode="auto">
          <a:xfrm>
            <a:off x="714375" y="3857625"/>
            <a:ext cx="3143250" cy="739775"/>
            <a:chOff x="714348" y="3857628"/>
            <a:chExt cx="3143272" cy="739014"/>
          </a:xfrm>
        </p:grpSpPr>
        <p:pic>
          <p:nvPicPr>
            <p:cNvPr id="14347" name="Grafik 21" descr="PM.png"/>
            <p:cNvPicPr>
              <a:picLocks noChangeAspect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714348" y="3857628"/>
              <a:ext cx="1785950" cy="7390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4348" name="Grafik 22" descr="PMarrow.png"/>
            <p:cNvPicPr>
              <a:picLocks noChangeAspect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 bwMode="auto">
            <a:xfrm>
              <a:off x="2714612" y="3929066"/>
              <a:ext cx="1143008" cy="2857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4342" name="Rechteck 24"/>
          <p:cNvSpPr>
            <a:spLocks noChangeArrowheads="1"/>
          </p:cNvSpPr>
          <p:nvPr/>
        </p:nvSpPr>
        <p:spPr bwMode="auto">
          <a:xfrm>
            <a:off x="4429125" y="1643063"/>
            <a:ext cx="45720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dirty="0">
                <a:solidFill>
                  <a:srgbClr val="003366"/>
                </a:solidFill>
                <a:latin typeface="Calibri" pitchFamily="34" charset="0"/>
              </a:rPr>
              <a:t>Knowledge-based: "Tell me what fits based on my needs"</a:t>
            </a:r>
          </a:p>
        </p:txBody>
      </p:sp>
      <p:grpSp>
        <p:nvGrpSpPr>
          <p:cNvPr id="5" name="Gruppieren 27"/>
          <p:cNvGrpSpPr>
            <a:grpSpLocks/>
          </p:cNvGrpSpPr>
          <p:nvPr/>
        </p:nvGrpSpPr>
        <p:grpSpPr bwMode="auto">
          <a:xfrm>
            <a:off x="750888" y="4500563"/>
            <a:ext cx="3349625" cy="1357312"/>
            <a:chOff x="751620" y="4500570"/>
            <a:chExt cx="3348404" cy="1357322"/>
          </a:xfrm>
        </p:grpSpPr>
        <p:pic>
          <p:nvPicPr>
            <p:cNvPr id="14345" name="Grafik 25" descr="KM.png"/>
            <p:cNvPicPr>
              <a:picLocks noChangeAspect="1"/>
            </p:cNvPicPr>
            <p:nvPr/>
          </p:nvPicPr>
          <p:blipFill>
            <a:blip r:embed="rId10"/>
            <a:srcRect/>
            <a:stretch>
              <a:fillRect/>
            </a:stretch>
          </p:blipFill>
          <p:spPr bwMode="auto">
            <a:xfrm>
              <a:off x="751620" y="5000636"/>
              <a:ext cx="1677240" cy="8572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4346" name="Grafik 26" descr="KMarrow.png"/>
            <p:cNvPicPr>
              <a:picLocks noChangeAspect="1"/>
            </p:cNvPicPr>
            <p:nvPr/>
          </p:nvPicPr>
          <p:blipFill>
            <a:blip r:embed="rId11"/>
            <a:srcRect/>
            <a:stretch>
              <a:fillRect/>
            </a:stretch>
          </p:blipFill>
          <p:spPr bwMode="auto">
            <a:xfrm>
              <a:off x="2428860" y="4500570"/>
              <a:ext cx="1671164" cy="10477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Paradigms of recommender systems</a:t>
            </a:r>
          </a:p>
        </p:txBody>
      </p:sp>
      <p:grpSp>
        <p:nvGrpSpPr>
          <p:cNvPr id="2" name="Gruppieren 12"/>
          <p:cNvGrpSpPr>
            <a:grpSpLocks/>
          </p:cNvGrpSpPr>
          <p:nvPr/>
        </p:nvGrpSpPr>
        <p:grpSpPr bwMode="auto">
          <a:xfrm>
            <a:off x="4071938" y="3000375"/>
            <a:ext cx="4181475" cy="1547813"/>
            <a:chOff x="4786314" y="3071810"/>
            <a:chExt cx="4181496" cy="1547815"/>
          </a:xfrm>
        </p:grpSpPr>
        <p:pic>
          <p:nvPicPr>
            <p:cNvPr id="15378" name="Grafik 5" descr="Box.png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786314" y="3214686"/>
              <a:ext cx="1643074" cy="13650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379" name="Grafik 6" descr="Outputarrow.png"/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6215074" y="3500438"/>
              <a:ext cx="1129063" cy="2190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380" name="Grafik 7" descr="Output.png"/>
            <p:cNvPicPr>
              <a:picLocks noChangeAspect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7358082" y="3071810"/>
              <a:ext cx="1609728" cy="15478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3" name="Gruppieren 13"/>
          <p:cNvGrpSpPr>
            <a:grpSpLocks/>
          </p:cNvGrpSpPr>
          <p:nvPr/>
        </p:nvGrpSpPr>
        <p:grpSpPr bwMode="auto">
          <a:xfrm>
            <a:off x="698500" y="1643063"/>
            <a:ext cx="3659188" cy="1296987"/>
            <a:chOff x="699167" y="1643050"/>
            <a:chExt cx="3658519" cy="1297164"/>
          </a:xfrm>
        </p:grpSpPr>
        <p:pic>
          <p:nvPicPr>
            <p:cNvPr id="15376" name="Grafik 10" descr="UM.png"/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699167" y="1643050"/>
              <a:ext cx="1801131" cy="9670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377" name="Grafik 11" descr="UMarrow.png"/>
            <p:cNvPicPr>
              <a:picLocks noChangeAspect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2571736" y="2071678"/>
              <a:ext cx="1785950" cy="8685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4" name="Gruppieren 18"/>
          <p:cNvGrpSpPr>
            <a:grpSpLocks/>
          </p:cNvGrpSpPr>
          <p:nvPr/>
        </p:nvGrpSpPr>
        <p:grpSpPr bwMode="auto">
          <a:xfrm>
            <a:off x="785813" y="2722563"/>
            <a:ext cx="3252787" cy="920750"/>
            <a:chOff x="857224" y="2722011"/>
            <a:chExt cx="3252812" cy="921303"/>
          </a:xfrm>
        </p:grpSpPr>
        <p:pic>
          <p:nvPicPr>
            <p:cNvPr id="15374" name="Grafik 16" descr="Commarrow.png"/>
            <p:cNvPicPr>
              <a:picLocks noChangeAspect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2143108" y="3143248"/>
              <a:ext cx="1966928" cy="5000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375" name="Grafik 15" descr="Community.png"/>
            <p:cNvPicPr>
              <a:picLocks noChangeAspect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 bwMode="auto">
            <a:xfrm>
              <a:off x="857224" y="2722011"/>
              <a:ext cx="1428760" cy="8498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5" name="Gruppieren 23"/>
          <p:cNvGrpSpPr>
            <a:grpSpLocks/>
          </p:cNvGrpSpPr>
          <p:nvPr/>
        </p:nvGrpSpPr>
        <p:grpSpPr bwMode="auto">
          <a:xfrm>
            <a:off x="714375" y="3857625"/>
            <a:ext cx="3143250" cy="739775"/>
            <a:chOff x="714348" y="3857628"/>
            <a:chExt cx="3143272" cy="739014"/>
          </a:xfrm>
        </p:grpSpPr>
        <p:pic>
          <p:nvPicPr>
            <p:cNvPr id="15372" name="Grafik 21" descr="PM.png"/>
            <p:cNvPicPr>
              <a:picLocks noChangeAspect="1"/>
            </p:cNvPicPr>
            <p:nvPr/>
          </p:nvPicPr>
          <p:blipFill>
            <a:blip r:embed="rId10"/>
            <a:srcRect/>
            <a:stretch>
              <a:fillRect/>
            </a:stretch>
          </p:blipFill>
          <p:spPr bwMode="auto">
            <a:xfrm>
              <a:off x="714348" y="3857628"/>
              <a:ext cx="1785950" cy="7390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373" name="Grafik 22" descr="PMarrow.png"/>
            <p:cNvPicPr>
              <a:picLocks noChangeAspect="1"/>
            </p:cNvPicPr>
            <p:nvPr/>
          </p:nvPicPr>
          <p:blipFill>
            <a:blip r:embed="rId11"/>
            <a:srcRect/>
            <a:stretch>
              <a:fillRect/>
            </a:stretch>
          </p:blipFill>
          <p:spPr bwMode="auto">
            <a:xfrm>
              <a:off x="2714612" y="3929066"/>
              <a:ext cx="1143008" cy="2857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6" name="Gruppieren 27"/>
          <p:cNvGrpSpPr>
            <a:grpSpLocks/>
          </p:cNvGrpSpPr>
          <p:nvPr/>
        </p:nvGrpSpPr>
        <p:grpSpPr bwMode="auto">
          <a:xfrm>
            <a:off x="750888" y="4500563"/>
            <a:ext cx="3349625" cy="1357312"/>
            <a:chOff x="751620" y="4500570"/>
            <a:chExt cx="3348404" cy="1357322"/>
          </a:xfrm>
        </p:grpSpPr>
        <p:pic>
          <p:nvPicPr>
            <p:cNvPr id="15370" name="Grafik 25" descr="KM.png"/>
            <p:cNvPicPr>
              <a:picLocks noChangeAspect="1"/>
            </p:cNvPicPr>
            <p:nvPr/>
          </p:nvPicPr>
          <p:blipFill>
            <a:blip r:embed="rId12"/>
            <a:srcRect/>
            <a:stretch>
              <a:fillRect/>
            </a:stretch>
          </p:blipFill>
          <p:spPr bwMode="auto">
            <a:xfrm>
              <a:off x="751620" y="5000636"/>
              <a:ext cx="1677240" cy="8572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5371" name="Grafik 26" descr="KMarrow.png"/>
            <p:cNvPicPr>
              <a:picLocks noChangeAspect="1"/>
            </p:cNvPicPr>
            <p:nvPr/>
          </p:nvPicPr>
          <p:blipFill>
            <a:blip r:embed="rId13"/>
            <a:srcRect/>
            <a:stretch>
              <a:fillRect/>
            </a:stretch>
          </p:blipFill>
          <p:spPr bwMode="auto">
            <a:xfrm>
              <a:off x="2428860" y="4500570"/>
              <a:ext cx="1671164" cy="10477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5368" name="Rechteck 28"/>
          <p:cNvSpPr>
            <a:spLocks noChangeArrowheads="1"/>
          </p:cNvSpPr>
          <p:nvPr/>
        </p:nvSpPr>
        <p:spPr bwMode="auto">
          <a:xfrm>
            <a:off x="4429125" y="1285875"/>
            <a:ext cx="457200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dirty="0">
                <a:solidFill>
                  <a:srgbClr val="003366"/>
                </a:solidFill>
                <a:latin typeface="Calibri" pitchFamily="34" charset="0"/>
              </a:rPr>
              <a:t>Hybrid: combinations of various inputs and/or composition of different mechanism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latin typeface="Calibri" pitchFamily="34" charset="0"/>
              </a:rPr>
              <a:t>Recommender systems: basic techniques</a:t>
            </a:r>
            <a:endParaRPr lang="en-US" dirty="0" smtClean="0">
              <a:latin typeface="Calibri" pitchFamily="34" charset="0"/>
            </a:endParaRPr>
          </a:p>
        </p:txBody>
      </p:sp>
      <p:graphicFrame>
        <p:nvGraphicFramePr>
          <p:cNvPr id="274473" name="Group 41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1165487189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table">
            <a:tbl>
              <a:tblPr/>
              <a:tblGrid>
                <a:gridCol w="2243138"/>
                <a:gridCol w="2663825"/>
                <a:gridCol w="3322637"/>
              </a:tblGrid>
              <a:tr h="3889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GB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3366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Pros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Cons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1318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Collaborative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No knowledge-engineering effort, serendipity of results, learns market segments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Requires some form of rating feedback, cold start for new users and new items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1303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Content-based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No community required, comparison between items possible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Content descriptions necessary, cold start for new users, no surprises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1318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Knowledge-based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Deterministic recommendations, assured quality, no cold-start, can resemble sales dialogue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3366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Knowledge engineering effort to bootstrap, basically static, does not react to short-term trends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pic>
        <p:nvPicPr>
          <p:cNvPr id="2" name="Grafik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6416" y="1662708"/>
            <a:ext cx="304800" cy="304800"/>
          </a:xfrm>
          <a:prstGeom prst="rect">
            <a:avLst/>
          </a:prstGeom>
        </p:spPr>
      </p:pic>
      <p:pic>
        <p:nvPicPr>
          <p:cNvPr id="3" name="Grafik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4048" y="1662708"/>
            <a:ext cx="304800" cy="304800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/>
        </p:nvSpPr>
        <p:spPr>
          <a:xfrm>
            <a:off x="1285852" y="2643182"/>
            <a:ext cx="6643734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/>
            <a:r>
              <a:rPr lang="en-US" sz="3600" dirty="0" smtClean="0">
                <a:ln>
                  <a:prstDash val="solid"/>
                </a:ln>
                <a:solidFill>
                  <a:srgbClr val="002060"/>
                </a:solidFill>
                <a:latin typeface="Calibri" pitchFamily="34" charset="0"/>
              </a:rPr>
              <a:t>Collaborative Filtering</a:t>
            </a:r>
            <a:endParaRPr lang="en-US" sz="3600" dirty="0">
              <a:ln>
                <a:prstDash val="solid"/>
              </a:ln>
              <a:solidFill>
                <a:srgbClr val="002060"/>
              </a:solidFill>
              <a:latin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Collaborative Filtering (CF)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most prominent approach to generate recommendations</a:t>
            </a:r>
          </a:p>
          <a:p>
            <a:pPr lvl="1"/>
            <a:r>
              <a:rPr lang="en-US" dirty="0" smtClean="0"/>
              <a:t>used by large, commercial e-commerce sites</a:t>
            </a:r>
          </a:p>
          <a:p>
            <a:pPr lvl="1"/>
            <a:r>
              <a:rPr lang="en-US" dirty="0" smtClean="0"/>
              <a:t>well-understood, various algorithms and variations exist</a:t>
            </a:r>
          </a:p>
          <a:p>
            <a:pPr lvl="1"/>
            <a:r>
              <a:rPr lang="en-US" dirty="0" smtClean="0"/>
              <a:t>applicable in many domains (book, movies, DVDs, ..)</a:t>
            </a:r>
          </a:p>
          <a:p>
            <a:r>
              <a:rPr lang="en-US" dirty="0" smtClean="0"/>
              <a:t>Approach</a:t>
            </a:r>
          </a:p>
          <a:p>
            <a:pPr lvl="1"/>
            <a:r>
              <a:rPr lang="en-US" dirty="0" smtClean="0"/>
              <a:t>use the "wisdom of the crowd" to recommend items</a:t>
            </a:r>
          </a:p>
          <a:p>
            <a:r>
              <a:rPr lang="en-US" dirty="0" smtClean="0"/>
              <a:t>Basic assumption and idea</a:t>
            </a:r>
          </a:p>
          <a:p>
            <a:pPr lvl="1"/>
            <a:r>
              <a:rPr lang="en-US" dirty="0" smtClean="0"/>
              <a:t>Users give ratings to catalog items (implicitly or explicitly)</a:t>
            </a:r>
          </a:p>
          <a:p>
            <a:pPr lvl="1"/>
            <a:r>
              <a:rPr lang="en-US" dirty="0" smtClean="0"/>
              <a:t>Customers who had similar tastes in the past, will have similar tastes in the future</a:t>
            </a:r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  <p:pic>
        <p:nvPicPr>
          <p:cNvPr id="4" name="Picture 5" descr="C:\Users\Fatih\AppData\Local\Microsoft\Windows\Temporary Internet Files\Content.IE5\8I83PG5D\MC900240341[1].wm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0272" y="2122760"/>
            <a:ext cx="1512168" cy="1108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 smtClean="0"/>
              <a:t>1992: 	</a:t>
            </a:r>
            <a:r>
              <a:rPr lang="en-US" sz="2000" i="1" dirty="0" smtClean="0">
                <a:solidFill>
                  <a:schemeClr val="tx2"/>
                </a:solidFill>
              </a:rPr>
              <a:t>Using collaborative filtering to weave an information </a:t>
            </a:r>
            <a:br>
              <a:rPr lang="en-US" sz="2000" i="1" dirty="0" smtClean="0">
                <a:solidFill>
                  <a:schemeClr val="tx2"/>
                </a:solidFill>
              </a:rPr>
            </a:br>
            <a:r>
              <a:rPr lang="en-US" sz="2000" i="1" dirty="0" smtClean="0">
                <a:solidFill>
                  <a:schemeClr val="tx2"/>
                </a:solidFill>
              </a:rPr>
              <a:t> 	tapestry</a:t>
            </a:r>
            <a:r>
              <a:rPr lang="en-US" sz="2000" dirty="0" smtClean="0">
                <a:solidFill>
                  <a:schemeClr val="tx2"/>
                </a:solidFill>
              </a:rPr>
              <a:t>, D. Goldberg et al., Communications of the ACM</a:t>
            </a:r>
            <a:r>
              <a:rPr lang="en-US" sz="2000" b="0" dirty="0" smtClean="0">
                <a:solidFill>
                  <a:schemeClr val="tx2"/>
                </a:solidFill>
              </a:rPr>
              <a:t> </a:t>
            </a:r>
            <a:br>
              <a:rPr lang="en-US" sz="2000" b="0" dirty="0" smtClean="0">
                <a:solidFill>
                  <a:schemeClr val="tx2"/>
                </a:solidFill>
              </a:rPr>
            </a:br>
            <a:endParaRPr lang="en-US" sz="200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Basic idea: "Eager readers read all docs immediately, casual readers wait for the eager readers to annotate"</a:t>
            </a:r>
          </a:p>
          <a:p>
            <a:r>
              <a:rPr lang="en-US" smtClean="0"/>
              <a:t>Experimental mail system at Xerox Parc that records reactions of users when reading a mail</a:t>
            </a:r>
          </a:p>
          <a:p>
            <a:r>
              <a:rPr lang="en-US" smtClean="0"/>
              <a:t>Users are provided with personalized mailing list filters instead of being forced to subscribe</a:t>
            </a:r>
          </a:p>
          <a:p>
            <a:pPr lvl="1"/>
            <a:r>
              <a:rPr lang="en-US" sz="1600" smtClean="0"/>
              <a:t>Content-based filters (topics, from/to/subject…)</a:t>
            </a:r>
          </a:p>
          <a:p>
            <a:pPr lvl="1"/>
            <a:r>
              <a:rPr lang="en-US" sz="1600" smtClean="0"/>
              <a:t>Collaborative filters</a:t>
            </a:r>
          </a:p>
          <a:p>
            <a:r>
              <a:rPr lang="en-US" smtClean="0"/>
              <a:t>E.g. Mails to [all] which were replied by [John Doe] and which received positive ratings from [X] and [Y].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6113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smtClean="0"/>
              <a:t>1994: 	</a:t>
            </a:r>
            <a:r>
              <a:rPr lang="en-US" sz="2000" i="1" smtClean="0">
                <a:solidFill>
                  <a:schemeClr val="tx2"/>
                </a:solidFill>
              </a:rPr>
              <a:t>GroupLens: an open architecture for collaborative filtering of </a:t>
            </a:r>
            <a:br>
              <a:rPr lang="en-US" sz="2000" i="1" smtClean="0">
                <a:solidFill>
                  <a:schemeClr val="tx2"/>
                </a:solidFill>
              </a:rPr>
            </a:br>
            <a:r>
              <a:rPr lang="en-US" sz="2000" i="1" smtClean="0">
                <a:solidFill>
                  <a:schemeClr val="tx2"/>
                </a:solidFill>
              </a:rPr>
              <a:t>	netnews</a:t>
            </a:r>
            <a:r>
              <a:rPr lang="en-US" sz="2000" smtClean="0">
                <a:solidFill>
                  <a:schemeClr val="tx2"/>
                </a:solidFill>
              </a:rPr>
              <a:t>, P. Resnick et al., ACM CSCW</a:t>
            </a:r>
            <a:r>
              <a:rPr lang="en-US" sz="2000" b="0" smtClean="0">
                <a:solidFill>
                  <a:schemeClr val="tx2"/>
                </a:solidFill>
              </a:rPr>
              <a:t/>
            </a:r>
            <a:br>
              <a:rPr lang="en-US" sz="2000" b="0" smtClean="0">
                <a:solidFill>
                  <a:schemeClr val="tx2"/>
                </a:solidFill>
              </a:rPr>
            </a:br>
            <a:endParaRPr lang="en-US" sz="200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Tapestry system does not aggregate ratings and requires knowing each other</a:t>
            </a:r>
          </a:p>
          <a:p>
            <a:r>
              <a:rPr lang="en-US" dirty="0" smtClean="0"/>
              <a:t>Basic idea: "People who agreed in their subjective evaluations in the past are likely to agree again in the future"</a:t>
            </a:r>
          </a:p>
          <a:p>
            <a:r>
              <a:rPr lang="en-US" dirty="0" smtClean="0"/>
              <a:t>Builds on newsgroup browsers with rating functionality</a:t>
            </a:r>
          </a:p>
          <a:p>
            <a:endParaRPr lang="en-US" dirty="0"/>
          </a:p>
        </p:txBody>
      </p:sp>
      <p:pic>
        <p:nvPicPr>
          <p:cNvPr id="4" name="Grafik 3" descr="grouplens_browser.bm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1800" y="3861048"/>
            <a:ext cx="3960440" cy="2435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580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User-based nearest-neighbor collaborative filtering (1)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The basic technique:</a:t>
            </a:r>
          </a:p>
          <a:p>
            <a:pPr lvl="1"/>
            <a:r>
              <a:rPr lang="en-US" dirty="0" smtClean="0"/>
              <a:t>Given an "active user" (Alice) and an item I not yet seen by Alice</a:t>
            </a:r>
          </a:p>
          <a:p>
            <a:pPr lvl="1"/>
            <a:r>
              <a:rPr lang="en-US" dirty="0" smtClean="0"/>
              <a:t>The </a:t>
            </a:r>
            <a:r>
              <a:rPr lang="en-US" i="1" dirty="0" smtClean="0"/>
              <a:t>goal is to estimate Alice's rating for this item</a:t>
            </a:r>
            <a:r>
              <a:rPr lang="en-US" dirty="0" smtClean="0"/>
              <a:t>, e.g., by</a:t>
            </a:r>
          </a:p>
          <a:p>
            <a:pPr lvl="2"/>
            <a:r>
              <a:rPr lang="en-US" dirty="0" smtClean="0"/>
              <a:t>find a set of users (peers) who liked the same items as Alice in the past </a:t>
            </a:r>
            <a:r>
              <a:rPr lang="en-US" b="1" dirty="0" smtClean="0"/>
              <a:t>and </a:t>
            </a:r>
            <a:r>
              <a:rPr lang="en-US" dirty="0" smtClean="0"/>
              <a:t>who have rated item I</a:t>
            </a:r>
          </a:p>
          <a:p>
            <a:pPr lvl="2"/>
            <a:r>
              <a:rPr lang="en-US" dirty="0" smtClean="0"/>
              <a:t>use, e.g. the average of their ratings to predict, if Alice will like item I</a:t>
            </a:r>
          </a:p>
          <a:p>
            <a:pPr lvl="2"/>
            <a:r>
              <a:rPr lang="en-US" dirty="0" smtClean="0"/>
              <a:t>do this for all items Alice has not seen and recommend the best-rated</a:t>
            </a:r>
          </a:p>
        </p:txBody>
      </p:sp>
      <p:graphicFrame>
        <p:nvGraphicFramePr>
          <p:cNvPr id="5" name="Tabel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8360599"/>
              </p:ext>
            </p:extLst>
          </p:nvPr>
        </p:nvGraphicFramePr>
        <p:xfrm>
          <a:off x="1547664" y="4077072"/>
          <a:ext cx="6096000" cy="218948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936104"/>
                <a:gridCol w="1095896"/>
                <a:gridCol w="1016000"/>
                <a:gridCol w="1016000"/>
                <a:gridCol w="1016000"/>
                <a:gridCol w="1016000"/>
              </a:tblGrid>
              <a:tr h="0">
                <a:tc>
                  <a:txBody>
                    <a:bodyPr/>
                    <a:lstStyle/>
                    <a:p>
                      <a:pPr algn="ctr"/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Item1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Item2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Item3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Item4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Item5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Alice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5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3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4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4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aseline="0" dirty="0" smtClean="0">
                          <a:solidFill>
                            <a:schemeClr val="tx1"/>
                          </a:solidFill>
                          <a:latin typeface="Calibri" pitchFamily="34" charset="0"/>
                        </a:rPr>
                        <a:t>?</a:t>
                      </a:r>
                      <a:endParaRPr lang="en-US" sz="1800" baseline="0" dirty="0">
                        <a:solidFill>
                          <a:schemeClr val="tx1"/>
                        </a:solidFill>
                        <a:latin typeface="Calibri" pitchFamily="34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User1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3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1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2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3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3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User2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4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3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4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3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5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User3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3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3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1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5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4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User4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1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5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5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2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1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User-based nearest-neighbor collaborative </a:t>
            </a:r>
            <a:r>
              <a:rPr lang="en-US" dirty="0" smtClean="0"/>
              <a:t>filtering (2)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 first questions</a:t>
            </a:r>
          </a:p>
          <a:p>
            <a:pPr lvl="1"/>
            <a:r>
              <a:rPr lang="en-US" dirty="0"/>
              <a:t>How do we measure similarity?</a:t>
            </a:r>
          </a:p>
          <a:p>
            <a:pPr lvl="1"/>
            <a:r>
              <a:rPr lang="en-US" dirty="0"/>
              <a:t>How many neighbors should we consider?</a:t>
            </a:r>
          </a:p>
          <a:p>
            <a:pPr lvl="1"/>
            <a:r>
              <a:rPr lang="en-US" dirty="0"/>
              <a:t>How do we generate a prediction from the neighbors' ratings?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4368" y="1700808"/>
            <a:ext cx="715144" cy="715144"/>
          </a:xfrm>
          <a:prstGeom prst="rect">
            <a:avLst/>
          </a:prstGeom>
        </p:spPr>
      </p:pic>
      <p:graphicFrame>
        <p:nvGraphicFramePr>
          <p:cNvPr id="6" name="Tabel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9299136"/>
              </p:ext>
            </p:extLst>
          </p:nvPr>
        </p:nvGraphicFramePr>
        <p:xfrm>
          <a:off x="1259632" y="3645024"/>
          <a:ext cx="6096000" cy="22250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Item1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Item2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Item3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Item4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Item5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Alice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5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3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4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4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aseline="0" dirty="0" smtClean="0">
                          <a:solidFill>
                            <a:schemeClr val="tx1"/>
                          </a:solidFill>
                          <a:latin typeface="Calibri" pitchFamily="34" charset="0"/>
                        </a:rPr>
                        <a:t>?</a:t>
                      </a:r>
                      <a:endParaRPr lang="en-US" sz="1800" baseline="0" dirty="0">
                        <a:solidFill>
                          <a:schemeClr val="tx1"/>
                        </a:solidFill>
                        <a:latin typeface="Calibri" pitchFamily="34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User1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3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1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2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3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3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User2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4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3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4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3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5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User3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3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3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1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5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4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User4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1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5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5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2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1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11041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Measuring user similarity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28596" y="1500174"/>
            <a:ext cx="8229600" cy="4525963"/>
          </a:xfrm>
        </p:spPr>
        <p:txBody>
          <a:bodyPr/>
          <a:lstStyle/>
          <a:p>
            <a:r>
              <a:rPr lang="en-US" dirty="0" smtClean="0"/>
              <a:t>A popular similarity measure in user-based CF: </a:t>
            </a:r>
            <a:r>
              <a:rPr lang="en-US" b="1" dirty="0" smtClean="0"/>
              <a:t>Pearson correlation</a:t>
            </a:r>
          </a:p>
          <a:p>
            <a:pPr lvl="1">
              <a:buNone/>
            </a:pPr>
            <a:r>
              <a:rPr lang="en-US" dirty="0" smtClean="0"/>
              <a:t>	</a:t>
            </a:r>
          </a:p>
          <a:p>
            <a:pPr lvl="1">
              <a:buNone/>
            </a:pPr>
            <a:r>
              <a:rPr lang="en-US" dirty="0" smtClean="0"/>
              <a:t>a, b  : users</a:t>
            </a:r>
          </a:p>
          <a:p>
            <a:pPr lvl="1">
              <a:buNone/>
            </a:pPr>
            <a:r>
              <a:rPr lang="en-US" dirty="0" err="1" smtClean="0"/>
              <a:t>r</a:t>
            </a:r>
            <a:r>
              <a:rPr lang="en-US" baseline="-25000" dirty="0" err="1" smtClean="0"/>
              <a:t>a,p</a:t>
            </a:r>
            <a:r>
              <a:rPr lang="en-US" baseline="-25000" dirty="0" smtClean="0"/>
              <a:t>     </a:t>
            </a:r>
            <a:r>
              <a:rPr lang="en-US" dirty="0" smtClean="0"/>
              <a:t>: rating of user a for item p</a:t>
            </a:r>
          </a:p>
          <a:p>
            <a:pPr lvl="1">
              <a:buNone/>
            </a:pPr>
            <a:r>
              <a:rPr lang="en-US" dirty="0" smtClean="0"/>
              <a:t>P	   : set of items, rated both by a and b</a:t>
            </a:r>
          </a:p>
          <a:p>
            <a:pPr lvl="1">
              <a:buNone/>
            </a:pPr>
            <a:r>
              <a:rPr lang="en-US" dirty="0" smtClean="0"/>
              <a:t>Possible similarity values between -1 and 1; 		= user's average ratings</a:t>
            </a:r>
          </a:p>
          <a:p>
            <a:pPr lvl="1">
              <a:buNone/>
            </a:pPr>
            <a:endParaRPr lang="en-US" dirty="0" smtClean="0"/>
          </a:p>
          <a:p>
            <a:pPr lvl="1">
              <a:buNone/>
            </a:pPr>
            <a:endParaRPr lang="en-US" dirty="0" smtClean="0"/>
          </a:p>
          <a:p>
            <a:pPr lvl="1">
              <a:buNone/>
            </a:pPr>
            <a:endParaRPr lang="en-US" dirty="0" smtClean="0"/>
          </a:p>
          <a:p>
            <a:pPr lvl="1">
              <a:buNone/>
            </a:pPr>
            <a:endParaRPr lang="en-US" dirty="0" smtClean="0"/>
          </a:p>
          <a:p>
            <a:pPr lvl="1">
              <a:buNone/>
            </a:pPr>
            <a:endParaRPr lang="en-US" dirty="0" smtClean="0"/>
          </a:p>
          <a:p>
            <a:pPr lvl="1">
              <a:buNone/>
            </a:pPr>
            <a:endParaRPr lang="en-US" dirty="0" smtClean="0"/>
          </a:p>
          <a:p>
            <a:pPr lvl="1">
              <a:buNone/>
            </a:pPr>
            <a:endParaRPr lang="en-US" dirty="0" smtClean="0"/>
          </a:p>
          <a:p>
            <a:pPr lvl="1">
              <a:buNone/>
            </a:pPr>
            <a:endParaRPr lang="en-US" dirty="0" smtClean="0"/>
          </a:p>
          <a:p>
            <a:pPr lvl="1">
              <a:buNone/>
            </a:pPr>
            <a:endParaRPr lang="en-US" dirty="0" smtClean="0"/>
          </a:p>
          <a:p>
            <a:pPr lvl="1">
              <a:buNone/>
            </a:pPr>
            <a:endParaRPr lang="en-US" dirty="0" smtClean="0"/>
          </a:p>
          <a:p>
            <a:pPr lvl="1">
              <a:buNone/>
            </a:pPr>
            <a:endParaRPr lang="en-US" dirty="0" smtClean="0"/>
          </a:p>
          <a:p>
            <a:pPr lvl="1">
              <a:buNone/>
            </a:pPr>
            <a:endParaRPr lang="en-US" dirty="0" smtClean="0"/>
          </a:p>
          <a:p>
            <a:pPr lvl="1">
              <a:buNone/>
            </a:pPr>
            <a:endParaRPr lang="en-US" dirty="0" smtClean="0"/>
          </a:p>
          <a:p>
            <a:pPr>
              <a:buNone/>
            </a:pPr>
            <a:endParaRPr lang="en-US" b="1" dirty="0" smtClean="0"/>
          </a:p>
          <a:p>
            <a:endParaRPr lang="en-US" dirty="0"/>
          </a:p>
        </p:txBody>
      </p:sp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053" name="Rectangle 5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1" name="Tabel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2977057"/>
              </p:ext>
            </p:extLst>
          </p:nvPr>
        </p:nvGraphicFramePr>
        <p:xfrm>
          <a:off x="755576" y="3940264"/>
          <a:ext cx="6096000" cy="22250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Item1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Item2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Item3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Item4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Item5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Alice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5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3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4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4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aseline="0" dirty="0" smtClean="0">
                          <a:solidFill>
                            <a:schemeClr val="tx1"/>
                          </a:solidFill>
                          <a:latin typeface="Calibri" pitchFamily="34" charset="0"/>
                        </a:rPr>
                        <a:t>?</a:t>
                      </a:r>
                      <a:endParaRPr lang="en-US" sz="1800" baseline="0" dirty="0">
                        <a:solidFill>
                          <a:schemeClr val="tx1"/>
                        </a:solidFill>
                        <a:latin typeface="Calibri" pitchFamily="34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User1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3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1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2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3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3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User2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4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3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4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3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5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User3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3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3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1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5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4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User4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1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5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5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2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1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18" name="Gruppieren 17"/>
          <p:cNvGrpSpPr/>
          <p:nvPr/>
        </p:nvGrpSpPr>
        <p:grpSpPr>
          <a:xfrm>
            <a:off x="6786578" y="4359974"/>
            <a:ext cx="1766062" cy="500066"/>
            <a:chOff x="6786578" y="4071942"/>
            <a:chExt cx="1766062" cy="500066"/>
          </a:xfrm>
        </p:grpSpPr>
        <p:sp>
          <p:nvSpPr>
            <p:cNvPr id="15" name="Nach links gekrümmter Pfeil 14"/>
            <p:cNvSpPr/>
            <p:nvPr/>
          </p:nvSpPr>
          <p:spPr bwMode="auto">
            <a:xfrm>
              <a:off x="6786578" y="4071942"/>
              <a:ext cx="428628" cy="500066"/>
            </a:xfrm>
            <a:prstGeom prst="curvedLeftArrow">
              <a:avLst/>
            </a:prstGeom>
            <a:solidFill>
              <a:srgbClr val="002060"/>
            </a:solidFill>
            <a:ln w="9525" cap="sq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17" name="Textfeld 16"/>
            <p:cNvSpPr txBox="1"/>
            <p:nvPr/>
          </p:nvSpPr>
          <p:spPr>
            <a:xfrm>
              <a:off x="7358082" y="4077072"/>
              <a:ext cx="11945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0" dirty="0" err="1" smtClean="0">
                  <a:latin typeface="Calibri" pitchFamily="34" charset="0"/>
                </a:rPr>
                <a:t>sim</a:t>
              </a:r>
              <a:r>
                <a:rPr lang="en-US" b="0" dirty="0" smtClean="0">
                  <a:latin typeface="Calibri" pitchFamily="34" charset="0"/>
                </a:rPr>
                <a:t>  = 0,85</a:t>
              </a:r>
              <a:endParaRPr lang="en-US" b="0" dirty="0">
                <a:latin typeface="Calibri" pitchFamily="34" charset="0"/>
              </a:endParaRPr>
            </a:p>
          </p:txBody>
        </p:sp>
      </p:grpSp>
      <p:grpSp>
        <p:nvGrpSpPr>
          <p:cNvPr id="20" name="Gruppieren 19"/>
          <p:cNvGrpSpPr/>
          <p:nvPr/>
        </p:nvGrpSpPr>
        <p:grpSpPr>
          <a:xfrm>
            <a:off x="6715140" y="4431412"/>
            <a:ext cx="1766062" cy="847732"/>
            <a:chOff x="6786578" y="4071942"/>
            <a:chExt cx="1766062" cy="500066"/>
          </a:xfrm>
        </p:grpSpPr>
        <p:sp>
          <p:nvSpPr>
            <p:cNvPr id="21" name="Nach links gekrümmter Pfeil 20"/>
            <p:cNvSpPr/>
            <p:nvPr/>
          </p:nvSpPr>
          <p:spPr bwMode="auto">
            <a:xfrm>
              <a:off x="6786578" y="4071942"/>
              <a:ext cx="428628" cy="500066"/>
            </a:xfrm>
            <a:prstGeom prst="curvedLeftArrow">
              <a:avLst/>
            </a:prstGeom>
            <a:solidFill>
              <a:srgbClr val="002060"/>
            </a:solidFill>
            <a:ln w="9525" cap="sq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22" name="Textfeld 21"/>
            <p:cNvSpPr txBox="1"/>
            <p:nvPr/>
          </p:nvSpPr>
          <p:spPr>
            <a:xfrm>
              <a:off x="7358082" y="4160258"/>
              <a:ext cx="1194558" cy="21786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0" dirty="0" err="1" smtClean="0">
                  <a:latin typeface="Calibri" pitchFamily="34" charset="0"/>
                </a:rPr>
                <a:t>sim</a:t>
              </a:r>
              <a:r>
                <a:rPr lang="en-US" b="0" dirty="0" smtClean="0">
                  <a:latin typeface="Calibri" pitchFamily="34" charset="0"/>
                </a:rPr>
                <a:t>  = 0,70</a:t>
              </a:r>
              <a:endParaRPr lang="en-US" b="0" dirty="0">
                <a:latin typeface="Calibri" pitchFamily="34" charset="0"/>
              </a:endParaRPr>
            </a:p>
          </p:txBody>
        </p:sp>
      </p:grpSp>
      <p:grpSp>
        <p:nvGrpSpPr>
          <p:cNvPr id="23" name="Gruppieren 22"/>
          <p:cNvGrpSpPr/>
          <p:nvPr/>
        </p:nvGrpSpPr>
        <p:grpSpPr>
          <a:xfrm>
            <a:off x="6867540" y="4583812"/>
            <a:ext cx="1836594" cy="1347798"/>
            <a:chOff x="6786578" y="4071942"/>
            <a:chExt cx="1836594" cy="500066"/>
          </a:xfrm>
        </p:grpSpPr>
        <p:sp>
          <p:nvSpPr>
            <p:cNvPr id="24" name="Nach links gekrümmter Pfeil 23"/>
            <p:cNvSpPr/>
            <p:nvPr/>
          </p:nvSpPr>
          <p:spPr bwMode="auto">
            <a:xfrm>
              <a:off x="6786578" y="4071942"/>
              <a:ext cx="428628" cy="500066"/>
            </a:xfrm>
            <a:prstGeom prst="curvedLeftArrow">
              <a:avLst/>
            </a:prstGeom>
            <a:solidFill>
              <a:srgbClr val="002060"/>
            </a:solidFill>
            <a:ln w="9525" cap="sq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25" name="Textfeld 24"/>
            <p:cNvSpPr txBox="1"/>
            <p:nvPr/>
          </p:nvSpPr>
          <p:spPr>
            <a:xfrm>
              <a:off x="7358082" y="4143380"/>
              <a:ext cx="1265090" cy="1370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0" dirty="0" err="1" smtClean="0">
                  <a:latin typeface="Calibri" pitchFamily="34" charset="0"/>
                </a:rPr>
                <a:t>sim</a:t>
              </a:r>
              <a:r>
                <a:rPr lang="en-US" b="0" dirty="0" smtClean="0">
                  <a:latin typeface="Calibri" pitchFamily="34" charset="0"/>
                </a:rPr>
                <a:t>  = -0,79</a:t>
              </a:r>
              <a:endParaRPr lang="en-US" b="0" dirty="0">
                <a:latin typeface="Calibri" pitchFamily="34" charset="0"/>
              </a:endParaRPr>
            </a:p>
          </p:txBody>
        </p:sp>
      </p:grpSp>
      <p:pic>
        <p:nvPicPr>
          <p:cNvPr id="19" name="Picture 4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051727" y="1844824"/>
            <a:ext cx="5065185" cy="1000132"/>
          </a:xfrm>
          <a:prstGeom prst="rect">
            <a:avLst/>
          </a:prstGeom>
          <a:noFill/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feld 3"/>
              <p:cNvSpPr txBox="1"/>
              <p:nvPr/>
            </p:nvSpPr>
            <p:spPr>
              <a:xfrm>
                <a:off x="5148064" y="3140968"/>
                <a:ext cx="8193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de-DE" b="1" i="1" smtClean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de-DE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𝒓</m:t>
                            </m:r>
                          </m:e>
                          <m:sub>
                            <m:r>
                              <a:rPr lang="de-DE" i="1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𝒂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dirty="0" smtClean="0"/>
                  <a:t>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de-DE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de-DE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𝒓</m:t>
                            </m:r>
                          </m:e>
                          <m:sub>
                            <m:r>
                              <a:rPr lang="de-DE" b="1" i="1" smtClean="0">
                                <a:solidFill>
                                  <a:schemeClr val="tx2"/>
                                </a:solidFill>
                                <a:latin typeface="Cambria Math"/>
                              </a:rPr>
                              <m:t>𝒃</m:t>
                            </m:r>
                          </m:sub>
                        </m:sSub>
                      </m:e>
                    </m:acc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Textfeld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8064" y="3140968"/>
                <a:ext cx="819327" cy="369332"/>
              </a:xfrm>
              <a:prstGeom prst="rect">
                <a:avLst/>
              </a:prstGeom>
              <a:blipFill rotWithShape="1">
                <a:blip r:embed="rId4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0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Pearson correlation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Takes differences in rating behavior into account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Works well in usual domains, compared with alternative measures</a:t>
            </a:r>
          </a:p>
          <a:p>
            <a:pPr lvl="1"/>
            <a:r>
              <a:rPr lang="en-US" dirty="0" smtClean="0"/>
              <a:t>such as cosine similarity</a:t>
            </a:r>
          </a:p>
          <a:p>
            <a:pPr lvl="1">
              <a:buNone/>
            </a:pPr>
            <a:endParaRPr lang="en-US" dirty="0"/>
          </a:p>
        </p:txBody>
      </p:sp>
      <p:graphicFrame>
        <p:nvGraphicFramePr>
          <p:cNvPr id="4" name="Chart 2"/>
          <p:cNvGraphicFramePr>
            <a:graphicFrameLocks/>
          </p:cNvGraphicFramePr>
          <p:nvPr/>
        </p:nvGraphicFramePr>
        <p:xfrm>
          <a:off x="928662" y="2214554"/>
          <a:ext cx="5295900" cy="2990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Making predictions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 smtClean="0"/>
              <a:t>A common prediction function:</a:t>
            </a:r>
          </a:p>
          <a:p>
            <a:endParaRPr lang="en-US" b="0" dirty="0" smtClean="0"/>
          </a:p>
          <a:p>
            <a:endParaRPr lang="en-US" b="0" dirty="0" smtClean="0"/>
          </a:p>
          <a:p>
            <a:endParaRPr lang="en-US" b="0" dirty="0" smtClean="0"/>
          </a:p>
          <a:p>
            <a:r>
              <a:rPr lang="en-US" b="0" dirty="0" smtClean="0"/>
              <a:t>Calculate, whether the neighbors' ratings for the unseen item </a:t>
            </a:r>
            <a:r>
              <a:rPr lang="en-US" i="1" dirty="0" err="1" smtClean="0"/>
              <a:t>i</a:t>
            </a:r>
            <a:r>
              <a:rPr lang="en-US" b="0" dirty="0" smtClean="0"/>
              <a:t> are higher or lower than their average</a:t>
            </a:r>
          </a:p>
          <a:p>
            <a:r>
              <a:rPr lang="en-US" b="0" dirty="0" smtClean="0"/>
              <a:t>Combine the rating differences – use the similarity as a weight</a:t>
            </a:r>
          </a:p>
          <a:p>
            <a:r>
              <a:rPr lang="en-US" b="0" dirty="0" smtClean="0"/>
              <a:t>Add/subtract the  neighbors' bias from the active user's average and use this as a prediction</a:t>
            </a:r>
            <a:endParaRPr lang="en-US" b="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00100" y="2143123"/>
            <a:ext cx="6000750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" name="Grafik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2295" y="2143123"/>
            <a:ext cx="1000124" cy="10001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Making recommendations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Making predictions is typically not the ultimate goal</a:t>
            </a:r>
          </a:p>
          <a:p>
            <a:r>
              <a:rPr lang="en-US" dirty="0" smtClean="0"/>
              <a:t>Usual approach (in academia)</a:t>
            </a:r>
          </a:p>
          <a:p>
            <a:pPr lvl="1"/>
            <a:r>
              <a:rPr lang="en-US" dirty="0" smtClean="0"/>
              <a:t>Rank items based on their predicted ratings</a:t>
            </a:r>
          </a:p>
          <a:p>
            <a:r>
              <a:rPr lang="en-US" dirty="0" smtClean="0"/>
              <a:t>However</a:t>
            </a:r>
          </a:p>
          <a:p>
            <a:pPr lvl="1"/>
            <a:r>
              <a:rPr lang="en-US" dirty="0" smtClean="0"/>
              <a:t>This might lead to the inclusion of (only) niche items</a:t>
            </a:r>
          </a:p>
          <a:p>
            <a:pPr lvl="1"/>
            <a:r>
              <a:rPr lang="en-US" b="1" dirty="0" smtClean="0"/>
              <a:t>In practice also:</a:t>
            </a:r>
            <a:r>
              <a:rPr lang="en-US" dirty="0" smtClean="0"/>
              <a:t> Take item popularity into account</a:t>
            </a:r>
          </a:p>
          <a:p>
            <a:r>
              <a:rPr lang="en-US" dirty="0" smtClean="0"/>
              <a:t>Approaches</a:t>
            </a:r>
          </a:p>
          <a:p>
            <a:pPr lvl="1"/>
            <a:r>
              <a:rPr lang="en-US" dirty="0" smtClean="0"/>
              <a:t>"Learning to rank" </a:t>
            </a:r>
          </a:p>
          <a:p>
            <a:pPr lvl="2"/>
            <a:r>
              <a:rPr lang="en-US" dirty="0" smtClean="0"/>
              <a:t>Optimize according to a given rank evaluation metric (see later)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5118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Improving the metrics  / prediction function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Not all neighbor ratings might be equally "valuable"</a:t>
            </a:r>
          </a:p>
          <a:p>
            <a:pPr lvl="1"/>
            <a:r>
              <a:rPr lang="en-US" dirty="0" smtClean="0"/>
              <a:t>Agreement on commonly liked items is not so informative as agreement on controversial items</a:t>
            </a:r>
          </a:p>
          <a:p>
            <a:pPr lvl="1"/>
            <a:r>
              <a:rPr lang="en-US" b="1" dirty="0" smtClean="0"/>
              <a:t>Possible solution</a:t>
            </a:r>
            <a:r>
              <a:rPr lang="en-US" dirty="0" smtClean="0"/>
              <a:t>:  Give more weight to items that have a higher variance</a:t>
            </a:r>
          </a:p>
          <a:p>
            <a:r>
              <a:rPr lang="en-US" dirty="0" smtClean="0"/>
              <a:t>Value of number of co-rated items</a:t>
            </a:r>
          </a:p>
          <a:p>
            <a:pPr lvl="1"/>
            <a:r>
              <a:rPr lang="en-US" dirty="0" smtClean="0"/>
              <a:t>Use "significance weighting", by e.g., linearly reducing the weight when the number of co-rated items is low </a:t>
            </a:r>
          </a:p>
          <a:p>
            <a:r>
              <a:rPr lang="en-US" dirty="0" smtClean="0"/>
              <a:t>Case amplification</a:t>
            </a:r>
          </a:p>
          <a:p>
            <a:pPr lvl="1"/>
            <a:r>
              <a:rPr lang="en-US" dirty="0" smtClean="0"/>
              <a:t>Intuition: Give more weight to "very similar" neighbors, i.e., where the similarity value is close to 1.</a:t>
            </a:r>
          </a:p>
          <a:p>
            <a:r>
              <a:rPr lang="en-US" dirty="0" smtClean="0"/>
              <a:t>Neighborhood selection</a:t>
            </a:r>
          </a:p>
          <a:p>
            <a:pPr lvl="1"/>
            <a:r>
              <a:rPr lang="en-US" dirty="0" smtClean="0"/>
              <a:t>Use similarity threshold or fixed number of neighbors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Memory-based and model-based approaches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User-based CF is said to be "memory-based"</a:t>
            </a:r>
          </a:p>
          <a:p>
            <a:pPr lvl="1"/>
            <a:r>
              <a:rPr lang="en-US" dirty="0" smtClean="0"/>
              <a:t>the rating matrix is directly used to find neighbors / make predictions</a:t>
            </a:r>
          </a:p>
          <a:p>
            <a:pPr lvl="1"/>
            <a:r>
              <a:rPr lang="en-US" dirty="0" smtClean="0"/>
              <a:t>does not scale for most real-world scenarios</a:t>
            </a:r>
          </a:p>
          <a:p>
            <a:pPr lvl="1"/>
            <a:r>
              <a:rPr lang="en-US" dirty="0" smtClean="0"/>
              <a:t>large e-commerce sites have tens of millions of customers and millions of items</a:t>
            </a:r>
          </a:p>
          <a:p>
            <a:r>
              <a:rPr lang="en-US" dirty="0" smtClean="0"/>
              <a:t>Model-based approaches</a:t>
            </a:r>
          </a:p>
          <a:p>
            <a:pPr lvl="1"/>
            <a:r>
              <a:rPr lang="en-US" dirty="0" smtClean="0"/>
              <a:t>based on an offline pre-processing or "model-learning" phase</a:t>
            </a:r>
          </a:p>
          <a:p>
            <a:pPr lvl="1"/>
            <a:r>
              <a:rPr lang="en-US" dirty="0" smtClean="0"/>
              <a:t>at run-time, only the learned model is used to make predictions</a:t>
            </a:r>
          </a:p>
          <a:p>
            <a:pPr lvl="1"/>
            <a:r>
              <a:rPr lang="en-US" dirty="0" smtClean="0"/>
              <a:t>models are updated / re-trained periodically</a:t>
            </a:r>
          </a:p>
          <a:p>
            <a:pPr lvl="1"/>
            <a:r>
              <a:rPr lang="en-US" dirty="0" smtClean="0"/>
              <a:t>large variety of techniques used </a:t>
            </a:r>
          </a:p>
          <a:p>
            <a:pPr lvl="1"/>
            <a:r>
              <a:rPr lang="en-US" dirty="0" smtClean="0"/>
              <a:t>model-building and updating can be computationally expensive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39552" y="260648"/>
            <a:ext cx="8229600" cy="1143000"/>
          </a:xfrm>
        </p:spPr>
        <p:txBody>
          <a:bodyPr/>
          <a:lstStyle/>
          <a:p>
            <a:pPr lvl="0"/>
            <a:r>
              <a:rPr lang="en-US" smtClean="0"/>
              <a:t>2001: 	</a:t>
            </a:r>
            <a:r>
              <a:rPr lang="en-US" sz="2000" i="1" smtClean="0">
                <a:solidFill>
                  <a:schemeClr val="tx2"/>
                </a:solidFill>
              </a:rPr>
              <a:t>Item-based collaborative filtering recommendation algorithms</a:t>
            </a:r>
            <a:r>
              <a:rPr lang="en-US" sz="2000" smtClean="0">
                <a:solidFill>
                  <a:schemeClr val="tx2"/>
                </a:solidFill>
              </a:rPr>
              <a:t>, B. </a:t>
            </a:r>
            <a:br>
              <a:rPr lang="en-US" sz="2000" smtClean="0">
                <a:solidFill>
                  <a:schemeClr val="tx2"/>
                </a:solidFill>
              </a:rPr>
            </a:br>
            <a:r>
              <a:rPr lang="en-US" sz="2000" smtClean="0">
                <a:solidFill>
                  <a:schemeClr val="tx2"/>
                </a:solidFill>
              </a:rPr>
              <a:t> 	Sarwar et al., WWW 2001</a:t>
            </a:r>
            <a:endParaRPr lang="en-US" sz="200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Scalability issues arise with U2U if many more users than items </a:t>
            </a:r>
            <a:br>
              <a:rPr lang="en-US" dirty="0" smtClean="0"/>
            </a:br>
            <a:r>
              <a:rPr lang="en-US" dirty="0" smtClean="0"/>
              <a:t>(m &gt;&gt; n , m = |users|, n = |items|)</a:t>
            </a:r>
          </a:p>
          <a:p>
            <a:pPr lvl="1"/>
            <a:r>
              <a:rPr lang="en-US" sz="1600" dirty="0" smtClean="0"/>
              <a:t>e.g. Amazon.com</a:t>
            </a:r>
          </a:p>
          <a:p>
            <a:pPr lvl="1"/>
            <a:r>
              <a:rPr lang="en-US" sz="1600" dirty="0" smtClean="0"/>
              <a:t>Space complexity O(m</a:t>
            </a:r>
            <a:r>
              <a:rPr lang="en-US" sz="1600" baseline="30000" dirty="0" smtClean="0"/>
              <a:t>2</a:t>
            </a:r>
            <a:r>
              <a:rPr lang="en-US" sz="1600" dirty="0" smtClean="0"/>
              <a:t>) when pre-computed</a:t>
            </a:r>
          </a:p>
          <a:p>
            <a:pPr lvl="1"/>
            <a:r>
              <a:rPr lang="en-US" sz="1600" dirty="0" smtClean="0"/>
              <a:t>Time complexity for computing Pearson O(m</a:t>
            </a:r>
            <a:r>
              <a:rPr lang="en-US" sz="1600" baseline="30000" dirty="0" smtClean="0"/>
              <a:t>2</a:t>
            </a:r>
            <a:r>
              <a:rPr lang="en-US" sz="1600" dirty="0" smtClean="0"/>
              <a:t>n)</a:t>
            </a:r>
          </a:p>
          <a:p>
            <a:endParaRPr lang="en-US" dirty="0" smtClean="0"/>
          </a:p>
          <a:p>
            <a:r>
              <a:rPr lang="en-US" dirty="0" smtClean="0"/>
              <a:t>High sparsity leads to few common ratings between two users</a:t>
            </a:r>
          </a:p>
          <a:p>
            <a:endParaRPr lang="en-US" dirty="0" smtClean="0"/>
          </a:p>
          <a:p>
            <a:r>
              <a:rPr lang="en-US" dirty="0" smtClean="0"/>
              <a:t>Basic idea: "Item-based CF exploits relationships between items first, instead of relationships between users"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7953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Item-based collaborative filtering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Basic idea: </a:t>
            </a:r>
          </a:p>
          <a:p>
            <a:pPr lvl="1"/>
            <a:r>
              <a:rPr lang="en-US" dirty="0" smtClean="0"/>
              <a:t>Use the similarity between items (and not users) to make predictions</a:t>
            </a:r>
          </a:p>
          <a:p>
            <a:r>
              <a:rPr lang="en-US" dirty="0" smtClean="0"/>
              <a:t>Example: </a:t>
            </a:r>
          </a:p>
          <a:p>
            <a:pPr lvl="1"/>
            <a:r>
              <a:rPr lang="en-US" dirty="0" smtClean="0"/>
              <a:t>Look for items that are similar to Item5</a:t>
            </a:r>
          </a:p>
          <a:p>
            <a:pPr lvl="1"/>
            <a:r>
              <a:rPr lang="en-US" dirty="0" smtClean="0"/>
              <a:t>Take Alice's ratings for these items to predict the rating for Item5</a:t>
            </a:r>
          </a:p>
          <a:p>
            <a:endParaRPr lang="en-US" dirty="0"/>
          </a:p>
        </p:txBody>
      </p:sp>
      <p:graphicFrame>
        <p:nvGraphicFramePr>
          <p:cNvPr id="4" name="Tabelle 3"/>
          <p:cNvGraphicFramePr>
            <a:graphicFrameLocks noGrp="1"/>
          </p:cNvGraphicFramePr>
          <p:nvPr/>
        </p:nvGraphicFramePr>
        <p:xfrm>
          <a:off x="642910" y="3786190"/>
          <a:ext cx="6096000" cy="22250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Item1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Item2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Item3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Item4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Item5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Alice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5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3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4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4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aseline="0" dirty="0" smtClean="0">
                          <a:solidFill>
                            <a:schemeClr val="tx1"/>
                          </a:solidFill>
                          <a:latin typeface="Calibri" pitchFamily="34" charset="0"/>
                        </a:rPr>
                        <a:t>?</a:t>
                      </a:r>
                      <a:endParaRPr lang="en-US" sz="1800" baseline="0" dirty="0">
                        <a:solidFill>
                          <a:schemeClr val="tx1"/>
                        </a:solidFill>
                        <a:latin typeface="Calibri" pitchFamily="34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User1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3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1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2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3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3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User2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4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3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4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3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5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User3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3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3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1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5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4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User4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1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5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5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2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1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Abgerundetes Rechteck 5"/>
          <p:cNvSpPr/>
          <p:nvPr/>
        </p:nvSpPr>
        <p:spPr bwMode="auto">
          <a:xfrm>
            <a:off x="5715008" y="4500570"/>
            <a:ext cx="1071570" cy="1571636"/>
          </a:xfrm>
          <a:prstGeom prst="roundRect">
            <a:avLst/>
          </a:prstGeom>
          <a:solidFill>
            <a:srgbClr val="FFC000">
              <a:alpha val="29000"/>
            </a:srgb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grpSp>
        <p:nvGrpSpPr>
          <p:cNvPr id="9" name="Gruppieren 8"/>
          <p:cNvGrpSpPr/>
          <p:nvPr/>
        </p:nvGrpSpPr>
        <p:grpSpPr>
          <a:xfrm>
            <a:off x="1571604" y="4500570"/>
            <a:ext cx="4143404" cy="1571636"/>
            <a:chOff x="1571604" y="4000504"/>
            <a:chExt cx="4143404" cy="1643074"/>
          </a:xfrm>
        </p:grpSpPr>
        <p:sp>
          <p:nvSpPr>
            <p:cNvPr id="7" name="Abgerundetes Rechteck 6"/>
            <p:cNvSpPr/>
            <p:nvPr/>
          </p:nvSpPr>
          <p:spPr bwMode="auto">
            <a:xfrm>
              <a:off x="1571604" y="4000504"/>
              <a:ext cx="1071570" cy="1643074"/>
            </a:xfrm>
            <a:prstGeom prst="roundRect">
              <a:avLst/>
            </a:prstGeom>
            <a:solidFill>
              <a:schemeClr val="accent6">
                <a:lumMod val="75000"/>
                <a:alpha val="29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8" name="Abgerundetes Rechteck 7"/>
            <p:cNvSpPr/>
            <p:nvPr/>
          </p:nvSpPr>
          <p:spPr bwMode="auto">
            <a:xfrm>
              <a:off x="4643438" y="4000504"/>
              <a:ext cx="1071570" cy="1643074"/>
            </a:xfrm>
            <a:prstGeom prst="roundRect">
              <a:avLst/>
            </a:prstGeom>
            <a:solidFill>
              <a:schemeClr val="accent6">
                <a:lumMod val="75000"/>
                <a:alpha val="29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16" name="Gruppieren 15"/>
          <p:cNvGrpSpPr/>
          <p:nvPr/>
        </p:nvGrpSpPr>
        <p:grpSpPr>
          <a:xfrm>
            <a:off x="1906216" y="4060653"/>
            <a:ext cx="3560611" cy="511355"/>
            <a:chOff x="1906216" y="4060653"/>
            <a:chExt cx="3560611" cy="511355"/>
          </a:xfrm>
        </p:grpSpPr>
        <p:sp>
          <p:nvSpPr>
            <p:cNvPr id="14" name="Ellipse 13"/>
            <p:cNvSpPr/>
            <p:nvPr/>
          </p:nvSpPr>
          <p:spPr bwMode="auto">
            <a:xfrm>
              <a:off x="1906216" y="4071942"/>
              <a:ext cx="500066" cy="500066"/>
            </a:xfrm>
            <a:prstGeom prst="ellipse">
              <a:avLst/>
            </a:prstGeom>
            <a:noFill/>
            <a:ln w="34925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15" name="Ellipse 14"/>
            <p:cNvSpPr/>
            <p:nvPr/>
          </p:nvSpPr>
          <p:spPr bwMode="auto">
            <a:xfrm>
              <a:off x="4966761" y="4060653"/>
              <a:ext cx="500066" cy="500066"/>
            </a:xfrm>
            <a:prstGeom prst="ellipse">
              <a:avLst/>
            </a:prstGeom>
            <a:noFill/>
            <a:ln w="34925" cap="flat" cmpd="sng" algn="ctr">
              <a:solidFill>
                <a:srgbClr val="FFC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cosine similarity measure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Produces better results in item-to-item filtering</a:t>
            </a:r>
          </a:p>
          <a:p>
            <a:pPr lvl="1"/>
            <a:r>
              <a:rPr lang="en-US" dirty="0" smtClean="0"/>
              <a:t>for some datasets, no consistent picture in literature</a:t>
            </a:r>
          </a:p>
          <a:p>
            <a:r>
              <a:rPr lang="en-US" dirty="0" smtClean="0"/>
              <a:t>Ratings are seen as vector in n-dimensional space</a:t>
            </a:r>
          </a:p>
          <a:p>
            <a:r>
              <a:rPr lang="en-US" dirty="0" smtClean="0"/>
              <a:t>Similarity is calculated based on the angle between the vectors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Adjusted cosine similarity</a:t>
            </a:r>
          </a:p>
          <a:p>
            <a:pPr lvl="1"/>
            <a:r>
              <a:rPr lang="en-US" dirty="0" smtClean="0"/>
              <a:t>take average user ratings into account, transform the original ratings</a:t>
            </a:r>
          </a:p>
          <a:p>
            <a:pPr lvl="1"/>
            <a:r>
              <a:rPr lang="en-US" dirty="0" smtClean="0"/>
              <a:t>U: set of users who have rated both items a and b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28662" y="3356992"/>
            <a:ext cx="2791577" cy="857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28662" y="5000636"/>
            <a:ext cx="5133975" cy="866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Grafik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2295" y="4933961"/>
            <a:ext cx="1000124" cy="1000124"/>
          </a:xfrm>
          <a:prstGeom prst="rect">
            <a:avLst/>
          </a:prstGeom>
        </p:spPr>
      </p:pic>
      <p:pic>
        <p:nvPicPr>
          <p:cNvPr id="7" name="Grafik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2295" y="2928938"/>
            <a:ext cx="1000124" cy="10001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Pre-processing for item-based filtering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Item-based filtering does not solve the scalability problem itself</a:t>
            </a:r>
          </a:p>
          <a:p>
            <a:r>
              <a:rPr lang="en-US" dirty="0" smtClean="0"/>
              <a:t>Pre-processing approach by Amazon.com (in 2003)</a:t>
            </a:r>
          </a:p>
          <a:p>
            <a:pPr lvl="1"/>
            <a:r>
              <a:rPr lang="en-US" dirty="0" smtClean="0"/>
              <a:t>Calculate all pair-wise item similarities in advance</a:t>
            </a:r>
          </a:p>
          <a:p>
            <a:pPr lvl="1"/>
            <a:r>
              <a:rPr lang="en-US" dirty="0" smtClean="0"/>
              <a:t>The neighborhood to be used at run-time is typically rather small, because only items are taken into account which the user has rated</a:t>
            </a:r>
          </a:p>
          <a:p>
            <a:pPr lvl="1"/>
            <a:r>
              <a:rPr lang="en-US" dirty="0" smtClean="0"/>
              <a:t>Item similarities are supposed to be more stable than user similarities</a:t>
            </a:r>
          </a:p>
          <a:p>
            <a:r>
              <a:rPr lang="en-US" dirty="0" smtClean="0"/>
              <a:t>Memory requirements</a:t>
            </a:r>
          </a:p>
          <a:p>
            <a:pPr lvl="1"/>
            <a:r>
              <a:rPr lang="en-US" dirty="0" smtClean="0"/>
              <a:t>Up to N</a:t>
            </a:r>
            <a:r>
              <a:rPr lang="en-US" baseline="30000" dirty="0" smtClean="0"/>
              <a:t>2</a:t>
            </a:r>
            <a:r>
              <a:rPr lang="en-US" dirty="0" smtClean="0"/>
              <a:t> pair-wise similarities to be memorized (N = number of items) in theory</a:t>
            </a:r>
          </a:p>
          <a:p>
            <a:pPr lvl="1"/>
            <a:r>
              <a:rPr lang="en-US" dirty="0" smtClean="0"/>
              <a:t>In practice, this is significantly lower (items with no co-ratings)</a:t>
            </a:r>
          </a:p>
          <a:p>
            <a:pPr lvl="1"/>
            <a:r>
              <a:rPr lang="en-US" dirty="0" smtClean="0"/>
              <a:t>Further reductions possible</a:t>
            </a:r>
          </a:p>
          <a:p>
            <a:pPr lvl="2"/>
            <a:r>
              <a:rPr lang="en-US" dirty="0" smtClean="0"/>
              <a:t>Minimum threshold for co-ratings (items, which are rated at least by </a:t>
            </a:r>
            <a:r>
              <a:rPr lang="en-US" i="1" dirty="0" smtClean="0"/>
              <a:t>n</a:t>
            </a:r>
            <a:r>
              <a:rPr lang="en-US" dirty="0" smtClean="0"/>
              <a:t> users)</a:t>
            </a:r>
          </a:p>
          <a:p>
            <a:pPr lvl="2"/>
            <a:r>
              <a:rPr lang="en-US" dirty="0" smtClean="0"/>
              <a:t>Limit the size of the neighborhood (might affect recommendation accuracy)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More on ratings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543956" cy="4525963"/>
          </a:xfrm>
        </p:spPr>
        <p:txBody>
          <a:bodyPr/>
          <a:lstStyle/>
          <a:p>
            <a:r>
              <a:rPr lang="en-US" dirty="0" smtClean="0"/>
              <a:t>Pure CF-based systems only rely on the rating matrix</a:t>
            </a:r>
          </a:p>
          <a:p>
            <a:r>
              <a:rPr lang="en-US" dirty="0" smtClean="0"/>
              <a:t>Explicit ratings</a:t>
            </a:r>
          </a:p>
          <a:p>
            <a:pPr lvl="1"/>
            <a:r>
              <a:rPr lang="en-US" dirty="0" smtClean="0"/>
              <a:t>Most commonly used (1 to 5, 1 to 7 </a:t>
            </a:r>
            <a:r>
              <a:rPr lang="en-US" dirty="0" err="1" smtClean="0"/>
              <a:t>Likert</a:t>
            </a:r>
            <a:r>
              <a:rPr lang="en-US" dirty="0" smtClean="0"/>
              <a:t> response scales)</a:t>
            </a:r>
          </a:p>
          <a:p>
            <a:pPr lvl="1"/>
            <a:r>
              <a:rPr lang="en-US" dirty="0" smtClean="0"/>
              <a:t>Research topics</a:t>
            </a:r>
          </a:p>
          <a:p>
            <a:pPr lvl="2"/>
            <a:r>
              <a:rPr lang="en-US" dirty="0" smtClean="0"/>
              <a:t>"Optimal" granularity of scale; indication that 10-point scale is better accepted in movie domain</a:t>
            </a:r>
          </a:p>
          <a:p>
            <a:pPr lvl="2"/>
            <a:r>
              <a:rPr lang="en-US" dirty="0" smtClean="0"/>
              <a:t>Multidimensional ratings (multiple ratings per movie)</a:t>
            </a:r>
          </a:p>
          <a:p>
            <a:pPr lvl="1"/>
            <a:r>
              <a:rPr lang="en-US" dirty="0" smtClean="0"/>
              <a:t>Challenge</a:t>
            </a:r>
          </a:p>
          <a:p>
            <a:pPr lvl="2"/>
            <a:r>
              <a:rPr lang="en-US" dirty="0" smtClean="0"/>
              <a:t>Users not always willing to rate many items; sparse rating matrices</a:t>
            </a:r>
          </a:p>
          <a:p>
            <a:pPr lvl="2"/>
            <a:r>
              <a:rPr lang="en-US" dirty="0" smtClean="0"/>
              <a:t>How to stimulate users to rate more items? </a:t>
            </a:r>
          </a:p>
          <a:p>
            <a:r>
              <a:rPr lang="en-US" dirty="0" smtClean="0"/>
              <a:t>Implicit ratings</a:t>
            </a:r>
          </a:p>
          <a:p>
            <a:pPr lvl="1"/>
            <a:r>
              <a:rPr lang="en-US" dirty="0" smtClean="0"/>
              <a:t>clicks, page views, time spent on some page, demo downloads …</a:t>
            </a:r>
          </a:p>
          <a:p>
            <a:pPr lvl="1"/>
            <a:r>
              <a:rPr lang="en-US" dirty="0" smtClean="0"/>
              <a:t>Can be used in addition to explicit ones; question of correctness of interpretation</a:t>
            </a:r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sparsity problems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Cold start problem</a:t>
            </a:r>
          </a:p>
          <a:p>
            <a:pPr lvl="1"/>
            <a:r>
              <a:rPr lang="en-US" dirty="0" smtClean="0"/>
              <a:t>How to recommend new items? What to recommend to new users?</a:t>
            </a:r>
          </a:p>
          <a:p>
            <a:r>
              <a:rPr lang="en-US" dirty="0" smtClean="0"/>
              <a:t>Straightforward approaches</a:t>
            </a:r>
          </a:p>
          <a:p>
            <a:pPr lvl="1"/>
            <a:r>
              <a:rPr lang="en-US" dirty="0" smtClean="0"/>
              <a:t>Ask/force users to rate a set of items</a:t>
            </a:r>
          </a:p>
          <a:p>
            <a:pPr lvl="1"/>
            <a:r>
              <a:rPr lang="en-US" dirty="0" smtClean="0"/>
              <a:t>Use another method (e.g., content-based, demographic or simply non-personalized) in the initial phase</a:t>
            </a:r>
          </a:p>
          <a:p>
            <a:r>
              <a:rPr lang="en-US" dirty="0" smtClean="0"/>
              <a:t>Alternatives</a:t>
            </a:r>
          </a:p>
          <a:p>
            <a:pPr lvl="1"/>
            <a:r>
              <a:rPr lang="en-US" dirty="0" smtClean="0"/>
              <a:t>Use better algorithms (beyond nearest-neighbor approaches)</a:t>
            </a:r>
          </a:p>
          <a:p>
            <a:pPr lvl="1"/>
            <a:r>
              <a:rPr lang="en-US" dirty="0" smtClean="0"/>
              <a:t>Example: </a:t>
            </a:r>
          </a:p>
          <a:p>
            <a:pPr lvl="2"/>
            <a:r>
              <a:rPr lang="en-US" dirty="0" smtClean="0"/>
              <a:t>In nearest-neighbor approaches, the set of sufficiently similar neighbors might be to small to make good predictions</a:t>
            </a:r>
          </a:p>
          <a:p>
            <a:pPr lvl="2"/>
            <a:r>
              <a:rPr lang="en-US" dirty="0" smtClean="0"/>
              <a:t>Assume "transitivity" of neighborhoods</a:t>
            </a:r>
          </a:p>
          <a:p>
            <a:pPr lvl="1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algorithms for sparse datasets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Recursive CF</a:t>
            </a:r>
          </a:p>
          <a:p>
            <a:pPr lvl="1"/>
            <a:r>
              <a:rPr lang="en-US" dirty="0" smtClean="0"/>
              <a:t>Assume there is a very close neighbor </a:t>
            </a:r>
            <a:r>
              <a:rPr lang="en-US" b="1" i="1" dirty="0" smtClean="0"/>
              <a:t>n</a:t>
            </a:r>
            <a:r>
              <a:rPr lang="en-US" dirty="0" smtClean="0"/>
              <a:t> of u who however has not rated the target item </a:t>
            </a:r>
            <a:r>
              <a:rPr lang="en-US" b="1" i="1" dirty="0" err="1" smtClean="0"/>
              <a:t>i</a:t>
            </a:r>
            <a:r>
              <a:rPr lang="en-US" dirty="0" smtClean="0"/>
              <a:t> yet.</a:t>
            </a:r>
          </a:p>
          <a:p>
            <a:pPr lvl="1"/>
            <a:r>
              <a:rPr lang="en-US" dirty="0" smtClean="0"/>
              <a:t>Idea: </a:t>
            </a:r>
          </a:p>
          <a:p>
            <a:pPr lvl="2"/>
            <a:r>
              <a:rPr lang="en-US" dirty="0" smtClean="0"/>
              <a:t>Apply CF-method recursively and predict a rating for item </a:t>
            </a:r>
            <a:r>
              <a:rPr lang="en-US" b="1" i="1" dirty="0" err="1" smtClean="0"/>
              <a:t>i</a:t>
            </a:r>
            <a:r>
              <a:rPr lang="en-US" dirty="0" smtClean="0"/>
              <a:t> for the neighbor</a:t>
            </a:r>
          </a:p>
          <a:p>
            <a:pPr lvl="2"/>
            <a:r>
              <a:rPr lang="en-US" dirty="0" smtClean="0"/>
              <a:t>Use this predicted rating instead of the rating of a more distant direct neighbor</a:t>
            </a:r>
          </a:p>
        </p:txBody>
      </p:sp>
      <p:graphicFrame>
        <p:nvGraphicFramePr>
          <p:cNvPr id="16" name="Tabelle 15"/>
          <p:cNvGraphicFramePr>
            <a:graphicFrameLocks noGrp="1"/>
          </p:cNvGraphicFramePr>
          <p:nvPr/>
        </p:nvGraphicFramePr>
        <p:xfrm>
          <a:off x="857224" y="4071942"/>
          <a:ext cx="6096000" cy="222504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Item1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Item2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Item3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Item4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Item5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Alice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5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3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4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4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aseline="0" dirty="0" smtClean="0">
                          <a:solidFill>
                            <a:schemeClr val="tx1"/>
                          </a:solidFill>
                          <a:latin typeface="Calibri" pitchFamily="34" charset="0"/>
                        </a:rPr>
                        <a:t>?</a:t>
                      </a:r>
                      <a:endParaRPr lang="en-US" sz="1800" baseline="0" dirty="0">
                        <a:solidFill>
                          <a:schemeClr val="tx1"/>
                        </a:solidFill>
                        <a:latin typeface="Calibri" pitchFamily="34" charset="0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User1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3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1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2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3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?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User2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4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3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4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3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5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User3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3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3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1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5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4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User4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1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5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5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2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latin typeface="Calibri" pitchFamily="34" charset="0"/>
                        </a:rPr>
                        <a:t>1</a:t>
                      </a:r>
                      <a:endParaRPr lang="en-US" sz="1600" baseline="0" dirty="0">
                        <a:latin typeface="Calibri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19" name="Gruppieren 18"/>
          <p:cNvGrpSpPr/>
          <p:nvPr/>
        </p:nvGrpSpPr>
        <p:grpSpPr>
          <a:xfrm>
            <a:off x="6786578" y="4572008"/>
            <a:ext cx="1713163" cy="500066"/>
            <a:chOff x="6786578" y="4071942"/>
            <a:chExt cx="1713163" cy="500066"/>
          </a:xfrm>
        </p:grpSpPr>
        <p:sp>
          <p:nvSpPr>
            <p:cNvPr id="20" name="Nach links gekrümmter Pfeil 19"/>
            <p:cNvSpPr/>
            <p:nvPr/>
          </p:nvSpPr>
          <p:spPr bwMode="auto">
            <a:xfrm>
              <a:off x="6786578" y="4071942"/>
              <a:ext cx="428628" cy="500066"/>
            </a:xfrm>
            <a:prstGeom prst="curvedLeftArrow">
              <a:avLst/>
            </a:prstGeom>
            <a:solidFill>
              <a:srgbClr val="002060"/>
            </a:solidFill>
            <a:ln w="9525" cap="sq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</a:endParaRPr>
            </a:p>
          </p:txBody>
        </p:sp>
        <p:sp>
          <p:nvSpPr>
            <p:cNvPr id="21" name="Textfeld 20"/>
            <p:cNvSpPr txBox="1"/>
            <p:nvPr/>
          </p:nvSpPr>
          <p:spPr>
            <a:xfrm>
              <a:off x="7358082" y="4143380"/>
              <a:ext cx="114165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0" dirty="0" err="1" smtClean="0">
                  <a:latin typeface="Calibri" pitchFamily="34" charset="0"/>
                </a:rPr>
                <a:t>sim</a:t>
              </a:r>
              <a:r>
                <a:rPr lang="en-US" b="0" dirty="0" smtClean="0">
                  <a:latin typeface="Calibri" pitchFamily="34" charset="0"/>
                </a:rPr>
                <a:t> = 0,85</a:t>
              </a:r>
              <a:endParaRPr lang="en-US" b="0" dirty="0">
                <a:latin typeface="Calibri" pitchFamily="34" charset="0"/>
              </a:endParaRPr>
            </a:p>
          </p:txBody>
        </p:sp>
      </p:grpSp>
      <p:grpSp>
        <p:nvGrpSpPr>
          <p:cNvPr id="26" name="Gruppieren 25"/>
          <p:cNvGrpSpPr/>
          <p:nvPr/>
        </p:nvGrpSpPr>
        <p:grpSpPr>
          <a:xfrm>
            <a:off x="6732881" y="5107110"/>
            <a:ext cx="2125399" cy="1102608"/>
            <a:chOff x="6732881" y="5107110"/>
            <a:chExt cx="2125399" cy="1102608"/>
          </a:xfrm>
        </p:grpSpPr>
        <p:sp>
          <p:nvSpPr>
            <p:cNvPr id="24" name="Gestreifter Pfeil nach rechts 23"/>
            <p:cNvSpPr/>
            <p:nvPr/>
          </p:nvSpPr>
          <p:spPr bwMode="auto">
            <a:xfrm rot="12253149">
              <a:off x="6732881" y="5107110"/>
              <a:ext cx="928694" cy="285752"/>
            </a:xfrm>
            <a:prstGeom prst="stripedRightArrow">
              <a:avLst/>
            </a:prstGeom>
            <a:solidFill>
              <a:srgbClr val="FFC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</a:endParaRPr>
            </a:p>
          </p:txBody>
        </p:sp>
        <p:sp>
          <p:nvSpPr>
            <p:cNvPr id="25" name="Textfeld 24"/>
            <p:cNvSpPr txBox="1"/>
            <p:nvPr/>
          </p:nvSpPr>
          <p:spPr>
            <a:xfrm>
              <a:off x="7643834" y="5286388"/>
              <a:ext cx="1214446" cy="92333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b="0" dirty="0" smtClean="0">
                  <a:latin typeface="Calibri" pitchFamily="34" charset="0"/>
                </a:rPr>
                <a:t>Predict rating for</a:t>
              </a:r>
            </a:p>
            <a:p>
              <a:r>
                <a:rPr lang="en-US" b="0" dirty="0" smtClean="0">
                  <a:latin typeface="Calibri" pitchFamily="34" charset="0"/>
                </a:rPr>
                <a:t>User1</a:t>
              </a:r>
              <a:endParaRPr lang="en-US" b="0" dirty="0">
                <a:latin typeface="Calibri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Graph-based methods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"Spreading activation" (sketch) </a:t>
            </a:r>
          </a:p>
          <a:p>
            <a:pPr lvl="1"/>
            <a:r>
              <a:rPr lang="en-US" dirty="0" smtClean="0"/>
              <a:t>Idea: Use paths of lengths &gt; 3 </a:t>
            </a:r>
            <a:br>
              <a:rPr lang="en-US" dirty="0" smtClean="0"/>
            </a:br>
            <a:r>
              <a:rPr lang="en-US" dirty="0" smtClean="0"/>
              <a:t>to recommend items</a:t>
            </a:r>
          </a:p>
          <a:p>
            <a:pPr lvl="1"/>
            <a:r>
              <a:rPr lang="en-US" dirty="0" smtClean="0"/>
              <a:t>Length 3: Recommend Item3 to User1</a:t>
            </a:r>
          </a:p>
          <a:p>
            <a:pPr lvl="1"/>
            <a:r>
              <a:rPr lang="en-US" dirty="0" smtClean="0"/>
              <a:t>Length 5: Item1 also recommendable</a:t>
            </a:r>
          </a:p>
          <a:p>
            <a:pPr lvl="1"/>
            <a:endParaRPr lang="en-US" dirty="0" smtClean="0"/>
          </a:p>
          <a:p>
            <a:endParaRPr lang="en-US" dirty="0"/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14414" y="3286124"/>
            <a:ext cx="3343275" cy="284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12" name="Gruppieren 11"/>
          <p:cNvGrpSpPr/>
          <p:nvPr/>
        </p:nvGrpSpPr>
        <p:grpSpPr>
          <a:xfrm>
            <a:off x="1928794" y="4071942"/>
            <a:ext cx="1071570" cy="1214446"/>
            <a:chOff x="5643570" y="4500570"/>
            <a:chExt cx="1071570" cy="1214446"/>
          </a:xfrm>
        </p:grpSpPr>
        <p:cxnSp>
          <p:nvCxnSpPr>
            <p:cNvPr id="13" name="Gerade Verbindung 12"/>
            <p:cNvCxnSpPr/>
            <p:nvPr/>
          </p:nvCxnSpPr>
          <p:spPr bwMode="auto">
            <a:xfrm rot="16200000" flipH="1">
              <a:off x="5214942" y="4929198"/>
              <a:ext cx="1214446" cy="357190"/>
            </a:xfrm>
            <a:prstGeom prst="line">
              <a:avLst/>
            </a:prstGeom>
            <a:ln w="127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" name="Gerade Verbindung 13"/>
            <p:cNvCxnSpPr/>
            <p:nvPr/>
          </p:nvCxnSpPr>
          <p:spPr bwMode="auto">
            <a:xfrm rot="5400000">
              <a:off x="5572132" y="4929198"/>
              <a:ext cx="1214446" cy="357190"/>
            </a:xfrm>
            <a:prstGeom prst="line">
              <a:avLst/>
            </a:prstGeom>
            <a:ln w="127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5" name="Gerade Verbindung 14"/>
            <p:cNvCxnSpPr/>
            <p:nvPr/>
          </p:nvCxnSpPr>
          <p:spPr bwMode="auto">
            <a:xfrm rot="16200000" flipH="1">
              <a:off x="5929322" y="4929198"/>
              <a:ext cx="1214446" cy="357190"/>
            </a:xfrm>
            <a:prstGeom prst="line">
              <a:avLst/>
            </a:prstGeom>
            <a:ln w="12700">
              <a:solidFill>
                <a:srgbClr val="FF0000"/>
              </a:solidFill>
              <a:headEnd type="none" w="med" len="med"/>
              <a:tailEnd type="none" w="med" len="med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6" name="Gruppieren 15"/>
          <p:cNvGrpSpPr/>
          <p:nvPr/>
        </p:nvGrpSpPr>
        <p:grpSpPr>
          <a:xfrm>
            <a:off x="1643042" y="4143380"/>
            <a:ext cx="1643074" cy="1214446"/>
            <a:chOff x="5357818" y="4429132"/>
            <a:chExt cx="1643074" cy="1214446"/>
          </a:xfrm>
        </p:grpSpPr>
        <p:grpSp>
          <p:nvGrpSpPr>
            <p:cNvPr id="17" name="Gruppieren 11"/>
            <p:cNvGrpSpPr/>
            <p:nvPr/>
          </p:nvGrpSpPr>
          <p:grpSpPr>
            <a:xfrm>
              <a:off x="5643570" y="4429132"/>
              <a:ext cx="1071570" cy="1214446"/>
              <a:chOff x="5643570" y="4500570"/>
              <a:chExt cx="1071570" cy="1214446"/>
            </a:xfrm>
          </p:grpSpPr>
          <p:cxnSp>
            <p:nvCxnSpPr>
              <p:cNvPr id="20" name="Gerade Verbindung 19"/>
              <p:cNvCxnSpPr/>
              <p:nvPr/>
            </p:nvCxnSpPr>
            <p:spPr bwMode="auto">
              <a:xfrm rot="16200000" flipH="1">
                <a:off x="5214942" y="4929198"/>
                <a:ext cx="1214446" cy="357190"/>
              </a:xfrm>
              <a:prstGeom prst="line">
                <a:avLst/>
              </a:prstGeom>
              <a:ln w="19050">
                <a:solidFill>
                  <a:srgbClr val="FF000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21" name="Gerade Verbindung 20"/>
              <p:cNvCxnSpPr/>
              <p:nvPr/>
            </p:nvCxnSpPr>
            <p:spPr bwMode="auto">
              <a:xfrm rot="5400000">
                <a:off x="5572132" y="4929198"/>
                <a:ext cx="1214446" cy="357190"/>
              </a:xfrm>
              <a:prstGeom prst="line">
                <a:avLst/>
              </a:prstGeom>
              <a:ln w="19050">
                <a:solidFill>
                  <a:srgbClr val="FF000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cxnSp>
            <p:nvCxnSpPr>
              <p:cNvPr id="22" name="Gerade Verbindung 21"/>
              <p:cNvCxnSpPr/>
              <p:nvPr/>
            </p:nvCxnSpPr>
            <p:spPr bwMode="auto">
              <a:xfrm rot="16200000" flipH="1">
                <a:off x="5929322" y="4929198"/>
                <a:ext cx="1214446" cy="357190"/>
              </a:xfrm>
              <a:prstGeom prst="line">
                <a:avLst/>
              </a:prstGeom>
              <a:ln w="19050">
                <a:solidFill>
                  <a:srgbClr val="FF000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</p:grpSp>
        <p:cxnSp>
          <p:nvCxnSpPr>
            <p:cNvPr id="18" name="Gerade Verbindung 17"/>
            <p:cNvCxnSpPr/>
            <p:nvPr/>
          </p:nvCxnSpPr>
          <p:spPr bwMode="auto">
            <a:xfrm rot="5400000" flipH="1" flipV="1">
              <a:off x="6250793" y="4893479"/>
              <a:ext cx="1214446" cy="285752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19" name="Gerade Verbindung 18"/>
            <p:cNvCxnSpPr/>
            <p:nvPr/>
          </p:nvCxnSpPr>
          <p:spPr bwMode="auto">
            <a:xfrm flipV="1">
              <a:off x="5357818" y="4429132"/>
              <a:ext cx="1643074" cy="1214446"/>
            </a:xfrm>
            <a:prstGeom prst="line">
              <a:avLst/>
            </a:prstGeom>
            <a:solidFill>
              <a:schemeClr val="accent1"/>
            </a:solidFill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More model-based approaches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Plethora of different techniques proposed in the last years, e.g.,</a:t>
            </a:r>
          </a:p>
          <a:p>
            <a:pPr lvl="1"/>
            <a:r>
              <a:rPr lang="en-US" dirty="0" smtClean="0"/>
              <a:t>Matrix factorization techniques, statistics</a:t>
            </a:r>
          </a:p>
          <a:p>
            <a:pPr lvl="2"/>
            <a:r>
              <a:rPr lang="en-US" dirty="0" smtClean="0"/>
              <a:t>singular value decomposition, principal component analysis</a:t>
            </a:r>
          </a:p>
          <a:p>
            <a:pPr lvl="1"/>
            <a:r>
              <a:rPr lang="en-US" dirty="0" smtClean="0"/>
              <a:t>Association rule mining</a:t>
            </a:r>
          </a:p>
          <a:p>
            <a:pPr lvl="2"/>
            <a:r>
              <a:rPr lang="en-US" dirty="0" smtClean="0"/>
              <a:t>compare: shopping basket analysis</a:t>
            </a:r>
          </a:p>
          <a:p>
            <a:pPr lvl="1"/>
            <a:r>
              <a:rPr lang="en-US" dirty="0" smtClean="0"/>
              <a:t>Probabilistic models</a:t>
            </a:r>
          </a:p>
          <a:p>
            <a:pPr lvl="2"/>
            <a:r>
              <a:rPr lang="en-US" dirty="0" smtClean="0"/>
              <a:t>clustering models, Bayesian networks, probabilistic Latent Semantic Analysis</a:t>
            </a:r>
          </a:p>
          <a:p>
            <a:pPr lvl="1"/>
            <a:r>
              <a:rPr lang="en-US" dirty="0" smtClean="0"/>
              <a:t>Various other machine learning approaches</a:t>
            </a:r>
          </a:p>
          <a:p>
            <a:r>
              <a:rPr lang="en-US" dirty="0" smtClean="0"/>
              <a:t>Costs of pre-processing </a:t>
            </a:r>
          </a:p>
          <a:p>
            <a:pPr lvl="1"/>
            <a:r>
              <a:rPr lang="en-US" dirty="0" smtClean="0"/>
              <a:t>Usually not discussed</a:t>
            </a:r>
          </a:p>
          <a:p>
            <a:pPr lvl="1"/>
            <a:r>
              <a:rPr lang="en-US" dirty="0" smtClean="0"/>
              <a:t>Incremental updates possible?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eaLnBrk="1" hangingPunct="1"/>
            <a:r>
              <a:rPr lang="en-US" smtClean="0"/>
              <a:t>2000: 	</a:t>
            </a:r>
            <a:r>
              <a:rPr lang="en-US" sz="2000" i="1" smtClean="0">
                <a:solidFill>
                  <a:schemeClr val="tx2"/>
                </a:solidFill>
              </a:rPr>
              <a:t>Application of Dimensionality Reduction in</a:t>
            </a:r>
            <a:br>
              <a:rPr lang="en-US" sz="2000" i="1" smtClean="0">
                <a:solidFill>
                  <a:schemeClr val="tx2"/>
                </a:solidFill>
              </a:rPr>
            </a:br>
            <a:r>
              <a:rPr lang="en-US" sz="2000" i="1" smtClean="0">
                <a:solidFill>
                  <a:schemeClr val="tx2"/>
                </a:solidFill>
              </a:rPr>
              <a:t>	Recommender System</a:t>
            </a:r>
            <a:r>
              <a:rPr lang="en-US" sz="2000" smtClean="0">
                <a:solidFill>
                  <a:schemeClr val="tx2"/>
                </a:solidFill>
              </a:rPr>
              <a:t>, B. Sarwar et al., WebKDD Workshop</a:t>
            </a:r>
            <a:endParaRPr lang="en-US" sz="200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Basic idea: Trade more complex offline model building for faster online prediction generation</a:t>
            </a:r>
          </a:p>
          <a:p>
            <a:r>
              <a:rPr lang="en-US" dirty="0" smtClean="0"/>
              <a:t>Singular Value Decomposition for dimensionality reduction of rating matrices</a:t>
            </a:r>
          </a:p>
          <a:p>
            <a:pPr lvl="1"/>
            <a:r>
              <a:rPr lang="en-US" sz="1600" dirty="0" smtClean="0"/>
              <a:t>Captures important factors/aspects and their weights in the data   </a:t>
            </a:r>
          </a:p>
          <a:p>
            <a:pPr lvl="1"/>
            <a:r>
              <a:rPr lang="en-US" sz="1600" dirty="0" smtClean="0"/>
              <a:t>factors can be genre, actors but also non-understandable ones</a:t>
            </a:r>
          </a:p>
          <a:p>
            <a:pPr lvl="1"/>
            <a:r>
              <a:rPr lang="en-US" sz="1600" dirty="0" smtClean="0"/>
              <a:t>Assumption that k dimensions capture the signals and filter out noise (K = 20 to 100)</a:t>
            </a:r>
          </a:p>
          <a:p>
            <a:r>
              <a:rPr lang="en-US" dirty="0" smtClean="0"/>
              <a:t>Constant time to make recommendations</a:t>
            </a:r>
          </a:p>
          <a:p>
            <a:r>
              <a:rPr lang="en-US" dirty="0" smtClean="0"/>
              <a:t>Approach also popular in IR (Latent Semantic Indexing), data compression, …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9019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A picture says …</a:t>
            </a:r>
            <a:endParaRPr lang="en-US" dirty="0"/>
          </a:p>
        </p:txBody>
      </p:sp>
      <p:graphicFrame>
        <p:nvGraphicFramePr>
          <p:cNvPr id="5" name="Diagramm 4"/>
          <p:cNvGraphicFramePr/>
          <p:nvPr>
            <p:extLst>
              <p:ext uri="{D42A27DB-BD31-4B8C-83A1-F6EECF244321}">
                <p14:modId xmlns:p14="http://schemas.microsoft.com/office/powerpoint/2010/main" val="2298840607"/>
              </p:ext>
            </p:extLst>
          </p:nvPr>
        </p:nvGraphicFramePr>
        <p:xfrm>
          <a:off x="611560" y="1484784"/>
          <a:ext cx="7668344" cy="44644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098032" y="4516025"/>
            <a:ext cx="469980" cy="678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843808" y="2204864"/>
            <a:ext cx="483248" cy="6913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496807" y="2777764"/>
            <a:ext cx="500599" cy="6913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5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5542866" y="3033036"/>
            <a:ext cx="727372" cy="5070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" name="Picture 6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6372201" y="4149080"/>
            <a:ext cx="479396" cy="6765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1" name="Textfeld 10"/>
          <p:cNvSpPr txBox="1"/>
          <p:nvPr/>
        </p:nvSpPr>
        <p:spPr>
          <a:xfrm>
            <a:off x="2339752" y="3140968"/>
            <a:ext cx="60465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smtClean="0">
                <a:latin typeface="Calibri" pitchFamily="34" charset="0"/>
                <a:cs typeface="Calibri" pitchFamily="34" charset="0"/>
              </a:rPr>
              <a:t>Bob</a:t>
            </a:r>
            <a:endParaRPr lang="en-US" sz="20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2" name="Textfeld 11"/>
          <p:cNvSpPr txBox="1"/>
          <p:nvPr/>
        </p:nvSpPr>
        <p:spPr>
          <a:xfrm>
            <a:off x="7129138" y="3269102"/>
            <a:ext cx="7569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smtClean="0">
                <a:latin typeface="Calibri" pitchFamily="34" charset="0"/>
                <a:cs typeface="Calibri" pitchFamily="34" charset="0"/>
              </a:rPr>
              <a:t>Mary</a:t>
            </a:r>
            <a:endParaRPr lang="en-US" sz="20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3" name="Textfeld 12"/>
          <p:cNvSpPr txBox="1"/>
          <p:nvPr/>
        </p:nvSpPr>
        <p:spPr>
          <a:xfrm>
            <a:off x="5508104" y="4221088"/>
            <a:ext cx="7024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smtClean="0">
                <a:latin typeface="Calibri" pitchFamily="34" charset="0"/>
                <a:cs typeface="Calibri" pitchFamily="34" charset="0"/>
              </a:rPr>
              <a:t>Alice</a:t>
            </a:r>
            <a:endParaRPr lang="en-US" sz="20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4" name="Textfeld 13"/>
          <p:cNvSpPr txBox="1"/>
          <p:nvPr/>
        </p:nvSpPr>
        <p:spPr>
          <a:xfrm>
            <a:off x="5004048" y="1628800"/>
            <a:ext cx="5741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smtClean="0">
                <a:latin typeface="Calibri" pitchFamily="34" charset="0"/>
                <a:cs typeface="Calibri" pitchFamily="34" charset="0"/>
              </a:rPr>
              <a:t>Sue</a:t>
            </a:r>
            <a:endParaRPr lang="en-US" sz="2000" b="1" dirty="0">
              <a:latin typeface="Calibri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9882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cs typeface="Calibri" pitchFamily="34" charset="0"/>
              </a:rPr>
              <a:t>Matrix factorization</a:t>
            </a:r>
            <a:endParaRPr lang="en-US" dirty="0">
              <a:cs typeface="Calibri" pitchFamily="34" charset="0"/>
            </a:endParaRPr>
          </a:p>
        </p:txBody>
      </p:sp>
      <p:graphicFrame>
        <p:nvGraphicFramePr>
          <p:cNvPr id="4" name="Inhaltsplatzhalt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60925138"/>
              </p:ext>
            </p:extLst>
          </p:nvPr>
        </p:nvGraphicFramePr>
        <p:xfrm>
          <a:off x="4139952" y="2685092"/>
          <a:ext cx="4824540" cy="1391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4090"/>
                <a:gridCol w="804090"/>
                <a:gridCol w="804090"/>
                <a:gridCol w="804090"/>
                <a:gridCol w="804090"/>
                <a:gridCol w="804090"/>
              </a:tblGrid>
              <a:tr h="34613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sz="2000" dirty="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V</a:t>
                      </a:r>
                      <a:r>
                        <a:rPr lang="de-AT" sz="2000" baseline="-25000" dirty="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k</a:t>
                      </a:r>
                      <a:r>
                        <a:rPr lang="de-AT" sz="2000" baseline="30000" dirty="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T</a:t>
                      </a:r>
                      <a:endParaRPr lang="de-DE" sz="2000" baseline="30000" dirty="0" smtClean="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/>
                </a:tc>
              </a:tr>
              <a:tr h="497870">
                <a:tc>
                  <a:txBody>
                    <a:bodyPr/>
                    <a:lstStyle/>
                    <a:p>
                      <a:r>
                        <a:rPr lang="de-AT" sz="2000" b="1" dirty="0" smtClean="0">
                          <a:latin typeface="Calibri" pitchFamily="34" charset="0"/>
                          <a:cs typeface="Calibri" pitchFamily="34" charset="0"/>
                        </a:rPr>
                        <a:t>Dim1</a:t>
                      </a:r>
                      <a:endParaRPr lang="de-DE" sz="2000" b="1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dirty="0" smtClean="0">
                          <a:latin typeface="Calibri" pitchFamily="34" charset="0"/>
                          <a:cs typeface="Calibri" pitchFamily="34" charset="0"/>
                        </a:rPr>
                        <a:t>-0.44</a:t>
                      </a:r>
                      <a:endParaRPr lang="de-DE" sz="2000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dirty="0" smtClean="0">
                          <a:latin typeface="Calibri" pitchFamily="34" charset="0"/>
                          <a:cs typeface="Calibri" pitchFamily="34" charset="0"/>
                        </a:rPr>
                        <a:t>-0.57</a:t>
                      </a:r>
                      <a:endParaRPr lang="de-DE" sz="2000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dirty="0" smtClean="0">
                          <a:latin typeface="Calibri" pitchFamily="34" charset="0"/>
                          <a:cs typeface="Calibri" pitchFamily="34" charset="0"/>
                        </a:rPr>
                        <a:t>0.06</a:t>
                      </a:r>
                      <a:endParaRPr lang="de-DE" sz="2000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dirty="0" smtClean="0">
                          <a:latin typeface="Calibri" pitchFamily="34" charset="0"/>
                          <a:cs typeface="Calibri" pitchFamily="34" charset="0"/>
                        </a:rPr>
                        <a:t>0.38</a:t>
                      </a:r>
                      <a:endParaRPr lang="de-DE" sz="2000" b="1" i="0" baseline="0" dirty="0">
                        <a:solidFill>
                          <a:srgbClr val="C00000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dirty="0" smtClean="0">
                          <a:latin typeface="Calibri" pitchFamily="34" charset="0"/>
                          <a:cs typeface="Calibri" pitchFamily="34" charset="0"/>
                        </a:rPr>
                        <a:t>0.57</a:t>
                      </a:r>
                      <a:endParaRPr lang="de-DE" sz="2000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/>
                </a:tc>
              </a:tr>
              <a:tr h="497870">
                <a:tc>
                  <a:txBody>
                    <a:bodyPr/>
                    <a:lstStyle/>
                    <a:p>
                      <a:r>
                        <a:rPr lang="de-AT" sz="2000" b="1" dirty="0" smtClean="0">
                          <a:latin typeface="Calibri" pitchFamily="34" charset="0"/>
                          <a:cs typeface="Calibri" pitchFamily="34" charset="0"/>
                        </a:rPr>
                        <a:t>Dim2</a:t>
                      </a:r>
                      <a:endParaRPr lang="de-DE" sz="2000" b="1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dirty="0" smtClean="0">
                          <a:latin typeface="Calibri" pitchFamily="34" charset="0"/>
                          <a:cs typeface="Calibri" pitchFamily="34" charset="0"/>
                        </a:rPr>
                        <a:t>0.58</a:t>
                      </a:r>
                      <a:endParaRPr lang="de-DE" sz="2000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dirty="0" smtClean="0">
                          <a:latin typeface="Calibri" pitchFamily="34" charset="0"/>
                          <a:cs typeface="Calibri" pitchFamily="34" charset="0"/>
                        </a:rPr>
                        <a:t>-0.66</a:t>
                      </a:r>
                      <a:endParaRPr lang="de-DE" sz="2000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dirty="0" smtClean="0">
                          <a:latin typeface="Calibri" pitchFamily="34" charset="0"/>
                          <a:cs typeface="Calibri" pitchFamily="34" charset="0"/>
                        </a:rPr>
                        <a:t>0.26</a:t>
                      </a:r>
                      <a:endParaRPr lang="de-DE" sz="2000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dirty="0" smtClean="0">
                          <a:latin typeface="Calibri" pitchFamily="34" charset="0"/>
                          <a:cs typeface="Calibri" pitchFamily="34" charset="0"/>
                        </a:rPr>
                        <a:t>0.18</a:t>
                      </a:r>
                      <a:endParaRPr lang="de-DE" sz="2000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dirty="0" smtClean="0">
                          <a:latin typeface="Calibri" pitchFamily="34" charset="0"/>
                          <a:cs typeface="Calibri" pitchFamily="34" charset="0"/>
                        </a:rPr>
                        <a:t>-0.36</a:t>
                      </a:r>
                      <a:endParaRPr lang="de-DE" sz="2000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150727" y="2253043"/>
            <a:ext cx="501395" cy="7236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928660" y="2253043"/>
            <a:ext cx="515550" cy="7376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702237" y="2253043"/>
            <a:ext cx="534061" cy="7376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7324401" y="2469067"/>
            <a:ext cx="775993" cy="540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" name="Picture 6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8309033" y="2253043"/>
            <a:ext cx="511441" cy="7217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10" name="Inhaltsplatzhalt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01423360"/>
              </p:ext>
            </p:extLst>
          </p:nvPr>
        </p:nvGraphicFramePr>
        <p:xfrm>
          <a:off x="395536" y="2610460"/>
          <a:ext cx="2448272" cy="24027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4090"/>
                <a:gridCol w="852094"/>
                <a:gridCol w="792088"/>
              </a:tblGrid>
              <a:tr h="369789">
                <a:tc>
                  <a:txBody>
                    <a:bodyPr/>
                    <a:lstStyle/>
                    <a:p>
                      <a:pPr algn="ctr"/>
                      <a:r>
                        <a:rPr lang="de-AT" sz="2000" dirty="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U</a:t>
                      </a:r>
                      <a:r>
                        <a:rPr lang="de-AT" sz="2000" baseline="-25000" dirty="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k</a:t>
                      </a:r>
                      <a:endParaRPr lang="de-DE" sz="2000" baseline="-25000" dirty="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AT" sz="2000" baseline="0" dirty="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Dim1</a:t>
                      </a:r>
                      <a:endParaRPr lang="de-DE" sz="2000" baseline="0" dirty="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sz="2000" baseline="0" dirty="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Dim2</a:t>
                      </a:r>
                      <a:endParaRPr lang="de-DE" sz="2000" baseline="0" dirty="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/>
                </a:tc>
              </a:tr>
              <a:tr h="501619">
                <a:tc>
                  <a:txBody>
                    <a:bodyPr/>
                    <a:lstStyle/>
                    <a:p>
                      <a:r>
                        <a:rPr lang="de-AT" sz="2000" b="1" dirty="0" smtClean="0">
                          <a:latin typeface="Calibri" pitchFamily="34" charset="0"/>
                          <a:cs typeface="Calibri" pitchFamily="34" charset="0"/>
                        </a:rPr>
                        <a:t>Alice</a:t>
                      </a:r>
                      <a:endParaRPr lang="de-DE" sz="2000" b="1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dirty="0" smtClean="0">
                          <a:latin typeface="Calibri" pitchFamily="34" charset="0"/>
                          <a:cs typeface="Calibri" pitchFamily="34" charset="0"/>
                        </a:rPr>
                        <a:t>0.47</a:t>
                      </a:r>
                      <a:endParaRPr lang="de-DE" sz="2000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dirty="0" smtClean="0">
                          <a:latin typeface="Calibri" pitchFamily="34" charset="0"/>
                          <a:cs typeface="Calibri" pitchFamily="34" charset="0"/>
                        </a:rPr>
                        <a:t>-0.30</a:t>
                      </a:r>
                      <a:endParaRPr lang="de-DE" sz="2000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/>
                </a:tc>
              </a:tr>
              <a:tr h="501619">
                <a:tc>
                  <a:txBody>
                    <a:bodyPr/>
                    <a:lstStyle/>
                    <a:p>
                      <a:r>
                        <a:rPr lang="de-AT" sz="2000" b="1" dirty="0" smtClean="0">
                          <a:latin typeface="Calibri" pitchFamily="34" charset="0"/>
                          <a:cs typeface="Calibri" pitchFamily="34" charset="0"/>
                        </a:rPr>
                        <a:t>Bob</a:t>
                      </a:r>
                      <a:endParaRPr lang="de-DE" sz="2000" b="1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dirty="0" smtClean="0">
                          <a:latin typeface="Calibri" pitchFamily="34" charset="0"/>
                          <a:cs typeface="Calibri" pitchFamily="34" charset="0"/>
                        </a:rPr>
                        <a:t> -0.44</a:t>
                      </a:r>
                      <a:endParaRPr lang="de-DE" sz="2000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dirty="0" smtClean="0">
                          <a:latin typeface="Calibri" pitchFamily="34" charset="0"/>
                          <a:cs typeface="Calibri" pitchFamily="34" charset="0"/>
                        </a:rPr>
                        <a:t>0.23</a:t>
                      </a:r>
                      <a:endParaRPr lang="de-DE" sz="2000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/>
                </a:tc>
              </a:tr>
              <a:tr h="501619">
                <a:tc>
                  <a:txBody>
                    <a:bodyPr/>
                    <a:lstStyle/>
                    <a:p>
                      <a:r>
                        <a:rPr lang="de-AT" sz="2000" b="1" dirty="0" smtClean="0">
                          <a:latin typeface="Calibri" pitchFamily="34" charset="0"/>
                          <a:cs typeface="Calibri" pitchFamily="34" charset="0"/>
                        </a:rPr>
                        <a:t>Mary</a:t>
                      </a:r>
                      <a:endParaRPr lang="de-DE" sz="2000" b="1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2000" dirty="0" smtClean="0">
                          <a:latin typeface="Calibri" pitchFamily="34" charset="0"/>
                          <a:cs typeface="Calibri" pitchFamily="34" charset="0"/>
                        </a:rPr>
                        <a:t>0.70</a:t>
                      </a:r>
                      <a:endParaRPr lang="de-DE" sz="2000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2000" dirty="0" smtClean="0">
                          <a:latin typeface="Calibri" pitchFamily="34" charset="0"/>
                          <a:cs typeface="Calibri" pitchFamily="34" charset="0"/>
                        </a:rPr>
                        <a:t>-</a:t>
                      </a:r>
                      <a:r>
                        <a:rPr lang="de-DE" sz="2000" dirty="0" smtClean="0">
                          <a:latin typeface="Calibri" pitchFamily="34" charset="0"/>
                          <a:cs typeface="Calibri" pitchFamily="34" charset="0"/>
                        </a:rPr>
                        <a:t>0.06</a:t>
                      </a:r>
                      <a:endParaRPr lang="de-DE" sz="2000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/>
                </a:tc>
              </a:tr>
              <a:tr h="501619">
                <a:tc>
                  <a:txBody>
                    <a:bodyPr/>
                    <a:lstStyle/>
                    <a:p>
                      <a:r>
                        <a:rPr lang="de-AT" sz="2000" b="1" dirty="0" smtClean="0">
                          <a:latin typeface="Calibri" pitchFamily="34" charset="0"/>
                          <a:cs typeface="Calibri" pitchFamily="34" charset="0"/>
                        </a:rPr>
                        <a:t>Sue</a:t>
                      </a:r>
                      <a:endParaRPr lang="de-DE" sz="2000" b="1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dirty="0" smtClean="0">
                          <a:latin typeface="Calibri" pitchFamily="34" charset="0"/>
                          <a:cs typeface="Calibri" pitchFamily="34" charset="0"/>
                        </a:rPr>
                        <a:t>0.31</a:t>
                      </a:r>
                      <a:endParaRPr lang="de-DE" sz="2000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dirty="0" smtClean="0">
                          <a:latin typeface="Calibri" pitchFamily="34" charset="0"/>
                          <a:cs typeface="Calibri" pitchFamily="34" charset="0"/>
                        </a:rPr>
                        <a:t>0.93</a:t>
                      </a:r>
                      <a:endParaRPr lang="de-DE" sz="2000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11" name="Tabel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0013753"/>
              </p:ext>
            </p:extLst>
          </p:nvPr>
        </p:nvGraphicFramePr>
        <p:xfrm>
          <a:off x="6588224" y="4509120"/>
          <a:ext cx="2412270" cy="14436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4090"/>
                <a:gridCol w="804090"/>
                <a:gridCol w="804090"/>
              </a:tblGrid>
              <a:tr h="36650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de-DE" baseline="30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de-AT" sz="2000" baseline="0" dirty="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Dim1</a:t>
                      </a:r>
                      <a:endParaRPr lang="de-DE" sz="2000" baseline="0" dirty="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sz="2000" baseline="0" dirty="0" smtClean="0">
                          <a:solidFill>
                            <a:schemeClr val="tx1"/>
                          </a:solidFill>
                          <a:latin typeface="Calibri" pitchFamily="34" charset="0"/>
                          <a:cs typeface="Calibri" pitchFamily="34" charset="0"/>
                        </a:rPr>
                        <a:t>Dim2</a:t>
                      </a:r>
                      <a:endParaRPr lang="de-DE" sz="2000" baseline="0" dirty="0">
                        <a:solidFill>
                          <a:schemeClr val="tx1"/>
                        </a:solidFill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/>
                </a:tc>
              </a:tr>
              <a:tr h="523688">
                <a:tc>
                  <a:txBody>
                    <a:bodyPr/>
                    <a:lstStyle/>
                    <a:p>
                      <a:r>
                        <a:rPr lang="de-AT" sz="2000" b="1" dirty="0" smtClean="0">
                          <a:latin typeface="Calibri" pitchFamily="34" charset="0"/>
                          <a:cs typeface="Calibri" pitchFamily="34" charset="0"/>
                        </a:rPr>
                        <a:t>Dim1</a:t>
                      </a:r>
                      <a:endParaRPr lang="de-DE" sz="2000" b="1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AT" sz="2000" dirty="0" smtClean="0">
                          <a:latin typeface="Calibri" pitchFamily="34" charset="0"/>
                          <a:cs typeface="Calibri" pitchFamily="34" charset="0"/>
                        </a:rPr>
                        <a:t>5.63</a:t>
                      </a:r>
                      <a:endParaRPr lang="de-DE" sz="2000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dirty="0" smtClean="0">
                          <a:latin typeface="Calibri" pitchFamily="34" charset="0"/>
                          <a:cs typeface="Calibri" pitchFamily="34" charset="0"/>
                        </a:rPr>
                        <a:t>0</a:t>
                      </a:r>
                      <a:endParaRPr lang="de-DE" sz="2000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/>
                </a:tc>
              </a:tr>
              <a:tr h="523688">
                <a:tc>
                  <a:txBody>
                    <a:bodyPr/>
                    <a:lstStyle/>
                    <a:p>
                      <a:r>
                        <a:rPr lang="de-AT" sz="2000" b="1" dirty="0" smtClean="0">
                          <a:latin typeface="Calibri" pitchFamily="34" charset="0"/>
                          <a:cs typeface="Calibri" pitchFamily="34" charset="0"/>
                        </a:rPr>
                        <a:t>Dim2</a:t>
                      </a:r>
                      <a:endParaRPr lang="de-DE" sz="2000" b="1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dirty="0" smtClean="0">
                          <a:latin typeface="Calibri" pitchFamily="34" charset="0"/>
                          <a:cs typeface="Calibri" pitchFamily="34" charset="0"/>
                        </a:rPr>
                        <a:t>0</a:t>
                      </a:r>
                      <a:endParaRPr lang="de-DE" sz="2000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000" dirty="0" smtClean="0">
                          <a:latin typeface="Calibri" pitchFamily="34" charset="0"/>
                          <a:cs typeface="Calibri" pitchFamily="34" charset="0"/>
                        </a:rPr>
                        <a:t>3.23</a:t>
                      </a:r>
                      <a:endParaRPr lang="de-DE" sz="2000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12" name="Objek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8389538"/>
              </p:ext>
            </p:extLst>
          </p:nvPr>
        </p:nvGraphicFramePr>
        <p:xfrm>
          <a:off x="2195736" y="1844824"/>
          <a:ext cx="2736304" cy="6494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6" name="Formel" r:id="rId9" imgW="1574117" imgH="317362" progId="Equation.3">
                  <p:embed/>
                </p:oleObj>
              </mc:Choice>
              <mc:Fallback>
                <p:oleObj name="Formel" r:id="rId9" imgW="1574117" imgH="317362" progId="Equation.3">
                  <p:embed/>
                  <p:pic>
                    <p:nvPicPr>
                      <p:cNvPr id="0" name="Picture 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736" y="1844824"/>
                        <a:ext cx="2736304" cy="64944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k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8283352"/>
              </p:ext>
            </p:extLst>
          </p:nvPr>
        </p:nvGraphicFramePr>
        <p:xfrm>
          <a:off x="6788333" y="4412665"/>
          <a:ext cx="591979" cy="5378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7" name="Formel" r:id="rId11" imgW="241195" imgH="279279" progId="Equation.3">
                  <p:embed/>
                </p:oleObj>
              </mc:Choice>
              <mc:Fallback>
                <p:oleObj name="Formel" r:id="rId11" imgW="241195" imgH="279279" progId="Equation.3">
                  <p:embed/>
                  <p:pic>
                    <p:nvPicPr>
                      <p:cNvPr id="0" name="Picture 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8333" y="4412665"/>
                        <a:ext cx="591979" cy="53784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Inhaltsplatzhalter 2"/>
          <p:cNvSpPr txBox="1">
            <a:spLocks/>
          </p:cNvSpPr>
          <p:nvPr/>
        </p:nvSpPr>
        <p:spPr bwMode="auto">
          <a:xfrm>
            <a:off x="323528" y="1988840"/>
            <a:ext cx="4966320" cy="5040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en-US" kern="0" smtClean="0">
                <a:latin typeface="Calibri" pitchFamily="34" charset="0"/>
                <a:cs typeface="Calibri" pitchFamily="34" charset="0"/>
              </a:rPr>
              <a:t>SVD:</a:t>
            </a:r>
            <a:endParaRPr kumimoji="0" lang="en-US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cs typeface="Calibri" pitchFamily="34" charset="0"/>
            </a:endParaRPr>
          </a:p>
        </p:txBody>
      </p:sp>
      <p:grpSp>
        <p:nvGrpSpPr>
          <p:cNvPr id="15" name="Gruppieren 23"/>
          <p:cNvGrpSpPr/>
          <p:nvPr/>
        </p:nvGrpSpPr>
        <p:grpSpPr>
          <a:xfrm>
            <a:off x="395536" y="2974796"/>
            <a:ext cx="8496944" cy="3384376"/>
            <a:chOff x="395536" y="3068960"/>
            <a:chExt cx="8496944" cy="3384376"/>
          </a:xfrm>
        </p:grpSpPr>
        <p:grpSp>
          <p:nvGrpSpPr>
            <p:cNvPr id="16" name="Gruppieren 21"/>
            <p:cNvGrpSpPr/>
            <p:nvPr/>
          </p:nvGrpSpPr>
          <p:grpSpPr>
            <a:xfrm>
              <a:off x="395536" y="3068960"/>
              <a:ext cx="8496944" cy="3384376"/>
              <a:chOff x="395536" y="3068960"/>
              <a:chExt cx="8496944" cy="3384376"/>
            </a:xfrm>
          </p:grpSpPr>
          <p:sp>
            <p:nvSpPr>
              <p:cNvPr id="18" name="Inhaltsplatzhalter 2"/>
              <p:cNvSpPr txBox="1">
                <a:spLocks/>
              </p:cNvSpPr>
              <p:nvPr/>
            </p:nvSpPr>
            <p:spPr bwMode="auto">
              <a:xfrm>
                <a:off x="395536" y="5301208"/>
                <a:ext cx="4966320" cy="11521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342900" lvl="0" indent="-342900" eaLnBrk="1" hangingPunct="1">
                  <a:spcBef>
                    <a:spcPct val="20000"/>
                  </a:spcBef>
                  <a:buFontTx/>
                  <a:buChar char="•"/>
                </a:pPr>
                <a:r>
                  <a:rPr lang="de-AT" sz="2000" kern="0" dirty="0" smtClean="0">
                    <a:latin typeface="Calibri" pitchFamily="34" charset="0"/>
                    <a:cs typeface="Calibri" pitchFamily="34" charset="0"/>
                  </a:rPr>
                  <a:t>Prediction: </a:t>
                </a:r>
              </a:p>
              <a:p>
                <a:pPr marL="1714500" lvl="3" indent="-342900" eaLnBrk="1" hangingPunct="1">
                  <a:spcBef>
                    <a:spcPct val="20000"/>
                  </a:spcBef>
                </a:pPr>
                <a:r>
                  <a:rPr lang="de-AT" sz="2000" kern="0" dirty="0" smtClean="0">
                    <a:latin typeface="Calibri" pitchFamily="34" charset="0"/>
                    <a:cs typeface="Calibri" pitchFamily="34" charset="0"/>
                  </a:rPr>
                  <a:t>	</a:t>
                </a:r>
                <a:r>
                  <a:rPr lang="de-AT" kern="0" dirty="0" smtClean="0">
                    <a:latin typeface="Calibri" pitchFamily="34" charset="0"/>
                    <a:cs typeface="Calibri" pitchFamily="34" charset="0"/>
                  </a:rPr>
                  <a:t>	= </a:t>
                </a:r>
                <a:r>
                  <a:rPr lang="de-AT" dirty="0" smtClean="0">
                    <a:latin typeface="Calibri" pitchFamily="34" charset="0"/>
                    <a:cs typeface="Calibri" pitchFamily="34" charset="0"/>
                  </a:rPr>
                  <a:t>3 + 0.84 = </a:t>
                </a:r>
                <a:r>
                  <a:rPr lang="de-AT" dirty="0" smtClean="0">
                    <a:solidFill>
                      <a:srgbClr val="C00000"/>
                    </a:solidFill>
                    <a:latin typeface="Calibri" pitchFamily="34" charset="0"/>
                    <a:cs typeface="Calibri" pitchFamily="34" charset="0"/>
                  </a:rPr>
                  <a:t>3.84</a:t>
                </a:r>
                <a:endParaRPr kumimoji="0" lang="de-AT" b="0" i="0" u="none" strike="noStrike" kern="0" cap="none" spc="0" normalizeH="0" noProof="0" dirty="0" smtClean="0">
                  <a:ln>
                    <a:noFill/>
                  </a:ln>
                  <a:solidFill>
                    <a:srgbClr val="C00000"/>
                  </a:solidFill>
                  <a:effectLst/>
                  <a:uLnTx/>
                  <a:uFillTx/>
                  <a:latin typeface="Calibri" pitchFamily="34" charset="0"/>
                  <a:cs typeface="Calibri" pitchFamily="34" charset="0"/>
                </a:endParaRPr>
              </a:p>
            </p:txBody>
          </p:sp>
          <p:sp>
            <p:nvSpPr>
              <p:cNvPr id="19" name="Rechteck 18"/>
              <p:cNvSpPr/>
              <p:nvPr/>
            </p:nvSpPr>
            <p:spPr bwMode="auto">
              <a:xfrm>
                <a:off x="7452320" y="3140968"/>
                <a:ext cx="720080" cy="958260"/>
              </a:xfrm>
              <a:prstGeom prst="rect">
                <a:avLst/>
              </a:prstGeom>
              <a:noFill/>
              <a:ln w="3175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ＭＳ Ｐゴシック" pitchFamily="-112" charset="-128"/>
                  <a:cs typeface="Calibri" pitchFamily="34" charset="0"/>
                </a:endParaRPr>
              </a:p>
            </p:txBody>
          </p:sp>
          <p:sp>
            <p:nvSpPr>
              <p:cNvPr id="20" name="Rechteck 19"/>
              <p:cNvSpPr/>
              <p:nvPr/>
            </p:nvSpPr>
            <p:spPr bwMode="auto">
              <a:xfrm>
                <a:off x="395536" y="3068960"/>
                <a:ext cx="2448272" cy="432048"/>
              </a:xfrm>
              <a:prstGeom prst="rect">
                <a:avLst/>
              </a:prstGeom>
              <a:noFill/>
              <a:ln w="3175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ＭＳ Ｐゴシック" pitchFamily="-112" charset="-128"/>
                  <a:cs typeface="Calibri" pitchFamily="34" charset="0"/>
                </a:endParaRPr>
              </a:p>
            </p:txBody>
          </p:sp>
          <p:sp>
            <p:nvSpPr>
              <p:cNvPr id="21" name="Rechteck 20"/>
              <p:cNvSpPr/>
              <p:nvPr/>
            </p:nvSpPr>
            <p:spPr bwMode="auto">
              <a:xfrm>
                <a:off x="6588224" y="5013176"/>
                <a:ext cx="2304256" cy="958260"/>
              </a:xfrm>
              <a:prstGeom prst="rect">
                <a:avLst/>
              </a:prstGeom>
              <a:noFill/>
              <a:ln w="31750" cap="flat" cmpd="sng" algn="ctr">
                <a:solidFill>
                  <a:srgbClr val="C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ＭＳ Ｐゴシック" pitchFamily="-112" charset="-128"/>
                  <a:cs typeface="Calibri" pitchFamily="34" charset="0"/>
                </a:endParaRPr>
              </a:p>
            </p:txBody>
          </p:sp>
        </p:grpSp>
        <p:graphicFrame>
          <p:nvGraphicFramePr>
            <p:cNvPr id="17" name="Object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719450210"/>
                </p:ext>
              </p:extLst>
            </p:nvPr>
          </p:nvGraphicFramePr>
          <p:xfrm>
            <a:off x="2070671" y="5208201"/>
            <a:ext cx="4517553" cy="47404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688" name="Formel" r:id="rId13" imgW="2895600" imgH="304800" progId="Equation.3">
                    <p:embed/>
                  </p:oleObj>
                </mc:Choice>
                <mc:Fallback>
                  <p:oleObj name="Formel" r:id="rId13" imgW="2895600" imgH="304800" progId="Equation.3">
                    <p:embed/>
                    <p:pic>
                      <p:nvPicPr>
                        <p:cNvPr id="0" name="Picture 7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70671" y="5208201"/>
                          <a:ext cx="4517553" cy="47404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2511200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Association rule mining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01080" cy="4525963"/>
          </a:xfrm>
        </p:spPr>
        <p:txBody>
          <a:bodyPr/>
          <a:lstStyle/>
          <a:p>
            <a:r>
              <a:rPr lang="en-US" dirty="0" smtClean="0"/>
              <a:t>Commonly used for shopping behavior analysis</a:t>
            </a:r>
          </a:p>
          <a:p>
            <a:pPr lvl="1"/>
            <a:r>
              <a:rPr lang="en-US" dirty="0" smtClean="0"/>
              <a:t>aims at detection of rules such as</a:t>
            </a:r>
          </a:p>
          <a:p>
            <a:pPr lvl="1">
              <a:buNone/>
            </a:pPr>
            <a:r>
              <a:rPr lang="en-US" i="1" dirty="0" smtClean="0"/>
              <a:t>	"If a customer purchases baby-food then he also buys diapers </a:t>
            </a:r>
            <a:br>
              <a:rPr lang="en-US" i="1" dirty="0" smtClean="0"/>
            </a:br>
            <a:r>
              <a:rPr lang="en-US" i="1" dirty="0" smtClean="0"/>
              <a:t>in 70% of the cases"</a:t>
            </a:r>
          </a:p>
          <a:p>
            <a:r>
              <a:rPr lang="en-US" dirty="0" smtClean="0"/>
              <a:t>Association rule mining algorithms</a:t>
            </a:r>
          </a:p>
          <a:p>
            <a:pPr lvl="1"/>
            <a:r>
              <a:rPr lang="en-US" dirty="0" smtClean="0"/>
              <a:t>can detect rules of the form X =&gt; Y (e.g., baby-food =&gt; diapers) from a set of sales transactions D = {t</a:t>
            </a:r>
            <a:r>
              <a:rPr lang="en-US" baseline="-25000" dirty="0" smtClean="0"/>
              <a:t>1</a:t>
            </a:r>
            <a:r>
              <a:rPr lang="en-US" dirty="0" smtClean="0"/>
              <a:t>, t</a:t>
            </a:r>
            <a:r>
              <a:rPr lang="en-US" baseline="-25000" dirty="0" smtClean="0"/>
              <a:t>2</a:t>
            </a:r>
            <a:r>
              <a:rPr lang="en-US" dirty="0" smtClean="0"/>
              <a:t>, … </a:t>
            </a:r>
            <a:r>
              <a:rPr lang="en-US" dirty="0" err="1" smtClean="0"/>
              <a:t>t</a:t>
            </a:r>
            <a:r>
              <a:rPr lang="en-US" baseline="-25000" dirty="0" err="1" smtClean="0"/>
              <a:t>n</a:t>
            </a:r>
            <a:r>
              <a:rPr lang="en-US" dirty="0" smtClean="0"/>
              <a:t>}</a:t>
            </a:r>
          </a:p>
          <a:p>
            <a:pPr lvl="1"/>
            <a:r>
              <a:rPr lang="en-US" dirty="0" smtClean="0"/>
              <a:t>measure of quality: support, confidence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Probabilistic methods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Basic idea (simplistic version for illustration):</a:t>
            </a:r>
          </a:p>
          <a:p>
            <a:pPr lvl="1"/>
            <a:r>
              <a:rPr lang="en-US" dirty="0" smtClean="0"/>
              <a:t>given the user/item rating matrix</a:t>
            </a:r>
          </a:p>
          <a:p>
            <a:pPr lvl="1"/>
            <a:r>
              <a:rPr lang="en-US" dirty="0" smtClean="0"/>
              <a:t>determine the probability that user Alice will like an item </a:t>
            </a:r>
            <a:r>
              <a:rPr lang="en-US" dirty="0" err="1" smtClean="0"/>
              <a:t>i</a:t>
            </a:r>
            <a:endParaRPr lang="en-US" dirty="0" smtClean="0"/>
          </a:p>
          <a:p>
            <a:pPr lvl="1"/>
            <a:r>
              <a:rPr lang="en-US" dirty="0" smtClean="0"/>
              <a:t>base the recommendation on such these probabilities</a:t>
            </a:r>
          </a:p>
          <a:p>
            <a:r>
              <a:rPr lang="en-US" dirty="0" smtClean="0"/>
              <a:t>Calculation of rating probabilities based on </a:t>
            </a:r>
            <a:r>
              <a:rPr lang="en-US" dirty="0" err="1" smtClean="0"/>
              <a:t>Bayes</a:t>
            </a:r>
            <a:r>
              <a:rPr lang="en-US" dirty="0" smtClean="0"/>
              <a:t> Theorem</a:t>
            </a:r>
          </a:p>
          <a:p>
            <a:pPr lvl="1"/>
            <a:r>
              <a:rPr lang="en-US" dirty="0" smtClean="0"/>
              <a:t>How probable is rating value "1" for Item5 given Alice's previous ratings?</a:t>
            </a:r>
          </a:p>
          <a:p>
            <a:pPr lvl="1"/>
            <a:r>
              <a:rPr lang="en-US" dirty="0" smtClean="0"/>
              <a:t>Corresponds to conditional probability P(Item5=1 | X), where</a:t>
            </a:r>
          </a:p>
          <a:p>
            <a:pPr lvl="2"/>
            <a:r>
              <a:rPr lang="en-US" dirty="0" smtClean="0"/>
              <a:t>X = Alice's previous ratings = (Item1 =1, Item2=3, Item3= … )</a:t>
            </a:r>
          </a:p>
          <a:p>
            <a:pPr lvl="1"/>
            <a:r>
              <a:rPr lang="en-US" dirty="0" smtClean="0"/>
              <a:t>Can be estimated based on Bayes' Theorem</a:t>
            </a:r>
          </a:p>
          <a:p>
            <a:r>
              <a:rPr lang="en-US" dirty="0" smtClean="0"/>
              <a:t>Usually more sophisticated methods used</a:t>
            </a:r>
          </a:p>
          <a:p>
            <a:pPr lvl="1"/>
            <a:r>
              <a:rPr lang="en-US" dirty="0" smtClean="0"/>
              <a:t>Clustering</a:t>
            </a:r>
          </a:p>
          <a:p>
            <a:pPr lvl="1"/>
            <a:r>
              <a:rPr lang="en-US" dirty="0" err="1" smtClean="0"/>
              <a:t>pLSA</a:t>
            </a:r>
            <a:r>
              <a:rPr lang="en-US" dirty="0" smtClean="0"/>
              <a:t> …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2008: 	</a:t>
            </a:r>
            <a:r>
              <a:rPr lang="en-US" sz="2000" i="1" smtClean="0">
                <a:solidFill>
                  <a:schemeClr val="tx2"/>
                </a:solidFill>
              </a:rPr>
              <a:t>Factorization meets the neighborhood: a multifaceted collaborative </a:t>
            </a:r>
            <a:br>
              <a:rPr lang="en-US" sz="2000" i="1" smtClean="0">
                <a:solidFill>
                  <a:schemeClr val="tx2"/>
                </a:solidFill>
              </a:rPr>
            </a:br>
            <a:r>
              <a:rPr lang="en-US" sz="2000" i="1" smtClean="0">
                <a:solidFill>
                  <a:schemeClr val="tx2"/>
                </a:solidFill>
              </a:rPr>
              <a:t>	filtering model</a:t>
            </a:r>
            <a:r>
              <a:rPr lang="en-US" sz="2000" smtClean="0">
                <a:solidFill>
                  <a:schemeClr val="tx2"/>
                </a:solidFill>
              </a:rPr>
              <a:t>, Y. Koren, ACM SIGKDD</a:t>
            </a:r>
            <a:endParaRPr lang="en-US" sz="2000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>
          <a:xfrm>
            <a:off x="6804248" y="1484784"/>
            <a:ext cx="2252861" cy="2058169"/>
          </a:xfrm>
          <a:prstGeom prst="rect">
            <a:avLst/>
          </a:prstGeom>
        </p:spPr>
      </p:pic>
      <p:sp>
        <p:nvSpPr>
          <p:cNvPr id="5" name="Inhaltsplatzhalter 2"/>
          <p:cNvSpPr txBox="1">
            <a:spLocks/>
          </p:cNvSpPr>
          <p:nvPr/>
        </p:nvSpPr>
        <p:spPr bwMode="auto">
          <a:xfrm>
            <a:off x="611560" y="1686533"/>
            <a:ext cx="5974432" cy="37128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ts val="1200"/>
              </a:spcBef>
              <a:spcAft>
                <a:spcPct val="0"/>
              </a:spcAft>
              <a:buFont typeface="Wingdings" pitchFamily="2" charset="2"/>
              <a:buChar char="§"/>
              <a:defRPr sz="2000" b="1">
                <a:solidFill>
                  <a:srgbClr val="003366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rgbClr val="003366"/>
                </a:solidFill>
                <a:latin typeface="Calibri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700">
                <a:solidFill>
                  <a:srgbClr val="003366"/>
                </a:solidFill>
                <a:latin typeface="Calibri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700">
                <a:solidFill>
                  <a:srgbClr val="003366"/>
                </a:solidFill>
                <a:latin typeface="Calibri" pitchFamily="34" charset="0"/>
                <a:ea typeface="Times New Roman" pitchFamily="18" charset="0"/>
                <a:cs typeface="Helvetica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700">
                <a:solidFill>
                  <a:srgbClr val="003366"/>
                </a:solidFill>
                <a:latin typeface="Calibri" pitchFamily="34" charset="0"/>
                <a:ea typeface="Times New Roman" pitchFamily="18" charset="0"/>
                <a:cs typeface="Helvetica" pitchFamily="34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700">
                <a:solidFill>
                  <a:srgbClr val="003366"/>
                </a:solidFill>
                <a:latin typeface="+mn-lt"/>
                <a:ea typeface="Times New Roman" pitchFamily="18" charset="0"/>
                <a:cs typeface="Helvetica" pitchFamily="34" charset="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700">
                <a:solidFill>
                  <a:srgbClr val="003366"/>
                </a:solidFill>
                <a:latin typeface="+mn-lt"/>
                <a:ea typeface="Times New Roman" pitchFamily="18" charset="0"/>
                <a:cs typeface="Helvetica" pitchFamily="34" charset="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700">
                <a:solidFill>
                  <a:srgbClr val="003366"/>
                </a:solidFill>
                <a:latin typeface="+mn-lt"/>
                <a:ea typeface="Times New Roman" pitchFamily="18" charset="0"/>
                <a:cs typeface="Helvetica" pitchFamily="34" charset="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700">
                <a:solidFill>
                  <a:srgbClr val="003366"/>
                </a:solidFill>
                <a:latin typeface="+mn-lt"/>
                <a:ea typeface="Times New Roman" pitchFamily="18" charset="0"/>
                <a:cs typeface="Helvetica" pitchFamily="34" charset="0"/>
              </a:defRPr>
            </a:lvl9pPr>
          </a:lstStyle>
          <a:p>
            <a:r>
              <a:rPr lang="en-US" dirty="0" smtClean="0"/>
              <a:t>Stimulated by work on Netflix competition</a:t>
            </a:r>
          </a:p>
          <a:p>
            <a:pPr lvl="1"/>
            <a:r>
              <a:rPr lang="en-US" sz="1600" dirty="0" smtClean="0"/>
              <a:t>Prize of $1,000,000 for accuracy improvement of 10% RMSE compared to own </a:t>
            </a:r>
            <a:r>
              <a:rPr lang="en-US" sz="1600" dirty="0" err="1" smtClean="0"/>
              <a:t>Cinematch</a:t>
            </a:r>
            <a:r>
              <a:rPr lang="en-US" sz="1600" dirty="0" smtClean="0"/>
              <a:t> system</a:t>
            </a:r>
          </a:p>
          <a:p>
            <a:pPr lvl="1"/>
            <a:r>
              <a:rPr lang="en-US" sz="1600" dirty="0" smtClean="0"/>
              <a:t>Very large dataset (~100M ratings, ~480K users , ~18K movies)</a:t>
            </a:r>
          </a:p>
          <a:p>
            <a:pPr lvl="1"/>
            <a:r>
              <a:rPr lang="en-US" sz="1600" dirty="0" smtClean="0"/>
              <a:t>Last ratings/user withheld (set K)</a:t>
            </a:r>
          </a:p>
          <a:p>
            <a:r>
              <a:rPr lang="en-US" dirty="0" smtClean="0"/>
              <a:t>Root mean squared error metric optimized to 0.8567</a:t>
            </a:r>
          </a:p>
        </p:txBody>
      </p:sp>
      <p:graphicFrame>
        <p:nvGraphicFramePr>
          <p:cNvPr id="6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1662081"/>
              </p:ext>
            </p:extLst>
          </p:nvPr>
        </p:nvGraphicFramePr>
        <p:xfrm>
          <a:off x="1979712" y="4352359"/>
          <a:ext cx="2640781" cy="10303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68" name="Formel" r:id="rId5" imgW="2082800" imgH="812800" progId="Equation.3">
                  <p:embed/>
                </p:oleObj>
              </mc:Choice>
              <mc:Fallback>
                <p:oleObj name="Formel" r:id="rId5" imgW="2082800" imgH="812800" progId="Equation.3">
                  <p:embed/>
                  <p:pic>
                    <p:nvPicPr>
                      <p:cNvPr id="0" name="Picture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712" y="4352359"/>
                        <a:ext cx="2640781" cy="1030359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05896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Inhaltsplatzhalter 2"/>
          <p:cNvSpPr txBox="1">
            <a:spLocks/>
          </p:cNvSpPr>
          <p:nvPr/>
        </p:nvSpPr>
        <p:spPr bwMode="auto">
          <a:xfrm>
            <a:off x="650988" y="1484784"/>
            <a:ext cx="8097476" cy="2880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ts val="1200"/>
              </a:spcBef>
              <a:spcAft>
                <a:spcPct val="0"/>
              </a:spcAft>
              <a:buFont typeface="Wingdings" pitchFamily="2" charset="2"/>
              <a:buChar char="§"/>
              <a:defRPr sz="2000" b="1">
                <a:solidFill>
                  <a:srgbClr val="003366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rgbClr val="003366"/>
                </a:solidFill>
                <a:latin typeface="Calibri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700">
                <a:solidFill>
                  <a:srgbClr val="003366"/>
                </a:solidFill>
                <a:latin typeface="Calibri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700">
                <a:solidFill>
                  <a:srgbClr val="003366"/>
                </a:solidFill>
                <a:latin typeface="Calibri" pitchFamily="34" charset="0"/>
                <a:ea typeface="Times New Roman" pitchFamily="18" charset="0"/>
                <a:cs typeface="Helvetica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700">
                <a:solidFill>
                  <a:srgbClr val="003366"/>
                </a:solidFill>
                <a:latin typeface="Calibri" pitchFamily="34" charset="0"/>
                <a:ea typeface="Times New Roman" pitchFamily="18" charset="0"/>
                <a:cs typeface="Helvetica" pitchFamily="34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700">
                <a:solidFill>
                  <a:srgbClr val="003366"/>
                </a:solidFill>
                <a:latin typeface="+mn-lt"/>
                <a:ea typeface="Times New Roman" pitchFamily="18" charset="0"/>
                <a:cs typeface="Helvetica" pitchFamily="34" charset="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700">
                <a:solidFill>
                  <a:srgbClr val="003366"/>
                </a:solidFill>
                <a:latin typeface="+mn-lt"/>
                <a:ea typeface="Times New Roman" pitchFamily="18" charset="0"/>
                <a:cs typeface="Helvetica" pitchFamily="34" charset="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700">
                <a:solidFill>
                  <a:srgbClr val="003366"/>
                </a:solidFill>
                <a:latin typeface="+mn-lt"/>
                <a:ea typeface="Times New Roman" pitchFamily="18" charset="0"/>
                <a:cs typeface="Helvetica" pitchFamily="34" charset="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700">
                <a:solidFill>
                  <a:srgbClr val="003366"/>
                </a:solidFill>
                <a:latin typeface="+mn-lt"/>
                <a:ea typeface="Times New Roman" pitchFamily="18" charset="0"/>
                <a:cs typeface="Helvetica" pitchFamily="34" charset="0"/>
              </a:defRPr>
            </a:lvl9pPr>
          </a:lstStyle>
          <a:p>
            <a:r>
              <a:rPr lang="en-US" dirty="0" smtClean="0"/>
              <a:t>Merges neighborhood models with latent factor models</a:t>
            </a:r>
          </a:p>
          <a:p>
            <a:r>
              <a:rPr lang="en-US" sz="1800" dirty="0" smtClean="0"/>
              <a:t>Latent factor models</a:t>
            </a:r>
          </a:p>
          <a:p>
            <a:pPr lvl="1"/>
            <a:r>
              <a:rPr lang="en-US" sz="1600" dirty="0" smtClean="0"/>
              <a:t>good to capture weak signals in the overall data</a:t>
            </a:r>
          </a:p>
          <a:p>
            <a:r>
              <a:rPr lang="en-US" dirty="0" smtClean="0"/>
              <a:t>Neighborhood models</a:t>
            </a:r>
          </a:p>
          <a:p>
            <a:pPr lvl="1"/>
            <a:r>
              <a:rPr lang="en-US" dirty="0" smtClean="0"/>
              <a:t>good at detecting strong relationships between close items</a:t>
            </a:r>
          </a:p>
          <a:p>
            <a:r>
              <a:rPr lang="en-US" dirty="0" smtClean="0"/>
              <a:t>Combination in one prediction single function </a:t>
            </a:r>
          </a:p>
          <a:p>
            <a:pPr lvl="1">
              <a:buFontTx/>
              <a:buChar char="–"/>
              <a:defRPr/>
            </a:pPr>
            <a:r>
              <a:rPr lang="en-US" b="0" dirty="0"/>
              <a:t>Local search method such as stochastic gradient descent to determine parameters</a:t>
            </a:r>
          </a:p>
          <a:p>
            <a:pPr lvl="1">
              <a:buFontTx/>
              <a:buChar char="–"/>
              <a:defRPr/>
            </a:pPr>
            <a:r>
              <a:rPr lang="en-US" b="0" dirty="0" smtClean="0"/>
              <a:t>Add penalty </a:t>
            </a:r>
            <a:r>
              <a:rPr lang="en-US" b="0" dirty="0"/>
              <a:t>for high </a:t>
            </a:r>
            <a:r>
              <a:rPr lang="en-US" b="0" dirty="0" smtClean="0"/>
              <a:t>values to avoid over-fitting</a:t>
            </a:r>
            <a:endParaRPr lang="en-US" b="0" dirty="0"/>
          </a:p>
          <a:p>
            <a:pPr lvl="1">
              <a:buFontTx/>
              <a:buChar char="–"/>
              <a:defRPr/>
            </a:pPr>
            <a:endParaRPr lang="en-US" b="0" dirty="0"/>
          </a:p>
          <a:p>
            <a:endParaRPr lang="en-US" dirty="0" smtClean="0"/>
          </a:p>
          <a:p>
            <a:pPr lvl="1"/>
            <a:endParaRPr lang="en-US" dirty="0" smtClean="0"/>
          </a:p>
        </p:txBody>
      </p:sp>
      <p:sp>
        <p:nvSpPr>
          <p:cNvPr id="14" name="Inhaltsplatzhalter 2"/>
          <p:cNvSpPr txBox="1">
            <a:spLocks/>
          </p:cNvSpPr>
          <p:nvPr/>
        </p:nvSpPr>
        <p:spPr bwMode="auto">
          <a:xfrm>
            <a:off x="689200" y="4653136"/>
            <a:ext cx="6984776" cy="792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1800" b="0" i="0" u="none" strike="noStrike" kern="0" cap="none" spc="0" normalizeH="0" baseline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6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2008: 	</a:t>
            </a:r>
            <a:r>
              <a:rPr lang="en-US" sz="2000" i="1" dirty="0" smtClean="0">
                <a:solidFill>
                  <a:schemeClr val="tx2"/>
                </a:solidFill>
              </a:rPr>
              <a:t>Factorization meets the neighborhood: a multifaceted collaborative </a:t>
            </a:r>
            <a:br>
              <a:rPr lang="en-US" sz="2000" i="1" dirty="0" smtClean="0">
                <a:solidFill>
                  <a:schemeClr val="tx2"/>
                </a:solidFill>
              </a:rPr>
            </a:br>
            <a:r>
              <a:rPr lang="en-US" sz="2000" i="1" dirty="0" smtClean="0">
                <a:solidFill>
                  <a:schemeClr val="tx2"/>
                </a:solidFill>
              </a:rPr>
              <a:t>	filtering model</a:t>
            </a:r>
            <a:r>
              <a:rPr lang="en-US" sz="2000" dirty="0" smtClean="0">
                <a:solidFill>
                  <a:schemeClr val="tx2"/>
                </a:solidFill>
              </a:rPr>
              <a:t>, Y. Koren, ACM SIGKDD</a:t>
            </a:r>
            <a:endParaRPr lang="en-US" sz="2000" dirty="0"/>
          </a:p>
        </p:txBody>
      </p:sp>
      <p:graphicFrame>
        <p:nvGraphicFramePr>
          <p:cNvPr id="1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2833366"/>
              </p:ext>
            </p:extLst>
          </p:nvPr>
        </p:nvGraphicFramePr>
        <p:xfrm>
          <a:off x="1335994" y="5373216"/>
          <a:ext cx="5691187" cy="58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6" name="Formel" r:id="rId4" imgW="3695400" imgH="380880" progId="Equation.3">
                  <p:embed/>
                </p:oleObj>
              </mc:Choice>
              <mc:Fallback>
                <p:oleObj name="Formel" r:id="rId4" imgW="3695400" imgH="3808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5994" y="5373216"/>
                        <a:ext cx="5691187" cy="585788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Objek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3718866"/>
              </p:ext>
            </p:extLst>
          </p:nvPr>
        </p:nvGraphicFramePr>
        <p:xfrm>
          <a:off x="1344726" y="4813436"/>
          <a:ext cx="2836862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07" name="Formel" r:id="rId6" imgW="1828800" imgH="304800" progId="Equation.3">
                  <p:embed/>
                </p:oleObj>
              </mc:Choice>
              <mc:Fallback>
                <p:oleObj name="Formel" r:id="rId6" imgW="1828800" imgH="304800" progId="Equation.3">
                  <p:embed/>
                  <p:pic>
                    <p:nvPicPr>
                      <p:cNvPr id="0" name="Objek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44726" y="4813436"/>
                        <a:ext cx="2836862" cy="471487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 w="9525">
                        <a:solidFill>
                          <a:schemeClr val="bg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97272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allAtOnce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Summarizing recent methods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Recommendation is concerned with learning from noisy observations </a:t>
            </a:r>
            <a:br>
              <a:rPr lang="en-US" dirty="0" smtClean="0"/>
            </a:br>
            <a:r>
              <a:rPr lang="en-US" dirty="0" smtClean="0"/>
              <a:t>(x, y), where</a:t>
            </a:r>
          </a:p>
          <a:p>
            <a:pPr marL="0" indent="0">
              <a:buNone/>
            </a:pPr>
            <a:r>
              <a:rPr lang="en-US" dirty="0" smtClean="0"/>
              <a:t>            </a:t>
            </a:r>
            <a:br>
              <a:rPr lang="en-US" dirty="0" smtClean="0"/>
            </a:br>
            <a:r>
              <a:rPr lang="en-US" dirty="0"/>
              <a:t> </a:t>
            </a:r>
            <a:r>
              <a:rPr lang="en-US" dirty="0" smtClean="0"/>
              <a:t>      has to be determined such  that </a:t>
            </a:r>
            <a:br>
              <a:rPr lang="en-US" dirty="0" smtClean="0"/>
            </a:br>
            <a:r>
              <a:rPr lang="en-US" dirty="0" smtClean="0"/>
              <a:t>       is minimal.</a:t>
            </a:r>
          </a:p>
          <a:p>
            <a:endParaRPr lang="en-US" sz="2400" dirty="0" smtClean="0"/>
          </a:p>
          <a:p>
            <a:r>
              <a:rPr lang="en-US" dirty="0" smtClean="0"/>
              <a:t>A variety of different learning strategies have been applied trying to estimate f(x)</a:t>
            </a:r>
          </a:p>
          <a:p>
            <a:pPr lvl="1"/>
            <a:r>
              <a:rPr lang="en-US" sz="2000" dirty="0" smtClean="0"/>
              <a:t>Non parametric neighborhood models</a:t>
            </a:r>
          </a:p>
          <a:p>
            <a:pPr lvl="1"/>
            <a:r>
              <a:rPr lang="en-US" sz="2000" dirty="0" smtClean="0"/>
              <a:t>MF models, SVMs, Neural Networks, Bayesian Networks,…</a:t>
            </a:r>
            <a:endParaRPr lang="en-US" dirty="0" smtClean="0"/>
          </a:p>
          <a:p>
            <a:endParaRPr lang="en-US" dirty="0"/>
          </a:p>
        </p:txBody>
      </p:sp>
      <p:graphicFrame>
        <p:nvGraphicFramePr>
          <p:cNvPr id="4" name="Objek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8763204"/>
              </p:ext>
            </p:extLst>
          </p:nvPr>
        </p:nvGraphicFramePr>
        <p:xfrm>
          <a:off x="2339752" y="1988840"/>
          <a:ext cx="1079500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24" name="Formel" r:id="rId4" imgW="748975" imgH="253890" progId="Equation.3">
                  <p:embed/>
                </p:oleObj>
              </mc:Choice>
              <mc:Fallback>
                <p:oleObj name="Formel" r:id="rId4" imgW="748975" imgH="253890" progId="Equation.3">
                  <p:embed/>
                  <p:pic>
                    <p:nvPicPr>
                      <p:cNvPr id="0" name="Picture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752" y="1988840"/>
                        <a:ext cx="1079500" cy="4492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k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5907790"/>
              </p:ext>
            </p:extLst>
          </p:nvPr>
        </p:nvGraphicFramePr>
        <p:xfrm>
          <a:off x="4499992" y="2708920"/>
          <a:ext cx="1408565" cy="6480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25" name="Formel" r:id="rId6" imgW="774360" imgH="355320" progId="Equation.3">
                  <p:embed/>
                </p:oleObj>
              </mc:Choice>
              <mc:Fallback>
                <p:oleObj name="Formel" r:id="rId6" imgW="774360" imgH="355320" progId="Equation.3">
                  <p:embed/>
                  <p:pic>
                    <p:nvPicPr>
                      <p:cNvPr id="0" name="Picture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9992" y="2708920"/>
                        <a:ext cx="1408565" cy="648072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84572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Collaborative Filtering Issues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Pros: </a:t>
            </a:r>
          </a:p>
          <a:p>
            <a:pPr lvl="1"/>
            <a:r>
              <a:rPr lang="en-US" sz="1600" dirty="0" smtClean="0"/>
              <a:t>well-understood, works well in some domains, no knowledge engineering required</a:t>
            </a:r>
          </a:p>
          <a:p>
            <a:r>
              <a:rPr lang="en-US" dirty="0" smtClean="0"/>
              <a:t>Cons:</a:t>
            </a:r>
          </a:p>
          <a:p>
            <a:pPr lvl="1"/>
            <a:r>
              <a:rPr lang="en-US" sz="1600" dirty="0" smtClean="0"/>
              <a:t>requires user community, sparsity problems, no integration of other knowledge sources, no explanation of results</a:t>
            </a:r>
          </a:p>
          <a:p>
            <a:r>
              <a:rPr lang="en-US" dirty="0" smtClean="0"/>
              <a:t>What is the best CF method?</a:t>
            </a:r>
          </a:p>
          <a:p>
            <a:pPr lvl="1"/>
            <a:r>
              <a:rPr lang="en-US" sz="1600" dirty="0" smtClean="0"/>
              <a:t>In which situation and which domain? Inconsistent findings; always the same domains and data sets; differences between methods are often very small (1/100)</a:t>
            </a:r>
          </a:p>
          <a:p>
            <a:r>
              <a:rPr lang="en-US" dirty="0" smtClean="0"/>
              <a:t>How to evaluate the prediction quality?</a:t>
            </a:r>
          </a:p>
          <a:p>
            <a:pPr lvl="1"/>
            <a:r>
              <a:rPr lang="en-US" sz="1600" dirty="0" smtClean="0"/>
              <a:t>MAE / RMSE: What does an MAE of 0.7 actually mean?</a:t>
            </a:r>
          </a:p>
          <a:p>
            <a:pPr lvl="1"/>
            <a:r>
              <a:rPr lang="en-US" sz="1600" dirty="0" smtClean="0"/>
              <a:t>Serendipity: Not yet fully understood</a:t>
            </a:r>
          </a:p>
          <a:p>
            <a:r>
              <a:rPr lang="en-US" dirty="0" smtClean="0"/>
              <a:t>What about multi-dimensional ratings?</a:t>
            </a:r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8" y="2420888"/>
            <a:ext cx="304800" cy="304800"/>
          </a:xfrm>
          <a:prstGeom prst="rect">
            <a:avLst/>
          </a:prstGeom>
        </p:spPr>
      </p:pic>
      <p:pic>
        <p:nvPicPr>
          <p:cNvPr id="5" name="Grafik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8" y="1628800"/>
            <a:ext cx="304800" cy="304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857224" y="2643182"/>
            <a:ext cx="7358114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/>
            <a:r>
              <a:rPr lang="en-US" sz="3600" dirty="0" smtClean="0">
                <a:ln>
                  <a:prstDash val="solid"/>
                </a:ln>
                <a:solidFill>
                  <a:srgbClr val="002060"/>
                </a:solidFill>
                <a:latin typeface="Calibri" pitchFamily="34" charset="0"/>
              </a:rPr>
              <a:t>Evaluation of Recommender Systems</a:t>
            </a:r>
            <a:endParaRPr lang="en-US" sz="3600" dirty="0">
              <a:ln>
                <a:prstDash val="solid"/>
              </a:ln>
              <a:solidFill>
                <a:srgbClr val="002060"/>
              </a:solidFill>
              <a:latin typeface="Calibri" pitchFamily="34" charset="0"/>
            </a:endParaRPr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800" y="3366864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920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Recommender Systems in e-Commerce</a:t>
            </a:r>
            <a:endParaRPr lang="en-US" dirty="0"/>
          </a:p>
        </p:txBody>
      </p:sp>
      <p:sp>
        <p:nvSpPr>
          <p:cNvPr id="2" name="Inhaltsplatzhalter 1"/>
          <p:cNvSpPr>
            <a:spLocks noGrp="1"/>
          </p:cNvSpPr>
          <p:nvPr>
            <p:ph idx="1"/>
          </p:nvPr>
        </p:nvSpPr>
        <p:spPr>
          <a:xfrm>
            <a:off x="2627784" y="1700808"/>
            <a:ext cx="6059016" cy="4456152"/>
          </a:xfrm>
        </p:spPr>
        <p:txBody>
          <a:bodyPr/>
          <a:lstStyle/>
          <a:p>
            <a:r>
              <a:rPr lang="en-US" dirty="0" smtClean="0"/>
              <a:t>One Recommender Systems research question</a:t>
            </a:r>
          </a:p>
          <a:p>
            <a:pPr lvl="1"/>
            <a:r>
              <a:rPr lang="en-US" dirty="0" smtClean="0"/>
              <a:t>What should be in that list?	</a:t>
            </a:r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268760"/>
            <a:ext cx="1590675" cy="250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4221088"/>
            <a:ext cx="7842127" cy="20282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Pfeil nach unten 4"/>
          <p:cNvSpPr/>
          <p:nvPr/>
        </p:nvSpPr>
        <p:spPr>
          <a:xfrm>
            <a:off x="3687326" y="2924944"/>
            <a:ext cx="2088232" cy="1008112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961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Recommender Systems in e-Commerce</a:t>
            </a:r>
            <a:endParaRPr lang="en-US"/>
          </a:p>
        </p:txBody>
      </p:sp>
      <p:sp>
        <p:nvSpPr>
          <p:cNvPr id="2" name="Inhaltsplatzhalter 1"/>
          <p:cNvSpPr>
            <a:spLocks noGrp="1"/>
          </p:cNvSpPr>
          <p:nvPr>
            <p:ph idx="1"/>
          </p:nvPr>
        </p:nvSpPr>
        <p:spPr>
          <a:xfrm>
            <a:off x="2627784" y="1700808"/>
            <a:ext cx="6059016" cy="4456152"/>
          </a:xfrm>
        </p:spPr>
        <p:txBody>
          <a:bodyPr/>
          <a:lstStyle/>
          <a:p>
            <a:r>
              <a:rPr lang="en-US" dirty="0" smtClean="0"/>
              <a:t>Another question both in research and practice</a:t>
            </a:r>
          </a:p>
          <a:p>
            <a:pPr lvl="1"/>
            <a:r>
              <a:rPr lang="en-US" dirty="0" smtClean="0"/>
              <a:t>How do we know that these are good recommendations?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268760"/>
            <a:ext cx="1590675" cy="250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4221088"/>
            <a:ext cx="7842127" cy="20282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Pfeil nach unten 4"/>
          <p:cNvSpPr/>
          <p:nvPr/>
        </p:nvSpPr>
        <p:spPr>
          <a:xfrm>
            <a:off x="3687326" y="2996952"/>
            <a:ext cx="2088232" cy="1008112"/>
          </a:xfrm>
          <a:prstGeom prst="down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174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Recommender Systems in e-Commerce</a:t>
            </a:r>
            <a:endParaRPr lang="en-US"/>
          </a:p>
        </p:txBody>
      </p:sp>
      <p:sp>
        <p:nvSpPr>
          <p:cNvPr id="2" name="Inhaltsplatzhalter 1"/>
          <p:cNvSpPr>
            <a:spLocks noGrp="1"/>
          </p:cNvSpPr>
          <p:nvPr>
            <p:ph idx="1"/>
          </p:nvPr>
        </p:nvSpPr>
        <p:spPr>
          <a:xfrm>
            <a:off x="2627784" y="1484784"/>
            <a:ext cx="6059016" cy="4672176"/>
          </a:xfrm>
        </p:spPr>
        <p:txBody>
          <a:bodyPr/>
          <a:lstStyle/>
          <a:p>
            <a:r>
              <a:rPr lang="en-US" dirty="0" smtClean="0"/>
              <a:t>This might lead to …</a:t>
            </a:r>
          </a:p>
          <a:p>
            <a:pPr lvl="1"/>
            <a:r>
              <a:rPr lang="en-US" sz="1700" dirty="0" smtClean="0"/>
              <a:t>What is a good recommendation?</a:t>
            </a:r>
          </a:p>
          <a:p>
            <a:pPr lvl="1"/>
            <a:r>
              <a:rPr lang="en-US" sz="1700" dirty="0"/>
              <a:t>What is a good recommendation </a:t>
            </a:r>
            <a:r>
              <a:rPr lang="en-US" sz="1700" dirty="0">
                <a:solidFill>
                  <a:srgbClr val="CC6600"/>
                </a:solidFill>
              </a:rPr>
              <a:t>strategy</a:t>
            </a:r>
            <a:r>
              <a:rPr lang="en-US" sz="1700" dirty="0"/>
              <a:t>?</a:t>
            </a:r>
          </a:p>
          <a:p>
            <a:pPr lvl="1"/>
            <a:r>
              <a:rPr lang="en-US" sz="1700" dirty="0"/>
              <a:t>What is a good recommendation </a:t>
            </a:r>
            <a:r>
              <a:rPr lang="en-US" sz="1700" dirty="0" smtClean="0"/>
              <a:t>strategy </a:t>
            </a:r>
            <a:r>
              <a:rPr lang="en-US" sz="1700" dirty="0" smtClean="0">
                <a:solidFill>
                  <a:srgbClr val="CC6600"/>
                </a:solidFill>
              </a:rPr>
              <a:t>for my business</a:t>
            </a:r>
            <a:r>
              <a:rPr lang="en-US" sz="1700" dirty="0" smtClean="0"/>
              <a:t>?</a:t>
            </a:r>
            <a:endParaRPr lang="en-US" sz="17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268760"/>
            <a:ext cx="1590675" cy="250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4221088"/>
            <a:ext cx="7842127" cy="20282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hteck 5"/>
          <p:cNvSpPr/>
          <p:nvPr/>
        </p:nvSpPr>
        <p:spPr>
          <a:xfrm>
            <a:off x="360040" y="4215187"/>
            <a:ext cx="4572000" cy="276999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r>
              <a:rPr lang="en-US" sz="1200" b="1" dirty="0" smtClean="0">
                <a:solidFill>
                  <a:srgbClr val="CC6600"/>
                </a:solidFill>
              </a:rPr>
              <a:t>We hope you will buy also …</a:t>
            </a:r>
            <a:endParaRPr lang="en-US" sz="1200" b="1" dirty="0">
              <a:solidFill>
                <a:srgbClr val="CC6600"/>
              </a:solidFill>
            </a:endParaRPr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992" y="2730462"/>
            <a:ext cx="1828403" cy="1609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hteck 7"/>
          <p:cNvSpPr/>
          <p:nvPr/>
        </p:nvSpPr>
        <p:spPr>
          <a:xfrm>
            <a:off x="410320" y="4229087"/>
            <a:ext cx="4572000" cy="276999"/>
          </a:xfrm>
          <a:prstGeom prst="rect">
            <a:avLst/>
          </a:prstGeom>
          <a:solidFill>
            <a:schemeClr val="bg1"/>
          </a:solidFill>
        </p:spPr>
        <p:txBody>
          <a:bodyPr>
            <a:spAutoFit/>
          </a:bodyPr>
          <a:lstStyle/>
          <a:p>
            <a:r>
              <a:rPr lang="en-US" sz="1200" b="1" dirty="0" smtClean="0">
                <a:solidFill>
                  <a:srgbClr val="CC6600"/>
                </a:solidFill>
              </a:rPr>
              <a:t>These have been in stock for quite a while now …</a:t>
            </a:r>
            <a:endParaRPr lang="en-US" sz="1200" b="1" dirty="0">
              <a:solidFill>
                <a:srgbClr val="CC66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96723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What is a good recommendation?</a:t>
            </a:r>
            <a:endParaRPr lang="en-US" dirty="0"/>
          </a:p>
        </p:txBody>
      </p:sp>
      <p:sp>
        <p:nvSpPr>
          <p:cNvPr id="2" name="Inhaltsplatzhalt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74320" lvl="1" indent="0">
              <a:buNone/>
            </a:pPr>
            <a:endParaRPr lang="en-US" dirty="0"/>
          </a:p>
          <a:p>
            <a:r>
              <a:rPr lang="en-US" dirty="0" smtClean="0"/>
              <a:t>Total sales numbers</a:t>
            </a:r>
          </a:p>
          <a:p>
            <a:r>
              <a:rPr lang="en-US" dirty="0" smtClean="0"/>
              <a:t>Promotion of certain items </a:t>
            </a:r>
          </a:p>
          <a:p>
            <a:r>
              <a:rPr lang="en-US" dirty="0" smtClean="0"/>
              <a:t>…</a:t>
            </a:r>
          </a:p>
          <a:p>
            <a:r>
              <a:rPr lang="en-US" dirty="0" smtClean="0"/>
              <a:t>Click-through-rates</a:t>
            </a:r>
          </a:p>
          <a:p>
            <a:r>
              <a:rPr lang="en-US" dirty="0" smtClean="0"/>
              <a:t>Interactivity on platform</a:t>
            </a:r>
          </a:p>
          <a:p>
            <a:r>
              <a:rPr lang="en-US" dirty="0" smtClean="0"/>
              <a:t>…</a:t>
            </a:r>
          </a:p>
          <a:p>
            <a:r>
              <a:rPr lang="en-US" dirty="0" smtClean="0"/>
              <a:t>Customer return rates</a:t>
            </a:r>
          </a:p>
          <a:p>
            <a:r>
              <a:rPr lang="en-US" dirty="0" smtClean="0"/>
              <a:t>Customer satisfaction and loyalty</a:t>
            </a:r>
          </a:p>
          <a:p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112" y="1628800"/>
            <a:ext cx="2672513" cy="7037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6751" y="2492896"/>
            <a:ext cx="2485653" cy="585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2653" y="3433936"/>
            <a:ext cx="2445817" cy="2021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Inhaltsplatzhalter 1"/>
          <p:cNvSpPr txBox="1">
            <a:spLocks/>
          </p:cNvSpPr>
          <p:nvPr/>
        </p:nvSpPr>
        <p:spPr>
          <a:xfrm>
            <a:off x="179512" y="1340768"/>
            <a:ext cx="4896544" cy="919733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74320" lvl="1" indent="0">
              <a:buFont typeface="Wingdings 3"/>
              <a:buNone/>
            </a:pPr>
            <a:r>
              <a:rPr lang="en-US" dirty="0" smtClean="0">
                <a:latin typeface="Calibri" pitchFamily="34" charset="0"/>
              </a:rPr>
              <a:t>What are the measures in practice?</a:t>
            </a:r>
          </a:p>
        </p:txBody>
      </p:sp>
    </p:spTree>
    <p:extLst>
      <p:ext uri="{BB962C8B-B14F-4D97-AF65-F5344CB8AC3E}">
        <p14:creationId xmlns:p14="http://schemas.microsoft.com/office/powerpoint/2010/main" val="2968637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1000"/>
                            </p:stCondLst>
                            <p:childTnLst>
                              <p:par>
                                <p:cTn id="8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2" dur="10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3000"/>
                            </p:stCondLst>
                            <p:childTnLst>
                              <p:par>
                                <p:cTn id="14" presetID="35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5" dur="10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Purpose and success criteria (1)</a:t>
            </a:r>
          </a:p>
        </p:txBody>
      </p:sp>
      <p:sp>
        <p:nvSpPr>
          <p:cNvPr id="1658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90000"/>
              </a:lnSpc>
              <a:buNone/>
            </a:pPr>
            <a:r>
              <a:rPr lang="en-US" dirty="0" smtClean="0"/>
              <a:t>Different perspectives/aspects</a:t>
            </a:r>
          </a:p>
          <a:p>
            <a:pPr marL="781050" lvl="1" indent="-381000">
              <a:lnSpc>
                <a:spcPct val="90000"/>
              </a:lnSpc>
            </a:pPr>
            <a:r>
              <a:rPr lang="en-US" dirty="0" smtClean="0"/>
              <a:t>Depends on domain and purpose</a:t>
            </a:r>
          </a:p>
          <a:p>
            <a:pPr marL="781050" lvl="1" indent="-381000">
              <a:lnSpc>
                <a:spcPct val="90000"/>
              </a:lnSpc>
            </a:pPr>
            <a:r>
              <a:rPr lang="en-US" dirty="0" smtClean="0"/>
              <a:t>No holistic evaluation scenario exists</a:t>
            </a:r>
          </a:p>
          <a:p>
            <a:pPr marL="381000" indent="-381000">
              <a:lnSpc>
                <a:spcPct val="90000"/>
              </a:lnSpc>
            </a:pPr>
            <a:endParaRPr lang="en-US" dirty="0" smtClean="0"/>
          </a:p>
          <a:p>
            <a:pPr marL="381000" indent="-381000">
              <a:lnSpc>
                <a:spcPct val="90000"/>
              </a:lnSpc>
            </a:pPr>
            <a:r>
              <a:rPr lang="en-US" dirty="0" smtClean="0"/>
              <a:t>Retrieval perspective</a:t>
            </a:r>
          </a:p>
          <a:p>
            <a:pPr marL="781050" lvl="1" indent="-381000">
              <a:lnSpc>
                <a:spcPct val="90000"/>
              </a:lnSpc>
            </a:pPr>
            <a:r>
              <a:rPr lang="en-US" dirty="0" smtClean="0"/>
              <a:t>Reduce search costs</a:t>
            </a:r>
          </a:p>
          <a:p>
            <a:pPr marL="781050" lvl="1" indent="-381000">
              <a:lnSpc>
                <a:spcPct val="90000"/>
              </a:lnSpc>
            </a:pPr>
            <a:r>
              <a:rPr lang="en-US" dirty="0" smtClean="0"/>
              <a:t>Provide "correct" proposals</a:t>
            </a:r>
          </a:p>
          <a:p>
            <a:pPr marL="781050" lvl="1" indent="-381000">
              <a:lnSpc>
                <a:spcPct val="90000"/>
              </a:lnSpc>
            </a:pPr>
            <a:r>
              <a:rPr lang="en-US" dirty="0" smtClean="0"/>
              <a:t>Assumption: Users know in advance what they want </a:t>
            </a:r>
          </a:p>
          <a:p>
            <a:pPr marL="781050" lvl="1" indent="-381000">
              <a:lnSpc>
                <a:spcPct val="90000"/>
              </a:lnSpc>
            </a:pPr>
            <a:endParaRPr lang="en-US" dirty="0"/>
          </a:p>
          <a:p>
            <a:pPr marL="381000" indent="-381000">
              <a:lnSpc>
                <a:spcPct val="90000"/>
              </a:lnSpc>
            </a:pPr>
            <a:r>
              <a:rPr lang="en-US" dirty="0"/>
              <a:t>Recommendation perspective</a:t>
            </a:r>
          </a:p>
          <a:p>
            <a:pPr marL="781050" lvl="1" indent="-381000">
              <a:lnSpc>
                <a:spcPct val="90000"/>
              </a:lnSpc>
            </a:pPr>
            <a:r>
              <a:rPr lang="en-US" dirty="0"/>
              <a:t>Serendipity – identify items from the Long Tail</a:t>
            </a:r>
          </a:p>
          <a:p>
            <a:pPr marL="781050" lvl="1" indent="-381000">
              <a:lnSpc>
                <a:spcPct val="90000"/>
              </a:lnSpc>
            </a:pPr>
            <a:r>
              <a:rPr lang="en-US" dirty="0"/>
              <a:t>Users did not know about existence</a:t>
            </a:r>
          </a:p>
          <a:p>
            <a:pPr marL="381000" indent="-381000">
              <a:lnSpc>
                <a:spcPct val="90000"/>
              </a:lnSpc>
            </a:pPr>
            <a:endParaRPr lang="en-US" dirty="0"/>
          </a:p>
          <a:p>
            <a:pPr marL="381000" indent="-381000">
              <a:lnSpc>
                <a:spcPct val="90000"/>
              </a:lnSpc>
            </a:pPr>
            <a:endParaRPr lang="en-US" dirty="0" smtClean="0"/>
          </a:p>
          <a:p>
            <a:pPr marL="781050" lvl="1" indent="-381000">
              <a:lnSpc>
                <a:spcPct val="90000"/>
              </a:lnSpc>
            </a:pPr>
            <a:endParaRPr lang="en-US" dirty="0" smtClean="0"/>
          </a:p>
          <a:p>
            <a:pPr marL="381000" indent="-381000">
              <a:lnSpc>
                <a:spcPct val="90000"/>
              </a:lnSpc>
            </a:pPr>
            <a:endParaRPr lang="en-US" dirty="0" smtClean="0"/>
          </a:p>
          <a:p>
            <a:pPr marL="781050" lvl="1" indent="-381000">
              <a:lnSpc>
                <a:spcPct val="90000"/>
              </a:lnSpc>
            </a:pPr>
            <a:endParaRPr lang="en-US" dirty="0" smtClean="0"/>
          </a:p>
        </p:txBody>
      </p:sp>
      <p:cxnSp>
        <p:nvCxnSpPr>
          <p:cNvPr id="3" name="Gerade Verbindung 2"/>
          <p:cNvCxnSpPr/>
          <p:nvPr/>
        </p:nvCxnSpPr>
        <p:spPr bwMode="auto">
          <a:xfrm>
            <a:off x="395536" y="2780928"/>
            <a:ext cx="828092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271238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65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5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65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65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65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65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65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65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65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658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658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658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658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658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658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658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658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658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658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658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658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5891" grpId="0" build="p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When does a RS do its job well?</a:t>
            </a:r>
            <a:endParaRPr lang="en-US" dirty="0"/>
          </a:p>
        </p:txBody>
      </p:sp>
      <p:pic>
        <p:nvPicPr>
          <p:cNvPr id="4" name="Grafik 3" descr="long_tail_graph.gif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9965" y="3212976"/>
            <a:ext cx="4959734" cy="26642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Inhaltsplatzhalter 2"/>
          <p:cNvSpPr txBox="1">
            <a:spLocks/>
          </p:cNvSpPr>
          <p:nvPr/>
        </p:nvSpPr>
        <p:spPr bwMode="auto">
          <a:xfrm>
            <a:off x="5940152" y="1628800"/>
            <a:ext cx="2627784" cy="3747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ts val="1200"/>
              </a:spcBef>
              <a:spcAft>
                <a:spcPct val="0"/>
              </a:spcAft>
              <a:buFont typeface="Wingdings" pitchFamily="2" charset="2"/>
              <a:buChar char="§"/>
              <a:defRPr sz="2000" b="1">
                <a:solidFill>
                  <a:srgbClr val="003366"/>
                </a:solidFill>
                <a:latin typeface="Calibri" pitchFamily="34" charset="0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>
                <a:solidFill>
                  <a:srgbClr val="003366"/>
                </a:solidFill>
                <a:latin typeface="Calibri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itchFamily="2" charset="2"/>
              <a:buChar char="§"/>
              <a:defRPr sz="1700">
                <a:solidFill>
                  <a:srgbClr val="003366"/>
                </a:solidFill>
                <a:latin typeface="Calibri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700">
                <a:solidFill>
                  <a:srgbClr val="003366"/>
                </a:solidFill>
                <a:latin typeface="Calibri" pitchFamily="34" charset="0"/>
                <a:ea typeface="Times New Roman" pitchFamily="18" charset="0"/>
                <a:cs typeface="Helvetica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700">
                <a:solidFill>
                  <a:srgbClr val="003366"/>
                </a:solidFill>
                <a:latin typeface="Calibri" pitchFamily="34" charset="0"/>
                <a:ea typeface="Times New Roman" pitchFamily="18" charset="0"/>
                <a:cs typeface="Helvetica" pitchFamily="34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700">
                <a:solidFill>
                  <a:srgbClr val="003366"/>
                </a:solidFill>
                <a:latin typeface="+mn-lt"/>
                <a:ea typeface="Times New Roman" pitchFamily="18" charset="0"/>
                <a:cs typeface="Helvetica" pitchFamily="34" charset="0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700">
                <a:solidFill>
                  <a:srgbClr val="003366"/>
                </a:solidFill>
                <a:latin typeface="+mn-lt"/>
                <a:ea typeface="Times New Roman" pitchFamily="18" charset="0"/>
                <a:cs typeface="Helvetica" pitchFamily="34" charset="0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700">
                <a:solidFill>
                  <a:srgbClr val="003366"/>
                </a:solidFill>
                <a:latin typeface="+mn-lt"/>
                <a:ea typeface="Times New Roman" pitchFamily="18" charset="0"/>
                <a:cs typeface="Helvetica" pitchFamily="34" charset="0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1700">
                <a:solidFill>
                  <a:srgbClr val="003366"/>
                </a:solidFill>
                <a:latin typeface="+mn-lt"/>
                <a:ea typeface="Times New Roman" pitchFamily="18" charset="0"/>
                <a:cs typeface="Helvetica" pitchFamily="34" charset="0"/>
              </a:defRPr>
            </a:lvl9pPr>
          </a:lstStyle>
          <a:p>
            <a:r>
              <a:rPr lang="en-US" sz="1800" b="0" dirty="0" smtClean="0"/>
              <a:t>"Recommend widely unknown items that users might actually like!"</a:t>
            </a:r>
          </a:p>
          <a:p>
            <a:endParaRPr lang="en-US" sz="1800" b="0" dirty="0" smtClean="0"/>
          </a:p>
          <a:p>
            <a:r>
              <a:rPr lang="en-US" sz="1800" b="0" dirty="0" smtClean="0"/>
              <a:t>20% of items accumulate 74% of all positive ratings</a:t>
            </a:r>
          </a:p>
          <a:p>
            <a:endParaRPr lang="en-US" sz="1800" b="0" dirty="0" smtClean="0"/>
          </a:p>
        </p:txBody>
      </p:sp>
      <p:grpSp>
        <p:nvGrpSpPr>
          <p:cNvPr id="6" name="Gruppieren 5"/>
          <p:cNvGrpSpPr/>
          <p:nvPr/>
        </p:nvGrpSpPr>
        <p:grpSpPr>
          <a:xfrm>
            <a:off x="1705934" y="2924944"/>
            <a:ext cx="3658154" cy="1944216"/>
            <a:chOff x="1709936" y="1642999"/>
            <a:chExt cx="3995936" cy="3730217"/>
          </a:xfrm>
        </p:grpSpPr>
        <p:sp>
          <p:nvSpPr>
            <p:cNvPr id="7" name="Inhaltsplatzhalter 2"/>
            <p:cNvSpPr txBox="1">
              <a:spLocks/>
            </p:cNvSpPr>
            <p:nvPr/>
          </p:nvSpPr>
          <p:spPr bwMode="auto">
            <a:xfrm>
              <a:off x="1709936" y="1642999"/>
              <a:ext cx="3995936" cy="1008112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R="0" lvl="0" defTabSz="914400" eaLnBrk="0" latinLnBrk="0" hangingPunct="0">
                <a:lnSpc>
                  <a:spcPct val="90000"/>
                </a:lnSpc>
                <a:spcBef>
                  <a:spcPts val="1200"/>
                </a:spcBef>
                <a:buClrTx/>
                <a:buSzTx/>
                <a:tabLst/>
                <a:defRPr/>
              </a:pPr>
              <a:r>
                <a:rPr lang="en-US" sz="2000" dirty="0" smtClean="0">
                  <a:solidFill>
                    <a:srgbClr val="003366"/>
                  </a:solidFill>
                  <a:latin typeface="Calibri" pitchFamily="34" charset="0"/>
                </a:rPr>
                <a:t>	Recommend </a:t>
              </a:r>
              <a:r>
                <a:rPr lang="en-US" sz="2000" dirty="0">
                  <a:solidFill>
                    <a:srgbClr val="003366"/>
                  </a:solidFill>
                  <a:latin typeface="Calibri" pitchFamily="34" charset="0"/>
                </a:rPr>
                <a:t>items </a:t>
              </a:r>
              <a:r>
                <a:rPr lang="en-US" sz="2000" dirty="0" smtClean="0">
                  <a:solidFill>
                    <a:srgbClr val="003366"/>
                  </a:solidFill>
                  <a:latin typeface="Calibri" pitchFamily="34" charset="0"/>
                </a:rPr>
                <a:t/>
              </a:r>
              <a:br>
                <a:rPr lang="en-US" sz="2000" dirty="0" smtClean="0">
                  <a:solidFill>
                    <a:srgbClr val="003366"/>
                  </a:solidFill>
                  <a:latin typeface="Calibri" pitchFamily="34" charset="0"/>
                </a:rPr>
              </a:br>
              <a:r>
                <a:rPr lang="en-US" sz="2000" dirty="0" smtClean="0">
                  <a:solidFill>
                    <a:srgbClr val="003366"/>
                  </a:solidFill>
                  <a:latin typeface="Calibri" pitchFamily="34" charset="0"/>
                </a:rPr>
                <a:t>	from </a:t>
              </a:r>
              <a:r>
                <a:rPr lang="en-US" sz="2000" dirty="0">
                  <a:solidFill>
                    <a:srgbClr val="003366"/>
                  </a:solidFill>
                  <a:latin typeface="Calibri" pitchFamily="34" charset="0"/>
                </a:rPr>
                <a:t>the long tail</a:t>
              </a:r>
            </a:p>
            <a:p>
              <a:pPr marL="381000" marR="0" lvl="0" indent="-381000" defTabSz="914400" eaLnBrk="0" latinLnBrk="0" hangingPunct="0">
                <a:lnSpc>
                  <a:spcPct val="90000"/>
                </a:lnSpc>
                <a:spcBef>
                  <a:spcPts val="1200"/>
                </a:spcBef>
                <a:buClrTx/>
                <a:buSzTx/>
                <a:buFont typeface="Wingdings" pitchFamily="2" charset="2"/>
                <a:buChar char="§"/>
                <a:tabLst/>
                <a:defRPr/>
              </a:pPr>
              <a:endParaRPr lang="en-US" sz="2000" dirty="0">
                <a:solidFill>
                  <a:srgbClr val="003366"/>
                </a:solidFill>
                <a:latin typeface="Calibri" pitchFamily="34" charset="0"/>
              </a:endParaRPr>
            </a:p>
          </p:txBody>
        </p:sp>
        <p:grpSp>
          <p:nvGrpSpPr>
            <p:cNvPr id="8" name="Gruppieren 7"/>
            <p:cNvGrpSpPr/>
            <p:nvPr/>
          </p:nvGrpSpPr>
          <p:grpSpPr>
            <a:xfrm>
              <a:off x="2987824" y="5085184"/>
              <a:ext cx="2160240" cy="288032"/>
              <a:chOff x="2987824" y="5085184"/>
              <a:chExt cx="2160240" cy="288032"/>
            </a:xfrm>
          </p:grpSpPr>
          <p:sp>
            <p:nvSpPr>
              <p:cNvPr id="9" name="Pfeil nach oben 8"/>
              <p:cNvSpPr/>
              <p:nvPr/>
            </p:nvSpPr>
            <p:spPr bwMode="auto">
              <a:xfrm>
                <a:off x="2987824" y="5085184"/>
                <a:ext cx="144016" cy="216024"/>
              </a:xfrm>
              <a:prstGeom prst="upArrow">
                <a:avLst/>
              </a:prstGeom>
              <a:solidFill>
                <a:srgbClr val="C00000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ＭＳ Ｐゴシック" pitchFamily="-112" charset="-128"/>
                </a:endParaRPr>
              </a:p>
            </p:txBody>
          </p:sp>
          <p:sp>
            <p:nvSpPr>
              <p:cNvPr id="10" name="Pfeil nach oben 9"/>
              <p:cNvSpPr/>
              <p:nvPr/>
            </p:nvSpPr>
            <p:spPr bwMode="auto">
              <a:xfrm>
                <a:off x="3707904" y="5157192"/>
                <a:ext cx="144016" cy="216024"/>
              </a:xfrm>
              <a:prstGeom prst="upArrow">
                <a:avLst/>
              </a:prstGeom>
              <a:solidFill>
                <a:srgbClr val="C00000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ＭＳ Ｐゴシック" pitchFamily="-112" charset="-128"/>
                </a:endParaRPr>
              </a:p>
            </p:txBody>
          </p:sp>
          <p:sp>
            <p:nvSpPr>
              <p:cNvPr id="11" name="Pfeil nach oben 10"/>
              <p:cNvSpPr/>
              <p:nvPr/>
            </p:nvSpPr>
            <p:spPr bwMode="auto">
              <a:xfrm>
                <a:off x="4427984" y="5157192"/>
                <a:ext cx="144016" cy="216024"/>
              </a:xfrm>
              <a:prstGeom prst="upArrow">
                <a:avLst/>
              </a:prstGeom>
              <a:solidFill>
                <a:srgbClr val="C00000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ＭＳ Ｐゴシック" pitchFamily="-112" charset="-128"/>
                </a:endParaRPr>
              </a:p>
            </p:txBody>
          </p:sp>
          <p:sp>
            <p:nvSpPr>
              <p:cNvPr id="12" name="Pfeil nach oben 11"/>
              <p:cNvSpPr/>
              <p:nvPr/>
            </p:nvSpPr>
            <p:spPr bwMode="auto">
              <a:xfrm>
                <a:off x="5004048" y="5157192"/>
                <a:ext cx="144016" cy="216024"/>
              </a:xfrm>
              <a:prstGeom prst="upArrow">
                <a:avLst/>
              </a:prstGeom>
              <a:solidFill>
                <a:srgbClr val="C00000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0" marR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  <a:ea typeface="ＭＳ Ｐゴシック" pitchFamily="-112" charset="-128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2909022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Purpose and success criteria (2)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81000" indent="-381000">
              <a:lnSpc>
                <a:spcPct val="90000"/>
              </a:lnSpc>
              <a:defRPr/>
            </a:pPr>
            <a:r>
              <a:rPr lang="en-US" dirty="0" smtClean="0"/>
              <a:t>Prediction perspective</a:t>
            </a:r>
          </a:p>
          <a:p>
            <a:pPr marL="781050" lvl="1" indent="-381000">
              <a:lnSpc>
                <a:spcPct val="90000"/>
              </a:lnSpc>
              <a:defRPr/>
            </a:pPr>
            <a:r>
              <a:rPr lang="en-US" dirty="0" smtClean="0"/>
              <a:t>Predict to what degree users like an item</a:t>
            </a:r>
          </a:p>
          <a:p>
            <a:pPr marL="781050" lvl="1" indent="-381000">
              <a:lnSpc>
                <a:spcPct val="90000"/>
              </a:lnSpc>
              <a:defRPr/>
            </a:pPr>
            <a:r>
              <a:rPr lang="en-US" dirty="0" smtClean="0"/>
              <a:t>Most popular evaluation scenario in research</a:t>
            </a:r>
          </a:p>
          <a:p>
            <a:pPr marL="781050" lvl="1" indent="-381000">
              <a:lnSpc>
                <a:spcPct val="90000"/>
              </a:lnSpc>
              <a:defRPr/>
            </a:pPr>
            <a:endParaRPr lang="en-US" dirty="0" smtClean="0"/>
          </a:p>
          <a:p>
            <a:pPr marL="381000" indent="-381000">
              <a:lnSpc>
                <a:spcPct val="90000"/>
              </a:lnSpc>
              <a:defRPr/>
            </a:pPr>
            <a:r>
              <a:rPr lang="en-US" dirty="0" smtClean="0"/>
              <a:t>Interaction perspective</a:t>
            </a:r>
          </a:p>
          <a:p>
            <a:pPr marL="781050" lvl="1" indent="-381000">
              <a:lnSpc>
                <a:spcPct val="90000"/>
              </a:lnSpc>
              <a:defRPr/>
            </a:pPr>
            <a:r>
              <a:rPr lang="en-US" dirty="0" smtClean="0"/>
              <a:t>Give users a "good feeling"</a:t>
            </a:r>
          </a:p>
          <a:p>
            <a:pPr marL="781050" lvl="1" indent="-381000">
              <a:lnSpc>
                <a:spcPct val="90000"/>
              </a:lnSpc>
              <a:defRPr/>
            </a:pPr>
            <a:r>
              <a:rPr lang="en-US" dirty="0" smtClean="0"/>
              <a:t>Educate users about the product domain</a:t>
            </a:r>
          </a:p>
          <a:p>
            <a:pPr marL="781050" lvl="1" indent="-381000">
              <a:lnSpc>
                <a:spcPct val="90000"/>
              </a:lnSpc>
              <a:defRPr/>
            </a:pPr>
            <a:r>
              <a:rPr lang="en-US" dirty="0" smtClean="0"/>
              <a:t>Convince/persuade users - explain</a:t>
            </a:r>
          </a:p>
          <a:p>
            <a:pPr marL="381000" indent="-381000">
              <a:lnSpc>
                <a:spcPct val="90000"/>
              </a:lnSpc>
              <a:defRPr/>
            </a:pPr>
            <a:endParaRPr lang="en-US" dirty="0" smtClean="0"/>
          </a:p>
          <a:p>
            <a:pPr marL="381000" indent="-381000">
              <a:lnSpc>
                <a:spcPct val="90000"/>
              </a:lnSpc>
              <a:defRPr/>
            </a:pPr>
            <a:r>
              <a:rPr lang="en-US" dirty="0" smtClean="0"/>
              <a:t>Finally, conversion perspective </a:t>
            </a:r>
          </a:p>
          <a:p>
            <a:pPr marL="800100" lvl="1" indent="-342900">
              <a:lnSpc>
                <a:spcPct val="90000"/>
              </a:lnSpc>
              <a:defRPr/>
            </a:pPr>
            <a:r>
              <a:rPr lang="en-US" dirty="0" smtClean="0"/>
              <a:t>Commercial situations</a:t>
            </a:r>
          </a:p>
          <a:p>
            <a:pPr marL="800100" lvl="1" indent="-342900">
              <a:lnSpc>
                <a:spcPct val="90000"/>
              </a:lnSpc>
              <a:defRPr/>
            </a:pPr>
            <a:r>
              <a:rPr lang="en-US" dirty="0" smtClean="0"/>
              <a:t>Increase "hit", "clickthrough", "lookers to bookers" rates</a:t>
            </a:r>
          </a:p>
          <a:p>
            <a:pPr marL="800100" lvl="1" indent="-342900">
              <a:lnSpc>
                <a:spcPct val="90000"/>
              </a:lnSpc>
              <a:defRPr/>
            </a:pPr>
            <a:r>
              <a:rPr lang="en-US" dirty="0" smtClean="0"/>
              <a:t>Optimize sales margins and profit   </a:t>
            </a:r>
          </a:p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7012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How do we as researchers </a:t>
            </a:r>
            <a:br>
              <a:rPr lang="en-US" dirty="0" smtClean="0"/>
            </a:br>
            <a:r>
              <a:rPr lang="en-US" dirty="0" smtClean="0"/>
              <a:t>know?</a:t>
            </a:r>
            <a:endParaRPr lang="en-US" dirty="0"/>
          </a:p>
        </p:txBody>
      </p:sp>
      <p:sp>
        <p:nvSpPr>
          <p:cNvPr id="2" name="Inhaltsplatzhalter 1"/>
          <p:cNvSpPr>
            <a:spLocks noGrp="1"/>
          </p:cNvSpPr>
          <p:nvPr>
            <p:ph idx="1"/>
          </p:nvPr>
        </p:nvSpPr>
        <p:spPr>
          <a:xfrm>
            <a:off x="467544" y="1556792"/>
            <a:ext cx="8507288" cy="4937760"/>
          </a:xfrm>
        </p:spPr>
        <p:txBody>
          <a:bodyPr/>
          <a:lstStyle/>
          <a:p>
            <a:r>
              <a:rPr lang="en-US" dirty="0" smtClean="0"/>
              <a:t>Test with real users</a:t>
            </a:r>
          </a:p>
          <a:p>
            <a:pPr lvl="1"/>
            <a:r>
              <a:rPr lang="en-US" dirty="0" smtClean="0"/>
              <a:t>A/B tests</a:t>
            </a:r>
          </a:p>
          <a:p>
            <a:pPr lvl="1"/>
            <a:r>
              <a:rPr lang="en-US" dirty="0" smtClean="0"/>
              <a:t>Example measures: sales increase, click through rates</a:t>
            </a:r>
          </a:p>
          <a:p>
            <a:r>
              <a:rPr lang="en-US" dirty="0" smtClean="0"/>
              <a:t>Laboratory studies</a:t>
            </a:r>
          </a:p>
          <a:p>
            <a:pPr lvl="1"/>
            <a:r>
              <a:rPr lang="en-US" dirty="0" smtClean="0"/>
              <a:t>Controlled experiments</a:t>
            </a:r>
          </a:p>
          <a:p>
            <a:pPr lvl="1"/>
            <a:r>
              <a:rPr lang="en-US" dirty="0"/>
              <a:t>Example measures: </a:t>
            </a:r>
            <a:r>
              <a:rPr lang="en-US" dirty="0" smtClean="0"/>
              <a:t> satisfaction with the system (questionnaires)</a:t>
            </a:r>
          </a:p>
          <a:p>
            <a:r>
              <a:rPr lang="en-US" dirty="0" smtClean="0"/>
              <a:t>Offline experiments</a:t>
            </a:r>
          </a:p>
          <a:p>
            <a:pPr lvl="1"/>
            <a:r>
              <a:rPr lang="en-US" dirty="0" smtClean="0"/>
              <a:t>Based on historical data</a:t>
            </a:r>
          </a:p>
          <a:p>
            <a:pPr lvl="1"/>
            <a:r>
              <a:rPr lang="en-US" dirty="0" smtClean="0"/>
              <a:t>Example measures: prediction accuracy, coverage</a:t>
            </a:r>
          </a:p>
          <a:p>
            <a:pPr lvl="1"/>
            <a:endParaRPr lang="en-US" dirty="0"/>
          </a:p>
        </p:txBody>
      </p:sp>
      <p:grpSp>
        <p:nvGrpSpPr>
          <p:cNvPr id="5" name="Gruppieren 4"/>
          <p:cNvGrpSpPr/>
          <p:nvPr/>
        </p:nvGrpSpPr>
        <p:grpSpPr>
          <a:xfrm>
            <a:off x="5852635" y="74721"/>
            <a:ext cx="3291365" cy="978387"/>
            <a:chOff x="5868144" y="2926863"/>
            <a:chExt cx="3291365" cy="978387"/>
          </a:xfrm>
        </p:grpSpPr>
        <p:pic>
          <p:nvPicPr>
            <p:cNvPr id="6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68144" y="2926863"/>
              <a:ext cx="809625" cy="962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77769" y="2971800"/>
              <a:ext cx="800100" cy="914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" name="Picture 4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11653" y="2971800"/>
              <a:ext cx="809625" cy="933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" name="Picture 5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92734" y="2949129"/>
              <a:ext cx="866775" cy="942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3032" y="1412777"/>
            <a:ext cx="640805" cy="7200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710229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Empirical research</a:t>
            </a:r>
          </a:p>
        </p:txBody>
      </p:sp>
      <p:sp>
        <p:nvSpPr>
          <p:cNvPr id="55299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Characterizing dimensions:</a:t>
            </a:r>
          </a:p>
          <a:p>
            <a:pPr lvl="1" eaLnBrk="1" hangingPunct="1"/>
            <a:r>
              <a:rPr lang="en-US" smtClean="0"/>
              <a:t>Who is the </a:t>
            </a:r>
            <a:r>
              <a:rPr lang="en-US" b="1" smtClean="0"/>
              <a:t>subject</a:t>
            </a:r>
            <a:r>
              <a:rPr lang="en-US" smtClean="0"/>
              <a:t> that is in the focus of research?</a:t>
            </a:r>
          </a:p>
          <a:p>
            <a:pPr lvl="1" eaLnBrk="1" hangingPunct="1"/>
            <a:r>
              <a:rPr lang="en-US" smtClean="0"/>
              <a:t>What </a:t>
            </a:r>
            <a:r>
              <a:rPr lang="en-US" b="1" smtClean="0"/>
              <a:t>research method</a:t>
            </a:r>
            <a:r>
              <a:rPr lang="en-US" smtClean="0"/>
              <a:t>s are applied?</a:t>
            </a:r>
          </a:p>
          <a:p>
            <a:pPr lvl="1" eaLnBrk="1" hangingPunct="1"/>
            <a:r>
              <a:rPr lang="en-US" smtClean="0"/>
              <a:t>In which </a:t>
            </a:r>
            <a:r>
              <a:rPr lang="en-US" b="1" smtClean="0"/>
              <a:t>setting</a:t>
            </a:r>
            <a:r>
              <a:rPr lang="en-US" smtClean="0"/>
              <a:t> does the research take place?</a:t>
            </a:r>
          </a:p>
        </p:txBody>
      </p:sp>
      <p:graphicFrame>
        <p:nvGraphicFramePr>
          <p:cNvPr id="5" name="Tabel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6765244"/>
              </p:ext>
            </p:extLst>
          </p:nvPr>
        </p:nvGraphicFramePr>
        <p:xfrm>
          <a:off x="642938" y="3571875"/>
          <a:ext cx="7286676" cy="185166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14578"/>
                <a:gridCol w="5072098"/>
              </a:tblGrid>
              <a:tr h="571504">
                <a:tc>
                  <a:txBody>
                    <a:bodyPr/>
                    <a:lstStyle/>
                    <a:p>
                      <a:r>
                        <a:rPr lang="en-AU" noProof="0" smtClean="0">
                          <a:latin typeface="Calibri" pitchFamily="34" charset="0"/>
                          <a:cs typeface="Calibri" pitchFamily="34" charset="0"/>
                        </a:rPr>
                        <a:t>Subject</a:t>
                      </a:r>
                      <a:endParaRPr lang="en-AU" noProof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noProof="0" smtClean="0">
                          <a:latin typeface="Calibri" pitchFamily="34" charset="0"/>
                          <a:cs typeface="Calibri" pitchFamily="34" charset="0"/>
                        </a:rPr>
                        <a:t>Online customers, students, historical</a:t>
                      </a:r>
                      <a:r>
                        <a:rPr lang="en-AU" baseline="0" noProof="0" smtClean="0">
                          <a:latin typeface="Calibri" pitchFamily="34" charset="0"/>
                          <a:cs typeface="Calibri" pitchFamily="34" charset="0"/>
                        </a:rPr>
                        <a:t> online sessions, computers, …</a:t>
                      </a:r>
                      <a:endParaRPr lang="en-AU" noProof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/>
                </a:tc>
              </a:tr>
              <a:tr h="571504">
                <a:tc>
                  <a:txBody>
                    <a:bodyPr/>
                    <a:lstStyle/>
                    <a:p>
                      <a:r>
                        <a:rPr lang="en-AU" noProof="0" smtClean="0">
                          <a:latin typeface="Calibri" pitchFamily="34" charset="0"/>
                          <a:cs typeface="Calibri" pitchFamily="34" charset="0"/>
                        </a:rPr>
                        <a:t>Research method</a:t>
                      </a:r>
                      <a:endParaRPr lang="en-AU" noProof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noProof="0" smtClean="0">
                          <a:latin typeface="Calibri" pitchFamily="34" charset="0"/>
                          <a:cs typeface="Calibri" pitchFamily="34" charset="0"/>
                        </a:rPr>
                        <a:t>Experiments, quasi-experiments,</a:t>
                      </a:r>
                      <a:r>
                        <a:rPr lang="en-AU" baseline="0" noProof="0" smtClean="0">
                          <a:latin typeface="Calibri" pitchFamily="34" charset="0"/>
                          <a:cs typeface="Calibri" pitchFamily="34" charset="0"/>
                        </a:rPr>
                        <a:t> non-experimental research</a:t>
                      </a:r>
                      <a:endParaRPr lang="en-AU" noProof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/>
                </a:tc>
              </a:tr>
              <a:tr h="571504">
                <a:tc>
                  <a:txBody>
                    <a:bodyPr/>
                    <a:lstStyle/>
                    <a:p>
                      <a:r>
                        <a:rPr lang="en-AU" noProof="0" smtClean="0">
                          <a:latin typeface="Calibri" pitchFamily="34" charset="0"/>
                          <a:cs typeface="Calibri" pitchFamily="34" charset="0"/>
                        </a:rPr>
                        <a:t>Setting</a:t>
                      </a:r>
                      <a:endParaRPr lang="en-AU" noProof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noProof="0" dirty="0" smtClean="0">
                          <a:latin typeface="Calibri" pitchFamily="34" charset="0"/>
                          <a:cs typeface="Calibri" pitchFamily="34" charset="0"/>
                        </a:rPr>
                        <a:t>Lab, real-world</a:t>
                      </a:r>
                      <a:r>
                        <a:rPr lang="en-AU" baseline="0" noProof="0" dirty="0" smtClean="0">
                          <a:latin typeface="Calibri" pitchFamily="34" charset="0"/>
                          <a:cs typeface="Calibri" pitchFamily="34" charset="0"/>
                        </a:rPr>
                        <a:t> scenarios</a:t>
                      </a:r>
                      <a:endParaRPr lang="en-AU" noProof="0" dirty="0"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233707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Research methods</a:t>
            </a:r>
          </a:p>
        </p:txBody>
      </p:sp>
      <p:sp>
        <p:nvSpPr>
          <p:cNvPr id="5632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Experimental vs. non-experimental (observational) research methods</a:t>
            </a:r>
          </a:p>
          <a:p>
            <a:pPr lvl="1" eaLnBrk="1" hangingPunct="1"/>
            <a:r>
              <a:rPr lang="en-US" dirty="0" smtClean="0"/>
              <a:t>Experiment (test, trial):</a:t>
            </a:r>
          </a:p>
          <a:p>
            <a:pPr lvl="2" eaLnBrk="1" hangingPunct="1"/>
            <a:r>
              <a:rPr lang="en-US" i="1" dirty="0" smtClean="0"/>
              <a:t>"An experiment is a study in which at least one variable is manipulated and units are randomly assigned to different levels or categories of manipulated variable(s)."</a:t>
            </a:r>
          </a:p>
          <a:p>
            <a:pPr lvl="2" eaLnBrk="1" hangingPunct="1"/>
            <a:endParaRPr lang="en-US" dirty="0" smtClean="0"/>
          </a:p>
          <a:p>
            <a:pPr lvl="2" eaLnBrk="1" hangingPunct="1"/>
            <a:r>
              <a:rPr lang="en-US" dirty="0" smtClean="0"/>
              <a:t>Units: users, historic sessions, …</a:t>
            </a:r>
          </a:p>
          <a:p>
            <a:pPr lvl="2" eaLnBrk="1" hangingPunct="1">
              <a:tabLst>
                <a:tab pos="3138488" algn="l"/>
              </a:tabLst>
            </a:pPr>
            <a:r>
              <a:rPr lang="en-US" dirty="0" smtClean="0"/>
              <a:t>Manipulated variable: 	type of RS, groups of recommended items,</a:t>
            </a:r>
            <a:br>
              <a:rPr lang="en-US" dirty="0" smtClean="0"/>
            </a:br>
            <a:r>
              <a:rPr lang="en-US" dirty="0" smtClean="0"/>
              <a:t>	explanation strategies …</a:t>
            </a:r>
          </a:p>
          <a:p>
            <a:pPr lvl="2" eaLnBrk="1" hangingPunct="1"/>
            <a:r>
              <a:rPr lang="en-US" dirty="0" smtClean="0"/>
              <a:t>Categories of manipulated variable(s): content-based RS, collaborative RS</a:t>
            </a:r>
          </a:p>
          <a:p>
            <a:pPr lvl="2" eaLnBrk="1" hangingPunct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61380323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Experiment designs</a:t>
            </a:r>
          </a:p>
        </p:txBody>
      </p:sp>
      <p:pic>
        <p:nvPicPr>
          <p:cNvPr id="57347" name="Inhaltsplatzhalter 4" descr="Chapter_6_experiment.png"/>
          <p:cNvPicPr>
            <a:picLocks noGrp="1" noChangeAspect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714375" y="1500188"/>
            <a:ext cx="7440613" cy="4525962"/>
          </a:xfrm>
        </p:spPr>
      </p:pic>
    </p:spTree>
    <p:extLst>
      <p:ext uri="{BB962C8B-B14F-4D97-AF65-F5344CB8AC3E}">
        <p14:creationId xmlns:p14="http://schemas.microsoft.com/office/powerpoint/2010/main" val="6688375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83568" y="260648"/>
            <a:ext cx="5904656" cy="1143000"/>
          </a:xfrm>
        </p:spPr>
        <p:txBody>
          <a:bodyPr/>
          <a:lstStyle/>
          <a:p>
            <a:r>
              <a:rPr lang="en-US" dirty="0" smtClean="0"/>
              <a:t>Evaluation in information retrieval (IR)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11560" y="1412776"/>
            <a:ext cx="7344816" cy="4536504"/>
          </a:xfrm>
        </p:spPr>
        <p:txBody>
          <a:bodyPr/>
          <a:lstStyle/>
          <a:p>
            <a:r>
              <a:rPr lang="en-US" dirty="0" smtClean="0"/>
              <a:t>Recommendation is viewed as information retrieval task:</a:t>
            </a:r>
          </a:p>
          <a:p>
            <a:pPr lvl="1"/>
            <a:r>
              <a:rPr lang="en-US" dirty="0" smtClean="0"/>
              <a:t>Retrieve (recommend) all items which are predicted to be "good" or "relevant".</a:t>
            </a:r>
          </a:p>
          <a:p>
            <a:r>
              <a:rPr lang="en-US" dirty="0" smtClean="0"/>
              <a:t>Common protocol :</a:t>
            </a:r>
          </a:p>
          <a:p>
            <a:pPr lvl="1"/>
            <a:r>
              <a:rPr lang="en-US" dirty="0" smtClean="0"/>
              <a:t>Hide some items with known ground truth</a:t>
            </a:r>
          </a:p>
          <a:p>
            <a:pPr lvl="1"/>
            <a:r>
              <a:rPr lang="en-US" dirty="0" smtClean="0"/>
              <a:t>Rank items or predict ratings -&gt; Count -&gt; Cross-validate</a:t>
            </a:r>
          </a:p>
          <a:p>
            <a:r>
              <a:rPr lang="en-US" dirty="0" smtClean="0"/>
              <a:t>Ground truth established by human domain experts</a:t>
            </a:r>
          </a:p>
        </p:txBody>
      </p:sp>
      <p:graphicFrame>
        <p:nvGraphicFramePr>
          <p:cNvPr id="7" name="Tabel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8187066"/>
              </p:ext>
            </p:extLst>
          </p:nvPr>
        </p:nvGraphicFramePr>
        <p:xfrm>
          <a:off x="1619672" y="4077072"/>
          <a:ext cx="5250694" cy="201168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{F5AB1C69-6EDB-4FF4-983F-18BD219EF322}</a:tableStyleId>
              </a:tblPr>
              <a:tblGrid>
                <a:gridCol w="556893"/>
                <a:gridCol w="875116"/>
                <a:gridCol w="1957680"/>
                <a:gridCol w="1861005"/>
              </a:tblGrid>
              <a:tr h="0"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002060"/>
                        </a:solidFill>
                        <a:latin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002060"/>
                        </a:solidFill>
                        <a:latin typeface="Calibri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b="0" dirty="0" smtClean="0">
                          <a:solidFill>
                            <a:srgbClr val="002060"/>
                          </a:solidFill>
                          <a:latin typeface="Calibri" pitchFamily="34" charset="0"/>
                        </a:rPr>
                        <a:t>Reality</a:t>
                      </a:r>
                      <a:endParaRPr lang="en-US" b="0" dirty="0">
                        <a:solidFill>
                          <a:srgbClr val="002060"/>
                        </a:solidFill>
                        <a:latin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b="0" dirty="0">
                        <a:solidFill>
                          <a:schemeClr val="accent6"/>
                        </a:solidFill>
                        <a:latin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5325"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002060"/>
                        </a:solidFill>
                        <a:latin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rgbClr val="002060"/>
                        </a:solidFill>
                        <a:latin typeface="Calibri" pitchFamily="34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rgbClr val="002060"/>
                          </a:solidFill>
                          <a:latin typeface="Calibri" pitchFamily="34" charset="0"/>
                        </a:rPr>
                        <a:t>Actually Good</a:t>
                      </a:r>
                      <a:endParaRPr lang="en-US" b="0" dirty="0">
                        <a:solidFill>
                          <a:srgbClr val="002060"/>
                        </a:solidFill>
                        <a:latin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rgbClr val="002060"/>
                          </a:solidFill>
                          <a:latin typeface="Calibri" pitchFamily="34" charset="0"/>
                        </a:rPr>
                        <a:t>Actually Bad</a:t>
                      </a:r>
                      <a:endParaRPr lang="en-US" b="0" dirty="0">
                        <a:solidFill>
                          <a:srgbClr val="002060"/>
                        </a:solidFill>
                        <a:latin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7000"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rgbClr val="002060"/>
                          </a:solidFill>
                          <a:latin typeface="Calibri" pitchFamily="34" charset="0"/>
                        </a:rPr>
                        <a:t>Prediction</a:t>
                      </a:r>
                      <a:endParaRPr lang="en-US" dirty="0">
                        <a:solidFill>
                          <a:srgbClr val="002060"/>
                        </a:solidFill>
                        <a:latin typeface="Calibri" pitchFamily="34" charset="0"/>
                      </a:endParaRPr>
                    </a:p>
                  </a:txBody>
                  <a:tcPr vert="vert27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002060"/>
                          </a:solidFill>
                          <a:latin typeface="Calibri" pitchFamily="34" charset="0"/>
                        </a:rPr>
                        <a:t>Rated Good</a:t>
                      </a:r>
                      <a:endParaRPr lang="en-US" dirty="0">
                        <a:solidFill>
                          <a:srgbClr val="002060"/>
                        </a:solidFill>
                        <a:latin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002060"/>
                          </a:solidFill>
                          <a:latin typeface="Calibri" pitchFamily="34" charset="0"/>
                        </a:rPr>
                        <a:t>True Positive (</a:t>
                      </a:r>
                      <a:r>
                        <a:rPr lang="en-US" dirty="0" err="1" smtClean="0">
                          <a:solidFill>
                            <a:srgbClr val="002060"/>
                          </a:solidFill>
                          <a:latin typeface="Calibri" pitchFamily="34" charset="0"/>
                        </a:rPr>
                        <a:t>tp</a:t>
                      </a:r>
                      <a:r>
                        <a:rPr lang="en-US" dirty="0" smtClean="0">
                          <a:solidFill>
                            <a:srgbClr val="002060"/>
                          </a:solidFill>
                          <a:latin typeface="Calibri" pitchFamily="34" charset="0"/>
                        </a:rPr>
                        <a:t>)</a:t>
                      </a:r>
                      <a:endParaRPr lang="en-US" dirty="0">
                        <a:solidFill>
                          <a:srgbClr val="002060"/>
                        </a:solidFill>
                        <a:latin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002060"/>
                          </a:solidFill>
                          <a:latin typeface="Calibri" pitchFamily="34" charset="0"/>
                        </a:rPr>
                        <a:t>False Positive (</a:t>
                      </a:r>
                      <a:r>
                        <a:rPr lang="en-US" dirty="0" err="1" smtClean="0">
                          <a:solidFill>
                            <a:srgbClr val="002060"/>
                          </a:solidFill>
                          <a:latin typeface="Calibri" pitchFamily="34" charset="0"/>
                        </a:rPr>
                        <a:t>fp</a:t>
                      </a:r>
                      <a:r>
                        <a:rPr lang="en-US" dirty="0" smtClean="0">
                          <a:solidFill>
                            <a:srgbClr val="002060"/>
                          </a:solidFill>
                          <a:latin typeface="Calibri" pitchFamily="34" charset="0"/>
                        </a:rPr>
                        <a:t>)</a:t>
                      </a:r>
                      <a:endParaRPr lang="en-US" dirty="0">
                        <a:solidFill>
                          <a:srgbClr val="002060"/>
                        </a:solidFill>
                        <a:latin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7000">
                <a:tc vMerge="1">
                  <a:txBody>
                    <a:bodyPr/>
                    <a:lstStyle/>
                    <a:p>
                      <a:endParaRPr lang="en-US" dirty="0">
                        <a:solidFill>
                          <a:schemeClr val="accent6"/>
                        </a:solidFill>
                        <a:latin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002060"/>
                          </a:solidFill>
                          <a:latin typeface="Calibri" pitchFamily="34" charset="0"/>
                        </a:rPr>
                        <a:t>Rated Bad</a:t>
                      </a:r>
                      <a:endParaRPr lang="en-US" dirty="0">
                        <a:solidFill>
                          <a:srgbClr val="002060"/>
                        </a:solidFill>
                        <a:latin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002060"/>
                          </a:solidFill>
                          <a:latin typeface="Calibri" pitchFamily="34" charset="0"/>
                        </a:rPr>
                        <a:t>False Negative</a:t>
                      </a:r>
                      <a:r>
                        <a:rPr lang="en-US" baseline="0" dirty="0" smtClean="0">
                          <a:solidFill>
                            <a:srgbClr val="002060"/>
                          </a:solidFill>
                          <a:latin typeface="Calibri" pitchFamily="34" charset="0"/>
                        </a:rPr>
                        <a:t> (fn)</a:t>
                      </a:r>
                      <a:endParaRPr lang="en-US" dirty="0">
                        <a:solidFill>
                          <a:srgbClr val="002060"/>
                        </a:solidFill>
                        <a:latin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002060"/>
                          </a:solidFill>
                          <a:latin typeface="Calibri" pitchFamily="34" charset="0"/>
                        </a:rPr>
                        <a:t>True</a:t>
                      </a:r>
                      <a:r>
                        <a:rPr lang="en-US" baseline="0" dirty="0" smtClean="0">
                          <a:solidFill>
                            <a:srgbClr val="002060"/>
                          </a:solidFill>
                          <a:latin typeface="Calibri" pitchFamily="34" charset="0"/>
                        </a:rPr>
                        <a:t> Negative (</a:t>
                      </a:r>
                      <a:r>
                        <a:rPr lang="en-US" baseline="0" dirty="0" err="1" smtClean="0">
                          <a:solidFill>
                            <a:srgbClr val="002060"/>
                          </a:solidFill>
                          <a:latin typeface="Calibri" pitchFamily="34" charset="0"/>
                        </a:rPr>
                        <a:t>tn</a:t>
                      </a:r>
                      <a:r>
                        <a:rPr lang="en-US" baseline="0" dirty="0" smtClean="0">
                          <a:solidFill>
                            <a:srgbClr val="002060"/>
                          </a:solidFill>
                          <a:latin typeface="Calibri" pitchFamily="34" charset="0"/>
                        </a:rPr>
                        <a:t>)</a:t>
                      </a:r>
                      <a:endParaRPr lang="en-US" dirty="0">
                        <a:solidFill>
                          <a:srgbClr val="002060"/>
                        </a:solidFill>
                        <a:latin typeface="Calibri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136496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Metrics: Precision and Recall</a:t>
            </a:r>
          </a:p>
        </p:txBody>
      </p:sp>
      <p:sp>
        <p:nvSpPr>
          <p:cNvPr id="60419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Precision:</a:t>
            </a:r>
            <a:r>
              <a:rPr lang="en-US" dirty="0" smtClean="0"/>
              <a:t> a measure of exactness, determines the fraction of relevant items retrieved out of all items retrieved</a:t>
            </a:r>
          </a:p>
          <a:p>
            <a:pPr lvl="1"/>
            <a:r>
              <a:rPr lang="en-US" dirty="0" smtClean="0"/>
              <a:t>E.g. the proportion of recommended movies that are actually good</a:t>
            </a:r>
          </a:p>
          <a:p>
            <a:pPr lvl="1"/>
            <a:endParaRPr lang="en-US" dirty="0" smtClean="0"/>
          </a:p>
          <a:p>
            <a:pPr lvl="1">
              <a:buFontTx/>
              <a:buNone/>
            </a:pPr>
            <a:endParaRPr lang="en-US" dirty="0" smtClean="0"/>
          </a:p>
          <a:p>
            <a:endParaRPr lang="en-US" b="1" dirty="0" smtClean="0"/>
          </a:p>
          <a:p>
            <a:r>
              <a:rPr lang="en-US" b="1" dirty="0" smtClean="0"/>
              <a:t>Recall:</a:t>
            </a:r>
            <a:r>
              <a:rPr lang="en-US" dirty="0" smtClean="0"/>
              <a:t> a measure of completeness, determines the fraction of relevant items retrieved out of all relevant items</a:t>
            </a:r>
          </a:p>
          <a:p>
            <a:pPr lvl="1"/>
            <a:r>
              <a:rPr lang="en-US" dirty="0" smtClean="0"/>
              <a:t>E.g. the proportion of all good movies recommended</a:t>
            </a:r>
          </a:p>
          <a:p>
            <a:pPr>
              <a:buFont typeface="Wingdings" pitchFamily="2" charset="2"/>
              <a:buNone/>
            </a:pPr>
            <a:endParaRPr lang="en-US" dirty="0" smtClean="0"/>
          </a:p>
          <a:p>
            <a:endParaRPr lang="en-US" dirty="0" smtClean="0"/>
          </a:p>
        </p:txBody>
      </p:sp>
      <p:sp>
        <p:nvSpPr>
          <p:cNvPr id="60420" name="Rectangle 2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en-US"/>
          </a:p>
        </p:txBody>
      </p:sp>
      <p:pic>
        <p:nvPicPr>
          <p:cNvPr id="60421" name="Picture 9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128838" y="2786063"/>
            <a:ext cx="4886325" cy="552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0422" name="Picture 10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35200" y="4929188"/>
            <a:ext cx="4673600" cy="554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09174953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Dilemma of IR measures in RS</a:t>
            </a:r>
          </a:p>
        </p:txBody>
      </p:sp>
      <p:sp>
        <p:nvSpPr>
          <p:cNvPr id="7" name="Inhaltsplatzhalter 2"/>
          <p:cNvSpPr txBox="1">
            <a:spLocks/>
          </p:cNvSpPr>
          <p:nvPr/>
        </p:nvSpPr>
        <p:spPr bwMode="auto">
          <a:xfrm>
            <a:off x="457200" y="1254763"/>
            <a:ext cx="8579296" cy="6620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2000" b="1" i="0" u="none" strike="noStrike" kern="0" cap="none" spc="0" normalizeH="0" baseline="0" dirty="0" smtClean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Calibri" pitchFamily="34" charset="0"/>
              </a:rPr>
              <a:t>IR measures </a:t>
            </a:r>
            <a:r>
              <a:rPr lang="en-US" sz="2000" kern="0" dirty="0" smtClean="0">
                <a:solidFill>
                  <a:srgbClr val="003366"/>
                </a:solidFill>
                <a:latin typeface="Calibri" pitchFamily="34" charset="0"/>
              </a:rPr>
              <a:t>are frequently applied, however</a:t>
            </a:r>
            <a:r>
              <a:rPr kumimoji="0" lang="en-US" sz="1800" b="0" i="0" u="none" strike="noStrike" kern="0" cap="none" spc="0" normalizeH="0" baseline="0" dirty="0" smtClean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Calibri" pitchFamily="34" charset="0"/>
              </a:rPr>
              <a:t>:</a:t>
            </a:r>
          </a:p>
          <a:p>
            <a:pPr marL="800100" lvl="1" indent="-342900" eaLnBrk="0" hangingPunct="0">
              <a:spcBef>
                <a:spcPts val="1200"/>
              </a:spcBef>
              <a:buFont typeface="Wingdings" pitchFamily="2" charset="2"/>
              <a:buChar char="§"/>
              <a:defRPr/>
            </a:pPr>
            <a:r>
              <a:rPr lang="en-US" b="0" kern="0" dirty="0" smtClean="0">
                <a:solidFill>
                  <a:srgbClr val="003366"/>
                </a:solidFill>
                <a:latin typeface="Calibri" pitchFamily="34" charset="0"/>
              </a:rPr>
              <a:t>Ground truth for most items actually unknown</a:t>
            </a:r>
          </a:p>
          <a:p>
            <a:pPr marL="800100" lvl="1" indent="-342900" eaLnBrk="0" hangingPunct="0">
              <a:spcBef>
                <a:spcPts val="1200"/>
              </a:spcBef>
              <a:buFont typeface="Wingdings" pitchFamily="2" charset="2"/>
              <a:buChar char="§"/>
              <a:defRPr/>
            </a:pPr>
            <a:r>
              <a:rPr kumimoji="0" lang="en-US" b="0" i="0" u="none" strike="noStrike" kern="0" cap="none" spc="0" normalizeH="0" baseline="0" dirty="0" smtClean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Calibri" pitchFamily="34" charset="0"/>
              </a:rPr>
              <a:t>What</a:t>
            </a:r>
            <a:r>
              <a:rPr kumimoji="0" lang="en-US" b="0" i="0" u="none" strike="noStrike" kern="0" cap="none" spc="0" normalizeH="0" dirty="0" smtClean="0">
                <a:ln>
                  <a:noFill/>
                </a:ln>
                <a:solidFill>
                  <a:srgbClr val="003366"/>
                </a:solidFill>
                <a:effectLst/>
                <a:uLnTx/>
                <a:uFillTx/>
                <a:latin typeface="Calibri" pitchFamily="34" charset="0"/>
              </a:rPr>
              <a:t> is a relevant item?</a:t>
            </a:r>
          </a:p>
          <a:p>
            <a:pPr marL="800100" lvl="1" indent="-342900" eaLnBrk="0" hangingPunct="0">
              <a:spcBef>
                <a:spcPts val="1200"/>
              </a:spcBef>
              <a:buFont typeface="Wingdings" pitchFamily="2" charset="2"/>
              <a:buChar char="§"/>
              <a:defRPr/>
            </a:pPr>
            <a:r>
              <a:rPr lang="en-US" b="0" kern="0" dirty="0" smtClean="0">
                <a:solidFill>
                  <a:srgbClr val="003366"/>
                </a:solidFill>
                <a:latin typeface="Calibri" pitchFamily="34" charset="0"/>
              </a:rPr>
              <a:t>Different ways of measuring precision possible</a:t>
            </a:r>
          </a:p>
          <a:p>
            <a:pPr marL="342900" lvl="1" indent="-342900" eaLnBrk="0" hangingPunct="0">
              <a:spcBef>
                <a:spcPts val="1200"/>
              </a:spcBef>
              <a:buFont typeface="Wingdings" pitchFamily="2" charset="2"/>
              <a:buChar char="§"/>
              <a:defRPr/>
            </a:pPr>
            <a:r>
              <a:rPr lang="en-US" b="0" kern="0" dirty="0">
                <a:solidFill>
                  <a:srgbClr val="003366"/>
                </a:solidFill>
                <a:latin typeface="Calibri" pitchFamily="34" charset="0"/>
              </a:rPr>
              <a:t>Results from offline experimentation may have limited predictive power for</a:t>
            </a:r>
            <a:br>
              <a:rPr lang="en-US" b="0" kern="0" dirty="0">
                <a:solidFill>
                  <a:srgbClr val="003366"/>
                </a:solidFill>
                <a:latin typeface="Calibri" pitchFamily="34" charset="0"/>
              </a:rPr>
            </a:br>
            <a:r>
              <a:rPr lang="en-US" b="0" kern="0" dirty="0">
                <a:solidFill>
                  <a:srgbClr val="003366"/>
                </a:solidFill>
                <a:latin typeface="Calibri" pitchFamily="34" charset="0"/>
              </a:rPr>
              <a:t>online user behavior.</a:t>
            </a:r>
            <a:endParaRPr lang="en-US" sz="2800" b="0" kern="0" dirty="0">
              <a:solidFill>
                <a:srgbClr val="003366"/>
              </a:solidFill>
              <a:latin typeface="Calibri" pitchFamily="34" charset="0"/>
            </a:endParaRPr>
          </a:p>
          <a:p>
            <a:pPr marL="342900" indent="-342900" eaLnBrk="0" hangingPunct="0">
              <a:spcBef>
                <a:spcPts val="1200"/>
              </a:spcBef>
              <a:buFont typeface="Wingdings" pitchFamily="2" charset="2"/>
              <a:buChar char="§"/>
              <a:defRPr/>
            </a:pPr>
            <a:endParaRPr lang="en-US" b="0" kern="0" dirty="0" smtClean="0">
              <a:solidFill>
                <a:srgbClr val="003366"/>
              </a:solidFill>
              <a:latin typeface="Calibri" pitchFamily="34" charset="0"/>
            </a:endParaRPr>
          </a:p>
          <a:p>
            <a:pPr marL="800100" lvl="1" indent="-342900" eaLnBrk="0" hangingPunct="0">
              <a:spcBef>
                <a:spcPts val="1200"/>
              </a:spcBef>
              <a:buFont typeface="Wingdings" pitchFamily="2" charset="2"/>
              <a:buChar char="§"/>
              <a:defRPr/>
            </a:pPr>
            <a:endParaRPr kumimoji="0" lang="en-US" b="0" i="0" u="none" strike="noStrike" kern="0" cap="none" spc="0" normalizeH="0" baseline="0" dirty="0" smtClean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Calibri" pitchFamily="34" charset="0"/>
            </a:endParaRPr>
          </a:p>
        </p:txBody>
      </p:sp>
      <p:sp>
        <p:nvSpPr>
          <p:cNvPr id="8" name="Inhaltsplatzhalter 2"/>
          <p:cNvSpPr txBox="1">
            <a:spLocks/>
          </p:cNvSpPr>
          <p:nvPr/>
        </p:nvSpPr>
        <p:spPr bwMode="auto">
          <a:xfrm>
            <a:off x="325951" y="5350327"/>
            <a:ext cx="8579296" cy="15407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  <a:defRPr/>
            </a:pPr>
            <a:endParaRPr kumimoji="0" lang="en-US" sz="2000" b="1" i="0" u="none" strike="noStrike" kern="0" cap="none" spc="0" normalizeH="0" baseline="0" dirty="0">
              <a:ln>
                <a:noFill/>
              </a:ln>
              <a:solidFill>
                <a:srgbClr val="003366"/>
              </a:solidFill>
              <a:effectLst/>
              <a:uLnTx/>
              <a:uFillTx/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9398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Metrics: Rank Score – position matters </a:t>
            </a:r>
          </a:p>
        </p:txBody>
      </p:sp>
      <p:sp>
        <p:nvSpPr>
          <p:cNvPr id="62466" name="Inhaltsplatzhalter 1"/>
          <p:cNvSpPr>
            <a:spLocks noGrp="1"/>
          </p:cNvSpPr>
          <p:nvPr>
            <p:ph idx="1"/>
          </p:nvPr>
        </p:nvSpPr>
        <p:spPr>
          <a:xfrm>
            <a:off x="457200" y="4238844"/>
            <a:ext cx="8229600" cy="1905075"/>
          </a:xfrm>
        </p:spPr>
        <p:txBody>
          <a:bodyPr/>
          <a:lstStyle/>
          <a:p>
            <a:r>
              <a:rPr lang="en-US" b="1" dirty="0" smtClean="0"/>
              <a:t>Rank Score</a:t>
            </a:r>
            <a:r>
              <a:rPr lang="en-US" dirty="0" smtClean="0"/>
              <a:t> extends recall and precision to take the positions of correct items in a ranked list into account</a:t>
            </a:r>
          </a:p>
          <a:p>
            <a:pPr lvl="1"/>
            <a:r>
              <a:rPr lang="en-US" dirty="0" smtClean="0"/>
              <a:t>Particularly important in recommender systems as lower ranked items may be overlooked by users</a:t>
            </a:r>
          </a:p>
          <a:p>
            <a:pPr lvl="1"/>
            <a:r>
              <a:rPr lang="en-US" dirty="0" smtClean="0"/>
              <a:t>Learning-to-rank: Optimize models for such measures (e.g., AUC</a:t>
            </a:r>
            <a:r>
              <a:rPr lang="en-US" dirty="0"/>
              <a:t>)</a:t>
            </a:r>
            <a:endParaRPr lang="en-US" dirty="0" smtClean="0"/>
          </a:p>
        </p:txBody>
      </p:sp>
      <p:graphicFrame>
        <p:nvGraphicFramePr>
          <p:cNvPr id="2" name="Tabel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1416314"/>
              </p:ext>
            </p:extLst>
          </p:nvPr>
        </p:nvGraphicFramePr>
        <p:xfrm>
          <a:off x="971600" y="2065782"/>
          <a:ext cx="2471936" cy="1296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71936"/>
              </a:tblGrid>
              <a:tr h="432048">
                <a:tc>
                  <a:txBody>
                    <a:bodyPr/>
                    <a:lstStyle/>
                    <a:p>
                      <a:r>
                        <a:rPr lang="en-US" dirty="0" smtClean="0"/>
                        <a:t>Actually good</a:t>
                      </a:r>
                      <a:endParaRPr lang="en-US" dirty="0"/>
                    </a:p>
                  </a:txBody>
                  <a:tcPr/>
                </a:tc>
              </a:tr>
              <a:tr h="432048">
                <a:tc>
                  <a:txBody>
                    <a:bodyPr/>
                    <a:lstStyle/>
                    <a:p>
                      <a:r>
                        <a:rPr lang="en-US" dirty="0" smtClean="0"/>
                        <a:t>Item</a:t>
                      </a:r>
                      <a:r>
                        <a:rPr lang="en-US" baseline="0" dirty="0" smtClean="0"/>
                        <a:t> 237</a:t>
                      </a:r>
                      <a:endParaRPr lang="en-US" dirty="0"/>
                    </a:p>
                  </a:txBody>
                  <a:tcPr/>
                </a:tc>
              </a:tr>
              <a:tr h="432048">
                <a:tc>
                  <a:txBody>
                    <a:bodyPr/>
                    <a:lstStyle/>
                    <a:p>
                      <a:r>
                        <a:rPr lang="en-US" dirty="0" smtClean="0"/>
                        <a:t>Item 899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7" name="Tabel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5709838"/>
              </p:ext>
            </p:extLst>
          </p:nvPr>
        </p:nvGraphicFramePr>
        <p:xfrm>
          <a:off x="5292080" y="2006596"/>
          <a:ext cx="2736304" cy="18699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36304"/>
              </a:tblGrid>
              <a:tr h="432048">
                <a:tc>
                  <a:txBody>
                    <a:bodyPr/>
                    <a:lstStyle/>
                    <a:p>
                      <a:r>
                        <a:rPr lang="en-US" dirty="0" smtClean="0"/>
                        <a:t>Recommended </a:t>
                      </a:r>
                    </a:p>
                    <a:p>
                      <a:r>
                        <a:rPr lang="en-US" dirty="0" smtClean="0"/>
                        <a:t>(predicted as good)</a:t>
                      </a:r>
                      <a:endParaRPr lang="en-US" dirty="0"/>
                    </a:p>
                  </a:txBody>
                  <a:tcPr/>
                </a:tc>
              </a:tr>
              <a:tr h="432048">
                <a:tc>
                  <a:txBody>
                    <a:bodyPr/>
                    <a:lstStyle/>
                    <a:p>
                      <a:r>
                        <a:rPr lang="en-US" dirty="0" smtClean="0"/>
                        <a:t>Item</a:t>
                      </a:r>
                      <a:r>
                        <a:rPr lang="en-US" baseline="0" dirty="0" smtClean="0"/>
                        <a:t> 345</a:t>
                      </a:r>
                      <a:endParaRPr lang="en-US" dirty="0"/>
                    </a:p>
                  </a:txBody>
                  <a:tcPr/>
                </a:tc>
              </a:tr>
              <a:tr h="432048">
                <a:tc>
                  <a:txBody>
                    <a:bodyPr/>
                    <a:lstStyle/>
                    <a:p>
                      <a:r>
                        <a:rPr lang="en-US" dirty="0" smtClean="0"/>
                        <a:t>Item 237</a:t>
                      </a:r>
                      <a:endParaRPr lang="en-US" dirty="0"/>
                    </a:p>
                  </a:txBody>
                  <a:tcPr/>
                </a:tc>
              </a:tr>
              <a:tr h="360040">
                <a:tc>
                  <a:txBody>
                    <a:bodyPr/>
                    <a:lstStyle/>
                    <a:p>
                      <a:r>
                        <a:rPr lang="en-US" dirty="0" smtClean="0"/>
                        <a:t>Item 187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" name="Textfeld 2"/>
          <p:cNvSpPr txBox="1"/>
          <p:nvPr/>
        </p:nvSpPr>
        <p:spPr>
          <a:xfrm>
            <a:off x="448032" y="1345928"/>
            <a:ext cx="15242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03366"/>
                </a:solidFill>
                <a:latin typeface="Calibri" pitchFamily="34" charset="0"/>
                <a:ea typeface="+mj-ea"/>
                <a:cs typeface="+mj-cs"/>
              </a:rPr>
              <a:t>For a user:</a:t>
            </a:r>
          </a:p>
        </p:txBody>
      </p:sp>
      <p:cxnSp>
        <p:nvCxnSpPr>
          <p:cNvPr id="5" name="Gerade Verbindung mit Pfeil 4"/>
          <p:cNvCxnSpPr/>
          <p:nvPr/>
        </p:nvCxnSpPr>
        <p:spPr bwMode="auto">
          <a:xfrm>
            <a:off x="3491880" y="2726676"/>
            <a:ext cx="1656184" cy="57606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arrow"/>
            <a:tailEnd type="arrow"/>
          </a:ln>
          <a:effectLst/>
        </p:spPr>
      </p:cxnSp>
      <p:sp>
        <p:nvSpPr>
          <p:cNvPr id="8" name="Textfeld 7"/>
          <p:cNvSpPr txBox="1"/>
          <p:nvPr/>
        </p:nvSpPr>
        <p:spPr>
          <a:xfrm>
            <a:off x="4202277" y="2577229"/>
            <a:ext cx="5325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eaLnBrk="0" hangingPunct="0"/>
            <a:r>
              <a:rPr lang="en-US" sz="2400" dirty="0">
                <a:solidFill>
                  <a:srgbClr val="003366"/>
                </a:solidFill>
                <a:latin typeface="Calibri" pitchFamily="34" charset="0"/>
                <a:ea typeface="+mj-ea"/>
                <a:cs typeface="+mj-cs"/>
              </a:rPr>
              <a:t>hit</a:t>
            </a:r>
          </a:p>
        </p:txBody>
      </p:sp>
    </p:spTree>
    <p:extLst>
      <p:ext uri="{BB962C8B-B14F-4D97-AF65-F5344CB8AC3E}">
        <p14:creationId xmlns:p14="http://schemas.microsoft.com/office/powerpoint/2010/main" val="69265494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83568" y="260648"/>
            <a:ext cx="5904656" cy="1143000"/>
          </a:xfrm>
        </p:spPr>
        <p:txBody>
          <a:bodyPr/>
          <a:lstStyle/>
          <a:p>
            <a:r>
              <a:rPr lang="en-US" dirty="0" smtClean="0"/>
              <a:t>Accuracy measures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85800" y="1268760"/>
            <a:ext cx="6694512" cy="5256584"/>
          </a:xfrm>
        </p:spPr>
        <p:txBody>
          <a:bodyPr/>
          <a:lstStyle/>
          <a:p>
            <a:r>
              <a:rPr lang="en-US" smtClean="0"/>
              <a:t>Datasets with items rated by users</a:t>
            </a:r>
          </a:p>
          <a:p>
            <a:pPr lvl="1"/>
            <a:r>
              <a:rPr lang="en-US" smtClean="0"/>
              <a:t>MovieLens datasets 100K-10M ratings</a:t>
            </a:r>
          </a:p>
          <a:p>
            <a:pPr lvl="1"/>
            <a:r>
              <a:rPr lang="en-US" smtClean="0"/>
              <a:t>Netflix 100M ratings</a:t>
            </a:r>
          </a:p>
          <a:p>
            <a:r>
              <a:rPr lang="en-US" smtClean="0"/>
              <a:t>Historic user ratings constitute ground truth</a:t>
            </a:r>
          </a:p>
          <a:p>
            <a:r>
              <a:rPr lang="en-US" smtClean="0"/>
              <a:t>Metrics measure error rate</a:t>
            </a:r>
          </a:p>
          <a:p>
            <a:pPr lvl="1"/>
            <a:r>
              <a:rPr lang="en-US" smtClean="0"/>
              <a:t>Mean Absolute Error (</a:t>
            </a:r>
            <a:r>
              <a:rPr lang="en-US" i="1" smtClean="0"/>
              <a:t>MAE</a:t>
            </a:r>
            <a:r>
              <a:rPr lang="en-US" smtClean="0"/>
              <a:t>) computes the deviation between predicted ratings and actual ratings</a:t>
            </a:r>
          </a:p>
          <a:p>
            <a:pPr lvl="1"/>
            <a:endParaRPr lang="en-US" smtClean="0"/>
          </a:p>
          <a:p>
            <a:pPr lvl="1"/>
            <a:endParaRPr lang="en-US" smtClean="0"/>
          </a:p>
          <a:p>
            <a:pPr lvl="1"/>
            <a:r>
              <a:rPr lang="en-US" smtClean="0"/>
              <a:t>Root Mean Square Error (</a:t>
            </a:r>
            <a:r>
              <a:rPr lang="en-US" i="1" smtClean="0"/>
              <a:t>RMSE</a:t>
            </a:r>
            <a:r>
              <a:rPr lang="en-US" smtClean="0"/>
              <a:t>) is similar to </a:t>
            </a:r>
            <a:r>
              <a:rPr lang="en-US" i="1" smtClean="0"/>
              <a:t>MAE</a:t>
            </a:r>
            <a:r>
              <a:rPr lang="en-US" smtClean="0"/>
              <a:t>, but places more emphasis on larger deviation</a:t>
            </a:r>
          </a:p>
          <a:p>
            <a:pPr lvl="0"/>
            <a:endParaRPr lang="en-US" smtClean="0"/>
          </a:p>
          <a:p>
            <a:endParaRPr lang="en-US" smtClean="0"/>
          </a:p>
          <a:p>
            <a:endParaRPr lang="en-US" smtClean="0"/>
          </a:p>
        </p:txBody>
      </p:sp>
      <p:pic>
        <p:nvPicPr>
          <p:cNvPr id="6" name="Picture 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28381" y="3603104"/>
            <a:ext cx="2047875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788024" y="4869160"/>
            <a:ext cx="2543175" cy="1076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13955501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Offline </a:t>
            </a:r>
            <a:r>
              <a:rPr lang="en-US" dirty="0" smtClean="0"/>
              <a:t>experimentation example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Netflix competition</a:t>
            </a:r>
          </a:p>
          <a:p>
            <a:pPr lvl="1"/>
            <a:r>
              <a:rPr lang="en-US" sz="1600" dirty="0"/>
              <a:t>Web-based movie rental</a:t>
            </a:r>
          </a:p>
          <a:p>
            <a:pPr lvl="1"/>
            <a:r>
              <a:rPr lang="en-US" sz="1600" dirty="0"/>
              <a:t>Prize of $1,000,000 for accuracy </a:t>
            </a:r>
            <a:r>
              <a:rPr lang="en-US" sz="1600" dirty="0" smtClean="0"/>
              <a:t>improvement (RMSE) </a:t>
            </a:r>
            <a:r>
              <a:rPr lang="en-US" sz="1600" dirty="0"/>
              <a:t>of 10% compared to own </a:t>
            </a:r>
            <a:r>
              <a:rPr lang="en-US" sz="1600" dirty="0" err="1" smtClean="0"/>
              <a:t>Cinematch</a:t>
            </a:r>
            <a:r>
              <a:rPr lang="en-US" sz="1600" dirty="0" smtClean="0"/>
              <a:t> </a:t>
            </a:r>
            <a:r>
              <a:rPr lang="en-US" sz="1600" dirty="0"/>
              <a:t>system.</a:t>
            </a:r>
          </a:p>
          <a:p>
            <a:pPr lvl="1"/>
            <a:endParaRPr lang="en-US" sz="900" dirty="0"/>
          </a:p>
          <a:p>
            <a:r>
              <a:rPr lang="en-US" dirty="0"/>
              <a:t>Historical dataset  </a:t>
            </a:r>
          </a:p>
          <a:p>
            <a:pPr lvl="1"/>
            <a:r>
              <a:rPr lang="en-US" dirty="0"/>
              <a:t>~480K users rated ~18K movies on a scale of 1 to </a:t>
            </a:r>
            <a:r>
              <a:rPr lang="en-US" dirty="0" smtClean="0"/>
              <a:t>5 (~100M ratings)</a:t>
            </a:r>
            <a:endParaRPr lang="en-US" dirty="0"/>
          </a:p>
          <a:p>
            <a:pPr lvl="1"/>
            <a:r>
              <a:rPr lang="en-US" dirty="0"/>
              <a:t>Last 9 ratings/user withheld</a:t>
            </a:r>
          </a:p>
          <a:p>
            <a:pPr lvl="2"/>
            <a:r>
              <a:rPr lang="en-US" sz="1400" dirty="0"/>
              <a:t>Probe set – for teams for evaluation</a:t>
            </a:r>
          </a:p>
          <a:p>
            <a:pPr lvl="2"/>
            <a:r>
              <a:rPr lang="en-US" sz="1400" dirty="0"/>
              <a:t>Quiz set – evaluates teams’ submissions for leaderboard</a:t>
            </a:r>
          </a:p>
          <a:p>
            <a:pPr lvl="2"/>
            <a:r>
              <a:rPr lang="en-US" sz="1400" dirty="0"/>
              <a:t>Test set – used by Netflix to determine </a:t>
            </a:r>
            <a:r>
              <a:rPr lang="en-US" sz="1400" dirty="0" smtClean="0"/>
              <a:t>winner</a:t>
            </a:r>
          </a:p>
          <a:p>
            <a:r>
              <a:rPr lang="en-US" sz="1700" dirty="0" smtClean="0"/>
              <a:t>Today</a:t>
            </a:r>
          </a:p>
          <a:p>
            <a:pPr lvl="1"/>
            <a:r>
              <a:rPr lang="en-US" sz="1500" dirty="0" smtClean="0"/>
              <a:t>Rating  prediction only seen as an additional input into the recommendation process</a:t>
            </a:r>
            <a:endParaRPr lang="en-US" sz="1500" dirty="0"/>
          </a:p>
          <a:p>
            <a:pPr lvl="1"/>
            <a:endParaRPr lang="en-US" sz="20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9714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 imperfect world</a:t>
            </a:r>
            <a:endParaRPr lang="en-US" dirty="0"/>
          </a:p>
        </p:txBody>
      </p:sp>
      <p:sp>
        <p:nvSpPr>
          <p:cNvPr id="2" name="Inhaltsplatzhalt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Offline evaluation is the cheapest variant</a:t>
            </a:r>
          </a:p>
          <a:p>
            <a:pPr lvl="1"/>
            <a:r>
              <a:rPr lang="en-US" dirty="0" smtClean="0"/>
              <a:t>Still, gives us valuable insights</a:t>
            </a:r>
          </a:p>
          <a:p>
            <a:pPr lvl="1"/>
            <a:r>
              <a:rPr lang="en-US" dirty="0" smtClean="0"/>
              <a:t>and lets us compare our results </a:t>
            </a:r>
            <a:r>
              <a:rPr lang="en-US" sz="1400" dirty="0" smtClean="0"/>
              <a:t>(in theory)</a:t>
            </a:r>
          </a:p>
          <a:p>
            <a:r>
              <a:rPr lang="en-US" dirty="0" smtClean="0"/>
              <a:t>Dangers and trends:</a:t>
            </a:r>
          </a:p>
          <a:p>
            <a:pPr lvl="1"/>
            <a:r>
              <a:rPr lang="en-US" dirty="0" smtClean="0"/>
              <a:t>Domination of accuracy measures</a:t>
            </a:r>
          </a:p>
          <a:p>
            <a:pPr lvl="1"/>
            <a:r>
              <a:rPr lang="en-US" dirty="0" smtClean="0"/>
              <a:t>Focus on small set of domains (40% on movies in CS)</a:t>
            </a:r>
          </a:p>
          <a:p>
            <a:r>
              <a:rPr lang="en-US" dirty="0" smtClean="0"/>
              <a:t>Alternative and complementary measures:</a:t>
            </a:r>
          </a:p>
          <a:p>
            <a:pPr lvl="1"/>
            <a:r>
              <a:rPr lang="en-US" dirty="0" smtClean="0"/>
              <a:t>Diversity, Coverage, Novelty, Familiarity, Serendipity, Popularity, Concentration effects (Long tail)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0526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Online </a:t>
            </a:r>
            <a:r>
              <a:rPr lang="en-US" dirty="0" smtClean="0"/>
              <a:t>experimentation example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266825"/>
            <a:ext cx="5659301" cy="4774895"/>
          </a:xfrm>
        </p:spPr>
        <p:txBody>
          <a:bodyPr/>
          <a:lstStyle/>
          <a:p>
            <a:endParaRPr lang="en-US" dirty="0" smtClean="0"/>
          </a:p>
          <a:p>
            <a:r>
              <a:rPr lang="en-US" dirty="0" smtClean="0"/>
              <a:t>Effectiveness </a:t>
            </a:r>
            <a:r>
              <a:rPr lang="en-US" dirty="0"/>
              <a:t>of different algorithms for recommending cell phone games 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1400" dirty="0" smtClean="0"/>
              <a:t>[Jannach, Hegelich 09]</a:t>
            </a:r>
            <a:endParaRPr lang="en-US" sz="1400" dirty="0"/>
          </a:p>
          <a:p>
            <a:endParaRPr lang="en-US" sz="1400" dirty="0"/>
          </a:p>
          <a:p>
            <a:r>
              <a:rPr lang="en-US" dirty="0"/>
              <a:t>Involved 150,000 users on a commercial mobile internet portal</a:t>
            </a:r>
          </a:p>
          <a:p>
            <a:endParaRPr lang="en-US" sz="1400" dirty="0"/>
          </a:p>
          <a:p>
            <a:r>
              <a:rPr lang="en-US" dirty="0" smtClean="0"/>
              <a:t>Comparison of  recommender methods</a:t>
            </a:r>
            <a:endParaRPr lang="en-US" dirty="0"/>
          </a:p>
        </p:txBody>
      </p:sp>
      <p:pic>
        <p:nvPicPr>
          <p:cNvPr id="9" name="Picture 2" descr="C:\Dokumente und Einstellungen\jannach\Eigene Dateien\6 papers\itwp09\screenshots\Startseite Teaserbeschriftungen.jpg"/>
          <p:cNvPicPr>
            <a:picLocks noChangeAspect="1" noChangeArrowheads="1"/>
          </p:cNvPicPr>
          <p:nvPr/>
        </p:nvPicPr>
        <p:blipFill>
          <a:blip r:embed="rId3" cstate="print"/>
          <a:srcRect r="41533"/>
          <a:stretch>
            <a:fillRect/>
          </a:stretch>
        </p:blipFill>
        <p:spPr bwMode="auto">
          <a:xfrm>
            <a:off x="6588224" y="755345"/>
            <a:ext cx="2027100" cy="5286375"/>
          </a:xfrm>
          <a:prstGeom prst="rect">
            <a:avLst/>
          </a:prstGeom>
          <a:noFill/>
        </p:spPr>
      </p:pic>
      <p:sp>
        <p:nvSpPr>
          <p:cNvPr id="10" name="Abgerundetes Rechteck 7"/>
          <p:cNvSpPr>
            <a:spLocks noChangeArrowheads="1"/>
          </p:cNvSpPr>
          <p:nvPr/>
        </p:nvSpPr>
        <p:spPr bwMode="auto">
          <a:xfrm>
            <a:off x="6444208" y="2924944"/>
            <a:ext cx="2304256" cy="1080120"/>
          </a:xfrm>
          <a:prstGeom prst="roundRect">
            <a:avLst>
              <a:gd name="adj" fmla="val 16667"/>
            </a:avLst>
          </a:prstGeom>
          <a:noFill/>
          <a:ln w="38100" algn="ctr">
            <a:solidFill>
              <a:srgbClr val="FF0000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385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Details and results</a:t>
            </a:r>
            <a:endParaRPr lang="en-US" dirty="0"/>
          </a:p>
        </p:txBody>
      </p:sp>
      <p:sp>
        <p:nvSpPr>
          <p:cNvPr id="7" name="Inhaltsplatzhalter 4"/>
          <p:cNvSpPr>
            <a:spLocks noGrp="1"/>
          </p:cNvSpPr>
          <p:nvPr>
            <p:ph idx="1"/>
          </p:nvPr>
        </p:nvSpPr>
        <p:spPr>
          <a:xfrm>
            <a:off x="457200" y="1362075"/>
            <a:ext cx="8219256" cy="4525963"/>
          </a:xfrm>
        </p:spPr>
        <p:txBody>
          <a:bodyPr/>
          <a:lstStyle/>
          <a:p>
            <a:r>
              <a:rPr lang="en-US" dirty="0" smtClean="0"/>
              <a:t>Recommender variants </a:t>
            </a:r>
            <a:r>
              <a:rPr lang="en-US" dirty="0"/>
              <a:t>included:</a:t>
            </a:r>
          </a:p>
          <a:p>
            <a:pPr lvl="1"/>
            <a:r>
              <a:rPr lang="en-US" dirty="0"/>
              <a:t>Item-based collaborative filtering</a:t>
            </a:r>
          </a:p>
          <a:p>
            <a:pPr lvl="1"/>
            <a:r>
              <a:rPr lang="en-US" dirty="0" err="1"/>
              <a:t>SlopeOne</a:t>
            </a:r>
            <a:r>
              <a:rPr lang="en-US" dirty="0"/>
              <a:t> (also collaborative filtering)</a:t>
            </a:r>
          </a:p>
          <a:p>
            <a:pPr lvl="1"/>
            <a:r>
              <a:rPr lang="en-US" dirty="0"/>
              <a:t>Content-based recommendation</a:t>
            </a:r>
          </a:p>
          <a:p>
            <a:pPr lvl="1"/>
            <a:r>
              <a:rPr lang="en-US" dirty="0"/>
              <a:t>Hybrid recommendation</a:t>
            </a:r>
          </a:p>
          <a:p>
            <a:pPr lvl="1"/>
            <a:r>
              <a:rPr lang="en-US" dirty="0"/>
              <a:t>Top-rated items</a:t>
            </a:r>
          </a:p>
          <a:p>
            <a:pPr lvl="1"/>
            <a:r>
              <a:rPr lang="en-US" dirty="0" smtClean="0"/>
              <a:t>Top-sellers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 smtClean="0"/>
              <a:t>Findings:</a:t>
            </a:r>
            <a:endParaRPr lang="en-US" dirty="0"/>
          </a:p>
          <a:p>
            <a:pPr lvl="1"/>
            <a:r>
              <a:rPr lang="en-US" dirty="0"/>
              <a:t>Personalized methods increased sales </a:t>
            </a:r>
            <a:r>
              <a:rPr lang="en-US" dirty="0" smtClean="0"/>
              <a:t>up to 3.6</a:t>
            </a:r>
            <a:r>
              <a:rPr lang="en-US" dirty="0"/>
              <a:t>% compared to </a:t>
            </a:r>
            <a:r>
              <a:rPr lang="en-US" dirty="0" smtClean="0"/>
              <a:t>non-personalized </a:t>
            </a:r>
          </a:p>
          <a:p>
            <a:pPr lvl="1"/>
            <a:r>
              <a:rPr lang="en-US" dirty="0" smtClean="0"/>
              <a:t>Choice of recommendation algorithm depends on user situation </a:t>
            </a:r>
            <a:br>
              <a:rPr lang="en-US" dirty="0" smtClean="0"/>
            </a:br>
            <a:r>
              <a:rPr lang="en-US" dirty="0" smtClean="0"/>
              <a:t>(e.g. avoid content-based RS in post-sales situation) </a:t>
            </a:r>
            <a:endParaRPr lang="en-US" dirty="0"/>
          </a:p>
        </p:txBody>
      </p:sp>
      <p:sp>
        <p:nvSpPr>
          <p:cNvPr id="8" name="Textfeld 6"/>
          <p:cNvSpPr txBox="1"/>
          <p:nvPr/>
        </p:nvSpPr>
        <p:spPr>
          <a:xfrm>
            <a:off x="2769454" y="3126430"/>
            <a:ext cx="200131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tx1"/>
                </a:solidFill>
                <a:latin typeface="Verdana" pitchFamily="34" charset="0"/>
                <a:ea typeface="+mn-ea"/>
                <a:cs typeface="+mn-cs"/>
              </a:defRPr>
            </a:lvl9pPr>
          </a:lstStyle>
          <a:p>
            <a:r>
              <a:rPr lang="en-US" sz="2800" b="0" dirty="0" smtClean="0">
                <a:solidFill>
                  <a:schemeClr val="accent6">
                    <a:lumMod val="75000"/>
                  </a:schemeClr>
                </a:solidFill>
                <a:latin typeface="Calibri" pitchFamily="34" charset="0"/>
              </a:rPr>
              <a:t>} </a:t>
            </a:r>
            <a:r>
              <a:rPr lang="en-US" b="0" dirty="0" smtClean="0">
                <a:solidFill>
                  <a:schemeClr val="accent6">
                    <a:lumMod val="75000"/>
                  </a:schemeClr>
                </a:solidFill>
                <a:latin typeface="Calibri" pitchFamily="34" charset="0"/>
              </a:rPr>
              <a:t>non-personalized</a:t>
            </a:r>
            <a:endParaRPr lang="en-US" b="0" dirty="0">
              <a:solidFill>
                <a:schemeClr val="accent6">
                  <a:lumMod val="75000"/>
                </a:schemeClr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2084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Non-experimental research</a:t>
            </a:r>
          </a:p>
        </p:txBody>
      </p:sp>
      <p:sp>
        <p:nvSpPr>
          <p:cNvPr id="14339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Quasi-experiments</a:t>
            </a:r>
          </a:p>
          <a:p>
            <a:pPr lvl="1" eaLnBrk="1" hangingPunct="1"/>
            <a:r>
              <a:rPr lang="en-US" dirty="0" smtClean="0"/>
              <a:t>Lack random assignments of units to different treatments</a:t>
            </a:r>
          </a:p>
          <a:p>
            <a:pPr eaLnBrk="1" hangingPunct="1"/>
            <a:endParaRPr lang="en-US" dirty="0" smtClean="0"/>
          </a:p>
          <a:p>
            <a:pPr eaLnBrk="1" hangingPunct="1"/>
            <a:r>
              <a:rPr lang="en-US" dirty="0" smtClean="0"/>
              <a:t>Non-experimental / observational research</a:t>
            </a:r>
          </a:p>
          <a:p>
            <a:pPr lvl="1" eaLnBrk="1" hangingPunct="1"/>
            <a:r>
              <a:rPr lang="en-US" dirty="0" smtClean="0"/>
              <a:t>Surveys / Questionnaires</a:t>
            </a:r>
          </a:p>
          <a:p>
            <a:pPr lvl="1" eaLnBrk="1" hangingPunct="1"/>
            <a:r>
              <a:rPr lang="en-US" dirty="0" smtClean="0"/>
              <a:t>Longitudinal research</a:t>
            </a:r>
          </a:p>
          <a:p>
            <a:pPr lvl="2" eaLnBrk="1" hangingPunct="1"/>
            <a:r>
              <a:rPr lang="en-US" dirty="0" smtClean="0"/>
              <a:t>Observations over long period of time</a:t>
            </a:r>
          </a:p>
          <a:p>
            <a:pPr lvl="2" eaLnBrk="1" hangingPunct="1"/>
            <a:r>
              <a:rPr lang="en-US" dirty="0" smtClean="0"/>
              <a:t>E.g. customer life-time value, returning customers</a:t>
            </a:r>
          </a:p>
          <a:p>
            <a:pPr lvl="1" eaLnBrk="1" hangingPunct="1"/>
            <a:r>
              <a:rPr lang="en-US" dirty="0" smtClean="0"/>
              <a:t>Case studies</a:t>
            </a:r>
          </a:p>
          <a:p>
            <a:pPr lvl="1" eaLnBrk="1" hangingPunct="1"/>
            <a:r>
              <a:rPr lang="en-US" dirty="0" smtClean="0"/>
              <a:t>Focus group </a:t>
            </a:r>
          </a:p>
          <a:p>
            <a:pPr lvl="2" eaLnBrk="1" hangingPunct="1"/>
            <a:r>
              <a:rPr lang="en-US" dirty="0" smtClean="0"/>
              <a:t>Interviews</a:t>
            </a:r>
          </a:p>
          <a:p>
            <a:pPr lvl="2" eaLnBrk="1" hangingPunct="1"/>
            <a:r>
              <a:rPr lang="en-US" dirty="0" smtClean="0"/>
              <a:t>Think-aloud protocols</a:t>
            </a:r>
          </a:p>
        </p:txBody>
      </p:sp>
    </p:spTree>
    <p:extLst>
      <p:ext uri="{BB962C8B-B14F-4D97-AF65-F5344CB8AC3E}">
        <p14:creationId xmlns:p14="http://schemas.microsoft.com/office/powerpoint/2010/main" val="144423387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Quasi-experimental</a:t>
            </a:r>
          </a:p>
        </p:txBody>
      </p:sp>
      <p:sp>
        <p:nvSpPr>
          <p:cNvPr id="86019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SkiMatcher</a:t>
            </a:r>
            <a:r>
              <a:rPr lang="en-US" dirty="0" smtClean="0"/>
              <a:t> Resort Finder introduced by Ski-Europe.com to provide users with recommendations based on their preferences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Conversational RS</a:t>
            </a:r>
          </a:p>
          <a:p>
            <a:pPr lvl="1"/>
            <a:r>
              <a:rPr lang="en-US" dirty="0" smtClean="0"/>
              <a:t>question and answer dialog </a:t>
            </a:r>
          </a:p>
          <a:p>
            <a:pPr lvl="1"/>
            <a:r>
              <a:rPr lang="en-US" dirty="0" smtClean="0"/>
              <a:t>matching of user preferences with knowledge base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Delgado and Davidson evaluated the</a:t>
            </a:r>
            <a:br>
              <a:rPr lang="en-US" dirty="0" smtClean="0"/>
            </a:br>
            <a:r>
              <a:rPr lang="en-US" dirty="0" smtClean="0"/>
              <a:t>effectiveness of the recommender over a </a:t>
            </a:r>
            <a:br>
              <a:rPr lang="en-US" dirty="0" smtClean="0"/>
            </a:br>
            <a:r>
              <a:rPr lang="en-US" dirty="0" smtClean="0"/>
              <a:t>4 month period in 2001</a:t>
            </a:r>
          </a:p>
          <a:p>
            <a:pPr lvl="1"/>
            <a:r>
              <a:rPr lang="en-US" dirty="0" smtClean="0"/>
              <a:t>Classified as a quasi-experiment</a:t>
            </a:r>
            <a:br>
              <a:rPr lang="en-US" dirty="0" smtClean="0"/>
            </a:br>
            <a:r>
              <a:rPr lang="en-US" dirty="0" smtClean="0"/>
              <a:t>as users decide for themselves if they </a:t>
            </a:r>
            <a:br>
              <a:rPr lang="en-US" dirty="0" smtClean="0"/>
            </a:br>
            <a:r>
              <a:rPr lang="en-US" dirty="0" smtClean="0"/>
              <a:t>want to use the recommender or not</a:t>
            </a:r>
          </a:p>
          <a:p>
            <a:pPr>
              <a:buFont typeface="Wingdings" pitchFamily="2" charset="2"/>
              <a:buNone/>
            </a:pPr>
            <a:endParaRPr lang="en-US" dirty="0" smtClean="0"/>
          </a:p>
          <a:p>
            <a:endParaRPr lang="en-US" dirty="0" smtClean="0"/>
          </a:p>
        </p:txBody>
      </p:sp>
      <p:pic>
        <p:nvPicPr>
          <p:cNvPr id="8602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215063" y="4048125"/>
            <a:ext cx="2857500" cy="180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27708136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SkiMatcher Results</a:t>
            </a:r>
          </a:p>
        </p:txBody>
      </p:sp>
      <p:graphicFrame>
        <p:nvGraphicFramePr>
          <p:cNvPr id="5" name="Inhaltsplatzhalter 4"/>
          <p:cNvGraphicFramePr>
            <a:graphicFrameLocks noGrp="1"/>
          </p:cNvGraphicFramePr>
          <p:nvPr>
            <p:ph idx="1"/>
          </p:nvPr>
        </p:nvGraphicFramePr>
        <p:xfrm>
          <a:off x="457201" y="1600200"/>
          <a:ext cx="8043891" cy="3352800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2543163"/>
                <a:gridCol w="1375182"/>
                <a:gridCol w="1375182"/>
                <a:gridCol w="1375182"/>
                <a:gridCol w="1375182"/>
              </a:tblGrid>
              <a:tr h="237530">
                <a:tc>
                  <a:txBody>
                    <a:bodyPr/>
                    <a:lstStyle/>
                    <a:p>
                      <a:endParaRPr lang="en-US" sz="1400" noProof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noProof="0" smtClean="0">
                          <a:latin typeface="Calibri" pitchFamily="34" charset="0"/>
                        </a:rPr>
                        <a:t>July</a:t>
                      </a:r>
                      <a:endParaRPr lang="en-US" sz="1400" noProof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noProof="0" smtClean="0">
                          <a:latin typeface="Calibri" pitchFamily="34" charset="0"/>
                        </a:rPr>
                        <a:t>August</a:t>
                      </a:r>
                      <a:endParaRPr lang="en-US" sz="1400" noProof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noProof="0" smtClean="0">
                          <a:latin typeface="Calibri" pitchFamily="34" charset="0"/>
                        </a:rPr>
                        <a:t>September</a:t>
                      </a:r>
                      <a:endParaRPr lang="en-US" sz="1400" noProof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noProof="0" smtClean="0">
                          <a:latin typeface="Calibri" pitchFamily="34" charset="0"/>
                        </a:rPr>
                        <a:t>October</a:t>
                      </a:r>
                      <a:endParaRPr lang="en-US" sz="1400" noProof="0">
                        <a:latin typeface="Calibri" pitchFamily="34" charset="0"/>
                      </a:endParaRPr>
                    </a:p>
                  </a:txBody>
                  <a:tcPr/>
                </a:tc>
              </a:tr>
              <a:tr h="237530">
                <a:tc>
                  <a:txBody>
                    <a:bodyPr/>
                    <a:lstStyle/>
                    <a:p>
                      <a:r>
                        <a:rPr lang="en-US" sz="1400" noProof="0" smtClean="0">
                          <a:latin typeface="Calibri" pitchFamily="34" charset="0"/>
                        </a:rPr>
                        <a:t>Unique Visitors</a:t>
                      </a:r>
                      <a:endParaRPr lang="en-US" sz="1400" noProof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noProof="0" smtClean="0">
                          <a:latin typeface="Calibri" pitchFamily="34" charset="0"/>
                        </a:rPr>
                        <a:t>10,714</a:t>
                      </a:r>
                      <a:endParaRPr lang="en-US" sz="1400" noProof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noProof="0" smtClean="0">
                          <a:latin typeface="Calibri" pitchFamily="34" charset="0"/>
                        </a:rPr>
                        <a:t>15,560</a:t>
                      </a:r>
                      <a:endParaRPr lang="en-US" sz="1400" noProof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noProof="0" smtClean="0">
                          <a:latin typeface="Calibri" pitchFamily="34" charset="0"/>
                        </a:rPr>
                        <a:t>18,317</a:t>
                      </a:r>
                      <a:endParaRPr lang="en-US" sz="1400" noProof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noProof="0" smtClean="0">
                          <a:latin typeface="Calibri" pitchFamily="34" charset="0"/>
                        </a:rPr>
                        <a:t>24,416</a:t>
                      </a:r>
                      <a:endParaRPr lang="en-US" sz="1400" noProof="0">
                        <a:latin typeface="Calibri" pitchFamily="34" charset="0"/>
                      </a:endParaRPr>
                    </a:p>
                  </a:txBody>
                  <a:tcPr/>
                </a:tc>
              </a:tr>
              <a:tr h="237530"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400" noProof="0" smtClean="0">
                          <a:latin typeface="Calibri" pitchFamily="34" charset="0"/>
                        </a:rPr>
                        <a:t> SkiMatcher Users</a:t>
                      </a:r>
                      <a:endParaRPr lang="en-US" sz="1400" noProof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noProof="0" smtClean="0">
                          <a:latin typeface="Calibri" pitchFamily="34" charset="0"/>
                        </a:rPr>
                        <a:t>1,027</a:t>
                      </a:r>
                      <a:endParaRPr lang="en-US" sz="1400" noProof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noProof="0" smtClean="0">
                          <a:latin typeface="Calibri" pitchFamily="34" charset="0"/>
                        </a:rPr>
                        <a:t>1,673</a:t>
                      </a:r>
                      <a:endParaRPr lang="en-US" sz="1400" noProof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noProof="0" smtClean="0">
                          <a:latin typeface="Calibri" pitchFamily="34" charset="0"/>
                        </a:rPr>
                        <a:t>1,878</a:t>
                      </a:r>
                      <a:endParaRPr lang="en-US" sz="1400" noProof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noProof="0" smtClean="0">
                          <a:latin typeface="Calibri" pitchFamily="34" charset="0"/>
                        </a:rPr>
                        <a:t>2,558</a:t>
                      </a:r>
                      <a:endParaRPr lang="en-US" sz="1400" noProof="0">
                        <a:latin typeface="Calibri" pitchFamily="34" charset="0"/>
                      </a:endParaRPr>
                    </a:p>
                  </a:txBody>
                  <a:tcPr/>
                </a:tc>
              </a:tr>
              <a:tr h="237530"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400" noProof="0" smtClean="0">
                          <a:latin typeface="Calibri" pitchFamily="34" charset="0"/>
                        </a:rPr>
                        <a:t> Non-SkiMatcher</a:t>
                      </a:r>
                      <a:r>
                        <a:rPr lang="en-US" sz="1400" baseline="0" noProof="0" smtClean="0">
                          <a:latin typeface="Calibri" pitchFamily="34" charset="0"/>
                        </a:rPr>
                        <a:t> Users</a:t>
                      </a:r>
                      <a:endParaRPr lang="en-US" sz="1400" noProof="0">
                        <a:latin typeface="Calibri" pitchFamily="34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noProof="0" smtClean="0">
                          <a:latin typeface="Calibri" pitchFamily="34" charset="0"/>
                        </a:rPr>
                        <a:t>9,687</a:t>
                      </a:r>
                      <a:endParaRPr lang="en-US" sz="1400" noProof="0">
                        <a:latin typeface="Calibri" pitchFamily="34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noProof="0" smtClean="0">
                          <a:latin typeface="Calibri" pitchFamily="34" charset="0"/>
                        </a:rPr>
                        <a:t>13,887</a:t>
                      </a:r>
                      <a:endParaRPr lang="en-US" sz="1400" noProof="0">
                        <a:latin typeface="Calibri" pitchFamily="34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noProof="0" smtClean="0">
                          <a:latin typeface="Calibri" pitchFamily="34" charset="0"/>
                        </a:rPr>
                        <a:t>16,439</a:t>
                      </a:r>
                      <a:endParaRPr lang="en-US" sz="1400" noProof="0">
                        <a:latin typeface="Calibri" pitchFamily="34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noProof="0" smtClean="0">
                          <a:latin typeface="Calibri" pitchFamily="34" charset="0"/>
                        </a:rPr>
                        <a:t>21,858</a:t>
                      </a:r>
                      <a:endParaRPr lang="en-US" sz="1400" noProof="0">
                        <a:latin typeface="Calibri" pitchFamily="34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530">
                <a:tc>
                  <a:txBody>
                    <a:bodyPr/>
                    <a:lstStyle/>
                    <a:p>
                      <a:r>
                        <a:rPr lang="en-US" sz="1400" noProof="0" smtClean="0">
                          <a:latin typeface="Calibri" pitchFamily="34" charset="0"/>
                        </a:rPr>
                        <a:t>Requests for Proposals</a:t>
                      </a:r>
                      <a:endParaRPr lang="en-US" sz="1400" noProof="0">
                        <a:latin typeface="Calibri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noProof="0" smtClean="0">
                          <a:latin typeface="Calibri" pitchFamily="34" charset="0"/>
                        </a:rPr>
                        <a:t>272</a:t>
                      </a:r>
                      <a:endParaRPr lang="en-US" sz="1400" noProof="0">
                        <a:latin typeface="Calibri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noProof="0" smtClean="0">
                          <a:latin typeface="Calibri" pitchFamily="34" charset="0"/>
                        </a:rPr>
                        <a:t>506</a:t>
                      </a:r>
                      <a:endParaRPr lang="en-US" sz="1400" noProof="0">
                        <a:latin typeface="Calibri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noProof="0" smtClean="0">
                          <a:latin typeface="Calibri" pitchFamily="34" charset="0"/>
                        </a:rPr>
                        <a:t>445</a:t>
                      </a:r>
                      <a:endParaRPr lang="en-US" sz="1400" noProof="0">
                        <a:latin typeface="Calibri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noProof="0" smtClean="0">
                          <a:latin typeface="Calibri" pitchFamily="34" charset="0"/>
                        </a:rPr>
                        <a:t>641</a:t>
                      </a:r>
                      <a:endParaRPr lang="en-US" sz="1400" noProof="0">
                        <a:latin typeface="Calibri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237530"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400" noProof="0" smtClean="0">
                          <a:latin typeface="Calibri" pitchFamily="34" charset="0"/>
                        </a:rPr>
                        <a:t> SkiMatcher Users</a:t>
                      </a:r>
                      <a:endParaRPr lang="en-US" sz="1400" noProof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noProof="0" smtClean="0">
                          <a:latin typeface="Calibri" pitchFamily="34" charset="0"/>
                        </a:rPr>
                        <a:t>75</a:t>
                      </a:r>
                      <a:endParaRPr lang="en-US" sz="1400" noProof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noProof="0" smtClean="0">
                          <a:latin typeface="Calibri" pitchFamily="34" charset="0"/>
                        </a:rPr>
                        <a:t>143</a:t>
                      </a:r>
                      <a:endParaRPr lang="en-US" sz="1400" noProof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noProof="0" smtClean="0">
                          <a:latin typeface="Calibri" pitchFamily="34" charset="0"/>
                        </a:rPr>
                        <a:t>161</a:t>
                      </a:r>
                      <a:endParaRPr lang="en-US" sz="1400" noProof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noProof="0" smtClean="0">
                          <a:latin typeface="Calibri" pitchFamily="34" charset="0"/>
                        </a:rPr>
                        <a:t>229</a:t>
                      </a:r>
                      <a:endParaRPr lang="en-US" sz="1400" noProof="0">
                        <a:latin typeface="Calibri" pitchFamily="34" charset="0"/>
                      </a:endParaRPr>
                    </a:p>
                  </a:txBody>
                  <a:tcPr/>
                </a:tc>
              </a:tr>
              <a:tr h="237530"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400" noProof="0" smtClean="0">
                          <a:latin typeface="Calibri" pitchFamily="34" charset="0"/>
                        </a:rPr>
                        <a:t> Non-SkiMatcher</a:t>
                      </a:r>
                      <a:r>
                        <a:rPr lang="en-US" sz="1400" baseline="0" noProof="0" smtClean="0">
                          <a:latin typeface="Calibri" pitchFamily="34" charset="0"/>
                        </a:rPr>
                        <a:t> Users</a:t>
                      </a:r>
                      <a:endParaRPr lang="en-US" sz="1400" noProof="0">
                        <a:latin typeface="Calibri" pitchFamily="34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noProof="0" smtClean="0">
                          <a:latin typeface="Calibri" pitchFamily="34" charset="0"/>
                        </a:rPr>
                        <a:t>197</a:t>
                      </a:r>
                      <a:endParaRPr lang="en-US" sz="1400" noProof="0">
                        <a:latin typeface="Calibri" pitchFamily="34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noProof="0" smtClean="0">
                          <a:latin typeface="Calibri" pitchFamily="34" charset="0"/>
                        </a:rPr>
                        <a:t>363</a:t>
                      </a:r>
                      <a:endParaRPr lang="en-US" sz="1400" noProof="0">
                        <a:latin typeface="Calibri" pitchFamily="34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noProof="0" smtClean="0">
                          <a:latin typeface="Calibri" pitchFamily="34" charset="0"/>
                        </a:rPr>
                        <a:t>284</a:t>
                      </a:r>
                      <a:endParaRPr lang="en-US" sz="1400" noProof="0">
                        <a:latin typeface="Calibri" pitchFamily="34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noProof="0" smtClean="0">
                          <a:latin typeface="Calibri" pitchFamily="34" charset="0"/>
                        </a:rPr>
                        <a:t>412</a:t>
                      </a:r>
                      <a:endParaRPr lang="en-US" sz="1400" noProof="0">
                        <a:latin typeface="Calibri" pitchFamily="34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530">
                <a:tc>
                  <a:txBody>
                    <a:bodyPr/>
                    <a:lstStyle/>
                    <a:p>
                      <a:r>
                        <a:rPr lang="en-US" sz="1400" noProof="0" smtClean="0">
                          <a:latin typeface="Calibri" pitchFamily="34" charset="0"/>
                        </a:rPr>
                        <a:t>Conversion</a:t>
                      </a:r>
                      <a:endParaRPr lang="en-US" sz="1400" noProof="0">
                        <a:latin typeface="Calibri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noProof="0" smtClean="0">
                          <a:latin typeface="Calibri" pitchFamily="34" charset="0"/>
                        </a:rPr>
                        <a:t>2.54%</a:t>
                      </a:r>
                      <a:endParaRPr lang="en-US" sz="1400" noProof="0">
                        <a:latin typeface="Calibri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noProof="0" smtClean="0">
                          <a:latin typeface="Calibri" pitchFamily="34" charset="0"/>
                        </a:rPr>
                        <a:t>3.25%</a:t>
                      </a:r>
                      <a:endParaRPr lang="en-US" sz="1400" noProof="0">
                        <a:latin typeface="Calibri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noProof="0" smtClean="0">
                          <a:latin typeface="Calibri" pitchFamily="34" charset="0"/>
                        </a:rPr>
                        <a:t>2.43%</a:t>
                      </a:r>
                      <a:endParaRPr lang="en-US" sz="1400" noProof="0">
                        <a:latin typeface="Calibri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noProof="0" smtClean="0">
                          <a:latin typeface="Calibri" pitchFamily="34" charset="0"/>
                        </a:rPr>
                        <a:t>2.63%</a:t>
                      </a:r>
                      <a:endParaRPr lang="en-US" sz="1400" noProof="0">
                        <a:latin typeface="Calibri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237530"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400" noProof="0" smtClean="0">
                          <a:latin typeface="Calibri" pitchFamily="34" charset="0"/>
                        </a:rPr>
                        <a:t> SkiMatcher Users</a:t>
                      </a:r>
                      <a:endParaRPr lang="en-US" sz="1400" noProof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noProof="0" smtClean="0">
                          <a:latin typeface="Calibri" pitchFamily="34" charset="0"/>
                        </a:rPr>
                        <a:t>7.30%</a:t>
                      </a:r>
                      <a:endParaRPr lang="en-US" sz="1400" noProof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noProof="0" smtClean="0">
                          <a:latin typeface="Calibri" pitchFamily="34" charset="0"/>
                        </a:rPr>
                        <a:t>8.55%</a:t>
                      </a:r>
                      <a:endParaRPr lang="en-US" sz="1400" noProof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noProof="0" smtClean="0">
                          <a:latin typeface="Calibri" pitchFamily="34" charset="0"/>
                        </a:rPr>
                        <a:t>8.57%</a:t>
                      </a:r>
                      <a:endParaRPr lang="en-US" sz="1400" noProof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noProof="0" smtClean="0">
                          <a:latin typeface="Calibri" pitchFamily="34" charset="0"/>
                        </a:rPr>
                        <a:t>8.95%</a:t>
                      </a:r>
                      <a:endParaRPr lang="en-US" sz="1400" noProof="0">
                        <a:latin typeface="Calibri" pitchFamily="34" charset="0"/>
                      </a:endParaRPr>
                    </a:p>
                  </a:txBody>
                  <a:tcPr/>
                </a:tc>
              </a:tr>
              <a:tr h="237530">
                <a:tc>
                  <a:txBody>
                    <a:bodyPr/>
                    <a:lstStyle/>
                    <a:p>
                      <a:pPr>
                        <a:buFont typeface="Arial" pitchFamily="34" charset="0"/>
                        <a:buChar char="•"/>
                      </a:pPr>
                      <a:r>
                        <a:rPr lang="en-US" sz="1400" noProof="0" smtClean="0">
                          <a:latin typeface="Calibri" pitchFamily="34" charset="0"/>
                        </a:rPr>
                        <a:t> Non-SkiMatcher</a:t>
                      </a:r>
                      <a:r>
                        <a:rPr lang="en-US" sz="1400" baseline="0" noProof="0" smtClean="0">
                          <a:latin typeface="Calibri" pitchFamily="34" charset="0"/>
                        </a:rPr>
                        <a:t> Users</a:t>
                      </a:r>
                      <a:endParaRPr lang="en-US" sz="1400" noProof="0">
                        <a:latin typeface="Calibri" pitchFamily="34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noProof="0" smtClean="0">
                          <a:latin typeface="Calibri" pitchFamily="34" charset="0"/>
                        </a:rPr>
                        <a:t>2.03%</a:t>
                      </a:r>
                      <a:endParaRPr lang="en-US" sz="1400" noProof="0">
                        <a:latin typeface="Calibri" pitchFamily="34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noProof="0" smtClean="0">
                          <a:latin typeface="Calibri" pitchFamily="34" charset="0"/>
                        </a:rPr>
                        <a:t>2.61%</a:t>
                      </a:r>
                      <a:endParaRPr lang="en-US" sz="1400" noProof="0">
                        <a:latin typeface="Calibri" pitchFamily="34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noProof="0" smtClean="0">
                          <a:latin typeface="Calibri" pitchFamily="34" charset="0"/>
                        </a:rPr>
                        <a:t>1.73%</a:t>
                      </a:r>
                      <a:endParaRPr lang="en-US" sz="1400" noProof="0">
                        <a:latin typeface="Calibri" pitchFamily="34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noProof="0" smtClean="0">
                          <a:latin typeface="Calibri" pitchFamily="34" charset="0"/>
                        </a:rPr>
                        <a:t>1.88%</a:t>
                      </a:r>
                      <a:endParaRPr lang="en-US" sz="1400" noProof="0">
                        <a:latin typeface="Calibri" pitchFamily="34" charset="0"/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530">
                <a:tc>
                  <a:txBody>
                    <a:bodyPr/>
                    <a:lstStyle/>
                    <a:p>
                      <a:r>
                        <a:rPr lang="en-US" sz="1400" noProof="0" smtClean="0">
                          <a:latin typeface="Calibri" pitchFamily="34" charset="0"/>
                        </a:rPr>
                        <a:t>Increase in Conversion</a:t>
                      </a:r>
                      <a:endParaRPr lang="en-US" sz="1400" noProof="0">
                        <a:latin typeface="Calibri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noProof="0" smtClean="0">
                          <a:latin typeface="Calibri" pitchFamily="34" charset="0"/>
                        </a:rPr>
                        <a:t>359%</a:t>
                      </a:r>
                      <a:endParaRPr lang="en-US" sz="1400" noProof="0">
                        <a:latin typeface="Calibri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noProof="0" smtClean="0">
                          <a:latin typeface="Calibri" pitchFamily="34" charset="0"/>
                        </a:rPr>
                        <a:t>327%</a:t>
                      </a:r>
                      <a:endParaRPr lang="en-US" sz="1400" noProof="0">
                        <a:latin typeface="Calibri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noProof="0" smtClean="0">
                          <a:latin typeface="Calibri" pitchFamily="34" charset="0"/>
                        </a:rPr>
                        <a:t>496%</a:t>
                      </a:r>
                      <a:endParaRPr lang="en-US" sz="1400" noProof="0">
                        <a:latin typeface="Calibri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noProof="0" dirty="0" smtClean="0">
                          <a:latin typeface="Calibri" pitchFamily="34" charset="0"/>
                        </a:rPr>
                        <a:t>475%</a:t>
                      </a:r>
                      <a:endParaRPr lang="en-US" sz="1400" noProof="0" dirty="0">
                        <a:latin typeface="Calibri" pitchFamily="34" charset="0"/>
                      </a:endParaRP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  <p:sp>
        <p:nvSpPr>
          <p:cNvPr id="87044" name="Textfeld 5"/>
          <p:cNvSpPr txBox="1">
            <a:spLocks noChangeArrowheads="1"/>
          </p:cNvSpPr>
          <p:nvPr/>
        </p:nvSpPr>
        <p:spPr bwMode="auto">
          <a:xfrm>
            <a:off x="4929188" y="5143500"/>
            <a:ext cx="361315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1400" b="0" dirty="0">
                <a:latin typeface="+mj-lt"/>
              </a:rPr>
              <a:t>[Delgado and Davidson, ENTER 2002]</a:t>
            </a:r>
          </a:p>
        </p:txBody>
      </p:sp>
      <p:sp>
        <p:nvSpPr>
          <p:cNvPr id="2" name="Ellipse 1"/>
          <p:cNvSpPr/>
          <p:nvPr/>
        </p:nvSpPr>
        <p:spPr bwMode="auto">
          <a:xfrm>
            <a:off x="3275856" y="3784194"/>
            <a:ext cx="5472608" cy="1080120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AT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393665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Interpreting the Results</a:t>
            </a:r>
          </a:p>
        </p:txBody>
      </p:sp>
      <p:sp>
        <p:nvSpPr>
          <p:cNvPr id="88067" name="Inhaltsplatzhalter 2"/>
          <p:cNvSpPr>
            <a:spLocks noGrp="1"/>
          </p:cNvSpPr>
          <p:nvPr>
            <p:ph idx="1"/>
          </p:nvPr>
        </p:nvSpPr>
        <p:spPr>
          <a:xfrm>
            <a:off x="457200" y="1442154"/>
            <a:ext cx="8229600" cy="4525963"/>
          </a:xfrm>
        </p:spPr>
        <p:txBody>
          <a:bodyPr/>
          <a:lstStyle/>
          <a:p>
            <a:r>
              <a:rPr lang="en-US" dirty="0" smtClean="0"/>
              <a:t>The nature of this research design means that questions of causality </a:t>
            </a:r>
            <a:r>
              <a:rPr lang="en-US" b="1" dirty="0" smtClean="0"/>
              <a:t>cannot</a:t>
            </a:r>
            <a:r>
              <a:rPr lang="en-US" dirty="0" smtClean="0"/>
              <a:t> be </a:t>
            </a:r>
            <a:r>
              <a:rPr lang="en-US" dirty="0"/>
              <a:t>answered </a:t>
            </a:r>
            <a:r>
              <a:rPr lang="en-US" dirty="0" smtClean="0"/>
              <a:t>(lack of random assignments), such as</a:t>
            </a:r>
          </a:p>
          <a:p>
            <a:pPr lvl="1"/>
            <a:r>
              <a:rPr lang="en-US" dirty="0" smtClean="0"/>
              <a:t>Are users of the recommender systems more likely convert?</a:t>
            </a:r>
          </a:p>
          <a:p>
            <a:pPr lvl="1"/>
            <a:r>
              <a:rPr lang="en-US" dirty="0" smtClean="0"/>
              <a:t>Does the recommender system itself cause users to convert?</a:t>
            </a:r>
          </a:p>
          <a:p>
            <a:pPr marL="457200" lvl="1" indent="0">
              <a:buNone/>
            </a:pPr>
            <a:r>
              <a:rPr lang="en-US" dirty="0"/>
              <a:t>S</a:t>
            </a:r>
            <a:r>
              <a:rPr lang="en-US" dirty="0" smtClean="0"/>
              <a:t>ome hidden exogenous variable might influence the choice of using RS as well as conversion. </a:t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/>
              <a:t>However, significant correlation between using the recommender system and making a request for a proposal</a:t>
            </a:r>
          </a:p>
          <a:p>
            <a:endParaRPr lang="en-US" dirty="0" smtClean="0"/>
          </a:p>
          <a:p>
            <a:r>
              <a:rPr lang="en-US" dirty="0" smtClean="0"/>
              <a:t>Size of effect has been replicated in other domains</a:t>
            </a:r>
          </a:p>
          <a:p>
            <a:pPr lvl="1"/>
            <a:r>
              <a:rPr lang="en-US" dirty="0" smtClean="0"/>
              <a:t>Tourism </a:t>
            </a:r>
            <a:r>
              <a:rPr lang="en-US" sz="1600" dirty="0" smtClean="0"/>
              <a:t>[Jannach et al., JITT 2009]</a:t>
            </a:r>
            <a:endParaRPr lang="en-US" dirty="0" smtClean="0"/>
          </a:p>
          <a:p>
            <a:pPr lvl="1"/>
            <a:r>
              <a:rPr lang="en-US" dirty="0" smtClean="0"/>
              <a:t>Electronic consumer products </a:t>
            </a:r>
          </a:p>
          <a:p>
            <a:pPr lvl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33706007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83568" y="260648"/>
            <a:ext cx="7772400" cy="1143000"/>
          </a:xfrm>
        </p:spPr>
        <p:txBody>
          <a:bodyPr/>
          <a:lstStyle/>
          <a:p>
            <a:r>
              <a:rPr lang="en-US" dirty="0" smtClean="0"/>
              <a:t>Observational research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85800" y="1412776"/>
            <a:ext cx="8458200" cy="4718248"/>
          </a:xfrm>
        </p:spPr>
        <p:txBody>
          <a:bodyPr/>
          <a:lstStyle/>
          <a:p>
            <a:r>
              <a:rPr lang="en-US" dirty="0" smtClean="0"/>
              <a:t>Increased demand in niches/long tail products</a:t>
            </a:r>
          </a:p>
          <a:p>
            <a:pPr lvl="1"/>
            <a:r>
              <a:rPr lang="en-US" dirty="0" smtClean="0"/>
              <a:t>Ex-post from web shop data </a:t>
            </a:r>
            <a:r>
              <a:rPr lang="en-US" sz="1600" dirty="0" smtClean="0"/>
              <a:t>[Zanker et al., EC-Web, 2006]</a:t>
            </a:r>
            <a:endParaRPr lang="en-US" dirty="0" smtClean="0"/>
          </a:p>
          <a:p>
            <a:pPr lvl="1"/>
            <a:endParaRPr lang="en-US" dirty="0"/>
          </a:p>
        </p:txBody>
      </p:sp>
      <p:grpSp>
        <p:nvGrpSpPr>
          <p:cNvPr id="8" name="Gruppieren 7"/>
          <p:cNvGrpSpPr/>
          <p:nvPr/>
        </p:nvGrpSpPr>
        <p:grpSpPr>
          <a:xfrm>
            <a:off x="1547664" y="2564788"/>
            <a:ext cx="4896544" cy="2982036"/>
            <a:chOff x="3203848" y="2858723"/>
            <a:chExt cx="4896544" cy="2982036"/>
          </a:xfrm>
        </p:grpSpPr>
        <p:pic>
          <p:nvPicPr>
            <p:cNvPr id="4" name="Picture 4" descr="rank_cigars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3203848" y="2858723"/>
              <a:ext cx="4896544" cy="2982036"/>
            </a:xfrm>
            <a:prstGeom prst="rect">
              <a:avLst/>
            </a:prstGeom>
            <a:noFill/>
          </p:spPr>
        </p:pic>
        <p:sp>
          <p:nvSpPr>
            <p:cNvPr id="5" name="Oval 5"/>
            <p:cNvSpPr>
              <a:spLocks noChangeArrowheads="1"/>
            </p:cNvSpPr>
            <p:nvPr/>
          </p:nvSpPr>
          <p:spPr bwMode="auto">
            <a:xfrm>
              <a:off x="3636343" y="3125489"/>
              <a:ext cx="4130927" cy="234479"/>
            </a:xfrm>
            <a:prstGeom prst="ellipse">
              <a:avLst/>
            </a:prstGeom>
            <a:noFill/>
            <a:ln w="19050" algn="ctr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6" name="Oval 6"/>
            <p:cNvSpPr>
              <a:spLocks noChangeArrowheads="1"/>
            </p:cNvSpPr>
            <p:nvPr/>
          </p:nvSpPr>
          <p:spPr bwMode="auto">
            <a:xfrm>
              <a:off x="3681433" y="4187154"/>
              <a:ext cx="4130927" cy="234479"/>
            </a:xfrm>
            <a:prstGeom prst="ellipse">
              <a:avLst/>
            </a:prstGeom>
            <a:noFill/>
            <a:ln w="19050" algn="ctr">
              <a:solidFill>
                <a:srgbClr val="FF0000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96862390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popular?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327075"/>
            <a:ext cx="8229600" cy="4827112"/>
          </a:xfrm>
        </p:spPr>
        <p:txBody>
          <a:bodyPr/>
          <a:lstStyle/>
          <a:p>
            <a:pPr eaLnBrk="1" hangingPunct="1"/>
            <a:endParaRPr lang="en-US" sz="1400" dirty="0" smtClean="0"/>
          </a:p>
          <a:p>
            <a:endParaRPr lang="en-US" sz="1400" dirty="0" smtClean="0"/>
          </a:p>
          <a:p>
            <a:endParaRPr lang="en-US" sz="1400" dirty="0"/>
          </a:p>
          <a:p>
            <a:endParaRPr lang="en-US" sz="1400" dirty="0" smtClean="0"/>
          </a:p>
          <a:p>
            <a:endParaRPr lang="en-US" sz="1400" dirty="0"/>
          </a:p>
          <a:p>
            <a:endParaRPr lang="en-US" sz="1400" dirty="0" smtClean="0"/>
          </a:p>
          <a:p>
            <a:endParaRPr lang="en-US" sz="1400" dirty="0"/>
          </a:p>
          <a:p>
            <a:endParaRPr lang="en-US" sz="1400" dirty="0" smtClean="0"/>
          </a:p>
          <a:p>
            <a:endParaRPr lang="en-US" sz="1400" dirty="0"/>
          </a:p>
          <a:p>
            <a:r>
              <a:rPr lang="en-US" sz="2800" dirty="0" smtClean="0"/>
              <a:t>User-centric evaluation / User studies</a:t>
            </a:r>
            <a:endParaRPr lang="en-US" sz="2800" dirty="0"/>
          </a:p>
          <a:p>
            <a:pPr lvl="1"/>
            <a:r>
              <a:rPr lang="en-US" sz="1400" dirty="0" smtClean="0"/>
              <a:t>Increased interest in recent years</a:t>
            </a:r>
          </a:p>
          <a:p>
            <a:pPr lvl="1"/>
            <a:r>
              <a:rPr lang="en-US" sz="1400" dirty="0" smtClean="0"/>
              <a:t>Various numbers of workshops</a:t>
            </a:r>
          </a:p>
          <a:p>
            <a:pPr lvl="1"/>
            <a:endParaRPr lang="en-US" sz="1400" dirty="0"/>
          </a:p>
          <a:p>
            <a:pPr lvl="2" eaLnBrk="1" hangingPunct="1"/>
            <a:endParaRPr lang="en-US" sz="1400" dirty="0" smtClean="0"/>
          </a:p>
          <a:p>
            <a:endParaRPr lang="en-US" sz="1400" dirty="0" smtClean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1480592"/>
            <a:ext cx="4437366" cy="26642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feld 1"/>
          <p:cNvSpPr txBox="1"/>
          <p:nvPr/>
        </p:nvSpPr>
        <p:spPr>
          <a:xfrm>
            <a:off x="5796136" y="692696"/>
            <a:ext cx="2808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dirty="0" smtClean="0">
                <a:latin typeface="Calibri" pitchFamily="34" charset="0"/>
              </a:rPr>
              <a:t>From: Jannach et al., Proceedings EC-Web 2012</a:t>
            </a:r>
            <a:endParaRPr lang="en-US" sz="1400" b="0" dirty="0">
              <a:latin typeface="Calibri" pitchFamily="34" charset="0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94026" y="1627658"/>
            <a:ext cx="4392488" cy="25650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46951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are the next topics?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435280" cy="4525963"/>
          </a:xfrm>
        </p:spPr>
        <p:txBody>
          <a:bodyPr/>
          <a:lstStyle/>
          <a:p>
            <a:r>
              <a:rPr lang="en-US" dirty="0" smtClean="0"/>
              <a:t>Two additional major paradigms of recommender systems</a:t>
            </a:r>
          </a:p>
          <a:p>
            <a:pPr lvl="1"/>
            <a:r>
              <a:rPr lang="en-US" dirty="0" smtClean="0"/>
              <a:t>Content-based</a:t>
            </a:r>
          </a:p>
          <a:p>
            <a:pPr lvl="1"/>
            <a:r>
              <a:rPr lang="en-US" dirty="0" smtClean="0"/>
              <a:t>Knowledge-based</a:t>
            </a:r>
          </a:p>
          <a:p>
            <a:endParaRPr lang="en-US" dirty="0" smtClean="0"/>
          </a:p>
          <a:p>
            <a:r>
              <a:rPr lang="en-US" dirty="0" smtClean="0">
                <a:ln>
                  <a:prstDash val="solid"/>
                </a:ln>
                <a:solidFill>
                  <a:srgbClr val="002060"/>
                </a:solidFill>
              </a:rPr>
              <a:t>Hybridization</a:t>
            </a:r>
            <a:r>
              <a:rPr lang="en-US" dirty="0" smtClean="0"/>
              <a:t>: take the best of different paradigms </a:t>
            </a:r>
          </a:p>
          <a:p>
            <a:endParaRPr lang="en-US" dirty="0"/>
          </a:p>
          <a:p>
            <a:r>
              <a:rPr lang="en-US" dirty="0" smtClean="0"/>
              <a:t>Advanced topics: recommender systems are about human decision making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4651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/>
        </p:nvSpPr>
        <p:spPr>
          <a:xfrm>
            <a:off x="1285852" y="2643182"/>
            <a:ext cx="6643734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/>
            <a:r>
              <a:rPr lang="en-US" sz="3600" dirty="0" smtClean="0">
                <a:ln>
                  <a:prstDash val="solid"/>
                </a:ln>
                <a:solidFill>
                  <a:srgbClr val="002060"/>
                </a:solidFill>
                <a:latin typeface="Calibri" pitchFamily="34" charset="0"/>
              </a:rPr>
              <a:t>Content-based recommendation</a:t>
            </a:r>
            <a:endParaRPr lang="en-US" sz="3600" dirty="0">
              <a:ln>
                <a:prstDash val="solid"/>
              </a:ln>
              <a:solidFill>
                <a:srgbClr val="002060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6818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Content-based recommendation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507288" cy="4525963"/>
          </a:xfrm>
        </p:spPr>
        <p:txBody>
          <a:bodyPr/>
          <a:lstStyle/>
          <a:p>
            <a:r>
              <a:rPr lang="en-US" dirty="0" smtClean="0"/>
              <a:t>Collaborative filtering does </a:t>
            </a:r>
            <a:r>
              <a:rPr lang="en-US" dirty="0" smtClean="0">
                <a:solidFill>
                  <a:srgbClr val="0070C0"/>
                </a:solidFill>
              </a:rPr>
              <a:t>NOT</a:t>
            </a:r>
            <a:r>
              <a:rPr lang="en-US" dirty="0" smtClean="0"/>
              <a:t> require any information about the items,</a:t>
            </a:r>
          </a:p>
          <a:p>
            <a:pPr lvl="2"/>
            <a:r>
              <a:rPr lang="en-US" dirty="0" smtClean="0"/>
              <a:t>However, it might be reasonable to exploit such information</a:t>
            </a:r>
          </a:p>
          <a:p>
            <a:pPr lvl="2"/>
            <a:r>
              <a:rPr lang="en-US" dirty="0" smtClean="0"/>
              <a:t>E.g. recommend fantasy novels to people who liked fantasy novels in the past</a:t>
            </a:r>
          </a:p>
          <a:p>
            <a:r>
              <a:rPr lang="en-US" dirty="0" smtClean="0"/>
              <a:t>What do we need:</a:t>
            </a:r>
          </a:p>
          <a:p>
            <a:pPr lvl="2"/>
            <a:r>
              <a:rPr lang="en-US" dirty="0"/>
              <a:t>S</a:t>
            </a:r>
            <a:r>
              <a:rPr lang="en-US" dirty="0" smtClean="0"/>
              <a:t>ome information about the available items such as the genre ("content") </a:t>
            </a:r>
          </a:p>
          <a:p>
            <a:pPr lvl="2"/>
            <a:r>
              <a:rPr lang="en-US" dirty="0"/>
              <a:t>S</a:t>
            </a:r>
            <a:r>
              <a:rPr lang="en-US" dirty="0" smtClean="0"/>
              <a:t>ome sort of </a:t>
            </a:r>
            <a:r>
              <a:rPr lang="en-US" i="1" dirty="0" smtClean="0"/>
              <a:t>user profile</a:t>
            </a:r>
            <a:r>
              <a:rPr lang="en-US" dirty="0" smtClean="0"/>
              <a:t> describing what the user likes (the preferences)</a:t>
            </a:r>
          </a:p>
          <a:p>
            <a:r>
              <a:rPr lang="en-US" dirty="0" smtClean="0"/>
              <a:t>The task:</a:t>
            </a:r>
          </a:p>
          <a:p>
            <a:pPr lvl="2"/>
            <a:r>
              <a:rPr lang="en-US" dirty="0"/>
              <a:t>L</a:t>
            </a:r>
            <a:r>
              <a:rPr lang="en-US" dirty="0" smtClean="0"/>
              <a:t>earn user preferences</a:t>
            </a:r>
          </a:p>
          <a:p>
            <a:pPr lvl="2"/>
            <a:r>
              <a:rPr lang="en-US" dirty="0"/>
              <a:t>L</a:t>
            </a:r>
            <a:r>
              <a:rPr lang="en-US" dirty="0" smtClean="0"/>
              <a:t>ocate/recommend items that are "similar" to the user preferences</a:t>
            </a:r>
          </a:p>
        </p:txBody>
      </p:sp>
    </p:spTree>
    <p:extLst>
      <p:ext uri="{BB962C8B-B14F-4D97-AF65-F5344CB8AC3E}">
        <p14:creationId xmlns:p14="http://schemas.microsoft.com/office/powerpoint/2010/main" val="19608375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Paradigms of recommender systems</a:t>
            </a:r>
          </a:p>
        </p:txBody>
      </p:sp>
      <p:grpSp>
        <p:nvGrpSpPr>
          <p:cNvPr id="2" name="Gruppieren 12"/>
          <p:cNvGrpSpPr>
            <a:grpSpLocks/>
          </p:cNvGrpSpPr>
          <p:nvPr/>
        </p:nvGrpSpPr>
        <p:grpSpPr bwMode="auto">
          <a:xfrm>
            <a:off x="4071938" y="3000375"/>
            <a:ext cx="4181475" cy="1547813"/>
            <a:chOff x="4786314" y="3071810"/>
            <a:chExt cx="4181496" cy="1547815"/>
          </a:xfrm>
        </p:grpSpPr>
        <p:pic>
          <p:nvPicPr>
            <p:cNvPr id="13324" name="Grafik 5" descr="Box.png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786314" y="3214686"/>
              <a:ext cx="1643074" cy="13650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3325" name="Grafik 6" descr="Outputarrow.png"/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6215074" y="3500438"/>
              <a:ext cx="1129063" cy="2190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3326" name="Grafik 7" descr="Output.png"/>
            <p:cNvPicPr>
              <a:picLocks noChangeAspect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7358082" y="3071810"/>
              <a:ext cx="1609728" cy="15478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3" name="Gruppieren 13"/>
          <p:cNvGrpSpPr>
            <a:grpSpLocks/>
          </p:cNvGrpSpPr>
          <p:nvPr/>
        </p:nvGrpSpPr>
        <p:grpSpPr bwMode="auto">
          <a:xfrm>
            <a:off x="698500" y="1643063"/>
            <a:ext cx="3659188" cy="1296987"/>
            <a:chOff x="699167" y="1643050"/>
            <a:chExt cx="3658519" cy="1297164"/>
          </a:xfrm>
        </p:grpSpPr>
        <p:pic>
          <p:nvPicPr>
            <p:cNvPr id="13322" name="Grafik 10" descr="UM.png"/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699167" y="1643050"/>
              <a:ext cx="1801131" cy="9670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3323" name="Grafik 11" descr="UMarrow.png"/>
            <p:cNvPicPr>
              <a:picLocks noChangeAspect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2571736" y="2071678"/>
              <a:ext cx="1785950" cy="8685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3317" name="Rechteck 19"/>
          <p:cNvSpPr>
            <a:spLocks noChangeArrowheads="1"/>
          </p:cNvSpPr>
          <p:nvPr/>
        </p:nvSpPr>
        <p:spPr bwMode="auto">
          <a:xfrm>
            <a:off x="4286250" y="1428750"/>
            <a:ext cx="45720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dirty="0">
                <a:solidFill>
                  <a:srgbClr val="003366"/>
                </a:solidFill>
                <a:latin typeface="Calibri" pitchFamily="34" charset="0"/>
              </a:rPr>
              <a:t>Content-based: "Show me more of the same what I've liked</a:t>
            </a:r>
            <a:r>
              <a:rPr lang="en-US" sz="2400" b="0" dirty="0" smtClean="0"/>
              <a:t>"</a:t>
            </a:r>
            <a:endParaRPr lang="en-US" sz="2400" b="0" dirty="0"/>
          </a:p>
        </p:txBody>
      </p:sp>
      <p:grpSp>
        <p:nvGrpSpPr>
          <p:cNvPr id="4" name="Gruppieren 23"/>
          <p:cNvGrpSpPr>
            <a:grpSpLocks/>
          </p:cNvGrpSpPr>
          <p:nvPr/>
        </p:nvGrpSpPr>
        <p:grpSpPr bwMode="auto">
          <a:xfrm>
            <a:off x="714375" y="3857625"/>
            <a:ext cx="3143250" cy="739775"/>
            <a:chOff x="714348" y="3857628"/>
            <a:chExt cx="3143272" cy="739014"/>
          </a:xfrm>
        </p:grpSpPr>
        <p:pic>
          <p:nvPicPr>
            <p:cNvPr id="13320" name="Grafik 21" descr="PM.png"/>
            <p:cNvPicPr>
              <a:picLocks noChangeAspect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714348" y="3857628"/>
              <a:ext cx="1785950" cy="7390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3321" name="Grafik 22" descr="PMarrow.png"/>
            <p:cNvPicPr>
              <a:picLocks noChangeAspect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 bwMode="auto">
            <a:xfrm>
              <a:off x="2714612" y="3929066"/>
              <a:ext cx="1143008" cy="2857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1314993318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the "content"?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genre is actually not part of the content of a book</a:t>
            </a:r>
          </a:p>
          <a:p>
            <a:r>
              <a:rPr lang="en-US" dirty="0" smtClean="0"/>
              <a:t>Most CB-recommendation methods originate from Information Retrieval (IR) field:</a:t>
            </a:r>
          </a:p>
          <a:p>
            <a:pPr lvl="1"/>
            <a:r>
              <a:rPr lang="en-US" dirty="0" smtClean="0"/>
              <a:t>The item descriptions are usually automatically extracted (important words)</a:t>
            </a:r>
          </a:p>
          <a:p>
            <a:pPr lvl="1"/>
            <a:r>
              <a:rPr lang="en-US" dirty="0"/>
              <a:t>Goal is to find and rank interesting text documents (news articles, web pages)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Here:</a:t>
            </a:r>
          </a:p>
          <a:p>
            <a:pPr lvl="1"/>
            <a:r>
              <a:rPr lang="en-US" dirty="0"/>
              <a:t>C</a:t>
            </a:r>
            <a:r>
              <a:rPr lang="en-US" dirty="0" smtClean="0"/>
              <a:t>lassical IR-based methods based on keywords</a:t>
            </a:r>
          </a:p>
          <a:p>
            <a:pPr lvl="1"/>
            <a:r>
              <a:rPr lang="en-US" dirty="0"/>
              <a:t>N</a:t>
            </a:r>
            <a:r>
              <a:rPr lang="en-US" dirty="0" smtClean="0"/>
              <a:t>o expert recommendation knowledge involved</a:t>
            </a:r>
          </a:p>
          <a:p>
            <a:pPr lvl="1"/>
            <a:r>
              <a:rPr lang="en-US" dirty="0"/>
              <a:t>U</a:t>
            </a:r>
            <a:r>
              <a:rPr lang="en-US" dirty="0" smtClean="0"/>
              <a:t>ser profile (preferences) are rather learned than explicitly elicited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8060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/>
        </p:nvSpPr>
        <p:spPr bwMode="auto">
          <a:xfrm>
            <a:off x="285720" y="935619"/>
            <a:ext cx="8429684" cy="428628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92673"/>
            <a:ext cx="8229600" cy="1143000"/>
          </a:xfrm>
        </p:spPr>
        <p:txBody>
          <a:bodyPr/>
          <a:lstStyle/>
          <a:p>
            <a:r>
              <a:rPr lang="en-US" dirty="0" smtClean="0"/>
              <a:t>Content representation and item similarities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420865"/>
                <a:ext cx="8229600" cy="4525963"/>
              </a:xfrm>
            </p:spPr>
            <p:txBody>
              <a:bodyPr/>
              <a:lstStyle/>
              <a:p>
                <a:endParaRPr lang="en-US" dirty="0" smtClean="0"/>
              </a:p>
              <a:p>
                <a:endParaRPr lang="en-US" dirty="0" smtClean="0"/>
              </a:p>
              <a:p>
                <a:endParaRPr lang="en-US" dirty="0" smtClean="0"/>
              </a:p>
              <a:p>
                <a:endParaRPr lang="en-US" dirty="0" smtClean="0"/>
              </a:p>
              <a:p>
                <a:endParaRPr lang="en-US" dirty="0" smtClean="0"/>
              </a:p>
              <a:p>
                <a:endParaRPr lang="en-US" dirty="0" smtClean="0"/>
              </a:p>
              <a:p>
                <a:r>
                  <a:rPr lang="en-US" dirty="0" smtClean="0"/>
                  <a:t>Simple approach</a:t>
                </a:r>
              </a:p>
              <a:p>
                <a:pPr lvl="1"/>
                <a:r>
                  <a:rPr lang="en-US" dirty="0" smtClean="0"/>
                  <a:t>Compute the similarity of an unseen item with the user profile based on the keyword overlap (e.g. using the Dice coefficient)</a:t>
                </a:r>
              </a:p>
              <a:p>
                <a:pPr lvl="1"/>
                <a:r>
                  <a:rPr lang="en-US" dirty="0" err="1" smtClean="0"/>
                  <a:t>sim</a:t>
                </a:r>
                <a:r>
                  <a:rPr lang="en-US" dirty="0" smtClean="0"/>
                  <a:t>(b</a:t>
                </a:r>
                <a:r>
                  <a:rPr lang="en-US" baseline="-25000" dirty="0" smtClean="0"/>
                  <a:t>i</a:t>
                </a:r>
                <a:r>
                  <a:rPr lang="en-US" dirty="0" smtClean="0"/>
                  <a:t>, </a:t>
                </a:r>
                <a:r>
                  <a:rPr lang="en-US" dirty="0" err="1" smtClean="0"/>
                  <a:t>b</a:t>
                </a:r>
                <a:r>
                  <a:rPr lang="en-US" baseline="-25000" dirty="0" err="1" smtClean="0"/>
                  <a:t>j</a:t>
                </a:r>
                <a:r>
                  <a:rPr lang="en-US" dirty="0" smtClean="0"/>
                  <a:t>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b="0" i="1" smtClean="0">
                            <a:latin typeface="Cambria Math"/>
                          </a:rPr>
                          <m:t>2 ∗|</m:t>
                        </m:r>
                        <m:r>
                          <a:rPr lang="de-DE" b="0" i="1" smtClean="0">
                            <a:latin typeface="Cambria Math"/>
                          </a:rPr>
                          <m:t>𝑘𝑒𝑦𝑤𝑜𝑟𝑑𝑠</m:t>
                        </m:r>
                        <m:d>
                          <m:d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b="0" i="1" smtClean="0">
                                <a:latin typeface="Cambria Math"/>
                              </a:rPr>
                              <m:t>𝑏</m:t>
                            </m:r>
                            <m:r>
                              <a:rPr lang="de-DE" b="0" i="1" baseline="-25000" smtClean="0">
                                <a:latin typeface="Cambria Math"/>
                              </a:rPr>
                              <m:t>𝑖</m:t>
                            </m:r>
                          </m:e>
                        </m:d>
                        <m:r>
                          <a:rPr lang="de-DE" b="0" i="1" smtClean="0">
                            <a:latin typeface="Cambria Math"/>
                            <a:ea typeface="Cambria Math"/>
                          </a:rPr>
                          <m:t>∩</m:t>
                        </m:r>
                        <m:r>
                          <a:rPr lang="de-DE" b="0" i="1" smtClean="0">
                            <a:latin typeface="Cambria Math"/>
                            <a:ea typeface="Cambria Math"/>
                          </a:rPr>
                          <m:t>𝑘𝑒𝑦𝑤𝑜𝑟𝑑𝑠</m:t>
                        </m:r>
                        <m:d>
                          <m:dPr>
                            <m:ctrlPr>
                              <a:rPr lang="de-DE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de-DE" b="0" i="1" smtClean="0">
                                <a:latin typeface="Cambria Math"/>
                                <a:ea typeface="Cambria Math"/>
                              </a:rPr>
                              <m:t>𝑏</m:t>
                            </m:r>
                            <m:r>
                              <a:rPr lang="de-DE" b="0" i="1" baseline="-25000" smtClean="0">
                                <a:latin typeface="Cambria Math"/>
                                <a:ea typeface="Cambria Math"/>
                              </a:rPr>
                              <m:t>𝑗</m:t>
                            </m:r>
                          </m:e>
                        </m:d>
                        <m:r>
                          <a:rPr lang="de-DE" b="0" i="1" smtClean="0">
                            <a:latin typeface="Cambria Math"/>
                            <a:ea typeface="Cambria Math"/>
                          </a:rPr>
                          <m:t>|</m:t>
                        </m:r>
                      </m:num>
                      <m:den>
                        <m:d>
                          <m:dPr>
                            <m:begChr m:val="|"/>
                            <m:endChr m:val="|"/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b="0" i="1" smtClean="0">
                                <a:latin typeface="Cambria Math"/>
                              </a:rPr>
                              <m:t>𝑘𝑒𝑦𝑤𝑜𝑟𝑑𝑠</m:t>
                            </m:r>
                            <m:d>
                              <m:dPr>
                                <m:ctrlPr>
                                  <a:rPr lang="de-DE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DE" b="0" i="1" smtClean="0">
                                    <a:latin typeface="Cambria Math"/>
                                  </a:rPr>
                                  <m:t>𝑏</m:t>
                                </m:r>
                                <m:r>
                                  <a:rPr lang="de-DE" b="0" i="1" baseline="-25000" smtClean="0">
                                    <a:latin typeface="Cambria Math"/>
                                  </a:rPr>
                                  <m:t>𝑖</m:t>
                                </m:r>
                              </m:e>
                            </m:d>
                          </m:e>
                        </m:d>
                        <m:r>
                          <a:rPr lang="de-DE" b="0" i="1" smtClean="0">
                            <a:latin typeface="Cambria Math"/>
                          </a:rPr>
                          <m:t>+|</m:t>
                        </m:r>
                        <m:r>
                          <a:rPr lang="de-DE" b="0" i="1" smtClean="0">
                            <a:latin typeface="Cambria Math"/>
                          </a:rPr>
                          <m:t>𝑘𝑒𝑦𝑤𝑜𝑟𝑑𝑠</m:t>
                        </m:r>
                        <m:d>
                          <m:dPr>
                            <m:ctrlPr>
                              <a:rPr lang="de-DE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DE" b="0" i="1" smtClean="0">
                                <a:latin typeface="Cambria Math"/>
                              </a:rPr>
                              <m:t>𝑏</m:t>
                            </m:r>
                            <m:r>
                              <a:rPr lang="de-DE" b="0" i="1" baseline="-25000" smtClean="0">
                                <a:latin typeface="Cambria Math"/>
                              </a:rPr>
                              <m:t>𝑗</m:t>
                            </m:r>
                          </m:e>
                        </m:d>
                        <m:r>
                          <a:rPr lang="de-DE" b="0" i="1" smtClean="0">
                            <a:latin typeface="Cambria Math"/>
                          </a:rPr>
                          <m:t>|</m:t>
                        </m:r>
                      </m:den>
                    </m:f>
                  </m:oMath>
                </a14:m>
                <a:r>
                  <a:rPr lang="en-US" dirty="0"/>
                  <a:t>	</a:t>
                </a:r>
                <a:r>
                  <a:rPr lang="en-US" dirty="0" smtClean="0"/>
                  <a:t>			</a:t>
                </a:r>
                <a:endParaRPr lang="en-US" dirty="0"/>
              </a:p>
            </p:txBody>
          </p:sp>
        </mc:Choice>
        <mc:Fallback xmlns="">
          <p:sp>
            <p:nvSpPr>
              <p:cNvPr id="3" name="Inhaltsplatzhalt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420865"/>
                <a:ext cx="8229600" cy="4525963"/>
              </a:xfrm>
              <a:blipFill rotWithShape="1">
                <a:blip r:embed="rId3"/>
                <a:stretch>
                  <a:fillRect l="-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928794" y="864181"/>
            <a:ext cx="4572032" cy="20828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000232" y="3078759"/>
            <a:ext cx="4429156" cy="10110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759152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Term-Frequency - Inverse Document Frequency (TF-IDF)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543956" cy="4525963"/>
          </a:xfrm>
        </p:spPr>
        <p:txBody>
          <a:bodyPr/>
          <a:lstStyle/>
          <a:p>
            <a:r>
              <a:rPr lang="en-US" dirty="0" smtClean="0"/>
              <a:t>Simple keyword representation has its problems </a:t>
            </a:r>
          </a:p>
          <a:p>
            <a:pPr lvl="1"/>
            <a:r>
              <a:rPr lang="en-US" dirty="0"/>
              <a:t>I</a:t>
            </a:r>
            <a:r>
              <a:rPr lang="en-US" dirty="0" smtClean="0"/>
              <a:t>n particular when automatically extracted because</a:t>
            </a:r>
          </a:p>
          <a:p>
            <a:pPr lvl="2"/>
            <a:r>
              <a:rPr lang="en-US" dirty="0"/>
              <a:t>N</a:t>
            </a:r>
            <a:r>
              <a:rPr lang="en-US" dirty="0" smtClean="0"/>
              <a:t>ot every word has similar importance</a:t>
            </a:r>
          </a:p>
          <a:p>
            <a:pPr lvl="2"/>
            <a:r>
              <a:rPr lang="en-US" dirty="0"/>
              <a:t>L</a:t>
            </a:r>
            <a:r>
              <a:rPr lang="en-US" dirty="0" smtClean="0"/>
              <a:t>onger documents have a higher chance to have an overlap with the user profile</a:t>
            </a:r>
          </a:p>
          <a:p>
            <a:r>
              <a:rPr lang="en-US" dirty="0" smtClean="0"/>
              <a:t>Standard measure: TF-IDF</a:t>
            </a:r>
          </a:p>
          <a:p>
            <a:pPr lvl="1"/>
            <a:r>
              <a:rPr lang="en-US" dirty="0" smtClean="0"/>
              <a:t>Encodes text documents as weighted term vector</a:t>
            </a:r>
          </a:p>
          <a:p>
            <a:pPr lvl="1"/>
            <a:r>
              <a:rPr lang="en-US" dirty="0" smtClean="0"/>
              <a:t>TF: Measures, how often a term appears (density in a document)</a:t>
            </a:r>
          </a:p>
          <a:p>
            <a:pPr lvl="2"/>
            <a:r>
              <a:rPr lang="en-US" dirty="0"/>
              <a:t>A</a:t>
            </a:r>
            <a:r>
              <a:rPr lang="en-US" dirty="0" smtClean="0"/>
              <a:t>ssuming that important terms appear more often</a:t>
            </a:r>
          </a:p>
          <a:p>
            <a:pPr lvl="2"/>
            <a:r>
              <a:rPr lang="en-US" dirty="0"/>
              <a:t>N</a:t>
            </a:r>
            <a:r>
              <a:rPr lang="en-US" dirty="0" smtClean="0"/>
              <a:t>ormalization has to be done in order to take document length into account</a:t>
            </a:r>
          </a:p>
          <a:p>
            <a:pPr lvl="1"/>
            <a:r>
              <a:rPr lang="en-US" dirty="0" smtClean="0"/>
              <a:t>IDF: Aims to reduce the weight of terms that appear in all documents</a:t>
            </a:r>
          </a:p>
        </p:txBody>
      </p:sp>
    </p:spTree>
    <p:extLst>
      <p:ext uri="{BB962C8B-B14F-4D97-AF65-F5344CB8AC3E}">
        <p14:creationId xmlns:p14="http://schemas.microsoft.com/office/powerpoint/2010/main" val="31885843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TF-IDF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/>
              <p:cNvSpPr>
                <a:spLocks noGrp="1"/>
              </p:cNvSpPr>
              <p:nvPr>
                <p:ph idx="1"/>
              </p:nvPr>
            </p:nvSpPr>
            <p:spPr>
              <a:xfrm>
                <a:off x="467544" y="1484784"/>
                <a:ext cx="8229600" cy="4525963"/>
              </a:xfrm>
            </p:spPr>
            <p:txBody>
              <a:bodyPr/>
              <a:lstStyle/>
              <a:p>
                <a:r>
                  <a:rPr lang="en-US" dirty="0" smtClean="0"/>
                  <a:t>Compute the overall importance of keywords</a:t>
                </a:r>
              </a:p>
              <a:p>
                <a:pPr lvl="1"/>
                <a:r>
                  <a:rPr lang="en-US" dirty="0" smtClean="0"/>
                  <a:t>Given </a:t>
                </a:r>
                <a:r>
                  <a:rPr lang="en-US" dirty="0"/>
                  <a:t>a keyword i and a document </a:t>
                </a:r>
                <a:r>
                  <a:rPr lang="en-US" dirty="0" smtClean="0"/>
                  <a:t>j</a:t>
                </a:r>
                <a:endParaRPr lang="en-US" dirty="0"/>
              </a:p>
              <a:p>
                <a:pPr lvl="1">
                  <a:buNone/>
                </a:pPr>
                <a:r>
                  <a:rPr lang="en-US" dirty="0"/>
                  <a:t>		</a:t>
                </a:r>
                <a:r>
                  <a:rPr lang="en-US" i="1" dirty="0">
                    <a:latin typeface="Cambria Math" pitchFamily="18" charset="0"/>
                    <a:ea typeface="Cambria Math" pitchFamily="18" charset="0"/>
                  </a:rPr>
                  <a:t>TF-IDF (</a:t>
                </a:r>
                <a:r>
                  <a:rPr lang="en-US" i="1" dirty="0" err="1">
                    <a:latin typeface="Cambria Math" pitchFamily="18" charset="0"/>
                    <a:ea typeface="Cambria Math" pitchFamily="18" charset="0"/>
                  </a:rPr>
                  <a:t>i,j</a:t>
                </a:r>
                <a:r>
                  <a:rPr lang="en-US" i="1" dirty="0">
                    <a:latin typeface="Cambria Math" pitchFamily="18" charset="0"/>
                    <a:ea typeface="Cambria Math" pitchFamily="18" charset="0"/>
                  </a:rPr>
                  <a:t>) = TF(</a:t>
                </a:r>
                <a:r>
                  <a:rPr lang="en-US" i="1" dirty="0" err="1">
                    <a:latin typeface="Cambria Math" pitchFamily="18" charset="0"/>
                    <a:ea typeface="Cambria Math" pitchFamily="18" charset="0"/>
                  </a:rPr>
                  <a:t>i,j</a:t>
                </a:r>
                <a:r>
                  <a:rPr lang="en-US" i="1" dirty="0">
                    <a:latin typeface="Cambria Math" pitchFamily="18" charset="0"/>
                    <a:ea typeface="Cambria Math" pitchFamily="18" charset="0"/>
                  </a:rPr>
                  <a:t>) * IDF(i</a:t>
                </a:r>
                <a:r>
                  <a:rPr lang="en-US" i="1" dirty="0" smtClean="0">
                    <a:latin typeface="Cambria Math" pitchFamily="18" charset="0"/>
                    <a:ea typeface="Cambria Math" pitchFamily="18" charset="0"/>
                  </a:rPr>
                  <a:t>)</a:t>
                </a:r>
              </a:p>
              <a:p>
                <a:r>
                  <a:rPr lang="en-US" dirty="0" smtClean="0"/>
                  <a:t>Term frequency (TF)</a:t>
                </a:r>
              </a:p>
              <a:p>
                <a:pPr lvl="1"/>
                <a:r>
                  <a:rPr lang="en-US" dirty="0" smtClean="0"/>
                  <a:t>Let </a:t>
                </a:r>
                <a:r>
                  <a:rPr lang="en-US" sz="1600" i="1" dirty="0" err="1" smtClean="0">
                    <a:latin typeface="Cambria Math" pitchFamily="18" charset="0"/>
                    <a:ea typeface="Cambria Math" pitchFamily="18" charset="0"/>
                  </a:rPr>
                  <a:t>freq</a:t>
                </a:r>
                <a:r>
                  <a:rPr lang="en-US" sz="1600" i="1" dirty="0" smtClean="0">
                    <a:latin typeface="Cambria Math" pitchFamily="18" charset="0"/>
                    <a:ea typeface="Cambria Math" pitchFamily="18" charset="0"/>
                  </a:rPr>
                  <a:t>(</a:t>
                </a:r>
                <a:r>
                  <a:rPr lang="en-US" sz="1600" i="1" dirty="0" err="1" smtClean="0">
                    <a:latin typeface="Cambria Math" pitchFamily="18" charset="0"/>
                    <a:ea typeface="Cambria Math" pitchFamily="18" charset="0"/>
                  </a:rPr>
                  <a:t>i,j</a:t>
                </a:r>
                <a:r>
                  <a:rPr lang="en-US" sz="1600" i="1" dirty="0" smtClean="0">
                    <a:latin typeface="Cambria Math" pitchFamily="18" charset="0"/>
                    <a:ea typeface="Cambria Math" pitchFamily="18" charset="0"/>
                  </a:rPr>
                  <a:t>)</a:t>
                </a:r>
                <a:r>
                  <a:rPr lang="en-US" dirty="0" smtClean="0"/>
                  <a:t> number of occurrences of keyword </a:t>
                </a:r>
                <a:r>
                  <a:rPr lang="en-US" i="1" dirty="0" smtClean="0"/>
                  <a:t>i</a:t>
                </a:r>
                <a:r>
                  <a:rPr lang="en-US" dirty="0" smtClean="0"/>
                  <a:t> in document </a:t>
                </a:r>
                <a:r>
                  <a:rPr lang="en-US" i="1" dirty="0" smtClean="0"/>
                  <a:t>j</a:t>
                </a:r>
              </a:p>
              <a:p>
                <a:pPr lvl="1"/>
                <a:r>
                  <a:rPr lang="en-US" dirty="0" smtClean="0"/>
                  <a:t>Let </a:t>
                </a:r>
                <a:r>
                  <a:rPr lang="en-US" sz="1600" i="1" dirty="0" err="1" smtClean="0">
                    <a:latin typeface="Cambria Math" pitchFamily="18" charset="0"/>
                    <a:ea typeface="Cambria Math" pitchFamily="18" charset="0"/>
                  </a:rPr>
                  <a:t>maxOthers</a:t>
                </a:r>
                <a:r>
                  <a:rPr lang="en-US" sz="1600" i="1" dirty="0" smtClean="0">
                    <a:latin typeface="Cambria Math" pitchFamily="18" charset="0"/>
                    <a:ea typeface="Cambria Math" pitchFamily="18" charset="0"/>
                  </a:rPr>
                  <a:t>(</a:t>
                </a:r>
                <a:r>
                  <a:rPr lang="en-US" sz="1600" i="1" dirty="0" err="1" smtClean="0">
                    <a:latin typeface="Cambria Math" pitchFamily="18" charset="0"/>
                    <a:ea typeface="Cambria Math" pitchFamily="18" charset="0"/>
                  </a:rPr>
                  <a:t>i,j</a:t>
                </a:r>
                <a:r>
                  <a:rPr lang="en-US" sz="1600" i="1" dirty="0" smtClean="0">
                    <a:latin typeface="Cambria Math" pitchFamily="18" charset="0"/>
                    <a:ea typeface="Cambria Math" pitchFamily="18" charset="0"/>
                  </a:rPr>
                  <a:t>)</a:t>
                </a:r>
                <a:r>
                  <a:rPr lang="en-US" dirty="0" smtClean="0"/>
                  <a:t> denote the highest number of occurrences of another keyword of </a:t>
                </a:r>
                <a:r>
                  <a:rPr lang="en-US" i="1" dirty="0" smtClean="0"/>
                  <a:t>j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de-DE" b="0" i="1" smtClean="0">
                        <a:latin typeface="Cambria Math"/>
                      </a:rPr>
                      <m:t>𝑇𝐹</m:t>
                    </m:r>
                    <m:d>
                      <m:d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DE" b="0" i="1" smtClean="0">
                            <a:latin typeface="Cambria Math"/>
                          </a:rPr>
                          <m:t>𝑖</m:t>
                        </m:r>
                        <m:r>
                          <a:rPr lang="de-DE" b="0" i="1" smtClean="0">
                            <a:latin typeface="Cambria Math"/>
                          </a:rPr>
                          <m:t>,</m:t>
                        </m:r>
                        <m:r>
                          <a:rPr lang="de-DE" b="0" i="1" smtClean="0">
                            <a:latin typeface="Cambria Math"/>
                          </a:rPr>
                          <m:t>𝑗</m:t>
                        </m:r>
                      </m:e>
                    </m:d>
                    <m:r>
                      <a:rPr lang="de-DE" b="0" i="1" smtClean="0">
                        <a:latin typeface="Cambria Math"/>
                      </a:rPr>
                      <m:t>= </m:t>
                    </m:r>
                    <m:f>
                      <m:f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b="0" i="1" smtClean="0">
                            <a:latin typeface="Cambria Math"/>
                          </a:rPr>
                          <m:t>𝑓𝑟𝑒𝑞</m:t>
                        </m:r>
                        <m:r>
                          <a:rPr lang="de-DE" b="0" i="1" smtClean="0">
                            <a:latin typeface="Cambria Math"/>
                          </a:rPr>
                          <m:t>(</m:t>
                        </m:r>
                        <m:r>
                          <a:rPr lang="de-DE" b="0" i="1" smtClean="0">
                            <a:latin typeface="Cambria Math"/>
                          </a:rPr>
                          <m:t>𝑖</m:t>
                        </m:r>
                        <m:r>
                          <a:rPr lang="de-DE" b="0" i="1" smtClean="0">
                            <a:latin typeface="Cambria Math"/>
                          </a:rPr>
                          <m:t>,</m:t>
                        </m:r>
                        <m:r>
                          <a:rPr lang="de-DE" b="0" i="1" smtClean="0">
                            <a:latin typeface="Cambria Math"/>
                          </a:rPr>
                          <m:t>𝑗</m:t>
                        </m:r>
                        <m:r>
                          <a:rPr lang="de-DE" b="0" i="1" smtClean="0">
                            <a:latin typeface="Cambria Math"/>
                          </a:rPr>
                          <m:t>)</m:t>
                        </m:r>
                      </m:num>
                      <m:den>
                        <m:r>
                          <a:rPr lang="de-DE" b="0" i="1" smtClean="0">
                            <a:latin typeface="Cambria Math"/>
                          </a:rPr>
                          <m:t>𝑚𝑎𝑥𝑂𝑡h𝑒𝑟𝑠</m:t>
                        </m:r>
                        <m:r>
                          <a:rPr lang="de-DE" b="0" i="1" smtClean="0">
                            <a:latin typeface="Cambria Math"/>
                          </a:rPr>
                          <m:t>(</m:t>
                        </m:r>
                        <m:r>
                          <a:rPr lang="de-DE" b="0" i="1" smtClean="0">
                            <a:latin typeface="Cambria Math"/>
                          </a:rPr>
                          <m:t>𝑖</m:t>
                        </m:r>
                        <m:r>
                          <a:rPr lang="de-DE" b="0" i="1" smtClean="0">
                            <a:latin typeface="Cambria Math"/>
                          </a:rPr>
                          <m:t>,</m:t>
                        </m:r>
                        <m:r>
                          <a:rPr lang="de-DE" b="0" i="1" smtClean="0">
                            <a:latin typeface="Cambria Math"/>
                          </a:rPr>
                          <m:t>𝑗</m:t>
                        </m:r>
                        <m:r>
                          <a:rPr lang="de-DE" b="0" i="1" smtClean="0">
                            <a:latin typeface="Cambria Math"/>
                          </a:rPr>
                          <m:t>)</m:t>
                        </m:r>
                      </m:den>
                    </m:f>
                  </m:oMath>
                </a14:m>
                <a:endParaRPr lang="en-US" dirty="0" smtClean="0"/>
              </a:p>
              <a:p>
                <a:r>
                  <a:rPr lang="en-US" dirty="0" smtClean="0"/>
                  <a:t>Inverse Document Frequency (IDF)</a:t>
                </a:r>
              </a:p>
              <a:p>
                <a:pPr lvl="1"/>
                <a:r>
                  <a:rPr lang="en-US" dirty="0" smtClean="0"/>
                  <a:t>N: number of all recommendable documents</a:t>
                </a:r>
              </a:p>
              <a:p>
                <a:pPr lvl="1"/>
                <a:r>
                  <a:rPr lang="en-US" dirty="0" smtClean="0"/>
                  <a:t>n(i): number of documents in which keyword </a:t>
                </a:r>
                <a:r>
                  <a:rPr lang="en-US" i="1" dirty="0" smtClean="0"/>
                  <a:t>i</a:t>
                </a:r>
                <a:r>
                  <a:rPr lang="en-US" dirty="0" smtClean="0"/>
                  <a:t> appears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de-DE" b="0" i="1" smtClean="0">
                        <a:latin typeface="Cambria Math"/>
                      </a:rPr>
                      <m:t>𝐼𝐷𝐹</m:t>
                    </m:r>
                    <m:r>
                      <a:rPr lang="de-DE" b="0" i="1" smtClean="0">
                        <a:latin typeface="Cambria Math"/>
                      </a:rPr>
                      <m:t>(</m:t>
                    </m:r>
                    <m:r>
                      <a:rPr lang="de-DE" b="0" i="1" smtClean="0">
                        <a:latin typeface="Cambria Math"/>
                      </a:rPr>
                      <m:t>𝑖</m:t>
                    </m:r>
                    <m:r>
                      <a:rPr lang="de-DE" b="0" i="1" smtClean="0">
                        <a:latin typeface="Cambria Math"/>
                      </a:rPr>
                      <m:t>)=</m:t>
                    </m:r>
                    <m:r>
                      <a:rPr lang="de-DE" b="0" i="1" smtClean="0">
                        <a:latin typeface="Cambria Math"/>
                      </a:rPr>
                      <m:t>𝑙𝑜𝑔</m:t>
                    </m:r>
                    <m:f>
                      <m:fPr>
                        <m:ctrlPr>
                          <a:rPr lang="de-DE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DE" b="0" i="1" smtClean="0">
                            <a:latin typeface="Cambria Math"/>
                          </a:rPr>
                          <m:t>𝑁</m:t>
                        </m:r>
                      </m:num>
                      <m:den>
                        <m:r>
                          <a:rPr lang="de-DE" b="0" i="1" smtClean="0">
                            <a:latin typeface="Cambria Math"/>
                          </a:rPr>
                          <m:t>𝑛</m:t>
                        </m:r>
                        <m:r>
                          <a:rPr lang="de-DE" b="0" i="1" smtClean="0">
                            <a:latin typeface="Cambria Math"/>
                          </a:rPr>
                          <m:t>(</m:t>
                        </m:r>
                        <m:r>
                          <a:rPr lang="de-DE" b="0" i="1" smtClean="0">
                            <a:latin typeface="Cambria Math"/>
                          </a:rPr>
                          <m:t>𝑖</m:t>
                        </m:r>
                        <m:r>
                          <a:rPr lang="de-DE" b="0" i="1" smtClean="0">
                            <a:latin typeface="Cambria Math"/>
                          </a:rPr>
                          <m:t>)</m:t>
                        </m:r>
                      </m:den>
                    </m:f>
                  </m:oMath>
                </a14:m>
                <a:endParaRPr lang="en-US" dirty="0"/>
              </a:p>
              <a:p>
                <a:pPr lvl="1">
                  <a:buNone/>
                </a:pPr>
                <a:endParaRPr lang="en-US" dirty="0"/>
              </a:p>
              <a:p>
                <a:pPr lvl="1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Inhaltsplatzhalt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7544" y="1484784"/>
                <a:ext cx="8229600" cy="4525963"/>
              </a:xfrm>
              <a:blipFill rotWithShape="1">
                <a:blip r:embed="rId3"/>
                <a:stretch>
                  <a:fillRect l="-667" t="-674" b="-24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28513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TF-IDF representation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</p:txBody>
      </p:sp>
      <p:sp>
        <p:nvSpPr>
          <p:cNvPr id="5" name="Textfeld 4"/>
          <p:cNvSpPr txBox="1"/>
          <p:nvPr/>
        </p:nvSpPr>
        <p:spPr>
          <a:xfrm>
            <a:off x="571472" y="5857892"/>
            <a:ext cx="336502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0" dirty="0" smtClean="0"/>
              <a:t>Figure taken from http://informationretrieval.org</a:t>
            </a:r>
            <a:endParaRPr lang="en-US" sz="1000" b="0" dirty="0"/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1472" y="2000240"/>
            <a:ext cx="7386657" cy="2638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6075375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More on the vector space model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Vectors are usually long and sparse</a:t>
            </a:r>
          </a:p>
          <a:p>
            <a:r>
              <a:rPr lang="en-US" dirty="0" smtClean="0"/>
              <a:t>Improvements</a:t>
            </a:r>
          </a:p>
          <a:p>
            <a:pPr lvl="1"/>
            <a:r>
              <a:rPr lang="en-US" dirty="0"/>
              <a:t>R</a:t>
            </a:r>
            <a:r>
              <a:rPr lang="en-US" dirty="0" smtClean="0"/>
              <a:t>emove stop words ("a", "the", ..)</a:t>
            </a:r>
          </a:p>
          <a:p>
            <a:pPr lvl="1"/>
            <a:r>
              <a:rPr lang="en-US" dirty="0"/>
              <a:t>U</a:t>
            </a:r>
            <a:r>
              <a:rPr lang="en-US" dirty="0" smtClean="0"/>
              <a:t>se stemming </a:t>
            </a:r>
          </a:p>
          <a:p>
            <a:pPr lvl="1"/>
            <a:r>
              <a:rPr lang="en-US" dirty="0"/>
              <a:t>S</a:t>
            </a:r>
            <a:r>
              <a:rPr lang="en-US" dirty="0" smtClean="0"/>
              <a:t>ize cut-offs (only use top n most representative words, e.g. around 100) </a:t>
            </a:r>
          </a:p>
          <a:p>
            <a:pPr lvl="1"/>
            <a:r>
              <a:rPr lang="en-US" dirty="0"/>
              <a:t>U</a:t>
            </a:r>
            <a:r>
              <a:rPr lang="en-US" dirty="0" smtClean="0"/>
              <a:t>se additional knowledge, use more elaborate methods for feature selection</a:t>
            </a:r>
          </a:p>
          <a:p>
            <a:pPr lvl="1"/>
            <a:r>
              <a:rPr lang="en-US" dirty="0"/>
              <a:t>D</a:t>
            </a:r>
            <a:r>
              <a:rPr lang="en-US" dirty="0" smtClean="0"/>
              <a:t>etection of phrases as terms (such as United Nations)</a:t>
            </a:r>
          </a:p>
          <a:p>
            <a:r>
              <a:rPr lang="en-US" dirty="0" smtClean="0"/>
              <a:t>Limitations</a:t>
            </a:r>
          </a:p>
          <a:p>
            <a:pPr lvl="1"/>
            <a:r>
              <a:rPr lang="en-US" dirty="0"/>
              <a:t>S</a:t>
            </a:r>
            <a:r>
              <a:rPr lang="en-US" dirty="0" smtClean="0"/>
              <a:t>emantic meaning remains unknown</a:t>
            </a:r>
          </a:p>
          <a:p>
            <a:pPr lvl="1"/>
            <a:r>
              <a:rPr lang="en-US" dirty="0"/>
              <a:t>E</a:t>
            </a:r>
            <a:r>
              <a:rPr lang="en-US" dirty="0" smtClean="0"/>
              <a:t>xample: usage of a word in a negative context</a:t>
            </a:r>
          </a:p>
          <a:p>
            <a:pPr lvl="2"/>
            <a:r>
              <a:rPr lang="en-US" dirty="0" smtClean="0"/>
              <a:t>"there is </a:t>
            </a:r>
            <a:r>
              <a:rPr lang="en-US" b="1" dirty="0" smtClean="0"/>
              <a:t>nothing</a:t>
            </a:r>
            <a:r>
              <a:rPr lang="en-US" dirty="0" smtClean="0"/>
              <a:t> on the menu that a vegetarian would like.."</a:t>
            </a:r>
          </a:p>
          <a:p>
            <a:r>
              <a:rPr lang="en-US" dirty="0" smtClean="0"/>
              <a:t>Usual similarity metric to compare vectors: Cosine similarity (angle)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4684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Recommending items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Simple method: nearest neighbors</a:t>
            </a:r>
          </a:p>
          <a:p>
            <a:pPr lvl="1"/>
            <a:r>
              <a:rPr lang="en-US" dirty="0" smtClean="0"/>
              <a:t>Given a set of documents D already rated by the user (like/dislike)</a:t>
            </a:r>
          </a:p>
          <a:p>
            <a:pPr lvl="2"/>
            <a:r>
              <a:rPr lang="en-US" dirty="0" smtClean="0"/>
              <a:t>Find the n nearest neighbors of a not-yet-seen item </a:t>
            </a:r>
            <a:r>
              <a:rPr lang="en-US" i="1" dirty="0" smtClean="0"/>
              <a:t>i</a:t>
            </a:r>
            <a:r>
              <a:rPr lang="en-US" dirty="0" smtClean="0"/>
              <a:t> in D</a:t>
            </a:r>
          </a:p>
          <a:p>
            <a:pPr lvl="2"/>
            <a:r>
              <a:rPr lang="en-US" dirty="0" smtClean="0"/>
              <a:t>Take these ratings to predict a rating/vote for </a:t>
            </a:r>
            <a:r>
              <a:rPr lang="en-US" i="1" dirty="0" err="1" smtClean="0"/>
              <a:t>i</a:t>
            </a:r>
            <a:endParaRPr lang="en-US" i="1" dirty="0" smtClean="0"/>
          </a:p>
          <a:p>
            <a:pPr lvl="2"/>
            <a:r>
              <a:rPr lang="en-US" dirty="0" smtClean="0"/>
              <a:t>(Variations: neighborhood size, lower/upper similarity thresholds)</a:t>
            </a:r>
          </a:p>
          <a:p>
            <a:r>
              <a:rPr lang="en-US" dirty="0" smtClean="0"/>
              <a:t>Query-based retrieval: </a:t>
            </a:r>
            <a:r>
              <a:rPr lang="en-US" dirty="0" err="1" smtClean="0"/>
              <a:t>Rocchio's</a:t>
            </a:r>
            <a:r>
              <a:rPr lang="en-US" dirty="0" smtClean="0"/>
              <a:t> method</a:t>
            </a:r>
          </a:p>
          <a:p>
            <a:pPr lvl="1"/>
            <a:r>
              <a:rPr lang="en-US" dirty="0" smtClean="0"/>
              <a:t>The SMART System: Users are allowed to rate (relevant/irrelevant) retrieved documents (feedback)</a:t>
            </a:r>
          </a:p>
          <a:p>
            <a:pPr lvl="1"/>
            <a:r>
              <a:rPr lang="en-US" dirty="0" smtClean="0"/>
              <a:t>The system then learns a prototype of relevant/irrelevant documents</a:t>
            </a:r>
          </a:p>
          <a:p>
            <a:pPr lvl="1"/>
            <a:r>
              <a:rPr lang="en-US" dirty="0" smtClean="0"/>
              <a:t>Queries are then automatically extended with additional terms/weight of relevant documents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4736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Rocchio</a:t>
            </a:r>
            <a:r>
              <a:rPr lang="en-US" dirty="0" smtClean="0"/>
              <a:t> details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Document collections D</a:t>
            </a:r>
            <a:r>
              <a:rPr lang="en-US" baseline="30000" dirty="0" smtClean="0"/>
              <a:t>+</a:t>
            </a:r>
            <a:r>
              <a:rPr lang="en-US" dirty="0" smtClean="0"/>
              <a:t> and D</a:t>
            </a:r>
            <a:r>
              <a:rPr lang="en-US" baseline="30000" dirty="0" smtClean="0"/>
              <a:t>-</a:t>
            </a:r>
            <a:r>
              <a:rPr lang="en-US" dirty="0" smtClean="0"/>
              <a:t> </a:t>
            </a:r>
          </a:p>
          <a:p>
            <a:r>
              <a:rPr lang="en-US" dirty="0" smtClean="0">
                <a:sym typeface="Symbol"/>
              </a:rPr>
              <a:t>, ,  used to fine-tune </a:t>
            </a:r>
            <a:br>
              <a:rPr lang="en-US" dirty="0" smtClean="0">
                <a:sym typeface="Symbol"/>
              </a:rPr>
            </a:br>
            <a:r>
              <a:rPr lang="en-US" dirty="0" smtClean="0">
                <a:sym typeface="Symbol"/>
              </a:rPr>
              <a:t>the feedback </a:t>
            </a:r>
          </a:p>
          <a:p>
            <a:r>
              <a:rPr lang="en-US" dirty="0" smtClean="0">
                <a:sym typeface="Symbol"/>
              </a:rPr>
              <a:t>often only positive feedback </a:t>
            </a:r>
            <a:br>
              <a:rPr lang="en-US" dirty="0" smtClean="0">
                <a:sym typeface="Symbol"/>
              </a:rPr>
            </a:br>
            <a:r>
              <a:rPr lang="en-US" dirty="0" smtClean="0">
                <a:sym typeface="Symbol"/>
              </a:rPr>
              <a:t>is used</a:t>
            </a:r>
            <a:endParaRPr lang="en-US" dirty="0"/>
          </a:p>
        </p:txBody>
      </p:sp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86182" y="2000240"/>
            <a:ext cx="5244390" cy="9286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00100" y="3857628"/>
            <a:ext cx="5848350" cy="2343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6" name="Grafik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2295" y="1268760"/>
            <a:ext cx="1000124" cy="1000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146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Probabilistic methods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Recommendation as classical text classification problem</a:t>
            </a:r>
          </a:p>
          <a:p>
            <a:pPr lvl="1"/>
            <a:r>
              <a:rPr lang="en-US" dirty="0" smtClean="0"/>
              <a:t>Long history of using probabilistic methods</a:t>
            </a:r>
          </a:p>
          <a:p>
            <a:r>
              <a:rPr lang="en-US" dirty="0" smtClean="0"/>
              <a:t>Simple approach:</a:t>
            </a:r>
          </a:p>
          <a:p>
            <a:pPr lvl="2"/>
            <a:r>
              <a:rPr lang="en-US" dirty="0" smtClean="0"/>
              <a:t>2 classes: like/dislike </a:t>
            </a:r>
          </a:p>
          <a:p>
            <a:pPr lvl="2"/>
            <a:r>
              <a:rPr lang="en-US" dirty="0"/>
              <a:t>S</a:t>
            </a:r>
            <a:r>
              <a:rPr lang="en-US" dirty="0" smtClean="0"/>
              <a:t>imple Boolean document representation</a:t>
            </a:r>
          </a:p>
          <a:p>
            <a:pPr lvl="2"/>
            <a:r>
              <a:rPr lang="en-US" dirty="0"/>
              <a:t>C</a:t>
            </a:r>
            <a:r>
              <a:rPr lang="en-US" dirty="0" smtClean="0"/>
              <a:t>alculate probability that document is liked/disliked based on Bayes theorem</a:t>
            </a:r>
          </a:p>
          <a:p>
            <a:pPr lvl="1"/>
            <a:endParaRPr lang="en-US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4832" y="3786190"/>
            <a:ext cx="5067300" cy="1609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52474" y="5429264"/>
            <a:ext cx="5562600" cy="1266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Rechteck 3"/>
          <p:cNvSpPr/>
          <p:nvPr/>
        </p:nvSpPr>
        <p:spPr bwMode="auto">
          <a:xfrm>
            <a:off x="395536" y="5877272"/>
            <a:ext cx="648072" cy="81881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7" name="Textfeld 6"/>
          <p:cNvSpPr txBox="1"/>
          <p:nvPr/>
        </p:nvSpPr>
        <p:spPr>
          <a:xfrm>
            <a:off x="6012160" y="3861048"/>
            <a:ext cx="265970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0" dirty="0" smtClean="0">
                <a:latin typeface="Times New Roman" pitchFamily="18" charset="0"/>
                <a:cs typeface="Times New Roman" pitchFamily="18" charset="0"/>
              </a:rPr>
              <a:t>Remember:</a:t>
            </a:r>
          </a:p>
          <a:p>
            <a:r>
              <a:rPr lang="en-US" sz="1600" b="0" dirty="0" smtClean="0">
                <a:latin typeface="Times New Roman" pitchFamily="18" charset="0"/>
                <a:cs typeface="Times New Roman" pitchFamily="18" charset="0"/>
              </a:rPr>
              <a:t>P(Label=1|X)=</a:t>
            </a:r>
            <a:br>
              <a:rPr lang="en-US" sz="1600" b="0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1600" b="0" dirty="0" smtClean="0">
                <a:latin typeface="Times New Roman" pitchFamily="18" charset="0"/>
                <a:cs typeface="Times New Roman" pitchFamily="18" charset="0"/>
              </a:rPr>
              <a:t>k*P(</a:t>
            </a:r>
            <a:r>
              <a:rPr lang="en-US" sz="1600" b="0" dirty="0" err="1" smtClean="0">
                <a:latin typeface="Times New Roman" pitchFamily="18" charset="0"/>
                <a:cs typeface="Times New Roman" pitchFamily="18" charset="0"/>
              </a:rPr>
              <a:t>X|Label</a:t>
            </a:r>
            <a:r>
              <a:rPr lang="en-US" sz="1600" b="0" dirty="0" smtClean="0">
                <a:latin typeface="Times New Roman" pitchFamily="18" charset="0"/>
                <a:cs typeface="Times New Roman" pitchFamily="18" charset="0"/>
              </a:rPr>
              <a:t>=1) * P(Label=1)</a:t>
            </a:r>
            <a:endParaRPr lang="en-US" sz="1600" b="0" dirty="0">
              <a:latin typeface="Poplar Std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1959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Improvements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Side note: Conditional independence of events does in fact not hold</a:t>
            </a:r>
          </a:p>
          <a:p>
            <a:pPr lvl="1"/>
            <a:r>
              <a:rPr lang="en-US" dirty="0" smtClean="0"/>
              <a:t>“New”/ “York“ and “Hong” / “Kong"</a:t>
            </a:r>
          </a:p>
          <a:p>
            <a:pPr lvl="1"/>
            <a:r>
              <a:rPr lang="en-US" dirty="0" smtClean="0"/>
              <a:t>Still, good accuracy can be achieved</a:t>
            </a:r>
          </a:p>
          <a:p>
            <a:r>
              <a:rPr lang="en-US" dirty="0" smtClean="0"/>
              <a:t>Boolean representation simplistic	</a:t>
            </a:r>
          </a:p>
          <a:p>
            <a:pPr lvl="1"/>
            <a:r>
              <a:rPr lang="en-US" dirty="0" smtClean="0"/>
              <a:t>Keyword counts lost</a:t>
            </a:r>
          </a:p>
          <a:p>
            <a:r>
              <a:rPr lang="en-US" dirty="0" smtClean="0"/>
              <a:t>More elaborate probabilistic methods</a:t>
            </a:r>
          </a:p>
          <a:p>
            <a:pPr lvl="1"/>
            <a:r>
              <a:rPr lang="en-US" dirty="0"/>
              <a:t>E</a:t>
            </a:r>
            <a:r>
              <a:rPr lang="en-US" dirty="0" smtClean="0"/>
              <a:t>.g. estimate probability of term </a:t>
            </a:r>
            <a:r>
              <a:rPr lang="en-US" b="1" dirty="0" smtClean="0">
                <a:solidFill>
                  <a:srgbClr val="0070C0"/>
                </a:solidFill>
              </a:rPr>
              <a:t>v</a:t>
            </a:r>
            <a:r>
              <a:rPr lang="en-US" dirty="0" smtClean="0"/>
              <a:t> occurring in a document of class </a:t>
            </a:r>
            <a:r>
              <a:rPr lang="en-US" b="1" dirty="0" smtClean="0">
                <a:solidFill>
                  <a:srgbClr val="0070C0"/>
                </a:solidFill>
              </a:rPr>
              <a:t>C</a:t>
            </a:r>
            <a:r>
              <a:rPr lang="en-US" dirty="0" smtClean="0"/>
              <a:t> by relative frequency of </a:t>
            </a:r>
            <a:r>
              <a:rPr lang="en-US" b="1" dirty="0" smtClean="0">
                <a:solidFill>
                  <a:srgbClr val="0070C0"/>
                </a:solidFill>
              </a:rPr>
              <a:t>v</a:t>
            </a:r>
            <a:r>
              <a:rPr lang="en-US" dirty="0" smtClean="0"/>
              <a:t> in all documents of the class</a:t>
            </a:r>
          </a:p>
          <a:p>
            <a:r>
              <a:rPr lang="en-US" dirty="0" smtClean="0"/>
              <a:t>Other linear classification algorithms (machine learning) can be used</a:t>
            </a:r>
          </a:p>
          <a:p>
            <a:pPr lvl="1"/>
            <a:r>
              <a:rPr lang="en-US" dirty="0" smtClean="0"/>
              <a:t>Support Vector Machines, ..</a:t>
            </a:r>
          </a:p>
          <a:p>
            <a:pPr lvl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593556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Limitations of content-based recommendation methods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Keywords alone may not be sufficient to judge quality/relevance of a document or web page</a:t>
            </a:r>
          </a:p>
          <a:p>
            <a:pPr lvl="2"/>
            <a:r>
              <a:rPr lang="en-US" dirty="0"/>
              <a:t>U</a:t>
            </a:r>
            <a:r>
              <a:rPr lang="en-US" dirty="0" smtClean="0"/>
              <a:t>p-to-</a:t>
            </a:r>
            <a:r>
              <a:rPr lang="en-US" dirty="0" err="1" smtClean="0"/>
              <a:t>dateness</a:t>
            </a:r>
            <a:r>
              <a:rPr lang="en-US" dirty="0" smtClean="0"/>
              <a:t>, usability, aesthetics, writing style</a:t>
            </a:r>
          </a:p>
          <a:p>
            <a:pPr lvl="2"/>
            <a:r>
              <a:rPr lang="en-US" dirty="0"/>
              <a:t>C</a:t>
            </a:r>
            <a:r>
              <a:rPr lang="en-US" dirty="0" smtClean="0"/>
              <a:t>ontent may also be limited / too short</a:t>
            </a:r>
          </a:p>
          <a:p>
            <a:pPr lvl="2"/>
            <a:r>
              <a:rPr lang="en-US" dirty="0"/>
              <a:t>C</a:t>
            </a:r>
            <a:r>
              <a:rPr lang="en-US" dirty="0" smtClean="0"/>
              <a:t>ontent may not be automatically extractable (multimedia)</a:t>
            </a:r>
          </a:p>
          <a:p>
            <a:r>
              <a:rPr lang="en-US" dirty="0" smtClean="0"/>
              <a:t>Ramp-up phase required</a:t>
            </a:r>
          </a:p>
          <a:p>
            <a:pPr lvl="2"/>
            <a:r>
              <a:rPr lang="en-US" dirty="0" smtClean="0"/>
              <a:t>Some training data is still required</a:t>
            </a:r>
          </a:p>
          <a:p>
            <a:pPr lvl="2"/>
            <a:r>
              <a:rPr lang="en-US" dirty="0" smtClean="0"/>
              <a:t>Web 2.0: Use other sources to learn the user preferences</a:t>
            </a:r>
          </a:p>
          <a:p>
            <a:r>
              <a:rPr lang="en-US" dirty="0" smtClean="0"/>
              <a:t>Overspecialization</a:t>
            </a:r>
          </a:p>
          <a:p>
            <a:pPr lvl="2"/>
            <a:r>
              <a:rPr lang="en-US" dirty="0" smtClean="0"/>
              <a:t>Algorithms tend to propose "more of the same"</a:t>
            </a:r>
          </a:p>
          <a:p>
            <a:pPr lvl="2"/>
            <a:r>
              <a:rPr lang="en-US" dirty="0" smtClean="0"/>
              <a:t>E.g. too similar news items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203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857224" y="2643182"/>
            <a:ext cx="7358114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/>
            <a:r>
              <a:rPr lang="en-US" sz="3600" dirty="0" smtClean="0">
                <a:ln>
                  <a:prstDash val="solid"/>
                </a:ln>
                <a:solidFill>
                  <a:srgbClr val="002060"/>
                </a:solidFill>
                <a:latin typeface="Calibri" pitchFamily="34" charset="0"/>
              </a:rPr>
              <a:t>Knowledge-Based Recommender Systems</a:t>
            </a:r>
            <a:endParaRPr lang="en-US" sz="3600" dirty="0">
              <a:ln>
                <a:prstDash val="solid"/>
              </a:ln>
              <a:solidFill>
                <a:srgbClr val="002060"/>
              </a:solidFill>
              <a:latin typeface="Calibri" pitchFamily="34" charset="0"/>
            </a:endParaRPr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5896" y="3933056"/>
            <a:ext cx="1872208" cy="1872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978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do we need knowledge-based </a:t>
            </a:r>
            <a:r>
              <a:rPr lang="en-US" dirty="0"/>
              <a:t>r</a:t>
            </a:r>
            <a:r>
              <a:rPr lang="en-US" dirty="0" smtClean="0"/>
              <a:t>ecommendation?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Products with low number of available ratings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Time span plays an important role</a:t>
            </a:r>
          </a:p>
          <a:p>
            <a:pPr lvl="1"/>
            <a:r>
              <a:rPr lang="en-US" dirty="0"/>
              <a:t>F</a:t>
            </a:r>
            <a:r>
              <a:rPr lang="en-US" dirty="0" smtClean="0"/>
              <a:t>ive-year-old ratings for computers</a:t>
            </a:r>
          </a:p>
          <a:p>
            <a:pPr lvl="1"/>
            <a:r>
              <a:rPr lang="en-US" dirty="0"/>
              <a:t>U</a:t>
            </a:r>
            <a:r>
              <a:rPr lang="en-US" dirty="0" smtClean="0"/>
              <a:t>ser lifestyle or family situation changes</a:t>
            </a:r>
          </a:p>
          <a:p>
            <a:r>
              <a:rPr lang="en-US" dirty="0" smtClean="0"/>
              <a:t>Customers want to define their requirements explicitly </a:t>
            </a:r>
          </a:p>
          <a:p>
            <a:pPr lvl="1"/>
            <a:r>
              <a:rPr lang="en-US" dirty="0" smtClean="0"/>
              <a:t>“The color of the car should be black"</a:t>
            </a:r>
          </a:p>
          <a:p>
            <a:pPr lvl="1"/>
            <a:endParaRPr lang="en-US" dirty="0" smtClean="0"/>
          </a:p>
        </p:txBody>
      </p:sp>
      <p:pic>
        <p:nvPicPr>
          <p:cNvPr id="13824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716016" y="2185402"/>
            <a:ext cx="2232248" cy="13876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8245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835696" y="2180862"/>
            <a:ext cx="2088232" cy="13921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09753658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Knowledge-based recommendation</a:t>
            </a:r>
          </a:p>
        </p:txBody>
      </p:sp>
      <p:grpSp>
        <p:nvGrpSpPr>
          <p:cNvPr id="2" name="Gruppieren 12"/>
          <p:cNvGrpSpPr>
            <a:grpSpLocks/>
          </p:cNvGrpSpPr>
          <p:nvPr/>
        </p:nvGrpSpPr>
        <p:grpSpPr bwMode="auto">
          <a:xfrm>
            <a:off x="4071938" y="3000375"/>
            <a:ext cx="4181475" cy="1547813"/>
            <a:chOff x="4786314" y="3071810"/>
            <a:chExt cx="4181496" cy="1547815"/>
          </a:xfrm>
        </p:grpSpPr>
        <p:pic>
          <p:nvPicPr>
            <p:cNvPr id="14351" name="Grafik 5" descr="Box.png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4786314" y="3214686"/>
              <a:ext cx="1643074" cy="13650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4352" name="Grafik 6" descr="Outputarrow.png"/>
            <p:cNvPicPr>
              <a:picLocks noChangeAspect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6215074" y="3500438"/>
              <a:ext cx="1129063" cy="2190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4353" name="Grafik 7" descr="Output.png"/>
            <p:cNvPicPr>
              <a:picLocks noChangeAspect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7358082" y="3071810"/>
              <a:ext cx="1609728" cy="15478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3" name="Gruppieren 13"/>
          <p:cNvGrpSpPr>
            <a:grpSpLocks/>
          </p:cNvGrpSpPr>
          <p:nvPr/>
        </p:nvGrpSpPr>
        <p:grpSpPr bwMode="auto">
          <a:xfrm>
            <a:off x="698500" y="1643063"/>
            <a:ext cx="3659188" cy="1296987"/>
            <a:chOff x="699167" y="1643050"/>
            <a:chExt cx="3658519" cy="1297164"/>
          </a:xfrm>
        </p:grpSpPr>
        <p:pic>
          <p:nvPicPr>
            <p:cNvPr id="14349" name="Grafik 10" descr="UM.png"/>
            <p:cNvPicPr>
              <a:picLocks noChangeAspect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699167" y="1643050"/>
              <a:ext cx="1801131" cy="9670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4350" name="Grafik 11" descr="UMarrow.png"/>
            <p:cNvPicPr>
              <a:picLocks noChangeAspect="1"/>
            </p:cNvPicPr>
            <p:nvPr/>
          </p:nvPicPr>
          <p:blipFill>
            <a:blip r:embed="rId7"/>
            <a:srcRect/>
            <a:stretch>
              <a:fillRect/>
            </a:stretch>
          </p:blipFill>
          <p:spPr bwMode="auto">
            <a:xfrm>
              <a:off x="2571736" y="2071678"/>
              <a:ext cx="1785950" cy="8685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grpSp>
        <p:nvGrpSpPr>
          <p:cNvPr id="4" name="Gruppieren 23"/>
          <p:cNvGrpSpPr>
            <a:grpSpLocks/>
          </p:cNvGrpSpPr>
          <p:nvPr/>
        </p:nvGrpSpPr>
        <p:grpSpPr bwMode="auto">
          <a:xfrm>
            <a:off x="714375" y="3857625"/>
            <a:ext cx="3143250" cy="739775"/>
            <a:chOff x="714348" y="3857628"/>
            <a:chExt cx="3143272" cy="739014"/>
          </a:xfrm>
        </p:grpSpPr>
        <p:pic>
          <p:nvPicPr>
            <p:cNvPr id="14347" name="Grafik 21" descr="PM.png"/>
            <p:cNvPicPr>
              <a:picLocks noChangeAspect="1"/>
            </p:cNvPicPr>
            <p:nvPr/>
          </p:nvPicPr>
          <p:blipFill>
            <a:blip r:embed="rId8"/>
            <a:srcRect/>
            <a:stretch>
              <a:fillRect/>
            </a:stretch>
          </p:blipFill>
          <p:spPr bwMode="auto">
            <a:xfrm>
              <a:off x="714348" y="3857628"/>
              <a:ext cx="1785950" cy="7390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4348" name="Grafik 22" descr="PMarrow.png"/>
            <p:cNvPicPr>
              <a:picLocks noChangeAspect="1"/>
            </p:cNvPicPr>
            <p:nvPr/>
          </p:nvPicPr>
          <p:blipFill>
            <a:blip r:embed="rId9"/>
            <a:srcRect/>
            <a:stretch>
              <a:fillRect/>
            </a:stretch>
          </p:blipFill>
          <p:spPr bwMode="auto">
            <a:xfrm>
              <a:off x="2714612" y="3929066"/>
              <a:ext cx="1143008" cy="2857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4342" name="Rechteck 24"/>
          <p:cNvSpPr>
            <a:spLocks noChangeArrowheads="1"/>
          </p:cNvSpPr>
          <p:nvPr/>
        </p:nvSpPr>
        <p:spPr bwMode="auto">
          <a:xfrm>
            <a:off x="4429125" y="1643063"/>
            <a:ext cx="45720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dirty="0">
                <a:solidFill>
                  <a:srgbClr val="003366"/>
                </a:solidFill>
                <a:latin typeface="Calibri" pitchFamily="34" charset="0"/>
              </a:rPr>
              <a:t>Knowledge-based: "Tell me what fits based on my needs"</a:t>
            </a:r>
          </a:p>
        </p:txBody>
      </p:sp>
      <p:grpSp>
        <p:nvGrpSpPr>
          <p:cNvPr id="5" name="Gruppieren 27"/>
          <p:cNvGrpSpPr>
            <a:grpSpLocks/>
          </p:cNvGrpSpPr>
          <p:nvPr/>
        </p:nvGrpSpPr>
        <p:grpSpPr bwMode="auto">
          <a:xfrm>
            <a:off x="750888" y="4500563"/>
            <a:ext cx="3349625" cy="1357312"/>
            <a:chOff x="751620" y="4500570"/>
            <a:chExt cx="3348404" cy="1357322"/>
          </a:xfrm>
        </p:grpSpPr>
        <p:pic>
          <p:nvPicPr>
            <p:cNvPr id="14345" name="Grafik 25" descr="KM.png"/>
            <p:cNvPicPr>
              <a:picLocks noChangeAspect="1"/>
            </p:cNvPicPr>
            <p:nvPr/>
          </p:nvPicPr>
          <p:blipFill>
            <a:blip r:embed="rId10"/>
            <a:srcRect/>
            <a:stretch>
              <a:fillRect/>
            </a:stretch>
          </p:blipFill>
          <p:spPr bwMode="auto">
            <a:xfrm>
              <a:off x="751620" y="5000636"/>
              <a:ext cx="1677240" cy="85725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4346" name="Grafik 26" descr="KMarrow.png"/>
            <p:cNvPicPr>
              <a:picLocks noChangeAspect="1"/>
            </p:cNvPicPr>
            <p:nvPr/>
          </p:nvPicPr>
          <p:blipFill>
            <a:blip r:embed="rId11"/>
            <a:srcRect/>
            <a:stretch>
              <a:fillRect/>
            </a:stretch>
          </p:blipFill>
          <p:spPr bwMode="auto">
            <a:xfrm>
              <a:off x="2428860" y="4500570"/>
              <a:ext cx="1671164" cy="10477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51416163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Knowledge-based </a:t>
            </a:r>
            <a:r>
              <a:rPr lang="en-US" dirty="0"/>
              <a:t>r</a:t>
            </a:r>
            <a:r>
              <a:rPr lang="en-US" dirty="0" smtClean="0"/>
              <a:t>ecommendation I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Explicit domain knowledge</a:t>
            </a:r>
          </a:p>
          <a:p>
            <a:pPr lvl="1"/>
            <a:r>
              <a:rPr lang="en-US" dirty="0" smtClean="0"/>
              <a:t>Sales knowledge elicitation </a:t>
            </a:r>
            <a:r>
              <a:rPr lang="en-US" dirty="0"/>
              <a:t>from domain experts</a:t>
            </a:r>
          </a:p>
          <a:p>
            <a:pPr lvl="1"/>
            <a:r>
              <a:rPr lang="en-US" dirty="0"/>
              <a:t>System mimics the behavior of experienced sales assistant</a:t>
            </a:r>
          </a:p>
          <a:p>
            <a:pPr lvl="1"/>
            <a:r>
              <a:rPr lang="en-US" dirty="0"/>
              <a:t>Best-practice sales interactions</a:t>
            </a:r>
          </a:p>
          <a:p>
            <a:pPr lvl="1"/>
            <a:r>
              <a:rPr lang="en-US" dirty="0"/>
              <a:t>Can guarantee “correct” recommendations (determinism) with respect to expert knowledge </a:t>
            </a:r>
            <a:endParaRPr lang="en-US" dirty="0" smtClean="0"/>
          </a:p>
          <a:p>
            <a:pPr lvl="1"/>
            <a:endParaRPr lang="en-US" dirty="0"/>
          </a:p>
          <a:p>
            <a:r>
              <a:rPr lang="en-US" dirty="0" smtClean="0"/>
              <a:t>Conversational interaction strategy</a:t>
            </a:r>
          </a:p>
          <a:p>
            <a:pPr lvl="1"/>
            <a:r>
              <a:rPr lang="en-US" dirty="0" smtClean="0"/>
              <a:t>Opposed to one-shot interaction</a:t>
            </a:r>
          </a:p>
          <a:p>
            <a:pPr lvl="1"/>
            <a:r>
              <a:rPr lang="en-US" dirty="0" smtClean="0"/>
              <a:t>Elicitation of user requirements</a:t>
            </a:r>
          </a:p>
          <a:p>
            <a:pPr lvl="1"/>
            <a:r>
              <a:rPr lang="en-US" dirty="0" smtClean="0"/>
              <a:t>Transfer of product knowledge (“educating users”)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9559287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Knowledge-Based Recommendation II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 smtClean="0"/>
              <a:t>Different views on “knowledge”</a:t>
            </a:r>
          </a:p>
          <a:p>
            <a:pPr marL="0" indent="0">
              <a:buNone/>
            </a:pPr>
            <a:endParaRPr lang="en-US" sz="1800" dirty="0" smtClean="0"/>
          </a:p>
          <a:p>
            <a:pPr lvl="1"/>
            <a:r>
              <a:rPr lang="en-US" sz="2000" dirty="0" smtClean="0"/>
              <a:t>Similarity functions</a:t>
            </a:r>
          </a:p>
          <a:p>
            <a:pPr lvl="2"/>
            <a:r>
              <a:rPr lang="en-US" sz="1800" dirty="0" smtClean="0"/>
              <a:t>Determine matching degree between query and item (case-based RS)</a:t>
            </a:r>
          </a:p>
          <a:p>
            <a:pPr lvl="2"/>
            <a:endParaRPr lang="en-US" sz="1800" dirty="0" smtClean="0"/>
          </a:p>
          <a:p>
            <a:pPr lvl="1"/>
            <a:r>
              <a:rPr lang="en-US" sz="2000" dirty="0" smtClean="0"/>
              <a:t>Utility-based RS</a:t>
            </a:r>
          </a:p>
          <a:p>
            <a:pPr lvl="2"/>
            <a:r>
              <a:rPr lang="en-US" sz="1800" dirty="0" smtClean="0"/>
              <a:t>E.g. MAUT – Multi-attribute utility theory</a:t>
            </a:r>
          </a:p>
          <a:p>
            <a:pPr lvl="2"/>
            <a:endParaRPr lang="en-US" sz="1800" dirty="0" smtClean="0"/>
          </a:p>
          <a:p>
            <a:pPr lvl="1"/>
            <a:r>
              <a:rPr lang="en-US" sz="2000" dirty="0" smtClean="0"/>
              <a:t>Logic-based knowledge descriptions </a:t>
            </a:r>
            <a:r>
              <a:rPr lang="en-US" sz="2000" dirty="0"/>
              <a:t>(from domain expert)</a:t>
            </a:r>
          </a:p>
          <a:p>
            <a:pPr lvl="2"/>
            <a:r>
              <a:rPr lang="en-US" sz="1800" dirty="0"/>
              <a:t>E.g. Hard and soft </a:t>
            </a:r>
            <a:r>
              <a:rPr lang="en-US" sz="1800" dirty="0" smtClean="0"/>
              <a:t>constraints</a:t>
            </a:r>
            <a:endParaRPr lang="en-US" sz="2000" dirty="0" smtClean="0"/>
          </a:p>
          <a:p>
            <a:pPr lvl="1"/>
            <a:endParaRPr lang="en-US" sz="1600" dirty="0" smtClean="0"/>
          </a:p>
        </p:txBody>
      </p:sp>
    </p:spTree>
    <p:extLst>
      <p:ext uri="{BB962C8B-B14F-4D97-AF65-F5344CB8AC3E}">
        <p14:creationId xmlns:p14="http://schemas.microsoft.com/office/powerpoint/2010/main" val="202340089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772400" cy="1143000"/>
          </a:xfrm>
        </p:spPr>
        <p:txBody>
          <a:bodyPr/>
          <a:lstStyle/>
          <a:p>
            <a:r>
              <a:rPr lang="en-US" dirty="0" smtClean="0"/>
              <a:t>Constraint-based recommendation I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83568" y="1700808"/>
            <a:ext cx="8460432" cy="4320480"/>
          </a:xfrm>
        </p:spPr>
        <p:txBody>
          <a:bodyPr/>
          <a:lstStyle/>
          <a:p>
            <a:r>
              <a:rPr lang="en-US" sz="2000" dirty="0" smtClean="0">
                <a:sym typeface="Wingdings" pitchFamily="2" charset="2"/>
              </a:rPr>
              <a:t>A knowledge-based RS formulated as constraint satisfaction problem</a:t>
            </a:r>
            <a:endParaRPr lang="en-US" sz="2000" dirty="0" smtClean="0"/>
          </a:p>
          <a:p>
            <a:endParaRPr lang="en-US" sz="2000" dirty="0" smtClean="0"/>
          </a:p>
          <a:p>
            <a:r>
              <a:rPr lang="en-US" sz="2000" dirty="0" smtClean="0"/>
              <a:t>Def. </a:t>
            </a:r>
          </a:p>
          <a:p>
            <a:pPr lvl="1"/>
            <a:r>
              <a:rPr lang="en-US" sz="1800" dirty="0" smtClean="0">
                <a:solidFill>
                  <a:srgbClr val="0070C0"/>
                </a:solidFill>
              </a:rPr>
              <a:t>X</a:t>
            </a:r>
            <a:r>
              <a:rPr lang="en-US" sz="1800" baseline="-25000" dirty="0" smtClean="0">
                <a:solidFill>
                  <a:srgbClr val="0070C0"/>
                </a:solidFill>
              </a:rPr>
              <a:t>I</a:t>
            </a:r>
            <a:r>
              <a:rPr lang="en-US" sz="1800" dirty="0" smtClean="0">
                <a:solidFill>
                  <a:srgbClr val="0070C0"/>
                </a:solidFill>
              </a:rPr>
              <a:t>, X</a:t>
            </a:r>
            <a:r>
              <a:rPr lang="en-US" sz="1800" baseline="-25000" dirty="0" smtClean="0">
                <a:solidFill>
                  <a:srgbClr val="0070C0"/>
                </a:solidFill>
              </a:rPr>
              <a:t>U</a:t>
            </a:r>
            <a:r>
              <a:rPr lang="en-US" sz="1800" dirty="0" smtClean="0">
                <a:solidFill>
                  <a:srgbClr val="0070C0"/>
                </a:solidFill>
              </a:rPr>
              <a:t>: </a:t>
            </a:r>
            <a:r>
              <a:rPr lang="en-US" sz="1800" dirty="0" smtClean="0"/>
              <a:t>Variables describing items and user model with domain </a:t>
            </a:r>
            <a:r>
              <a:rPr lang="en-US" dirty="0">
                <a:solidFill>
                  <a:srgbClr val="0070C0"/>
                </a:solidFill>
              </a:rPr>
              <a:t>D</a:t>
            </a: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dirty="0" smtClean="0"/>
              <a:t>(e.g. </a:t>
            </a:r>
            <a:r>
              <a:rPr lang="en-US" dirty="0" smtClean="0"/>
              <a:t>lower focal length, purpose)</a:t>
            </a:r>
            <a:endParaRPr lang="en-US" sz="1800" dirty="0" smtClean="0"/>
          </a:p>
          <a:p>
            <a:pPr lvl="1"/>
            <a:r>
              <a:rPr lang="en-US" sz="1800" dirty="0" smtClean="0">
                <a:solidFill>
                  <a:srgbClr val="0070C0"/>
                </a:solidFill>
              </a:rPr>
              <a:t>KB: </a:t>
            </a:r>
            <a:r>
              <a:rPr lang="en-US" sz="1800" dirty="0" smtClean="0"/>
              <a:t>Knowledge base </a:t>
            </a:r>
            <a:r>
              <a:rPr lang="en-US" dirty="0"/>
              <a:t> </a:t>
            </a:r>
            <a:r>
              <a:rPr lang="en-US" dirty="0" smtClean="0"/>
              <a:t>comprising constraints  and</a:t>
            </a:r>
            <a:r>
              <a:rPr lang="en-US" sz="1800" dirty="0" smtClean="0"/>
              <a:t> domain restrictions </a:t>
            </a:r>
            <a:br>
              <a:rPr lang="en-US" sz="1800" dirty="0" smtClean="0"/>
            </a:br>
            <a:r>
              <a:rPr lang="en-US" sz="1800" dirty="0" smtClean="0"/>
              <a:t>(e.g</a:t>
            </a:r>
            <a:r>
              <a:rPr lang="en-US" sz="1800" b="1" dirty="0" smtClean="0"/>
              <a:t>. </a:t>
            </a:r>
            <a:r>
              <a:rPr lang="en-US" sz="1800" b="1" dirty="0" smtClean="0">
                <a:solidFill>
                  <a:srgbClr val="0070C0"/>
                </a:solidFill>
              </a:rPr>
              <a:t>IF</a:t>
            </a:r>
            <a:r>
              <a:rPr lang="en-US" sz="1800" b="1" dirty="0" smtClean="0"/>
              <a:t> </a:t>
            </a:r>
            <a:r>
              <a:rPr lang="en-US" sz="1800" dirty="0" smtClean="0"/>
              <a:t>purpose=“</a:t>
            </a:r>
            <a:r>
              <a:rPr lang="en-US" sz="1800" i="1" dirty="0" smtClean="0"/>
              <a:t>on travel” </a:t>
            </a:r>
            <a:r>
              <a:rPr lang="en-US" sz="1800" b="1" dirty="0" smtClean="0">
                <a:solidFill>
                  <a:srgbClr val="0070C0"/>
                </a:solidFill>
              </a:rPr>
              <a:t>THEN</a:t>
            </a:r>
            <a:r>
              <a:rPr lang="en-US" sz="1800" b="1" dirty="0" smtClean="0"/>
              <a:t> </a:t>
            </a:r>
            <a:r>
              <a:rPr lang="en-US" sz="1800" dirty="0" smtClean="0"/>
              <a:t>lower focal length &lt; </a:t>
            </a:r>
            <a:r>
              <a:rPr lang="en-US" sz="1800" i="1" dirty="0" smtClean="0"/>
              <a:t>28mm</a:t>
            </a:r>
            <a:r>
              <a:rPr lang="en-US" sz="1800" dirty="0" smtClean="0"/>
              <a:t>)</a:t>
            </a:r>
          </a:p>
          <a:p>
            <a:pPr lvl="1"/>
            <a:r>
              <a:rPr lang="en-US" sz="1800" dirty="0" smtClean="0">
                <a:solidFill>
                  <a:srgbClr val="0070C0"/>
                </a:solidFill>
              </a:rPr>
              <a:t>SRS: </a:t>
            </a:r>
            <a:r>
              <a:rPr lang="en-US" sz="1800" dirty="0" smtClean="0"/>
              <a:t>Specific requirements of a user (e.g. purpose = “</a:t>
            </a:r>
            <a:r>
              <a:rPr lang="en-US" sz="1800" i="1" dirty="0" smtClean="0"/>
              <a:t>on travel”</a:t>
            </a:r>
            <a:r>
              <a:rPr lang="en-US" sz="1800" dirty="0" smtClean="0"/>
              <a:t>) </a:t>
            </a:r>
          </a:p>
          <a:p>
            <a:pPr lvl="1"/>
            <a:r>
              <a:rPr lang="en-US" sz="1800" dirty="0" smtClean="0">
                <a:solidFill>
                  <a:srgbClr val="0070C0"/>
                </a:solidFill>
              </a:rPr>
              <a:t>I: </a:t>
            </a:r>
            <a:r>
              <a:rPr lang="en-US" sz="1800" dirty="0" smtClean="0"/>
              <a:t>Product catalog (e.g. (id=1 </a:t>
            </a:r>
            <a:r>
              <a:rPr lang="en-US" sz="1800" dirty="0" smtClean="0">
                <a:latin typeface="Cambria Math"/>
                <a:ea typeface="Cambria Math"/>
                <a:cs typeface="Calibri"/>
              </a:rPr>
              <a:t>˄ </a:t>
            </a:r>
            <a:r>
              <a:rPr lang="en-US" dirty="0" err="1" smtClean="0"/>
              <a:t>lfl</a:t>
            </a:r>
            <a:r>
              <a:rPr lang="en-US" dirty="0" smtClean="0"/>
              <a:t> = </a:t>
            </a:r>
            <a:r>
              <a:rPr lang="en-US" i="1" dirty="0" smtClean="0"/>
              <a:t>28mm) </a:t>
            </a:r>
            <a:r>
              <a:rPr lang="en-US" sz="1800" dirty="0" smtClean="0">
                <a:latin typeface="Cambria Math"/>
                <a:ea typeface="Cambria Math"/>
                <a:cs typeface="Calibri"/>
              </a:rPr>
              <a:t>˅</a:t>
            </a:r>
            <a:r>
              <a:rPr lang="en-US" sz="1400" dirty="0"/>
              <a:t> </a:t>
            </a:r>
            <a:r>
              <a:rPr lang="en-US" dirty="0"/>
              <a:t>(</a:t>
            </a:r>
            <a:r>
              <a:rPr lang="en-US" dirty="0" smtClean="0"/>
              <a:t>id=2 </a:t>
            </a:r>
            <a:r>
              <a:rPr lang="en-US" dirty="0">
                <a:latin typeface="Cambria Math"/>
                <a:ea typeface="Cambria Math"/>
                <a:cs typeface="Calibri"/>
              </a:rPr>
              <a:t>˄ </a:t>
            </a:r>
            <a:r>
              <a:rPr lang="en-US" dirty="0" err="1" smtClean="0"/>
              <a:t>lfl</a:t>
            </a:r>
            <a:r>
              <a:rPr lang="en-US" dirty="0" smtClean="0"/>
              <a:t>= </a:t>
            </a:r>
            <a:r>
              <a:rPr lang="en-US" i="1" dirty="0" smtClean="0"/>
              <a:t>35mm</a:t>
            </a:r>
            <a:r>
              <a:rPr lang="en-US" dirty="0"/>
              <a:t>) </a:t>
            </a:r>
            <a:r>
              <a:rPr lang="en-US" dirty="0">
                <a:latin typeface="Cambria Math"/>
                <a:ea typeface="Cambria Math"/>
                <a:cs typeface="Calibri"/>
              </a:rPr>
              <a:t>˅ </a:t>
            </a:r>
            <a:r>
              <a:rPr lang="en-US" dirty="0" smtClean="0"/>
              <a:t>…)</a:t>
            </a:r>
          </a:p>
          <a:p>
            <a:r>
              <a:rPr lang="en-US" sz="2000" dirty="0" smtClean="0"/>
              <a:t>Solution: Assignment tuple      assigning values to all variables </a:t>
            </a:r>
            <a:r>
              <a:rPr lang="en-US" dirty="0"/>
              <a:t>X</a:t>
            </a:r>
            <a:r>
              <a:rPr lang="en-US" baseline="-25000" dirty="0"/>
              <a:t>I</a:t>
            </a:r>
            <a:endParaRPr lang="en-US" sz="2000" dirty="0" smtClean="0"/>
          </a:p>
          <a:p>
            <a:pPr>
              <a:buNone/>
            </a:pPr>
            <a:r>
              <a:rPr lang="en-US" sz="2000" dirty="0" smtClean="0"/>
              <a:t>  	                                                is </a:t>
            </a:r>
            <a:r>
              <a:rPr lang="en-US" sz="2000" dirty="0" err="1" smtClean="0"/>
              <a:t>satisfiable</a:t>
            </a:r>
            <a:r>
              <a:rPr lang="en-US" sz="2000" dirty="0" smtClean="0"/>
              <a:t>.</a:t>
            </a:r>
          </a:p>
        </p:txBody>
      </p:sp>
      <p:graphicFrame>
        <p:nvGraphicFramePr>
          <p:cNvPr id="4" name="Objek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597217"/>
              </p:ext>
            </p:extLst>
          </p:nvPr>
        </p:nvGraphicFramePr>
        <p:xfrm>
          <a:off x="1763689" y="2204864"/>
          <a:ext cx="4032448" cy="3600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1" name="Formel" r:id="rId4" imgW="2768400" imgH="279360" progId="Equation.3">
                  <p:embed/>
                </p:oleObj>
              </mc:Choice>
              <mc:Fallback>
                <p:oleObj name="Formel" r:id="rId4" imgW="2768400" imgH="2793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9" y="2204864"/>
                        <a:ext cx="4032448" cy="3600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k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2166773"/>
              </p:ext>
            </p:extLst>
          </p:nvPr>
        </p:nvGraphicFramePr>
        <p:xfrm>
          <a:off x="1218438" y="5403850"/>
          <a:ext cx="2564575" cy="38008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2" name="Formel" r:id="rId6" imgW="1371600" imgH="203040" progId="Equation.3">
                  <p:embed/>
                </p:oleObj>
              </mc:Choice>
              <mc:Fallback>
                <p:oleObj name="Formel" r:id="rId6" imgW="137160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8438" y="5403850"/>
                        <a:ext cx="2564575" cy="380082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k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2599799"/>
              </p:ext>
            </p:extLst>
          </p:nvPr>
        </p:nvGraphicFramePr>
        <p:xfrm>
          <a:off x="3995936" y="4962253"/>
          <a:ext cx="266540" cy="3176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43" name="Formel" r:id="rId8" imgW="152280" imgH="203040" progId="Equation.3">
                  <p:embed/>
                </p:oleObj>
              </mc:Choice>
              <mc:Fallback>
                <p:oleObj name="Formel" r:id="rId8" imgW="15228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936" y="4962253"/>
                        <a:ext cx="266540" cy="31762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0086738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Item ranking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363272" cy="4525963"/>
          </a:xfrm>
        </p:spPr>
        <p:txBody>
          <a:bodyPr/>
          <a:lstStyle/>
          <a:p>
            <a:r>
              <a:rPr lang="en-US" dirty="0" smtClean="0"/>
              <a:t>Multi-Attribute Utility Theory (MAUT)</a:t>
            </a:r>
          </a:p>
          <a:p>
            <a:pPr lvl="1"/>
            <a:r>
              <a:rPr lang="en-US" dirty="0"/>
              <a:t>E</a:t>
            </a:r>
            <a:r>
              <a:rPr lang="en-US" dirty="0" smtClean="0"/>
              <a:t>ach item is evaluated according to a predefined set of dimensions that provide an aggregated view on the basic item properties</a:t>
            </a:r>
          </a:p>
          <a:p>
            <a:r>
              <a:rPr lang="en-IE" dirty="0" smtClean="0"/>
              <a:t>E.g. </a:t>
            </a:r>
            <a:r>
              <a:rPr lang="en-IE" u="sng" dirty="0" smtClean="0"/>
              <a:t>quality</a:t>
            </a:r>
            <a:r>
              <a:rPr lang="en-IE" dirty="0" smtClean="0"/>
              <a:t> and </a:t>
            </a:r>
            <a:r>
              <a:rPr lang="en-IE" u="sng" dirty="0" smtClean="0"/>
              <a:t>economy</a:t>
            </a:r>
            <a:r>
              <a:rPr lang="en-IE" dirty="0" smtClean="0"/>
              <a:t> are dimensions in the domain of digital cameras</a:t>
            </a:r>
            <a:endParaRPr lang="en-US" dirty="0"/>
          </a:p>
        </p:txBody>
      </p:sp>
      <p:graphicFrame>
        <p:nvGraphicFramePr>
          <p:cNvPr id="5" name="Tabel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7957214"/>
              </p:ext>
            </p:extLst>
          </p:nvPr>
        </p:nvGraphicFramePr>
        <p:xfrm>
          <a:off x="1547663" y="3327948"/>
          <a:ext cx="6048673" cy="2650672"/>
        </p:xfrm>
        <a:graphic>
          <a:graphicData uri="http://schemas.openxmlformats.org/drawingml/2006/table">
            <a:tbl>
              <a:tblPr/>
              <a:tblGrid>
                <a:gridCol w="1861348"/>
                <a:gridCol w="1466709"/>
                <a:gridCol w="1446983"/>
                <a:gridCol w="1273633"/>
              </a:tblGrid>
              <a:tr h="25400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  <a:latin typeface="Calibri"/>
                          <a:ea typeface="SimSun"/>
                          <a:cs typeface="Times New Roman"/>
                        </a:rPr>
                        <a:t>id </a:t>
                      </a:r>
                      <a:endParaRPr lang="de-DE" sz="1800" dirty="0">
                        <a:solidFill>
                          <a:schemeClr val="bg1"/>
                        </a:solidFill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82355" marR="82355" marT="41178" marB="41178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solidFill>
                            <a:schemeClr val="bg1"/>
                          </a:solidFill>
                          <a:latin typeface="Calibri"/>
                          <a:ea typeface="SimSun"/>
                          <a:cs typeface="Times New Roman"/>
                        </a:rPr>
                        <a:t>value</a:t>
                      </a:r>
                      <a:endParaRPr lang="de-DE" sz="1800">
                        <a:solidFill>
                          <a:schemeClr val="bg1"/>
                        </a:solidFill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82355" marR="82355" marT="41178" marB="41178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>
                          <a:solidFill>
                            <a:schemeClr val="bg1"/>
                          </a:solidFill>
                          <a:latin typeface="Calibri"/>
                          <a:ea typeface="SimSun"/>
                          <a:cs typeface="Times New Roman"/>
                        </a:rPr>
                        <a:t>quality </a:t>
                      </a:r>
                      <a:endParaRPr lang="de-DE" sz="1800">
                        <a:solidFill>
                          <a:schemeClr val="bg1"/>
                        </a:solidFill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82355" marR="82355" marT="41178" marB="41178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dirty="0">
                          <a:solidFill>
                            <a:schemeClr val="bg1"/>
                          </a:solidFill>
                          <a:latin typeface="Calibri"/>
                          <a:ea typeface="SimSun"/>
                          <a:cs typeface="Times New Roman"/>
                        </a:rPr>
                        <a:t>economy</a:t>
                      </a:r>
                      <a:endParaRPr lang="de-DE" sz="1800" dirty="0">
                        <a:solidFill>
                          <a:schemeClr val="bg1"/>
                        </a:solidFill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82355" marR="82355" marT="41178" marB="41178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1844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de-DE" sz="1800" dirty="0">
                          <a:latin typeface="Calibri"/>
                          <a:ea typeface="SimSun"/>
                          <a:cs typeface="Times New Roman"/>
                        </a:rPr>
                        <a:t>price</a:t>
                      </a:r>
                    </a:p>
                  </a:txBody>
                  <a:tcPr marL="82355" marR="82355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Calibri"/>
                          <a:ea typeface="SimSun"/>
                          <a:cs typeface="Times New Roman"/>
                        </a:rPr>
                        <a:t>≤250</a:t>
                      </a:r>
                      <a:endParaRPr lang="de-DE" sz="1800" dirty="0">
                        <a:latin typeface="Calibri"/>
                        <a:ea typeface="SimSun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dirty="0">
                          <a:latin typeface="Calibri"/>
                          <a:ea typeface="SimSun"/>
                          <a:cs typeface="Times New Roman"/>
                        </a:rPr>
                        <a:t>&gt;250</a:t>
                      </a:r>
                      <a:endParaRPr lang="de-DE" sz="18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82355" marR="82355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Calibri"/>
                          <a:ea typeface="SimSun"/>
                          <a:cs typeface="Times New Roman"/>
                        </a:rPr>
                        <a:t>5</a:t>
                      </a:r>
                      <a:endParaRPr lang="de-DE" sz="1800" dirty="0">
                        <a:latin typeface="Calibri"/>
                        <a:ea typeface="SimSun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dirty="0">
                          <a:latin typeface="Calibri"/>
                          <a:ea typeface="SimSun"/>
                          <a:cs typeface="Times New Roman"/>
                        </a:rPr>
                        <a:t>10 </a:t>
                      </a:r>
                      <a:endParaRPr lang="de-DE" sz="18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82355" marR="82355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800" dirty="0">
                          <a:latin typeface="Calibri"/>
                          <a:ea typeface="SimSun"/>
                          <a:cs typeface="Times New Roman"/>
                        </a:rPr>
                        <a:t>10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de-DE" sz="1800" dirty="0">
                          <a:latin typeface="Calibri"/>
                          <a:ea typeface="SimSun"/>
                          <a:cs typeface="Times New Roman"/>
                        </a:rPr>
                        <a:t>5</a:t>
                      </a:r>
                    </a:p>
                  </a:txBody>
                  <a:tcPr marL="82355" marR="82355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</a:tr>
              <a:tr h="33825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dirty="0" err="1">
                          <a:latin typeface="Calibri"/>
                          <a:ea typeface="SimSun"/>
                          <a:cs typeface="Times New Roman"/>
                        </a:rPr>
                        <a:t>mpix</a:t>
                      </a:r>
                      <a:r>
                        <a:rPr lang="en-US" sz="1800" dirty="0">
                          <a:latin typeface="Calibri"/>
                          <a:ea typeface="SimSun"/>
                          <a:cs typeface="Times New Roman"/>
                        </a:rPr>
                        <a:t> </a:t>
                      </a:r>
                      <a:endParaRPr lang="de-DE" sz="18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82355" marR="82355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Calibri"/>
                          <a:ea typeface="SimSun"/>
                          <a:cs typeface="Times New Roman"/>
                        </a:rPr>
                        <a:t>≤8</a:t>
                      </a:r>
                      <a:endParaRPr lang="de-DE" sz="1800" dirty="0">
                        <a:latin typeface="Calibri"/>
                        <a:ea typeface="SimSun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dirty="0">
                          <a:latin typeface="Calibri"/>
                          <a:ea typeface="SimSun"/>
                          <a:cs typeface="Times New Roman"/>
                        </a:rPr>
                        <a:t>&gt;8</a:t>
                      </a:r>
                      <a:endParaRPr lang="de-DE" sz="18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82355" marR="82355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800" dirty="0">
                          <a:latin typeface="Calibri"/>
                          <a:ea typeface="SimSun"/>
                          <a:cs typeface="Times New Roman"/>
                        </a:rPr>
                        <a:t>4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de-DE" sz="1800" dirty="0">
                          <a:latin typeface="Calibri"/>
                          <a:ea typeface="SimSun"/>
                          <a:cs typeface="Times New Roman"/>
                        </a:rPr>
                        <a:t>10</a:t>
                      </a:r>
                    </a:p>
                  </a:txBody>
                  <a:tcPr marL="82355" marR="82355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800" dirty="0">
                          <a:latin typeface="Calibri"/>
                          <a:ea typeface="SimSun"/>
                          <a:cs typeface="Times New Roman"/>
                        </a:rPr>
                        <a:t>10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de-DE" sz="1800" dirty="0">
                          <a:latin typeface="Calibri"/>
                          <a:ea typeface="SimSun"/>
                          <a:cs typeface="Times New Roman"/>
                        </a:rPr>
                        <a:t>6</a:t>
                      </a:r>
                    </a:p>
                  </a:txBody>
                  <a:tcPr marL="82355" marR="82355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</a:tr>
              <a:tr h="35806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dirty="0">
                          <a:latin typeface="Calibri"/>
                          <a:ea typeface="SimSun"/>
                          <a:cs typeface="Times New Roman"/>
                        </a:rPr>
                        <a:t>opt-zoom </a:t>
                      </a:r>
                      <a:endParaRPr lang="de-DE" sz="18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82355" marR="82355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latin typeface="Calibri"/>
                          <a:ea typeface="SimSun"/>
                          <a:cs typeface="Times New Roman"/>
                        </a:rPr>
                        <a:t>≤9</a:t>
                      </a:r>
                      <a:endParaRPr lang="de-DE" sz="1800" dirty="0">
                        <a:latin typeface="Calibri"/>
                        <a:ea typeface="SimSun"/>
                        <a:cs typeface="Times New Roman"/>
                      </a:endParaRP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dirty="0">
                          <a:latin typeface="Calibri"/>
                          <a:ea typeface="SimSun"/>
                          <a:cs typeface="Times New Roman"/>
                        </a:rPr>
                        <a:t>&gt;9</a:t>
                      </a:r>
                      <a:endParaRPr lang="de-DE" sz="18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82355" marR="82355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800" dirty="0">
                          <a:latin typeface="Calibri"/>
                          <a:ea typeface="SimSun"/>
                          <a:cs typeface="Times New Roman"/>
                        </a:rPr>
                        <a:t>6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de-DE" sz="1800" dirty="0">
                          <a:latin typeface="Calibri"/>
                          <a:ea typeface="SimSun"/>
                          <a:cs typeface="Times New Roman"/>
                        </a:rPr>
                        <a:t>10</a:t>
                      </a:r>
                    </a:p>
                  </a:txBody>
                  <a:tcPr marL="82355" marR="82355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800" dirty="0">
                          <a:latin typeface="Calibri"/>
                          <a:ea typeface="SimSun"/>
                          <a:cs typeface="Times New Roman"/>
                        </a:rPr>
                        <a:t>9</a:t>
                      </a:r>
                    </a:p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de-DE" sz="1800" dirty="0">
                          <a:latin typeface="Calibri"/>
                          <a:ea typeface="SimSun"/>
                          <a:cs typeface="Times New Roman"/>
                        </a:rPr>
                        <a:t>6</a:t>
                      </a:r>
                    </a:p>
                  </a:txBody>
                  <a:tcPr marL="82355" marR="82355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</a:tr>
              <a:tr h="3600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800" dirty="0" smtClean="0">
                          <a:latin typeface="Calibri"/>
                          <a:ea typeface="SimSun"/>
                          <a:cs typeface="Times New Roman"/>
                        </a:rPr>
                        <a:t>...</a:t>
                      </a:r>
                      <a:endParaRPr lang="de-DE" sz="18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82355" marR="82355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AT" sz="1800" dirty="0" smtClean="0">
                          <a:latin typeface="Calibri"/>
                          <a:ea typeface="SimSun"/>
                          <a:cs typeface="Times New Roman"/>
                        </a:rPr>
                        <a:t>...</a:t>
                      </a:r>
                      <a:endParaRPr lang="de-DE" sz="18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82355" marR="82355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800" dirty="0" smtClean="0">
                          <a:latin typeface="Calibri"/>
                          <a:ea typeface="SimSun"/>
                          <a:cs typeface="Times New Roman"/>
                        </a:rPr>
                        <a:t>...</a:t>
                      </a:r>
                      <a:endParaRPr lang="de-DE" sz="18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82355" marR="82355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de-DE" sz="1800" dirty="0" smtClean="0">
                          <a:latin typeface="Calibri"/>
                          <a:ea typeface="SimSun"/>
                          <a:cs typeface="Times New Roman"/>
                        </a:rPr>
                        <a:t>...</a:t>
                      </a:r>
                      <a:endParaRPr lang="de-DE" sz="18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 marL="82355" marR="82355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4883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Customer-specific </a:t>
            </a:r>
            <a:r>
              <a:rPr lang="en-US" dirty="0"/>
              <a:t>i</a:t>
            </a:r>
            <a:r>
              <a:rPr lang="en-US" dirty="0" smtClean="0"/>
              <a:t>tem utilities with MAUT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268760"/>
            <a:ext cx="8363272" cy="4857403"/>
          </a:xfrm>
        </p:spPr>
        <p:txBody>
          <a:bodyPr/>
          <a:lstStyle/>
          <a:p>
            <a:r>
              <a:rPr lang="en-US" dirty="0" smtClean="0"/>
              <a:t>Customer interests:</a:t>
            </a:r>
          </a:p>
          <a:p>
            <a:endParaRPr lang="en-IE" i="1" dirty="0" smtClean="0"/>
          </a:p>
          <a:p>
            <a:pPr>
              <a:spcBef>
                <a:spcPts val="200"/>
              </a:spcBef>
            </a:pPr>
            <a:endParaRPr lang="en-IE" dirty="0" smtClean="0"/>
          </a:p>
          <a:p>
            <a:pPr>
              <a:spcBef>
                <a:spcPts val="200"/>
              </a:spcBef>
            </a:pPr>
            <a:r>
              <a:rPr lang="en-IE" dirty="0" smtClean="0"/>
              <a:t>Item utilities:</a:t>
            </a:r>
          </a:p>
          <a:p>
            <a:pPr>
              <a:spcBef>
                <a:spcPts val="200"/>
              </a:spcBef>
            </a:pPr>
            <a:endParaRPr lang="en-IE" dirty="0"/>
          </a:p>
          <a:p>
            <a:pPr>
              <a:spcBef>
                <a:spcPts val="200"/>
              </a:spcBef>
            </a:pPr>
            <a:endParaRPr lang="en-IE" dirty="0" smtClean="0"/>
          </a:p>
          <a:p>
            <a:pPr>
              <a:spcBef>
                <a:spcPts val="200"/>
              </a:spcBef>
            </a:pPr>
            <a:endParaRPr lang="en-IE" dirty="0"/>
          </a:p>
          <a:p>
            <a:pPr>
              <a:spcBef>
                <a:spcPts val="200"/>
              </a:spcBef>
            </a:pPr>
            <a:endParaRPr lang="en-IE" dirty="0" smtClean="0"/>
          </a:p>
          <a:p>
            <a:pPr>
              <a:spcBef>
                <a:spcPts val="200"/>
              </a:spcBef>
            </a:pPr>
            <a:endParaRPr lang="en-IE" dirty="0"/>
          </a:p>
          <a:p>
            <a:pPr>
              <a:spcBef>
                <a:spcPts val="200"/>
              </a:spcBef>
            </a:pPr>
            <a:endParaRPr lang="en-IE" dirty="0" smtClean="0"/>
          </a:p>
          <a:p>
            <a:pPr>
              <a:spcBef>
                <a:spcPts val="200"/>
              </a:spcBef>
            </a:pPr>
            <a:endParaRPr lang="en-IE" sz="1000" dirty="0" smtClean="0"/>
          </a:p>
          <a:p>
            <a:pPr>
              <a:spcBef>
                <a:spcPts val="200"/>
              </a:spcBef>
            </a:pPr>
            <a:endParaRPr lang="en-IE" sz="1000" dirty="0" smtClean="0"/>
          </a:p>
          <a:p>
            <a:pPr marL="0" indent="0">
              <a:spcBef>
                <a:spcPts val="200"/>
              </a:spcBef>
              <a:buNone/>
            </a:pPr>
            <a:r>
              <a:rPr lang="en-IE" dirty="0" smtClean="0"/>
              <a:t> </a:t>
            </a:r>
          </a:p>
          <a:p>
            <a:endParaRPr lang="en-IE" i="1" dirty="0" smtClean="0"/>
          </a:p>
          <a:p>
            <a:endParaRPr lang="en-IE" i="1" dirty="0" smtClean="0"/>
          </a:p>
        </p:txBody>
      </p:sp>
      <p:graphicFrame>
        <p:nvGraphicFramePr>
          <p:cNvPr id="7" name="Tabel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8768814"/>
              </p:ext>
            </p:extLst>
          </p:nvPr>
        </p:nvGraphicFramePr>
        <p:xfrm>
          <a:off x="3131840" y="1340768"/>
          <a:ext cx="3240360" cy="1115568"/>
        </p:xfrm>
        <a:graphic>
          <a:graphicData uri="http://schemas.openxmlformats.org/drawingml/2006/table">
            <a:tbl>
              <a:tblPr/>
              <a:tblGrid>
                <a:gridCol w="1361830"/>
                <a:gridCol w="881737"/>
                <a:gridCol w="996793"/>
              </a:tblGrid>
              <a:tr h="26289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/>
                          <a:ea typeface="SimSun"/>
                          <a:cs typeface="Times New Roman"/>
                        </a:rPr>
                        <a:t>c</a:t>
                      </a:r>
                      <a:r>
                        <a:rPr lang="en-US" sz="1600" b="1" dirty="0" smtClean="0">
                          <a:solidFill>
                            <a:schemeClr val="bg1"/>
                          </a:solidFill>
                          <a:latin typeface="Calibri"/>
                          <a:ea typeface="SimSun"/>
                          <a:cs typeface="Times New Roman"/>
                        </a:rPr>
                        <a:t>ustomer</a:t>
                      </a:r>
                      <a:endParaRPr lang="de-DE" sz="1600" b="1" dirty="0">
                        <a:solidFill>
                          <a:schemeClr val="bg1"/>
                        </a:solidFill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/>
                          <a:ea typeface="SimSun"/>
                          <a:cs typeface="Times New Roman"/>
                        </a:rPr>
                        <a:t>quality</a:t>
                      </a:r>
                      <a:endParaRPr lang="de-DE" sz="1600" b="1" dirty="0">
                        <a:solidFill>
                          <a:schemeClr val="bg1"/>
                        </a:solidFill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/>
                          <a:ea typeface="SimSun"/>
                          <a:cs typeface="Times New Roman"/>
                        </a:rPr>
                        <a:t>economy </a:t>
                      </a:r>
                      <a:endParaRPr lang="de-DE" sz="1600" b="1" dirty="0">
                        <a:solidFill>
                          <a:schemeClr val="bg1"/>
                        </a:solidFill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7305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de-DE" sz="1600" dirty="0">
                          <a:latin typeface="Calibri"/>
                          <a:ea typeface="SimSun"/>
                          <a:cs typeface="Times New Roman"/>
                        </a:rPr>
                        <a:t>Cu</a:t>
                      </a:r>
                      <a:r>
                        <a:rPr lang="de-DE" sz="1600" baseline="-25000" dirty="0">
                          <a:latin typeface="Calibri"/>
                          <a:ea typeface="SimSun"/>
                          <a:cs typeface="Times New Roman"/>
                        </a:rPr>
                        <a:t>1</a:t>
                      </a:r>
                      <a:endParaRPr lang="de-DE" sz="16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de-DE" sz="1600">
                          <a:latin typeface="Calibri"/>
                          <a:ea typeface="SimSun"/>
                          <a:cs typeface="Times New Roman"/>
                        </a:rPr>
                        <a:t>80%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de-DE" sz="1600">
                          <a:latin typeface="Calibri"/>
                          <a:ea typeface="SimSun"/>
                          <a:cs typeface="Times New Roman"/>
                        </a:rPr>
                        <a:t>20%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</a:tr>
              <a:tr h="27305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de-DE" sz="1600" dirty="0">
                          <a:latin typeface="Calibri"/>
                          <a:ea typeface="SimSun"/>
                          <a:cs typeface="Times New Roman"/>
                        </a:rPr>
                        <a:t>Cu</a:t>
                      </a:r>
                      <a:r>
                        <a:rPr lang="de-DE" sz="1600" baseline="-25000" dirty="0">
                          <a:latin typeface="Calibri"/>
                          <a:ea typeface="SimSun"/>
                          <a:cs typeface="Times New Roman"/>
                        </a:rPr>
                        <a:t>2</a:t>
                      </a:r>
                      <a:endParaRPr lang="de-DE" sz="1600" dirty="0"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de-DE" sz="1600" dirty="0">
                          <a:latin typeface="Calibri"/>
                          <a:ea typeface="SimSun"/>
                          <a:cs typeface="Times New Roman"/>
                        </a:rPr>
                        <a:t>40%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de-DE" sz="1600" dirty="0">
                          <a:latin typeface="Calibri"/>
                          <a:ea typeface="SimSun"/>
                          <a:cs typeface="Times New Roman"/>
                        </a:rPr>
                        <a:t>60%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</a:tr>
            </a:tbl>
          </a:graphicData>
        </a:graphic>
      </p:graphicFrame>
      <p:sp>
        <p:nvSpPr>
          <p:cNvPr id="1802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sp>
        <p:nvSpPr>
          <p:cNvPr id="180227" name="Rectangle 3"/>
          <p:cNvSpPr>
            <a:spLocks noChangeArrowheads="1"/>
          </p:cNvSpPr>
          <p:nvPr/>
        </p:nvSpPr>
        <p:spPr bwMode="auto">
          <a:xfrm>
            <a:off x="0" y="1000125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80234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graphicFrame>
        <p:nvGraphicFramePr>
          <p:cNvPr id="10" name="Tabel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9434995"/>
              </p:ext>
            </p:extLst>
          </p:nvPr>
        </p:nvGraphicFramePr>
        <p:xfrm>
          <a:off x="583696" y="2780928"/>
          <a:ext cx="7804728" cy="1880957"/>
        </p:xfrm>
        <a:graphic>
          <a:graphicData uri="http://schemas.openxmlformats.org/drawingml/2006/table">
            <a:tbl>
              <a:tblPr/>
              <a:tblGrid>
                <a:gridCol w="2699108"/>
                <a:gridCol w="2701492"/>
                <a:gridCol w="1184484"/>
                <a:gridCol w="1219644"/>
              </a:tblGrid>
              <a:tr h="39353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/>
                          <a:ea typeface="SimSun"/>
                          <a:cs typeface="Times New Roman"/>
                        </a:rPr>
                        <a:t>quality </a:t>
                      </a:r>
                      <a:endParaRPr lang="de-DE" sz="1600" b="1" dirty="0">
                        <a:solidFill>
                          <a:schemeClr val="bg1"/>
                        </a:solidFill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/>
                          <a:ea typeface="SimSun"/>
                          <a:cs typeface="Times New Roman"/>
                        </a:rPr>
                        <a:t>economy </a:t>
                      </a:r>
                      <a:endParaRPr lang="de-DE" sz="1600" b="1" dirty="0">
                        <a:solidFill>
                          <a:schemeClr val="bg1"/>
                        </a:solidFill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 b="1" dirty="0" smtClean="0">
                          <a:solidFill>
                            <a:schemeClr val="bg1"/>
                          </a:solidFill>
                          <a:latin typeface="Calibri"/>
                          <a:ea typeface="SimSun"/>
                          <a:cs typeface="Times New Roman"/>
                        </a:rPr>
                        <a:t>utility: cu</a:t>
                      </a:r>
                      <a:r>
                        <a:rPr lang="en-US" sz="1600" b="1" baseline="-25000" dirty="0" smtClean="0">
                          <a:solidFill>
                            <a:schemeClr val="bg1"/>
                          </a:solidFill>
                          <a:latin typeface="Calibri"/>
                          <a:ea typeface="SimSun"/>
                          <a:cs typeface="Times New Roman"/>
                        </a:rPr>
                        <a:t>1</a:t>
                      </a:r>
                      <a:r>
                        <a:rPr lang="en-US" sz="1600" dirty="0" smtClean="0">
                          <a:solidFill>
                            <a:schemeClr val="bg1"/>
                          </a:solidFill>
                          <a:latin typeface="Calibri"/>
                          <a:ea typeface="SimSun"/>
                          <a:cs typeface="Times New Roman"/>
                        </a:rPr>
                        <a:t> </a:t>
                      </a:r>
                      <a:endParaRPr lang="de-DE" sz="1600" dirty="0">
                        <a:solidFill>
                          <a:schemeClr val="bg1"/>
                        </a:solidFill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 b="1" dirty="0" smtClean="0">
                          <a:solidFill>
                            <a:schemeClr val="bg1"/>
                          </a:solidFill>
                          <a:latin typeface="Calibri"/>
                          <a:ea typeface="SimSun"/>
                          <a:cs typeface="Times New Roman"/>
                        </a:rPr>
                        <a:t>utility: cu</a:t>
                      </a:r>
                      <a:r>
                        <a:rPr lang="en-US" sz="1600" b="1" baseline="-25000" dirty="0" smtClean="0">
                          <a:solidFill>
                            <a:schemeClr val="bg1"/>
                          </a:solidFill>
                          <a:latin typeface="Calibri"/>
                          <a:ea typeface="SimSun"/>
                          <a:cs typeface="Times New Roman"/>
                        </a:rPr>
                        <a:t>2</a:t>
                      </a:r>
                      <a:endParaRPr lang="de-DE" sz="1600" b="1" dirty="0">
                        <a:solidFill>
                          <a:schemeClr val="bg1"/>
                        </a:solidFill>
                        <a:latin typeface="Calibri"/>
                        <a:ea typeface="SimSun"/>
                        <a:cs typeface="Times New Roman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34887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Times-Roman"/>
                          <a:ea typeface="SimSun"/>
                          <a:cs typeface="Times-Roman"/>
                        </a:rPr>
                        <a:t>P1 Σ(5,4,6,6,3,7,10) = 41</a:t>
                      </a:r>
                      <a:endParaRPr lang="de-DE" sz="1600" kern="1200" dirty="0">
                        <a:solidFill>
                          <a:schemeClr val="tx1"/>
                        </a:solidFill>
                        <a:latin typeface="Times-Roman"/>
                        <a:ea typeface="SimSun"/>
                        <a:cs typeface="Times-Roman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Times-Roman"/>
                          <a:ea typeface="SimSun"/>
                          <a:cs typeface="Times-Roman"/>
                        </a:rPr>
                        <a:t>Σ </a:t>
                      </a:r>
                      <a:r>
                        <a:rPr lang="de-DE" sz="1600" kern="1200" dirty="0">
                          <a:solidFill>
                            <a:schemeClr val="tx1"/>
                          </a:solidFill>
                          <a:latin typeface="Times-Roman"/>
                          <a:ea typeface="SimSun"/>
                          <a:cs typeface="Times-Roman"/>
                        </a:rPr>
                        <a:t>(10,10,9,10,10,10,6) = 65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de-DE" sz="1600" kern="1200" dirty="0">
                          <a:solidFill>
                            <a:schemeClr val="tx1"/>
                          </a:solidFill>
                          <a:latin typeface="Times-Roman"/>
                          <a:ea typeface="SimSun"/>
                          <a:cs typeface="Times-Roman"/>
                        </a:rPr>
                        <a:t>45.8 [8]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de-DE" sz="1600" kern="1200" dirty="0">
                          <a:solidFill>
                            <a:schemeClr val="tx1"/>
                          </a:solidFill>
                          <a:latin typeface="Times-Roman"/>
                          <a:ea typeface="SimSun"/>
                          <a:cs typeface="Times-Roman"/>
                        </a:rPr>
                        <a:t>55.4 [6]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</a:tr>
              <a:tr h="34887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de-DE" sz="1600" kern="1200" dirty="0">
                          <a:solidFill>
                            <a:schemeClr val="tx1"/>
                          </a:solidFill>
                          <a:latin typeface="Times-Roman"/>
                          <a:ea typeface="SimSun"/>
                          <a:cs typeface="Times-Roman"/>
                        </a:rPr>
                        <a:t>P2 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Times-Roman"/>
                          <a:ea typeface="SimSun"/>
                          <a:cs typeface="Times-Roman"/>
                        </a:rPr>
                        <a:t>Σ</a:t>
                      </a:r>
                      <a:r>
                        <a:rPr lang="de-DE" sz="1600" kern="1200" dirty="0">
                          <a:solidFill>
                            <a:schemeClr val="tx1"/>
                          </a:solidFill>
                          <a:latin typeface="Times-Roman"/>
                          <a:ea typeface="SimSun"/>
                          <a:cs typeface="Times-Roman"/>
                        </a:rPr>
                        <a:t>(5,4,6,6,10,10,8) = 49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Times-Roman"/>
                          <a:ea typeface="SimSun"/>
                          <a:cs typeface="Times-Roman"/>
                        </a:rPr>
                        <a:t>Σ </a:t>
                      </a:r>
                      <a:r>
                        <a:rPr lang="de-DE" sz="1600" kern="1200" dirty="0">
                          <a:solidFill>
                            <a:schemeClr val="tx1"/>
                          </a:solidFill>
                          <a:latin typeface="Times-Roman"/>
                          <a:ea typeface="SimSun"/>
                          <a:cs typeface="Times-Roman"/>
                        </a:rPr>
                        <a:t>(10,10,9,10,7,8,10) = 64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de-DE" sz="1600" kern="1200">
                          <a:solidFill>
                            <a:schemeClr val="tx1"/>
                          </a:solidFill>
                          <a:latin typeface="Times-Roman"/>
                          <a:ea typeface="SimSun"/>
                          <a:cs typeface="Times-Roman"/>
                        </a:rPr>
                        <a:t>52.0 [7]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de-DE" sz="1600" kern="1200" dirty="0">
                          <a:solidFill>
                            <a:schemeClr val="tx1"/>
                          </a:solidFill>
                          <a:latin typeface="Times-Roman"/>
                          <a:ea typeface="SimSun"/>
                          <a:cs typeface="Times-Roman"/>
                        </a:rPr>
                        <a:t>58.0 [1]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7E7"/>
                    </a:solidFill>
                  </a:tcPr>
                </a:tc>
              </a:tr>
              <a:tr h="34887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de-DE" sz="1600" kern="1200" dirty="0">
                          <a:solidFill>
                            <a:schemeClr val="tx1"/>
                          </a:solidFill>
                          <a:latin typeface="Times-Roman"/>
                          <a:ea typeface="SimSun"/>
                          <a:cs typeface="Times-Roman"/>
                        </a:rPr>
                        <a:t>P3 </a:t>
                      </a:r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Times-Roman"/>
                          <a:ea typeface="SimSun"/>
                          <a:cs typeface="Times-Roman"/>
                        </a:rPr>
                        <a:t>Σ</a:t>
                      </a:r>
                      <a:r>
                        <a:rPr lang="de-DE" sz="1600" kern="1200" dirty="0">
                          <a:solidFill>
                            <a:schemeClr val="tx1"/>
                          </a:solidFill>
                          <a:latin typeface="Times-Roman"/>
                          <a:ea typeface="SimSun"/>
                          <a:cs typeface="Times-Roman"/>
                        </a:rPr>
                        <a:t>(5,4,10,6,10,10,8) = 53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1600" kern="1200" dirty="0">
                          <a:solidFill>
                            <a:schemeClr val="tx1"/>
                          </a:solidFill>
                          <a:latin typeface="Times-Roman"/>
                          <a:ea typeface="SimSun"/>
                          <a:cs typeface="Times-Roman"/>
                        </a:rPr>
                        <a:t>Σ </a:t>
                      </a:r>
                      <a:r>
                        <a:rPr lang="de-DE" sz="1600" kern="1200" dirty="0">
                          <a:solidFill>
                            <a:schemeClr val="tx1"/>
                          </a:solidFill>
                          <a:latin typeface="Times-Roman"/>
                          <a:ea typeface="SimSun"/>
                          <a:cs typeface="Times-Roman"/>
                        </a:rPr>
                        <a:t>(10,10,6,10,7,8,10) = 61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de-DE" sz="1600" kern="1200" dirty="0">
                          <a:solidFill>
                            <a:schemeClr val="tx1"/>
                          </a:solidFill>
                          <a:latin typeface="Times-Roman"/>
                          <a:ea typeface="SimSun"/>
                          <a:cs typeface="Times-Roman"/>
                        </a:rPr>
                        <a:t>54.6 [5]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de-DE" sz="1600" kern="1200" dirty="0">
                          <a:solidFill>
                            <a:schemeClr val="tx1"/>
                          </a:solidFill>
                          <a:latin typeface="Times-Roman"/>
                          <a:ea typeface="SimSun"/>
                          <a:cs typeface="Times-Roman"/>
                        </a:rPr>
                        <a:t>57.8 [2]</a:t>
                      </a: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</a:tr>
              <a:tr h="34887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de-DE" sz="1600" kern="1200" dirty="0" smtClean="0">
                          <a:solidFill>
                            <a:schemeClr val="tx1"/>
                          </a:solidFill>
                          <a:latin typeface="Times-Roman"/>
                          <a:ea typeface="SimSun"/>
                          <a:cs typeface="Times-Roman"/>
                        </a:rPr>
                        <a:t>...</a:t>
                      </a:r>
                      <a:endParaRPr lang="de-DE" sz="1600" kern="1200" dirty="0">
                        <a:solidFill>
                          <a:schemeClr val="tx1"/>
                        </a:solidFill>
                        <a:latin typeface="Times-Roman"/>
                        <a:ea typeface="SimSun"/>
                        <a:cs typeface="Times-Roman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de-DE" sz="1600" kern="1200" dirty="0" smtClean="0">
                          <a:solidFill>
                            <a:schemeClr val="tx1"/>
                          </a:solidFill>
                          <a:latin typeface="Times-Roman"/>
                          <a:ea typeface="SimSun"/>
                          <a:cs typeface="Times-Roman"/>
                        </a:rPr>
                        <a:t>...</a:t>
                      </a:r>
                      <a:endParaRPr lang="de-DE" sz="1600" kern="1200" dirty="0">
                        <a:solidFill>
                          <a:schemeClr val="tx1"/>
                        </a:solidFill>
                        <a:latin typeface="Times-Roman"/>
                        <a:ea typeface="SimSun"/>
                        <a:cs typeface="Times-Roman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de-DE" sz="1600" kern="1200" dirty="0" smtClean="0">
                          <a:solidFill>
                            <a:schemeClr val="tx1"/>
                          </a:solidFill>
                          <a:latin typeface="Times-Roman"/>
                          <a:ea typeface="SimSun"/>
                          <a:cs typeface="Times-Roman"/>
                        </a:rPr>
                        <a:t>...</a:t>
                      </a:r>
                      <a:endParaRPr lang="de-DE" sz="1600" kern="1200" dirty="0">
                        <a:solidFill>
                          <a:schemeClr val="tx1"/>
                        </a:solidFill>
                        <a:latin typeface="Times-Roman"/>
                        <a:ea typeface="SimSun"/>
                        <a:cs typeface="Times-Roman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de-DE" sz="1600" kern="1200" dirty="0" smtClean="0">
                          <a:solidFill>
                            <a:schemeClr val="tx1"/>
                          </a:solidFill>
                          <a:latin typeface="Times-Roman"/>
                          <a:ea typeface="SimSun"/>
                          <a:cs typeface="Times-Roman"/>
                        </a:rPr>
                        <a:t>...</a:t>
                      </a:r>
                      <a:endParaRPr lang="de-DE" sz="1600" kern="1200" dirty="0">
                        <a:solidFill>
                          <a:schemeClr val="tx1"/>
                        </a:solidFill>
                        <a:latin typeface="Times-Roman"/>
                        <a:ea typeface="SimSun"/>
                        <a:cs typeface="Times-Roman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BCBCB"/>
                    </a:solidFill>
                  </a:tcPr>
                </a:tc>
              </a:tr>
            </a:tbl>
          </a:graphicData>
        </a:graphic>
      </p:graphicFrame>
      <p:pic>
        <p:nvPicPr>
          <p:cNvPr id="129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4670689"/>
            <a:ext cx="7206016" cy="13426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Geschweifte Klammer rechts 3"/>
          <p:cNvSpPr/>
          <p:nvPr/>
        </p:nvSpPr>
        <p:spPr bwMode="auto">
          <a:xfrm>
            <a:off x="7172348" y="1340768"/>
            <a:ext cx="128338" cy="1127280"/>
          </a:xfrm>
          <a:prstGeom prst="rightBrace">
            <a:avLst/>
          </a:prstGeom>
          <a:noFill/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AT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1" name="Geschweifte Klammer rechts 10"/>
          <p:cNvSpPr/>
          <p:nvPr/>
        </p:nvSpPr>
        <p:spPr bwMode="auto">
          <a:xfrm>
            <a:off x="8437852" y="2877650"/>
            <a:ext cx="209546" cy="1512168"/>
          </a:xfrm>
          <a:prstGeom prst="rightBrace">
            <a:avLst/>
          </a:prstGeom>
          <a:noFill/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AT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5" name="Textfeld 4"/>
          <p:cNvSpPr txBox="1"/>
          <p:nvPr/>
        </p:nvSpPr>
        <p:spPr>
          <a:xfrm>
            <a:off x="7410382" y="1751167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 smtClean="0"/>
              <a:t>*</a:t>
            </a:r>
            <a:endParaRPr lang="de-AT" dirty="0"/>
          </a:p>
        </p:txBody>
      </p:sp>
      <p:sp>
        <p:nvSpPr>
          <p:cNvPr id="13" name="Textfeld 12"/>
          <p:cNvSpPr txBox="1"/>
          <p:nvPr/>
        </p:nvSpPr>
        <p:spPr>
          <a:xfrm>
            <a:off x="8677951" y="3492440"/>
            <a:ext cx="515477" cy="4062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 smtClean="0"/>
              <a:t>**</a:t>
            </a:r>
            <a:endParaRPr lang="de-AT" dirty="0"/>
          </a:p>
        </p:txBody>
      </p:sp>
      <p:sp>
        <p:nvSpPr>
          <p:cNvPr id="14" name="Geschweifte Klammer rechts 13"/>
          <p:cNvSpPr/>
          <p:nvPr/>
        </p:nvSpPr>
        <p:spPr bwMode="auto">
          <a:xfrm rot="5400000">
            <a:off x="4424514" y="5115380"/>
            <a:ext cx="150956" cy="1296144"/>
          </a:xfrm>
          <a:prstGeom prst="rightBrace">
            <a:avLst>
              <a:gd name="adj1" fmla="val 8333"/>
              <a:gd name="adj2" fmla="val 47354"/>
            </a:avLst>
          </a:prstGeom>
          <a:noFill/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AT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5" name="Geschweifte Klammer rechts 14"/>
          <p:cNvSpPr/>
          <p:nvPr/>
        </p:nvSpPr>
        <p:spPr bwMode="auto">
          <a:xfrm rot="5400000">
            <a:off x="6437196" y="4686875"/>
            <a:ext cx="151822" cy="2154021"/>
          </a:xfrm>
          <a:prstGeom prst="rightBrace">
            <a:avLst>
              <a:gd name="adj1" fmla="val 8333"/>
              <a:gd name="adj2" fmla="val 47354"/>
            </a:avLst>
          </a:prstGeom>
          <a:noFill/>
          <a:ln w="222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AT" sz="1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6" name="Textfeld 15"/>
          <p:cNvSpPr txBox="1"/>
          <p:nvPr/>
        </p:nvSpPr>
        <p:spPr>
          <a:xfrm>
            <a:off x="4375334" y="5867980"/>
            <a:ext cx="3481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 smtClean="0"/>
              <a:t>*</a:t>
            </a:r>
            <a:endParaRPr lang="de-AT" dirty="0"/>
          </a:p>
        </p:txBody>
      </p:sp>
      <p:sp>
        <p:nvSpPr>
          <p:cNvPr id="17" name="Textfeld 16"/>
          <p:cNvSpPr txBox="1"/>
          <p:nvPr/>
        </p:nvSpPr>
        <p:spPr>
          <a:xfrm>
            <a:off x="6336262" y="5828656"/>
            <a:ext cx="5116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AT" dirty="0" smtClean="0"/>
              <a:t>**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1483533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11560" y="332656"/>
            <a:ext cx="7772400" cy="1143000"/>
          </a:xfrm>
        </p:spPr>
        <p:txBody>
          <a:bodyPr/>
          <a:lstStyle/>
          <a:p>
            <a:r>
              <a:rPr lang="en-US" dirty="0" smtClean="0"/>
              <a:t>Constraint-based recommendation II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83568" y="1386483"/>
            <a:ext cx="8460432" cy="4320480"/>
          </a:xfrm>
        </p:spPr>
        <p:txBody>
          <a:bodyPr/>
          <a:lstStyle/>
          <a:p>
            <a:r>
              <a:rPr lang="en-US" sz="2200" b="1" dirty="0" smtClean="0"/>
              <a:t>BUT</a:t>
            </a:r>
            <a:r>
              <a:rPr lang="en-US" sz="2200" dirty="0" smtClean="0"/>
              <a:t>: What if no solution exists?</a:t>
            </a:r>
          </a:p>
          <a:p>
            <a:pPr lvl="1"/>
            <a:r>
              <a:rPr lang="en-US" dirty="0" smtClean="0"/>
              <a:t>                     	</a:t>
            </a:r>
            <a:r>
              <a:rPr lang="en-US" sz="1800" dirty="0" smtClean="0"/>
              <a:t>not </a:t>
            </a:r>
            <a:r>
              <a:rPr lang="en-US" sz="1800" dirty="0" err="1" smtClean="0"/>
              <a:t>satisfiable</a:t>
            </a:r>
            <a:r>
              <a:rPr lang="en-US" sz="1800" dirty="0" smtClean="0"/>
              <a:t>  	</a:t>
            </a:r>
            <a:r>
              <a:rPr lang="en-US" sz="1800" dirty="0" smtClean="0">
                <a:sym typeface="Wingdings" pitchFamily="2" charset="2"/>
              </a:rPr>
              <a:t> debugging of knowledge base</a:t>
            </a:r>
            <a:endParaRPr lang="en-US" sz="1800" dirty="0" smtClean="0"/>
          </a:p>
          <a:p>
            <a:pPr lvl="1"/>
            <a:r>
              <a:rPr lang="en-US" sz="1800" dirty="0" smtClean="0"/>
              <a:t>                                    	not </a:t>
            </a:r>
            <a:r>
              <a:rPr lang="en-US" sz="1800" dirty="0" err="1" smtClean="0"/>
              <a:t>satisfiable</a:t>
            </a:r>
            <a:r>
              <a:rPr lang="en-US" sz="1800" dirty="0" smtClean="0"/>
              <a:t> but 	</a:t>
            </a:r>
          </a:p>
          <a:p>
            <a:pPr marL="457200" lvl="1" indent="0">
              <a:buNone/>
            </a:pPr>
            <a:r>
              <a:rPr lang="en-US" sz="1800" dirty="0" smtClean="0">
                <a:sym typeface="Wingdings" pitchFamily="2" charset="2"/>
              </a:rPr>
              <a:t>    			correct 		 debugging of user requirements</a:t>
            </a:r>
          </a:p>
          <a:p>
            <a:pPr lvl="1"/>
            <a:endParaRPr lang="en-US" sz="1800" dirty="0" smtClean="0">
              <a:sym typeface="Wingdings" pitchFamily="2" charset="2"/>
            </a:endParaRPr>
          </a:p>
          <a:p>
            <a:r>
              <a:rPr lang="en-US" sz="2200" dirty="0" smtClean="0">
                <a:sym typeface="Wingdings" pitchFamily="2" charset="2"/>
              </a:rPr>
              <a:t>Application of model-based diagnosis for debugging user requirements</a:t>
            </a:r>
          </a:p>
          <a:p>
            <a:pPr lvl="1"/>
            <a:r>
              <a:rPr lang="en-US" sz="1800" dirty="0" smtClean="0">
                <a:sym typeface="Wingdings" pitchFamily="2" charset="2"/>
              </a:rPr>
              <a:t>Diagnoses:                                                     			is </a:t>
            </a:r>
            <a:r>
              <a:rPr lang="en-US" sz="1800" dirty="0" err="1" smtClean="0">
                <a:sym typeface="Wingdings" pitchFamily="2" charset="2"/>
              </a:rPr>
              <a:t>satisfiable</a:t>
            </a:r>
            <a:endParaRPr lang="en-US" sz="1800" dirty="0" smtClean="0">
              <a:sym typeface="Wingdings" pitchFamily="2" charset="2"/>
            </a:endParaRPr>
          </a:p>
          <a:p>
            <a:pPr lvl="1"/>
            <a:endParaRPr lang="en-US" sz="1800" dirty="0" smtClean="0">
              <a:sym typeface="Wingdings" pitchFamily="2" charset="2"/>
            </a:endParaRPr>
          </a:p>
          <a:p>
            <a:pPr lvl="1"/>
            <a:r>
              <a:rPr lang="en-US" sz="1800" dirty="0" smtClean="0">
                <a:sym typeface="Wingdings" pitchFamily="2" charset="2"/>
              </a:rPr>
              <a:t>Repairs:                                                                             	is </a:t>
            </a:r>
            <a:r>
              <a:rPr lang="en-US" sz="1800" dirty="0" err="1" smtClean="0">
                <a:sym typeface="Wingdings" pitchFamily="2" charset="2"/>
              </a:rPr>
              <a:t>satisfiable</a:t>
            </a:r>
            <a:endParaRPr lang="en-US" sz="1800" dirty="0" smtClean="0">
              <a:sym typeface="Wingdings" pitchFamily="2" charset="2"/>
            </a:endParaRPr>
          </a:p>
          <a:p>
            <a:pPr lvl="1"/>
            <a:endParaRPr lang="en-US" dirty="0" smtClean="0">
              <a:sym typeface="Wingdings" pitchFamily="2" charset="2"/>
            </a:endParaRPr>
          </a:p>
          <a:p>
            <a:pPr lvl="1"/>
            <a:r>
              <a:rPr lang="en-US" dirty="0" smtClean="0">
                <a:sym typeface="Wingdings" pitchFamily="2" charset="2"/>
              </a:rPr>
              <a:t>Conflict </a:t>
            </a:r>
            <a:r>
              <a:rPr lang="en-US" dirty="0">
                <a:sym typeface="Wingdings" pitchFamily="2" charset="2"/>
              </a:rPr>
              <a:t>sets:                                                        	</a:t>
            </a:r>
            <a:r>
              <a:rPr lang="en-US" dirty="0" smtClean="0">
                <a:sym typeface="Wingdings" pitchFamily="2" charset="2"/>
              </a:rPr>
              <a:t>	not </a:t>
            </a:r>
            <a:r>
              <a:rPr lang="en-US" dirty="0" err="1">
                <a:sym typeface="Wingdings" pitchFamily="2" charset="2"/>
              </a:rPr>
              <a:t>satisfiable</a:t>
            </a:r>
            <a:r>
              <a:rPr lang="en-US" dirty="0">
                <a:sym typeface="Wingdings" pitchFamily="2" charset="2"/>
              </a:rPr>
              <a:t> </a:t>
            </a:r>
          </a:p>
          <a:p>
            <a:pPr marL="457200" lvl="1" indent="0">
              <a:buNone/>
            </a:pPr>
            <a:endParaRPr lang="en-US" sz="1800" dirty="0" smtClean="0">
              <a:sym typeface="Wingdings" pitchFamily="2" charset="2"/>
            </a:endParaRPr>
          </a:p>
        </p:txBody>
      </p:sp>
      <p:graphicFrame>
        <p:nvGraphicFramePr>
          <p:cNvPr id="8090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43137019"/>
              </p:ext>
            </p:extLst>
          </p:nvPr>
        </p:nvGraphicFramePr>
        <p:xfrm>
          <a:off x="1475656" y="2116760"/>
          <a:ext cx="1728192" cy="2897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92" name="Formel" r:id="rId4" imgW="1206360" imgH="203040" progId="Equation.3">
                  <p:embed/>
                </p:oleObj>
              </mc:Choice>
              <mc:Fallback>
                <p:oleObj name="Formel" r:id="rId4" imgW="120636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5656" y="2116760"/>
                        <a:ext cx="1728192" cy="289784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090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6908445"/>
              </p:ext>
            </p:extLst>
          </p:nvPr>
        </p:nvGraphicFramePr>
        <p:xfrm>
          <a:off x="1475656" y="1780431"/>
          <a:ext cx="938853" cy="2804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93" name="Formel" r:id="rId6" imgW="634680" imgH="190440" progId="Equation.3">
                  <p:embed/>
                </p:oleObj>
              </mc:Choice>
              <mc:Fallback>
                <p:oleObj name="Formel" r:id="rId6" imgW="634680" imgH="1904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5656" y="1780431"/>
                        <a:ext cx="938853" cy="280417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k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8631903"/>
              </p:ext>
            </p:extLst>
          </p:nvPr>
        </p:nvGraphicFramePr>
        <p:xfrm>
          <a:off x="2680590" y="3872923"/>
          <a:ext cx="2971530" cy="4233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94" name="Formel" r:id="rId8" imgW="1206360" imgH="203040" progId="Equation.3">
                  <p:embed/>
                </p:oleObj>
              </mc:Choice>
              <mc:Fallback>
                <p:oleObj name="Formel" r:id="rId8" imgW="1206360" imgH="203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0590" y="3872923"/>
                        <a:ext cx="2971530" cy="423341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k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2176029"/>
              </p:ext>
            </p:extLst>
          </p:nvPr>
        </p:nvGraphicFramePr>
        <p:xfrm>
          <a:off x="2902099" y="5234533"/>
          <a:ext cx="2973388" cy="328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95" name="Formel" r:id="rId10" imgW="2057400" imgH="228600" progId="Equation.3">
                  <p:embed/>
                </p:oleObj>
              </mc:Choice>
              <mc:Fallback>
                <p:oleObj name="Formel" r:id="rId10" imgW="205740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2099" y="5234533"/>
                        <a:ext cx="2973388" cy="328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119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00187016"/>
              </p:ext>
            </p:extLst>
          </p:nvPr>
        </p:nvGraphicFramePr>
        <p:xfrm>
          <a:off x="2692124" y="4562476"/>
          <a:ext cx="4328148" cy="4838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96" name="Formel" r:id="rId12" imgW="1726920" imgH="241200" progId="Equation.3">
                  <p:embed/>
                </p:oleObj>
              </mc:Choice>
              <mc:Fallback>
                <p:oleObj name="Formel" r:id="rId12" imgW="1726920" imgH="241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2124" y="4562476"/>
                        <a:ext cx="4328148" cy="483886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Objek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1580309"/>
              </p:ext>
            </p:extLst>
          </p:nvPr>
        </p:nvGraphicFramePr>
        <p:xfrm>
          <a:off x="1440031" y="2433521"/>
          <a:ext cx="899721" cy="2687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97" name="Formel" r:id="rId14" imgW="634680" imgH="190440" progId="Equation.3">
                  <p:embed/>
                </p:oleObj>
              </mc:Choice>
              <mc:Fallback>
                <p:oleObj name="Formel" r:id="rId14" imgW="634680" imgH="1904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0031" y="2433521"/>
                        <a:ext cx="899721" cy="26872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3556356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211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211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21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el 1"/>
          <p:cNvSpPr>
            <a:spLocks noGrp="1"/>
          </p:cNvSpPr>
          <p:nvPr>
            <p:ph type="title"/>
          </p:nvPr>
        </p:nvSpPr>
        <p:spPr>
          <a:xfrm>
            <a:off x="685800" y="260648"/>
            <a:ext cx="7772400" cy="1143000"/>
          </a:xfrm>
        </p:spPr>
        <p:txBody>
          <a:bodyPr/>
          <a:lstStyle/>
          <a:p>
            <a:r>
              <a:rPr lang="en-US" dirty="0" smtClean="0"/>
              <a:t>Example: find </a:t>
            </a:r>
            <a:r>
              <a:rPr lang="en-US" dirty="0"/>
              <a:t>minimal relaxations (minimal diagnoses)</a:t>
            </a:r>
            <a:endParaRPr lang="en-US" dirty="0" smtClean="0"/>
          </a:p>
        </p:txBody>
      </p:sp>
      <p:graphicFrame>
        <p:nvGraphicFramePr>
          <p:cNvPr id="4" name="Inhaltsplatzhalt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489589"/>
              </p:ext>
            </p:extLst>
          </p:nvPr>
        </p:nvGraphicFramePr>
        <p:xfrm>
          <a:off x="1077268" y="3615853"/>
          <a:ext cx="3278708" cy="17573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0396"/>
                <a:gridCol w="1512167"/>
                <a:gridCol w="1296145"/>
              </a:tblGrid>
              <a:tr h="645062">
                <a:tc>
                  <a:txBody>
                    <a:bodyPr/>
                    <a:lstStyle/>
                    <a:p>
                      <a:endParaRPr lang="en-US" sz="1400" noProof="0">
                        <a:solidFill>
                          <a:schemeClr val="tx1"/>
                        </a:solidFill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1" kern="1200" baseline="0" noProof="0" smtClean="0">
                          <a:solidFill>
                            <a:schemeClr val="tx1"/>
                          </a:solidFill>
                          <a:latin typeface="Calibri" pitchFamily="34" charset="0"/>
                          <a:ea typeface="+mn-ea"/>
                          <a:cs typeface="+mn-cs"/>
                        </a:rPr>
                        <a:t>User model (SRS)</a:t>
                      </a:r>
                      <a:endParaRPr lang="en-US" sz="1400" noProof="0">
                        <a:solidFill>
                          <a:schemeClr val="tx1"/>
                        </a:solidFill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noProof="0">
                        <a:solidFill>
                          <a:schemeClr val="tx1"/>
                        </a:solidFill>
                        <a:latin typeface="Calibri" pitchFamily="34" charset="0"/>
                      </a:endParaRPr>
                    </a:p>
                  </a:txBody>
                  <a:tcPr/>
                </a:tc>
              </a:tr>
              <a:tr h="370767">
                <a:tc>
                  <a:txBody>
                    <a:bodyPr/>
                    <a:lstStyle/>
                    <a:p>
                      <a:r>
                        <a:rPr lang="en-US" sz="1400" noProof="0" smtClean="0">
                          <a:latin typeface="Calibri" pitchFamily="34" charset="0"/>
                        </a:rPr>
                        <a:t>R1</a:t>
                      </a:r>
                      <a:endParaRPr lang="en-US" sz="1400" noProof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noProof="0" smtClean="0">
                          <a:latin typeface="Calibri" pitchFamily="34" charset="0"/>
                        </a:rPr>
                        <a:t>Motives</a:t>
                      </a:r>
                      <a:endParaRPr lang="en-US" sz="1400" noProof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noProof="0" smtClean="0">
                          <a:latin typeface="Calibri" pitchFamily="34" charset="0"/>
                        </a:rPr>
                        <a:t>Landscape</a:t>
                      </a:r>
                      <a:endParaRPr lang="en-US" sz="1400" i="1" noProof="0">
                        <a:latin typeface="Calibri" pitchFamily="34" charset="0"/>
                      </a:endParaRPr>
                    </a:p>
                  </a:txBody>
                  <a:tcPr/>
                </a:tc>
              </a:tr>
              <a:tr h="370767">
                <a:tc>
                  <a:txBody>
                    <a:bodyPr/>
                    <a:lstStyle/>
                    <a:p>
                      <a:r>
                        <a:rPr lang="en-US" sz="1400" noProof="0" smtClean="0">
                          <a:latin typeface="Calibri" pitchFamily="34" charset="0"/>
                        </a:rPr>
                        <a:t>R2</a:t>
                      </a:r>
                      <a:endParaRPr lang="en-US" sz="1400" noProof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noProof="0" smtClean="0">
                          <a:latin typeface="Calibri" pitchFamily="34" charset="0"/>
                        </a:rPr>
                        <a:t>Brand preference</a:t>
                      </a:r>
                      <a:endParaRPr lang="en-US" sz="1400" noProof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noProof="0" smtClean="0">
                          <a:latin typeface="Calibri" pitchFamily="34" charset="0"/>
                        </a:rPr>
                        <a:t>Canon</a:t>
                      </a:r>
                      <a:endParaRPr lang="en-US" sz="1400" i="1" noProof="0">
                        <a:latin typeface="Calibri" pitchFamily="34" charset="0"/>
                      </a:endParaRPr>
                    </a:p>
                  </a:txBody>
                  <a:tcPr/>
                </a:tc>
              </a:tr>
              <a:tr h="370767">
                <a:tc>
                  <a:txBody>
                    <a:bodyPr/>
                    <a:lstStyle/>
                    <a:p>
                      <a:r>
                        <a:rPr lang="en-US" sz="1400" noProof="0" smtClean="0">
                          <a:latin typeface="Calibri" pitchFamily="34" charset="0"/>
                        </a:rPr>
                        <a:t>R3</a:t>
                      </a:r>
                      <a:endParaRPr lang="en-US" sz="1400" noProof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noProof="0" smtClean="0">
                          <a:latin typeface="Calibri" pitchFamily="34" charset="0"/>
                        </a:rPr>
                        <a:t>Max. cost</a:t>
                      </a:r>
                      <a:endParaRPr lang="en-US" sz="1400" noProof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noProof="0" dirty="0" smtClean="0">
                          <a:latin typeface="Calibri" pitchFamily="34" charset="0"/>
                        </a:rPr>
                        <a:t>350 EUR</a:t>
                      </a:r>
                      <a:endParaRPr lang="en-US" sz="1400" i="1" noProof="0" dirty="0">
                        <a:latin typeface="Calibri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el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4823492"/>
              </p:ext>
            </p:extLst>
          </p:nvPr>
        </p:nvGraphicFramePr>
        <p:xfrm>
          <a:off x="5786438" y="1672431"/>
          <a:ext cx="3143272" cy="19456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4545"/>
                <a:gridCol w="1178727"/>
              </a:tblGrid>
              <a:tr h="403281">
                <a:tc>
                  <a:txBody>
                    <a:bodyPr/>
                    <a:lstStyle/>
                    <a:p>
                      <a:r>
                        <a:rPr lang="en-US" sz="1400" noProof="0" smtClean="0">
                          <a:solidFill>
                            <a:schemeClr val="tx1"/>
                          </a:solidFill>
                          <a:latin typeface="Calibri" pitchFamily="34" charset="0"/>
                        </a:rPr>
                        <a:t>Powershot XY</a:t>
                      </a:r>
                      <a:endParaRPr lang="en-US" sz="1400" noProof="0">
                        <a:solidFill>
                          <a:schemeClr val="tx1"/>
                        </a:solidFill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noProof="0">
                        <a:solidFill>
                          <a:schemeClr val="tx1"/>
                        </a:solidFill>
                        <a:latin typeface="Calibri" pitchFamily="34" charset="0"/>
                      </a:endParaRPr>
                    </a:p>
                  </a:txBody>
                  <a:tcPr/>
                </a:tc>
              </a:tr>
              <a:tr h="403281">
                <a:tc>
                  <a:txBody>
                    <a:bodyPr/>
                    <a:lstStyle/>
                    <a:p>
                      <a:r>
                        <a:rPr lang="en-US" sz="1400" noProof="0" smtClean="0">
                          <a:latin typeface="Calibri" pitchFamily="34" charset="0"/>
                        </a:rPr>
                        <a:t>Brand</a:t>
                      </a:r>
                      <a:endParaRPr lang="en-US" sz="1400" noProof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noProof="0" smtClean="0">
                          <a:latin typeface="Calibri" pitchFamily="34" charset="0"/>
                        </a:rPr>
                        <a:t>Canon</a:t>
                      </a:r>
                      <a:endParaRPr lang="en-US" sz="1400" i="1" noProof="0">
                        <a:latin typeface="Calibri" pitchFamily="34" charset="0"/>
                      </a:endParaRPr>
                    </a:p>
                  </a:txBody>
                  <a:tcPr/>
                </a:tc>
              </a:tr>
              <a:tr h="336446">
                <a:tc>
                  <a:txBody>
                    <a:bodyPr/>
                    <a:lstStyle/>
                    <a:p>
                      <a:r>
                        <a:rPr lang="en-US" sz="1400" noProof="0" smtClean="0">
                          <a:latin typeface="Calibri" pitchFamily="34" charset="0"/>
                        </a:rPr>
                        <a:t>Lower focal length</a:t>
                      </a:r>
                      <a:endParaRPr lang="en-US" sz="1400" noProof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noProof="0" smtClean="0">
                          <a:latin typeface="Calibri" pitchFamily="34" charset="0"/>
                        </a:rPr>
                        <a:t>35</a:t>
                      </a:r>
                      <a:endParaRPr lang="en-US" sz="1400" i="1" noProof="0">
                        <a:latin typeface="Calibri" pitchFamily="34" charset="0"/>
                      </a:endParaRPr>
                    </a:p>
                  </a:txBody>
                  <a:tcPr/>
                </a:tc>
              </a:tr>
              <a:tr h="399314">
                <a:tc>
                  <a:txBody>
                    <a:bodyPr/>
                    <a:lstStyle/>
                    <a:p>
                      <a:r>
                        <a:rPr lang="en-US" sz="1400" noProof="0" smtClean="0">
                          <a:latin typeface="Calibri" pitchFamily="34" charset="0"/>
                        </a:rPr>
                        <a:t>Upper focal length</a:t>
                      </a:r>
                      <a:endParaRPr lang="en-US" sz="1400" noProof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noProof="0" smtClean="0">
                          <a:latin typeface="Calibri" pitchFamily="34" charset="0"/>
                        </a:rPr>
                        <a:t>140</a:t>
                      </a:r>
                      <a:endParaRPr lang="en-US" sz="1400" i="1" noProof="0">
                        <a:latin typeface="Calibri" pitchFamily="34" charset="0"/>
                      </a:endParaRPr>
                    </a:p>
                  </a:txBody>
                  <a:tcPr/>
                </a:tc>
              </a:tr>
              <a:tr h="403281">
                <a:tc>
                  <a:txBody>
                    <a:bodyPr/>
                    <a:lstStyle/>
                    <a:p>
                      <a:r>
                        <a:rPr lang="en-US" sz="1400" noProof="0" smtClean="0">
                          <a:latin typeface="Calibri" pitchFamily="34" charset="0"/>
                        </a:rPr>
                        <a:t>Price</a:t>
                      </a:r>
                      <a:endParaRPr lang="en-US" sz="1400" noProof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noProof="0" dirty="0" smtClean="0">
                          <a:latin typeface="Calibri" pitchFamily="34" charset="0"/>
                        </a:rPr>
                        <a:t>420</a:t>
                      </a:r>
                      <a:r>
                        <a:rPr lang="en-US" sz="1400" i="1" baseline="0" noProof="0" dirty="0" smtClean="0">
                          <a:latin typeface="Calibri" pitchFamily="34" charset="0"/>
                        </a:rPr>
                        <a:t> EUR</a:t>
                      </a:r>
                      <a:endParaRPr lang="en-US" sz="1400" i="1" noProof="0" dirty="0">
                        <a:latin typeface="Calibri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Tabel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0313150"/>
              </p:ext>
            </p:extLst>
          </p:nvPr>
        </p:nvGraphicFramePr>
        <p:xfrm>
          <a:off x="5786438" y="3761581"/>
          <a:ext cx="3143272" cy="18471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4545"/>
                <a:gridCol w="1178727"/>
              </a:tblGrid>
              <a:tr h="260405">
                <a:tc>
                  <a:txBody>
                    <a:bodyPr/>
                    <a:lstStyle/>
                    <a:p>
                      <a:r>
                        <a:rPr lang="en-US" sz="1400" noProof="0" smtClean="0">
                          <a:solidFill>
                            <a:schemeClr val="tx1"/>
                          </a:solidFill>
                          <a:latin typeface="Calibri" pitchFamily="34" charset="0"/>
                        </a:rPr>
                        <a:t>Lumix</a:t>
                      </a:r>
                      <a:endParaRPr lang="en-US" sz="1400" noProof="0">
                        <a:solidFill>
                          <a:schemeClr val="tx1"/>
                        </a:solidFill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noProof="0">
                        <a:solidFill>
                          <a:schemeClr val="tx1"/>
                        </a:solidFill>
                        <a:latin typeface="Calibri" pitchFamily="34" charset="0"/>
                      </a:endParaRPr>
                    </a:p>
                  </a:txBody>
                  <a:tcPr/>
                </a:tc>
              </a:tr>
              <a:tr h="403281">
                <a:tc>
                  <a:txBody>
                    <a:bodyPr/>
                    <a:lstStyle/>
                    <a:p>
                      <a:r>
                        <a:rPr lang="en-US" sz="1400" noProof="0" smtClean="0">
                          <a:latin typeface="Calibri" pitchFamily="34" charset="0"/>
                        </a:rPr>
                        <a:t>Brand</a:t>
                      </a:r>
                      <a:endParaRPr lang="en-US" sz="1400" noProof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noProof="0" smtClean="0">
                          <a:latin typeface="Calibri" pitchFamily="34" charset="0"/>
                        </a:rPr>
                        <a:t>Panasonic</a:t>
                      </a:r>
                      <a:endParaRPr lang="en-US" sz="1400" i="1" noProof="0">
                        <a:latin typeface="Calibri" pitchFamily="34" charset="0"/>
                      </a:endParaRPr>
                    </a:p>
                  </a:txBody>
                  <a:tcPr/>
                </a:tc>
              </a:tr>
              <a:tr h="336446">
                <a:tc>
                  <a:txBody>
                    <a:bodyPr/>
                    <a:lstStyle/>
                    <a:p>
                      <a:r>
                        <a:rPr lang="en-US" sz="1400" noProof="0" smtClean="0">
                          <a:latin typeface="Calibri" pitchFamily="34" charset="0"/>
                        </a:rPr>
                        <a:t>Lower focal length</a:t>
                      </a:r>
                      <a:endParaRPr lang="en-US" sz="1400" noProof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noProof="0" smtClean="0">
                          <a:latin typeface="Calibri" pitchFamily="34" charset="0"/>
                        </a:rPr>
                        <a:t>28</a:t>
                      </a:r>
                      <a:endParaRPr lang="en-US" sz="1400" i="1" noProof="0">
                        <a:latin typeface="Calibri" pitchFamily="34" charset="0"/>
                      </a:endParaRPr>
                    </a:p>
                  </a:txBody>
                  <a:tcPr/>
                </a:tc>
              </a:tr>
              <a:tr h="399314">
                <a:tc>
                  <a:txBody>
                    <a:bodyPr/>
                    <a:lstStyle/>
                    <a:p>
                      <a:r>
                        <a:rPr lang="en-US" sz="1400" noProof="0" smtClean="0">
                          <a:latin typeface="Calibri" pitchFamily="34" charset="0"/>
                        </a:rPr>
                        <a:t>Upper focal length</a:t>
                      </a:r>
                      <a:endParaRPr lang="en-US" sz="1400" noProof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noProof="0" smtClean="0">
                          <a:latin typeface="Calibri" pitchFamily="34" charset="0"/>
                        </a:rPr>
                        <a:t>112</a:t>
                      </a:r>
                      <a:endParaRPr lang="en-US" sz="1400" i="1" noProof="0">
                        <a:latin typeface="Calibri" pitchFamily="34" charset="0"/>
                      </a:endParaRPr>
                    </a:p>
                  </a:txBody>
                  <a:tcPr/>
                </a:tc>
              </a:tr>
              <a:tr h="403281">
                <a:tc>
                  <a:txBody>
                    <a:bodyPr/>
                    <a:lstStyle/>
                    <a:p>
                      <a:r>
                        <a:rPr lang="en-US" sz="1400" noProof="0" smtClean="0">
                          <a:latin typeface="Calibri" pitchFamily="34" charset="0"/>
                        </a:rPr>
                        <a:t>Price</a:t>
                      </a:r>
                      <a:endParaRPr lang="en-US" sz="1400" noProof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i="1" noProof="0" dirty="0" smtClean="0">
                          <a:latin typeface="Calibri" pitchFamily="34" charset="0"/>
                        </a:rPr>
                        <a:t>319</a:t>
                      </a:r>
                      <a:r>
                        <a:rPr lang="en-US" sz="1400" i="1" baseline="0" noProof="0" dirty="0" smtClean="0">
                          <a:latin typeface="Calibri" pitchFamily="34" charset="0"/>
                        </a:rPr>
                        <a:t> EUR</a:t>
                      </a:r>
                      <a:endParaRPr lang="en-US" sz="1400" i="1" noProof="0" dirty="0">
                        <a:latin typeface="Calibri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8" name="Tabel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1502053"/>
              </p:ext>
            </p:extLst>
          </p:nvPr>
        </p:nvGraphicFramePr>
        <p:xfrm>
          <a:off x="285750" y="1689893"/>
          <a:ext cx="535785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3842"/>
                <a:gridCol w="2457992"/>
                <a:gridCol w="2286016"/>
              </a:tblGrid>
              <a:tr h="370840">
                <a:tc>
                  <a:txBody>
                    <a:bodyPr/>
                    <a:lstStyle/>
                    <a:p>
                      <a:endParaRPr lang="en-US" sz="1400" noProof="0">
                        <a:solidFill>
                          <a:schemeClr val="tx1"/>
                        </a:solidFill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noProof="0" smtClean="0">
                          <a:solidFill>
                            <a:schemeClr val="tx1"/>
                          </a:solidFill>
                          <a:latin typeface="Calibri" pitchFamily="34" charset="0"/>
                        </a:rPr>
                        <a:t>LHS</a:t>
                      </a:r>
                      <a:endParaRPr lang="en-US" sz="1400" noProof="0">
                        <a:solidFill>
                          <a:schemeClr val="tx1"/>
                        </a:solidFill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noProof="0" smtClean="0">
                          <a:solidFill>
                            <a:schemeClr val="tx1"/>
                          </a:solidFill>
                          <a:latin typeface="Calibri" pitchFamily="34" charset="0"/>
                        </a:rPr>
                        <a:t>RHS</a:t>
                      </a:r>
                      <a:endParaRPr lang="en-US" sz="1400" noProof="0">
                        <a:solidFill>
                          <a:schemeClr val="tx1"/>
                        </a:solidFill>
                        <a:latin typeface="Calibri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noProof="0" smtClean="0">
                          <a:latin typeface="Calibri" pitchFamily="34" charset="0"/>
                        </a:rPr>
                        <a:t>C1</a:t>
                      </a:r>
                      <a:endParaRPr lang="en-US" sz="1400" noProof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noProof="0" smtClean="0">
                          <a:latin typeface="Calibri" pitchFamily="34" charset="0"/>
                        </a:rPr>
                        <a:t>TRUE</a:t>
                      </a:r>
                      <a:endParaRPr lang="en-US" sz="1400" noProof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noProof="0" smtClean="0">
                          <a:latin typeface="Calibri" pitchFamily="34" charset="0"/>
                        </a:rPr>
                        <a:t>Brand</a:t>
                      </a:r>
                      <a:r>
                        <a:rPr lang="en-US" sz="1400" baseline="0" noProof="0" smtClean="0">
                          <a:latin typeface="Calibri" pitchFamily="34" charset="0"/>
                        </a:rPr>
                        <a:t> = Brand pref.</a:t>
                      </a:r>
                      <a:endParaRPr lang="en-US" sz="1400" noProof="0">
                        <a:latin typeface="Calibri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noProof="0" smtClean="0">
                          <a:latin typeface="Calibri" pitchFamily="34" charset="0"/>
                        </a:rPr>
                        <a:t>C2</a:t>
                      </a:r>
                      <a:endParaRPr lang="en-US" sz="1400" noProof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noProof="0" smtClean="0">
                          <a:latin typeface="Calibri" pitchFamily="34" charset="0"/>
                        </a:rPr>
                        <a:t>Motives = </a:t>
                      </a:r>
                      <a:r>
                        <a:rPr lang="en-US" sz="1400" i="1" noProof="0" smtClean="0">
                          <a:latin typeface="Calibri" pitchFamily="34" charset="0"/>
                        </a:rPr>
                        <a:t>Landscape</a:t>
                      </a:r>
                      <a:endParaRPr lang="en-US" sz="1400" i="1" noProof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noProof="0" smtClean="0">
                          <a:latin typeface="Calibri" pitchFamily="34" charset="0"/>
                        </a:rPr>
                        <a:t>Low. foc. Length =&lt;</a:t>
                      </a:r>
                      <a:r>
                        <a:rPr lang="en-US" sz="1400" baseline="0" noProof="0" smtClean="0">
                          <a:latin typeface="Calibri" pitchFamily="34" charset="0"/>
                        </a:rPr>
                        <a:t> </a:t>
                      </a:r>
                      <a:r>
                        <a:rPr lang="en-US" sz="1400" i="1" baseline="0" noProof="0" smtClean="0">
                          <a:latin typeface="Calibri" pitchFamily="34" charset="0"/>
                        </a:rPr>
                        <a:t>28</a:t>
                      </a:r>
                      <a:endParaRPr lang="en-US" sz="1400" i="1" noProof="0">
                        <a:latin typeface="Calibri" pitchFamily="34" charset="0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noProof="0" smtClean="0">
                          <a:latin typeface="Calibri" pitchFamily="34" charset="0"/>
                        </a:rPr>
                        <a:t>C3</a:t>
                      </a:r>
                      <a:endParaRPr lang="en-US" sz="1400" noProof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noProof="0" smtClean="0">
                          <a:latin typeface="Calibri" pitchFamily="34" charset="0"/>
                        </a:rPr>
                        <a:t>TRUE</a:t>
                      </a:r>
                      <a:endParaRPr lang="en-US" sz="1400" noProof="0">
                        <a:latin typeface="Calibri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noProof="0" dirty="0" smtClean="0">
                          <a:latin typeface="Calibri" pitchFamily="34" charset="0"/>
                        </a:rPr>
                        <a:t>Price</a:t>
                      </a:r>
                      <a:r>
                        <a:rPr lang="en-US" sz="1400" baseline="0" noProof="0" dirty="0" smtClean="0">
                          <a:latin typeface="Calibri" pitchFamily="34" charset="0"/>
                        </a:rPr>
                        <a:t> =&lt; Max. cost</a:t>
                      </a:r>
                      <a:endParaRPr lang="en-US" sz="1400" noProof="0" dirty="0">
                        <a:latin typeface="Calibri" pitchFamily="34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3634" name="Textfeld 8"/>
          <p:cNvSpPr txBox="1">
            <a:spLocks noChangeArrowheads="1"/>
          </p:cNvSpPr>
          <p:nvPr/>
        </p:nvSpPr>
        <p:spPr bwMode="auto">
          <a:xfrm>
            <a:off x="285750" y="1332706"/>
            <a:ext cx="1450077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 b="1" smtClean="0">
                <a:latin typeface="Calibri" pitchFamily="34" charset="0"/>
              </a:rPr>
              <a:t>Knowledge Base:</a:t>
            </a:r>
            <a:endParaRPr lang="en-US" sz="1400" b="1">
              <a:latin typeface="Calibri" pitchFamily="34" charset="0"/>
            </a:endParaRPr>
          </a:p>
        </p:txBody>
      </p:sp>
      <p:sp>
        <p:nvSpPr>
          <p:cNvPr id="21587" name="Textfeld 9"/>
          <p:cNvSpPr txBox="1">
            <a:spLocks noChangeArrowheads="1"/>
          </p:cNvSpPr>
          <p:nvPr/>
        </p:nvSpPr>
        <p:spPr bwMode="auto">
          <a:xfrm>
            <a:off x="5857875" y="1332706"/>
            <a:ext cx="1580689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 b="1" smtClean="0">
                <a:latin typeface="Calibri" pitchFamily="34" charset="0"/>
              </a:rPr>
              <a:t>Product catalogue:</a:t>
            </a:r>
            <a:endParaRPr lang="en-US" sz="1400" b="1">
              <a:latin typeface="Calibri" pitchFamily="34" charset="0"/>
            </a:endParaRPr>
          </a:p>
        </p:txBody>
      </p:sp>
      <p:sp>
        <p:nvSpPr>
          <p:cNvPr id="23636" name="Textfeld 10"/>
          <p:cNvSpPr txBox="1">
            <a:spLocks noChangeArrowheads="1"/>
          </p:cNvSpPr>
          <p:nvPr/>
        </p:nvSpPr>
        <p:spPr bwMode="auto">
          <a:xfrm>
            <a:off x="1077267" y="3284984"/>
            <a:ext cx="116044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400" b="1" smtClean="0">
                <a:latin typeface="Calibri" pitchFamily="34" charset="0"/>
              </a:rPr>
              <a:t>Current user:</a:t>
            </a:r>
            <a:endParaRPr lang="en-US" sz="1400" b="1">
              <a:latin typeface="Calibri" pitchFamily="34" charset="0"/>
            </a:endParaRPr>
          </a:p>
        </p:txBody>
      </p:sp>
      <p:grpSp>
        <p:nvGrpSpPr>
          <p:cNvPr id="2" name="Gruppieren 13"/>
          <p:cNvGrpSpPr/>
          <p:nvPr/>
        </p:nvGrpSpPr>
        <p:grpSpPr>
          <a:xfrm>
            <a:off x="395536" y="4221088"/>
            <a:ext cx="1080119" cy="792088"/>
            <a:chOff x="395536" y="4581128"/>
            <a:chExt cx="1080119" cy="792088"/>
          </a:xfrm>
        </p:grpSpPr>
        <p:sp>
          <p:nvSpPr>
            <p:cNvPr id="10" name="Ellipse 9"/>
            <p:cNvSpPr/>
            <p:nvPr/>
          </p:nvSpPr>
          <p:spPr bwMode="auto">
            <a:xfrm>
              <a:off x="1115615" y="4581128"/>
              <a:ext cx="360040" cy="792088"/>
            </a:xfrm>
            <a:prstGeom prst="ellipse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-112" charset="-128"/>
              </a:endParaRPr>
            </a:p>
          </p:txBody>
        </p:sp>
        <p:sp>
          <p:nvSpPr>
            <p:cNvPr id="12" name="Textfeld 11"/>
            <p:cNvSpPr txBox="1"/>
            <p:nvPr/>
          </p:nvSpPr>
          <p:spPr>
            <a:xfrm>
              <a:off x="395536" y="4653136"/>
              <a:ext cx="75557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smtClean="0">
                  <a:solidFill>
                    <a:srgbClr val="C00000"/>
                  </a:solidFill>
                  <a:latin typeface="Calibri" pitchFamily="34" charset="0"/>
                </a:rPr>
                <a:t>CS1</a:t>
              </a:r>
              <a:endParaRPr lang="en-US" sz="2000">
                <a:solidFill>
                  <a:srgbClr val="C00000"/>
                </a:solidFill>
                <a:latin typeface="Calibri" pitchFamily="34" charset="0"/>
              </a:endParaRPr>
            </a:p>
          </p:txBody>
        </p:sp>
      </p:grpSp>
      <p:grpSp>
        <p:nvGrpSpPr>
          <p:cNvPr id="3" name="Gruppieren 14"/>
          <p:cNvGrpSpPr/>
          <p:nvPr/>
        </p:nvGrpSpPr>
        <p:grpSpPr>
          <a:xfrm>
            <a:off x="395536" y="4581128"/>
            <a:ext cx="1080120" cy="792088"/>
            <a:chOff x="395536" y="4869160"/>
            <a:chExt cx="1080120" cy="792088"/>
          </a:xfrm>
        </p:grpSpPr>
        <p:sp>
          <p:nvSpPr>
            <p:cNvPr id="11" name="Ellipse 10"/>
            <p:cNvSpPr/>
            <p:nvPr/>
          </p:nvSpPr>
          <p:spPr bwMode="auto">
            <a:xfrm>
              <a:off x="1115616" y="4869160"/>
              <a:ext cx="360040" cy="792088"/>
            </a:xfrm>
            <a:prstGeom prst="ellipse">
              <a:avLst/>
            </a:prstGeom>
            <a:noFill/>
            <a:ln w="19050" cap="flat" cmpd="sng" algn="ctr">
              <a:solidFill>
                <a:srgbClr val="C0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-112" charset="-128"/>
              </a:endParaRPr>
            </a:p>
          </p:txBody>
        </p:sp>
        <p:sp>
          <p:nvSpPr>
            <p:cNvPr id="13" name="Textfeld 12"/>
            <p:cNvSpPr txBox="1"/>
            <p:nvPr/>
          </p:nvSpPr>
          <p:spPr>
            <a:xfrm>
              <a:off x="395536" y="5229200"/>
              <a:ext cx="57259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smtClean="0">
                  <a:solidFill>
                    <a:srgbClr val="C00000"/>
                  </a:solidFill>
                  <a:latin typeface="Calibri" pitchFamily="34" charset="0"/>
                </a:rPr>
                <a:t>CS2</a:t>
              </a:r>
              <a:endParaRPr lang="en-US" sz="2000">
                <a:solidFill>
                  <a:srgbClr val="C00000"/>
                </a:solidFill>
                <a:latin typeface="Calibri" pitchFamily="34" charset="0"/>
              </a:endParaRPr>
            </a:p>
          </p:txBody>
        </p:sp>
      </p:grpSp>
      <p:grpSp>
        <p:nvGrpSpPr>
          <p:cNvPr id="16" name="Gruppieren 17"/>
          <p:cNvGrpSpPr/>
          <p:nvPr/>
        </p:nvGrpSpPr>
        <p:grpSpPr>
          <a:xfrm>
            <a:off x="683568" y="5589240"/>
            <a:ext cx="4536504" cy="411162"/>
            <a:chOff x="539552" y="5693186"/>
            <a:chExt cx="4536504" cy="411162"/>
          </a:xfrm>
        </p:grpSpPr>
        <p:sp>
          <p:nvSpPr>
            <p:cNvPr id="17" name="Textfeld 16"/>
            <p:cNvSpPr txBox="1"/>
            <p:nvPr/>
          </p:nvSpPr>
          <p:spPr>
            <a:xfrm>
              <a:off x="539552" y="5693186"/>
              <a:ext cx="1800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smtClean="0">
                  <a:solidFill>
                    <a:srgbClr val="C00000"/>
                  </a:solidFill>
                  <a:latin typeface="Calibri" pitchFamily="34" charset="0"/>
                </a:rPr>
                <a:t>Diagnoses: </a:t>
              </a:r>
              <a:endParaRPr lang="en-US" sz="2000">
                <a:solidFill>
                  <a:srgbClr val="C00000"/>
                </a:solidFill>
                <a:latin typeface="Calibri" pitchFamily="34" charset="0"/>
              </a:endParaRPr>
            </a:p>
          </p:txBody>
        </p:sp>
        <p:graphicFrame>
          <p:nvGraphicFramePr>
            <p:cNvPr id="18" name="Objekt 17"/>
            <p:cNvGraphicFramePr>
              <a:graphicFrameLocks noChangeAspect="1"/>
            </p:cNvGraphicFramePr>
            <p:nvPr/>
          </p:nvGraphicFramePr>
          <p:xfrm>
            <a:off x="2004244" y="5693186"/>
            <a:ext cx="3071812" cy="4111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371" name="Formel" r:id="rId4" imgW="1993680" imgH="266400" progId="Equation.3">
                    <p:embed/>
                  </p:oleObj>
                </mc:Choice>
                <mc:Fallback>
                  <p:oleObj name="Formel" r:id="rId4" imgW="1993680" imgH="2664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04244" y="5693186"/>
                          <a:ext cx="3071812" cy="41116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71719867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36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6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3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36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36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3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634" grpId="0"/>
      <p:bldP spid="23636" grpId="0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Ask user</a:t>
            </a:r>
          </a:p>
        </p:txBody>
      </p:sp>
      <p:sp>
        <p:nvSpPr>
          <p:cNvPr id="22531" name="Inhaltsplatzhalter 2"/>
          <p:cNvSpPr>
            <a:spLocks noGrp="1"/>
          </p:cNvSpPr>
          <p:nvPr>
            <p:ph idx="1"/>
          </p:nvPr>
        </p:nvSpPr>
        <p:spPr>
          <a:xfrm>
            <a:off x="457200" y="1410200"/>
            <a:ext cx="8229600" cy="4525963"/>
          </a:xfrm>
        </p:spPr>
        <p:txBody>
          <a:bodyPr/>
          <a:lstStyle/>
          <a:p>
            <a:r>
              <a:rPr lang="en-US" dirty="0"/>
              <a:t>Computation of minimal revisions of </a:t>
            </a:r>
            <a:r>
              <a:rPr lang="en-US" dirty="0" smtClean="0"/>
              <a:t>requirements</a:t>
            </a:r>
          </a:p>
          <a:p>
            <a:endParaRPr lang="en-US" dirty="0" smtClean="0"/>
          </a:p>
          <a:p>
            <a:pPr lvl="1"/>
            <a:r>
              <a:rPr lang="en-US" dirty="0" smtClean="0"/>
              <a:t>Do you want to relax your brand preference?</a:t>
            </a:r>
          </a:p>
          <a:p>
            <a:pPr lvl="2"/>
            <a:r>
              <a:rPr lang="en-US" dirty="0" smtClean="0"/>
              <a:t>Accept </a:t>
            </a:r>
            <a:r>
              <a:rPr lang="en-US" i="1" dirty="0" smtClean="0"/>
              <a:t>Panasonic</a:t>
            </a:r>
            <a:r>
              <a:rPr lang="en-US" dirty="0" smtClean="0"/>
              <a:t> instead of </a:t>
            </a:r>
            <a:r>
              <a:rPr lang="en-US" i="1" dirty="0" smtClean="0"/>
              <a:t>Canon</a:t>
            </a:r>
            <a:r>
              <a:rPr lang="en-US" dirty="0" smtClean="0"/>
              <a:t> brand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Or is photographing landscapes with a wide-angle lens and maximum cost less important?</a:t>
            </a:r>
          </a:p>
          <a:p>
            <a:pPr lvl="2"/>
            <a:r>
              <a:rPr lang="en-US" dirty="0" smtClean="0"/>
              <a:t>Lower focal length &gt; 28mm and Price &gt; 350 EUR</a:t>
            </a:r>
          </a:p>
          <a:p>
            <a:pPr lvl="2"/>
            <a:endParaRPr lang="en-US" dirty="0" smtClean="0"/>
          </a:p>
          <a:p>
            <a:pPr lvl="1"/>
            <a:r>
              <a:rPr lang="en-US" dirty="0" smtClean="0"/>
              <a:t>Optionally </a:t>
            </a:r>
            <a:r>
              <a:rPr lang="en-US" dirty="0"/>
              <a:t>guided by some predefined weights or past  community behavior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Be aware of possible revisions </a:t>
            </a:r>
            <a:r>
              <a:rPr lang="en-US" sz="1800" b="0" dirty="0"/>
              <a:t>(e.g. age, family status, …)</a:t>
            </a:r>
          </a:p>
        </p:txBody>
      </p:sp>
    </p:spTree>
    <p:extLst>
      <p:ext uri="{BB962C8B-B14F-4D97-AF65-F5344CB8AC3E}">
        <p14:creationId xmlns:p14="http://schemas.microsoft.com/office/powerpoint/2010/main" val="3915840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Constraint-based recommendation III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47198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 smtClean="0"/>
              <a:t>More variants of recommendation task</a:t>
            </a:r>
          </a:p>
          <a:p>
            <a:pPr lvl="1">
              <a:defRPr/>
            </a:pPr>
            <a:r>
              <a:rPr lang="en-US" dirty="0"/>
              <a:t>Customers maybe not know what they are </a:t>
            </a:r>
            <a:r>
              <a:rPr lang="en-US" dirty="0" smtClean="0"/>
              <a:t>seeking</a:t>
            </a:r>
          </a:p>
          <a:p>
            <a:pPr lvl="1">
              <a:defRPr/>
            </a:pPr>
            <a:r>
              <a:rPr lang="en-US" dirty="0" smtClean="0"/>
              <a:t>Find "diverse" sets of items</a:t>
            </a:r>
          </a:p>
          <a:p>
            <a:pPr lvl="2">
              <a:defRPr/>
            </a:pPr>
            <a:r>
              <a:rPr lang="en-US" dirty="0" smtClean="0"/>
              <a:t>Notion of similarity/dissimilarity</a:t>
            </a:r>
          </a:p>
          <a:p>
            <a:pPr lvl="2">
              <a:defRPr/>
            </a:pPr>
            <a:r>
              <a:rPr lang="en-US" dirty="0" smtClean="0"/>
              <a:t>Idea that users navigate a product space</a:t>
            </a:r>
          </a:p>
          <a:p>
            <a:pPr lvl="2">
              <a:defRPr/>
            </a:pPr>
            <a:r>
              <a:rPr lang="en-US" dirty="0" smtClean="0"/>
              <a:t>If recommendations are more diverse than users can navigate via critiques on recommended "entry points" more efficiently (less steps of interaction)</a:t>
            </a:r>
          </a:p>
          <a:p>
            <a:pPr lvl="1">
              <a:buFontTx/>
              <a:buNone/>
              <a:defRPr/>
            </a:pPr>
            <a:endParaRPr lang="en-US" dirty="0" smtClean="0"/>
          </a:p>
          <a:p>
            <a:pPr lvl="1">
              <a:defRPr/>
            </a:pPr>
            <a:r>
              <a:rPr lang="en-US" dirty="0" smtClean="0"/>
              <a:t>Bundling of recommendations</a:t>
            </a:r>
          </a:p>
          <a:p>
            <a:pPr lvl="2">
              <a:defRPr/>
            </a:pPr>
            <a:r>
              <a:rPr lang="en-US" dirty="0" smtClean="0"/>
              <a:t>Find item bundles that match together according to some knowledge</a:t>
            </a:r>
          </a:p>
          <a:p>
            <a:pPr lvl="3">
              <a:defRPr/>
            </a:pPr>
            <a:r>
              <a:rPr lang="en-US" dirty="0" smtClean="0"/>
              <a:t>E.g. travel packages, skin care treatments or financial portfolios</a:t>
            </a:r>
          </a:p>
          <a:p>
            <a:pPr lvl="3">
              <a:defRPr/>
            </a:pPr>
            <a:r>
              <a:rPr lang="en-US" dirty="0" smtClean="0"/>
              <a:t>RS for different item categories, CSP restricts configuring  of bundles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5997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11560" y="260648"/>
            <a:ext cx="7772400" cy="1143000"/>
          </a:xfrm>
        </p:spPr>
        <p:txBody>
          <a:bodyPr/>
          <a:lstStyle/>
          <a:p>
            <a:r>
              <a:rPr lang="en-US" dirty="0" smtClean="0"/>
              <a:t>Conversational strategies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85800" y="1412776"/>
            <a:ext cx="5182344" cy="4752528"/>
          </a:xfrm>
        </p:spPr>
        <p:txBody>
          <a:bodyPr/>
          <a:lstStyle/>
          <a:p>
            <a:r>
              <a:rPr lang="en-US" smtClean="0"/>
              <a:t>Process consisting of multiple conversational moves</a:t>
            </a:r>
          </a:p>
          <a:p>
            <a:pPr lvl="1"/>
            <a:r>
              <a:rPr lang="en-US" smtClean="0"/>
              <a:t>Resembles natural sales interactions</a:t>
            </a:r>
          </a:p>
          <a:p>
            <a:pPr lvl="1"/>
            <a:r>
              <a:rPr lang="en-US" smtClean="0"/>
              <a:t>Not all user requirements known beforehand</a:t>
            </a:r>
          </a:p>
          <a:p>
            <a:pPr lvl="1"/>
            <a:r>
              <a:rPr lang="en-US" smtClean="0"/>
              <a:t>Customers are rarely satisfied with the initial recommendations</a:t>
            </a:r>
          </a:p>
          <a:p>
            <a:r>
              <a:rPr lang="en-US" smtClean="0"/>
              <a:t>Different styles of preference elicitation:</a:t>
            </a:r>
          </a:p>
          <a:p>
            <a:pPr lvl="1"/>
            <a:r>
              <a:rPr lang="en-US" smtClean="0"/>
              <a:t>Free text query interface</a:t>
            </a:r>
          </a:p>
          <a:p>
            <a:pPr lvl="1"/>
            <a:r>
              <a:rPr lang="en-US" smtClean="0"/>
              <a:t>Asking technical/generic properties</a:t>
            </a:r>
          </a:p>
          <a:p>
            <a:pPr lvl="1"/>
            <a:r>
              <a:rPr lang="en-US" smtClean="0"/>
              <a:t>Images / inspiration</a:t>
            </a:r>
          </a:p>
          <a:p>
            <a:pPr lvl="1"/>
            <a:r>
              <a:rPr lang="en-US" smtClean="0"/>
              <a:t>Proposing and Critiquing</a:t>
            </a:r>
          </a:p>
        </p:txBody>
      </p:sp>
      <p:pic>
        <p:nvPicPr>
          <p:cNvPr id="132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2160" y="1556792"/>
            <a:ext cx="2805595" cy="3960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3383014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pieren 8"/>
          <p:cNvGrpSpPr/>
          <p:nvPr/>
        </p:nvGrpSpPr>
        <p:grpSpPr>
          <a:xfrm>
            <a:off x="775667" y="3177685"/>
            <a:ext cx="7429500" cy="2100833"/>
            <a:chOff x="755576" y="3861048"/>
            <a:chExt cx="7429500" cy="2100833"/>
          </a:xfrm>
        </p:grpSpPr>
        <p:pic>
          <p:nvPicPr>
            <p:cNvPr id="10" name="Picture 2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755576" y="3933056"/>
              <a:ext cx="7429500" cy="20288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" name="Rechteck 10"/>
            <p:cNvSpPr/>
            <p:nvPr/>
          </p:nvSpPr>
          <p:spPr bwMode="auto">
            <a:xfrm>
              <a:off x="899592" y="3861048"/>
              <a:ext cx="4104456" cy="288032"/>
            </a:xfrm>
            <a:prstGeom prst="rect">
              <a:avLst/>
            </a:prstGeom>
            <a:solidFill>
              <a:schemeClr val="bg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  <a:ea typeface="ＭＳ Ｐゴシック" pitchFamily="-112" charset="-128"/>
              </a:endParaRPr>
            </a:p>
          </p:txBody>
        </p:sp>
      </p:grp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85800" y="188640"/>
            <a:ext cx="5902424" cy="1143000"/>
          </a:xfrm>
        </p:spPr>
        <p:txBody>
          <a:bodyPr/>
          <a:lstStyle/>
          <a:p>
            <a:r>
              <a:rPr lang="en-US" dirty="0" smtClean="0"/>
              <a:t>Example: adaptive strategy selection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28303" y="1812497"/>
            <a:ext cx="8134672" cy="1514078"/>
          </a:xfrm>
        </p:spPr>
        <p:txBody>
          <a:bodyPr/>
          <a:lstStyle/>
          <a:p>
            <a:r>
              <a:rPr lang="en-US" dirty="0" smtClean="0"/>
              <a:t>State model, different actions possible</a:t>
            </a:r>
          </a:p>
          <a:p>
            <a:pPr lvl="1"/>
            <a:r>
              <a:rPr lang="en-US" dirty="0" smtClean="0"/>
              <a:t>Propose item, ask user, relax/tighten result set,…</a:t>
            </a:r>
          </a:p>
        </p:txBody>
      </p:sp>
      <p:sp>
        <p:nvSpPr>
          <p:cNvPr id="7" name="Rechteck 6"/>
          <p:cNvSpPr/>
          <p:nvPr/>
        </p:nvSpPr>
        <p:spPr>
          <a:xfrm>
            <a:off x="793630" y="5030148"/>
            <a:ext cx="1866921" cy="307777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sz="1400" b="0" smtClean="0">
                <a:latin typeface="Calibri" pitchFamily="34" charset="0"/>
              </a:rPr>
              <a:t>[Ricci et al., JITT, 2009] </a:t>
            </a:r>
            <a:endParaRPr lang="en-US" sz="1400" b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914911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Limitations of knowledge-based recommendation methods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525963"/>
          </a:xfrm>
        </p:spPr>
        <p:txBody>
          <a:bodyPr/>
          <a:lstStyle/>
          <a:p>
            <a:r>
              <a:rPr lang="en-US" dirty="0" smtClean="0"/>
              <a:t>Cost of knowledge acquisition</a:t>
            </a:r>
          </a:p>
          <a:p>
            <a:pPr lvl="1"/>
            <a:r>
              <a:rPr lang="en-US" dirty="0" smtClean="0"/>
              <a:t>From domain experts</a:t>
            </a:r>
          </a:p>
          <a:p>
            <a:pPr lvl="1"/>
            <a:r>
              <a:rPr lang="en-US" dirty="0" smtClean="0"/>
              <a:t>From users</a:t>
            </a:r>
          </a:p>
          <a:p>
            <a:pPr lvl="1"/>
            <a:r>
              <a:rPr lang="en-US" dirty="0" smtClean="0"/>
              <a:t>Remedy: exploit web resources</a:t>
            </a:r>
          </a:p>
          <a:p>
            <a:pPr lvl="2"/>
            <a:endParaRPr lang="en-US" dirty="0" smtClean="0"/>
          </a:p>
          <a:p>
            <a:r>
              <a:rPr lang="en-US" dirty="0" smtClean="0"/>
              <a:t>Accuracy of preference models</a:t>
            </a:r>
          </a:p>
          <a:p>
            <a:pPr lvl="1"/>
            <a:r>
              <a:rPr lang="en-US" dirty="0" smtClean="0"/>
              <a:t>Very fine granular preference models require many interaction cycles with the user or sufficient detailed data about the user </a:t>
            </a:r>
          </a:p>
          <a:p>
            <a:pPr lvl="1"/>
            <a:r>
              <a:rPr lang="en-US" dirty="0" smtClean="0"/>
              <a:t>Remedy: use collaborative filtering, estimates the preference of a user </a:t>
            </a:r>
          </a:p>
          <a:p>
            <a:pPr marL="0" indent="0">
              <a:buNone/>
              <a:tabLst>
                <a:tab pos="714375" algn="l"/>
              </a:tabLst>
            </a:pPr>
            <a:r>
              <a:rPr lang="en-US" dirty="0" smtClean="0"/>
              <a:t>	However: preference models may be instable </a:t>
            </a:r>
          </a:p>
          <a:p>
            <a:pPr lvl="2"/>
            <a:r>
              <a:rPr lang="en-US" dirty="0" smtClean="0"/>
              <a:t>E.g. asymmetric dominance effects and decoy items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52915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857224" y="2643182"/>
            <a:ext cx="7358114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>
                <a:rot lat="0" lon="0" rev="0"/>
              </a:camera>
              <a:lightRig rig="glow" dir="t">
                <a:rot lat="0" lon="0" rev="3600000"/>
              </a:lightRig>
            </a:scene3d>
            <a:sp3d prstMaterial="softEdge">
              <a:bevelT w="29210" h="16510"/>
              <a:contourClr>
                <a:schemeClr val="accent4">
                  <a:alpha val="95000"/>
                </a:schemeClr>
              </a:contourClr>
            </a:sp3d>
          </a:bodyPr>
          <a:lstStyle/>
          <a:p>
            <a:pPr algn="ctr"/>
            <a:r>
              <a:rPr lang="en-US" sz="3600" dirty="0" smtClean="0">
                <a:ln>
                  <a:prstDash val="solid"/>
                </a:ln>
                <a:solidFill>
                  <a:srgbClr val="002060"/>
                </a:solidFill>
                <a:latin typeface="Calibri" pitchFamily="34" charset="0"/>
              </a:rPr>
              <a:t>Hybridization Strategies</a:t>
            </a:r>
            <a:endParaRPr lang="en-US" sz="3600" dirty="0">
              <a:ln>
                <a:prstDash val="solid"/>
              </a:ln>
              <a:solidFill>
                <a:srgbClr val="002060"/>
              </a:solidFill>
              <a:latin typeface="Calibri" pitchFamily="34" charset="0"/>
            </a:endParaRPr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800" y="3356992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01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Hybrid recommender systems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 smtClean="0"/>
              <a:t>All three base techniques are naturally incorporated by a good sales assistance (at different stages of the sales act) </a:t>
            </a:r>
            <a:r>
              <a:rPr lang="en-US" sz="1800" b="1" dirty="0" smtClean="0"/>
              <a:t>but</a:t>
            </a:r>
            <a:r>
              <a:rPr lang="en-US" sz="1800" dirty="0" smtClean="0"/>
              <a:t> have their shortcomings  </a:t>
            </a:r>
          </a:p>
          <a:p>
            <a:endParaRPr lang="en-US" sz="1800" dirty="0" smtClean="0"/>
          </a:p>
          <a:p>
            <a:r>
              <a:rPr lang="en-US" sz="1800" dirty="0" smtClean="0"/>
              <a:t>Idea of crossing two (or more) species/implementations</a:t>
            </a:r>
          </a:p>
          <a:p>
            <a:pPr lvl="1"/>
            <a:r>
              <a:rPr lang="en-US" sz="1600" i="1" dirty="0" err="1" smtClean="0"/>
              <a:t>hybrida</a:t>
            </a:r>
            <a:r>
              <a:rPr lang="en-US" sz="1600" dirty="0" smtClean="0"/>
              <a:t> [lat.]: denotes an object made by combining two different elements</a:t>
            </a:r>
          </a:p>
          <a:p>
            <a:pPr lvl="1"/>
            <a:r>
              <a:rPr lang="en-US" sz="1600" dirty="0" smtClean="0"/>
              <a:t>Avoid some of the shortcomings</a:t>
            </a:r>
          </a:p>
          <a:p>
            <a:pPr lvl="1"/>
            <a:r>
              <a:rPr lang="en-US" sz="1600" dirty="0" smtClean="0"/>
              <a:t>Reach desirable properties not present in individual approaches</a:t>
            </a:r>
          </a:p>
          <a:p>
            <a:endParaRPr lang="en-US" sz="1800" dirty="0" smtClean="0"/>
          </a:p>
          <a:p>
            <a:r>
              <a:rPr lang="en-US" sz="1800" dirty="0" smtClean="0"/>
              <a:t>Different hybridization designs </a:t>
            </a:r>
          </a:p>
          <a:p>
            <a:pPr lvl="1"/>
            <a:r>
              <a:rPr lang="en-US" sz="1600" dirty="0"/>
              <a:t>Monolithic exploiting different features</a:t>
            </a:r>
          </a:p>
          <a:p>
            <a:pPr lvl="1"/>
            <a:r>
              <a:rPr lang="en-US" sz="1600" dirty="0" smtClean="0"/>
              <a:t>Parallel use of several systems</a:t>
            </a:r>
          </a:p>
          <a:p>
            <a:pPr lvl="1"/>
            <a:r>
              <a:rPr lang="en-US" sz="1600" dirty="0" smtClean="0"/>
              <a:t>Pipelined invocation of different systems </a:t>
            </a:r>
          </a:p>
        </p:txBody>
      </p:sp>
    </p:spTree>
    <p:extLst>
      <p:ext uri="{BB962C8B-B14F-4D97-AF65-F5344CB8AC3E}">
        <p14:creationId xmlns:p14="http://schemas.microsoft.com/office/powerpoint/2010/main" val="261788612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Monolithic hybridization design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Only a single recommendation component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Hybridization is "virtual" in the sense that</a:t>
            </a:r>
          </a:p>
          <a:p>
            <a:pPr lvl="1"/>
            <a:r>
              <a:rPr lang="en-US" dirty="0" smtClean="0"/>
              <a:t>Features/knowledge sources of different paradigms are combined </a:t>
            </a:r>
          </a:p>
        </p:txBody>
      </p:sp>
      <p:pic>
        <p:nvPicPr>
          <p:cNvPr id="31748" name="Picture 5" descr="Chapter_5_fusioned_hybrid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87450" y="2133600"/>
            <a:ext cx="6924675" cy="2016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4158977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Monolithic hybridization designs: Feature combination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/>
              <a:t>"</a:t>
            </a:r>
            <a:r>
              <a:rPr lang="en-US" dirty="0" smtClean="0"/>
              <a:t>Hybrid" user features:</a:t>
            </a:r>
          </a:p>
          <a:p>
            <a:pPr lvl="1"/>
            <a:r>
              <a:rPr lang="en-US" dirty="0" smtClean="0"/>
              <a:t>Social features: Movies liked by user</a:t>
            </a:r>
          </a:p>
          <a:p>
            <a:pPr lvl="1"/>
            <a:r>
              <a:rPr lang="en-US" dirty="0" smtClean="0"/>
              <a:t>Content features: Comedies liked by user, dramas liked by user</a:t>
            </a:r>
          </a:p>
          <a:p>
            <a:pPr lvl="1"/>
            <a:r>
              <a:rPr lang="en-US" dirty="0" smtClean="0"/>
              <a:t>Hybrid features: users who like many movies that are comedies, …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“</a:t>
            </a:r>
            <a:r>
              <a:rPr lang="en-US" i="1" dirty="0" smtClean="0"/>
              <a:t>the common knowledge engineering effort that involves inventing good features to enable successful learning</a:t>
            </a:r>
            <a:r>
              <a:rPr lang="en-US" dirty="0" smtClean="0"/>
              <a:t>” [BHC98]</a:t>
            </a:r>
          </a:p>
        </p:txBody>
      </p:sp>
    </p:spTree>
    <p:extLst>
      <p:ext uri="{BB962C8B-B14F-4D97-AF65-F5344CB8AC3E}">
        <p14:creationId xmlns:p14="http://schemas.microsoft.com/office/powerpoint/2010/main" val="414992974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Monolithic hybridization designs: Feature augmentation</a:t>
            </a:r>
          </a:p>
        </p:txBody>
      </p:sp>
      <p:sp>
        <p:nvSpPr>
          <p:cNvPr id="337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Content-boosted collaborative filtering [MMN02]</a:t>
            </a:r>
          </a:p>
          <a:p>
            <a:pPr lvl="1"/>
            <a:r>
              <a:rPr lang="en-US" dirty="0" smtClean="0"/>
              <a:t>Based on content features additional ratings are created</a:t>
            </a:r>
          </a:p>
          <a:p>
            <a:pPr lvl="1"/>
            <a:r>
              <a:rPr lang="en-US" dirty="0" smtClean="0"/>
              <a:t>E.g. Alice likes Items 1 and 3 (unary ratings)</a:t>
            </a:r>
          </a:p>
          <a:p>
            <a:pPr lvl="2"/>
            <a:r>
              <a:rPr lang="en-US" dirty="0" smtClean="0"/>
              <a:t> Item7 is similar to 1 and 3 by a degree of 0,75</a:t>
            </a:r>
          </a:p>
          <a:p>
            <a:pPr lvl="2"/>
            <a:r>
              <a:rPr lang="en-US" dirty="0" smtClean="0"/>
              <a:t>Thus Alice likes Item7 by 0,75</a:t>
            </a:r>
          </a:p>
          <a:p>
            <a:pPr lvl="1"/>
            <a:r>
              <a:rPr lang="en-US" dirty="0" smtClean="0"/>
              <a:t>Item matrices become less sparse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Recommendation of research papers [TMA+04]</a:t>
            </a:r>
          </a:p>
          <a:p>
            <a:pPr lvl="1"/>
            <a:r>
              <a:rPr lang="en-US" dirty="0" smtClean="0"/>
              <a:t>Citations interpreted as collaborative recommendations</a:t>
            </a:r>
          </a:p>
          <a:p>
            <a:pPr lvl="1"/>
            <a:r>
              <a:rPr lang="en-US" dirty="0" smtClean="0"/>
              <a:t>Integrated in content-based recommendation method</a:t>
            </a:r>
          </a:p>
        </p:txBody>
      </p:sp>
    </p:spTree>
    <p:extLst>
      <p:ext uri="{BB962C8B-B14F-4D97-AF65-F5344CB8AC3E}">
        <p14:creationId xmlns:p14="http://schemas.microsoft.com/office/powerpoint/2010/main" val="326502723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Parallelized hybridization design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419225"/>
            <a:ext cx="8229600" cy="1828800"/>
          </a:xfrm>
        </p:spPr>
        <p:txBody>
          <a:bodyPr/>
          <a:lstStyle/>
          <a:p>
            <a:r>
              <a:rPr lang="en-US" dirty="0" smtClean="0"/>
              <a:t>Output of several existing implementations combined</a:t>
            </a:r>
          </a:p>
          <a:p>
            <a:r>
              <a:rPr lang="en-US" dirty="0" smtClean="0"/>
              <a:t>Least invasive design</a:t>
            </a:r>
          </a:p>
          <a:p>
            <a:r>
              <a:rPr lang="en-US" dirty="0"/>
              <a:t>W</a:t>
            </a:r>
            <a:r>
              <a:rPr lang="en-US" dirty="0" smtClean="0"/>
              <a:t>eighting or voting scheme applied</a:t>
            </a:r>
          </a:p>
          <a:p>
            <a:pPr lvl="1"/>
            <a:r>
              <a:rPr lang="en-US" dirty="0" smtClean="0"/>
              <a:t>Weights can be learned dynamically</a:t>
            </a:r>
          </a:p>
        </p:txBody>
      </p:sp>
      <p:pic>
        <p:nvPicPr>
          <p:cNvPr id="34820" name="Picture 4" descr="Chapter_5_parallel_hybrid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8313" y="3525838"/>
            <a:ext cx="8207375" cy="2439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88191622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Parallelized hybridization design: Switching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324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457200" y="1371600"/>
                <a:ext cx="8229600" cy="4525963"/>
              </a:xfrm>
            </p:spPr>
            <p:txBody>
              <a:bodyPr/>
              <a:lstStyle/>
              <a:p>
                <a:r>
                  <a:rPr lang="en-US" dirty="0"/>
                  <a:t>Special case of dynamic weights (all weights except one are 0)</a:t>
                </a:r>
              </a:p>
              <a:p>
                <a:endParaRPr lang="en-US" dirty="0" smtClean="0"/>
              </a:p>
              <a:p>
                <a:r>
                  <a:rPr lang="en-US" dirty="0" smtClean="0"/>
                  <a:t>Requires an oracle that decides which recommender is used</a:t>
                </a:r>
              </a:p>
              <a:p>
                <a:pPr marL="40005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de-DE" sz="2400" i="1">
                          <a:latin typeface="Cambria Math"/>
                          <a:ea typeface="Cambria Math"/>
                        </a:rPr>
                        <m:t>	</m:t>
                      </m:r>
                    </m:oMath>
                  </m:oMathPara>
                </a14:m>
                <a:endParaRPr lang="en-US" sz="2800" dirty="0" smtClean="0"/>
              </a:p>
              <a:p>
                <a:r>
                  <a:rPr lang="en-US" dirty="0" smtClean="0"/>
                  <a:t>Example:</a:t>
                </a:r>
              </a:p>
              <a:p>
                <a:pPr lvl="1"/>
                <a:r>
                  <a:rPr lang="en-US" dirty="0" smtClean="0"/>
                  <a:t>Switching is based on some quality criteria:</a:t>
                </a:r>
                <a:br>
                  <a:rPr lang="en-US" dirty="0" smtClean="0"/>
                </a:br>
                <a:r>
                  <a:rPr lang="en-US" dirty="0" smtClean="0"/>
                  <a:t>E.g. if too few ratings in the system, use knowledge-based, else collaborative</a:t>
                </a:r>
              </a:p>
            </p:txBody>
          </p:sp>
        </mc:Choice>
        <mc:Fallback xmlns="">
          <p:sp>
            <p:nvSpPr>
              <p:cNvPr id="56324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371600"/>
                <a:ext cx="8229600" cy="4525963"/>
              </a:xfrm>
              <a:blipFill rotWithShape="1">
                <a:blip r:embed="rId3"/>
                <a:stretch>
                  <a:fillRect l="-593" t="-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Grafik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2295" y="1230114"/>
            <a:ext cx="1000124" cy="1000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01501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Pipelined hybridization designs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One recommender system pre-processes some input for the subsequent one</a:t>
            </a:r>
          </a:p>
          <a:p>
            <a:pPr lvl="1"/>
            <a:r>
              <a:rPr lang="en-US" smtClean="0"/>
              <a:t>Cascade</a:t>
            </a:r>
          </a:p>
          <a:p>
            <a:pPr lvl="1"/>
            <a:r>
              <a:rPr lang="en-US" smtClean="0"/>
              <a:t>Meta-level</a:t>
            </a:r>
          </a:p>
          <a:p>
            <a:r>
              <a:rPr lang="en-US" smtClean="0"/>
              <a:t>Refinement of recommendation lists (cascade)</a:t>
            </a:r>
          </a:p>
          <a:p>
            <a:r>
              <a:rPr lang="en-US" smtClean="0"/>
              <a:t>Learning of model (e.g. collaborative knowledge-based meta-level)</a:t>
            </a:r>
          </a:p>
        </p:txBody>
      </p:sp>
      <p:pic>
        <p:nvPicPr>
          <p:cNvPr id="40964" name="Picture 4" descr="Chapter_5_pipelined_hybrid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39750" y="4292600"/>
            <a:ext cx="8388350" cy="1503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63237780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Pipelined hybridization designs: Cascade</a:t>
            </a:r>
          </a:p>
        </p:txBody>
      </p:sp>
      <p:sp>
        <p:nvSpPr>
          <p:cNvPr id="4301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97923"/>
            <a:ext cx="8229600" cy="4525963"/>
          </a:xfrm>
        </p:spPr>
        <p:txBody>
          <a:bodyPr/>
          <a:lstStyle/>
          <a:p>
            <a:pPr>
              <a:lnSpc>
                <a:spcPct val="90000"/>
              </a:lnSpc>
            </a:pPr>
            <a:endParaRPr lang="en-US" smtClean="0"/>
          </a:p>
          <a:p>
            <a:pPr>
              <a:lnSpc>
                <a:spcPct val="90000"/>
              </a:lnSpc>
            </a:pPr>
            <a:endParaRPr lang="en-US" smtClean="0"/>
          </a:p>
          <a:p>
            <a:pPr>
              <a:lnSpc>
                <a:spcPct val="90000"/>
              </a:lnSpc>
            </a:pPr>
            <a:endParaRPr lang="en-US" smtClean="0"/>
          </a:p>
          <a:p>
            <a:pPr>
              <a:lnSpc>
                <a:spcPct val="90000"/>
              </a:lnSpc>
            </a:pPr>
            <a:endParaRPr lang="en-US" smtClean="0"/>
          </a:p>
          <a:p>
            <a:pPr>
              <a:lnSpc>
                <a:spcPct val="90000"/>
              </a:lnSpc>
            </a:pPr>
            <a:endParaRPr lang="en-US" smtClean="0"/>
          </a:p>
          <a:p>
            <a:pPr>
              <a:lnSpc>
                <a:spcPct val="90000"/>
              </a:lnSpc>
              <a:buNone/>
            </a:pPr>
            <a:endParaRPr lang="en-US" smtClean="0"/>
          </a:p>
          <a:p>
            <a:pPr>
              <a:lnSpc>
                <a:spcPct val="90000"/>
              </a:lnSpc>
              <a:buNone/>
            </a:pPr>
            <a:endParaRPr lang="en-US" smtClean="0"/>
          </a:p>
          <a:p>
            <a:pPr>
              <a:lnSpc>
                <a:spcPct val="90000"/>
              </a:lnSpc>
            </a:pPr>
            <a:r>
              <a:rPr lang="en-US" smtClean="0"/>
              <a:t>Recommendation list is continually reduced </a:t>
            </a:r>
          </a:p>
          <a:p>
            <a:pPr>
              <a:lnSpc>
                <a:spcPct val="90000"/>
              </a:lnSpc>
            </a:pPr>
            <a:r>
              <a:rPr lang="en-US" smtClean="0"/>
              <a:t>First recommender excludes items</a:t>
            </a:r>
          </a:p>
          <a:p>
            <a:pPr lvl="1">
              <a:lnSpc>
                <a:spcPct val="90000"/>
              </a:lnSpc>
            </a:pPr>
            <a:r>
              <a:rPr lang="en-US" smtClean="0"/>
              <a:t>Remove absolute no-go items (e.g. knowledge-based)</a:t>
            </a:r>
          </a:p>
          <a:p>
            <a:pPr>
              <a:lnSpc>
                <a:spcPct val="90000"/>
              </a:lnSpc>
            </a:pPr>
            <a:r>
              <a:rPr lang="en-US" smtClean="0"/>
              <a:t>Second recommender assigns score</a:t>
            </a:r>
          </a:p>
          <a:p>
            <a:pPr lvl="1">
              <a:lnSpc>
                <a:spcPct val="90000"/>
              </a:lnSpc>
            </a:pPr>
            <a:r>
              <a:rPr lang="en-US" smtClean="0"/>
              <a:t>Ordering and refinement (e.g. collaborative)</a:t>
            </a:r>
            <a:endParaRPr lang="en-US" dirty="0" smtClean="0"/>
          </a:p>
        </p:txBody>
      </p:sp>
      <p:pic>
        <p:nvPicPr>
          <p:cNvPr id="4301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148263" y="1353500"/>
            <a:ext cx="3348037" cy="13350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43013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00113" y="1399538"/>
            <a:ext cx="3313112" cy="13208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43014" name="Picture 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492500" y="3001325"/>
            <a:ext cx="3240088" cy="130492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43015" name="Oval 7"/>
          <p:cNvSpPr>
            <a:spLocks noChangeArrowheads="1"/>
          </p:cNvSpPr>
          <p:nvPr/>
        </p:nvSpPr>
        <p:spPr bwMode="auto">
          <a:xfrm>
            <a:off x="6445250" y="1569400"/>
            <a:ext cx="647700" cy="215900"/>
          </a:xfrm>
          <a:prstGeom prst="ellipse">
            <a:avLst/>
          </a:prstGeom>
          <a:noFill/>
          <a:ln w="19050" algn="ctr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3016" name="Line 8"/>
          <p:cNvSpPr>
            <a:spLocks noChangeShapeType="1"/>
          </p:cNvSpPr>
          <p:nvPr/>
        </p:nvSpPr>
        <p:spPr bwMode="auto">
          <a:xfrm flipH="1">
            <a:off x="5364163" y="1785300"/>
            <a:ext cx="1223962" cy="1512888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  <p:sp>
        <p:nvSpPr>
          <p:cNvPr id="43017" name="Oval 9"/>
          <p:cNvSpPr>
            <a:spLocks noChangeArrowheads="1"/>
          </p:cNvSpPr>
          <p:nvPr/>
        </p:nvSpPr>
        <p:spPr bwMode="auto">
          <a:xfrm>
            <a:off x="2195513" y="1856738"/>
            <a:ext cx="647700" cy="215900"/>
          </a:xfrm>
          <a:prstGeom prst="ellipse">
            <a:avLst/>
          </a:prstGeom>
          <a:noFill/>
          <a:ln w="19050" algn="ctr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43018" name="Line 10"/>
          <p:cNvSpPr>
            <a:spLocks noChangeShapeType="1"/>
          </p:cNvSpPr>
          <p:nvPr/>
        </p:nvSpPr>
        <p:spPr bwMode="auto">
          <a:xfrm>
            <a:off x="2843213" y="2072638"/>
            <a:ext cx="2089150" cy="144145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26094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Pipelined hybridization designs: Meta-level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3492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457200" y="1323975"/>
                <a:ext cx="8579296" cy="4625305"/>
              </a:xfrm>
            </p:spPr>
            <p:txBody>
              <a:bodyPr/>
              <a:lstStyle/>
              <a:p>
                <a:pPr>
                  <a:lnSpc>
                    <a:spcPct val="90000"/>
                  </a:lnSpc>
                </a:pPr>
                <a:r>
                  <a:rPr lang="en-US" dirty="0" smtClean="0"/>
                  <a:t>Successor exploits a model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de-DE" sz="2400" i="1">
                        <a:latin typeface="Cambria Math"/>
                      </a:rPr>
                      <m:t>Δ</m:t>
                    </m:r>
                    <m:r>
                      <a:rPr lang="de-DE" sz="2400" i="1">
                        <a:latin typeface="Cambria Math"/>
                      </a:rPr>
                      <m:t> </m:t>
                    </m:r>
                  </m:oMath>
                </a14:m>
                <a:r>
                  <a:rPr lang="en-US" dirty="0" smtClean="0"/>
                  <a:t>built by predecessor</a:t>
                </a:r>
              </a:p>
              <a:p>
                <a:pPr>
                  <a:lnSpc>
                    <a:spcPct val="90000"/>
                  </a:lnSpc>
                </a:pPr>
                <a:endParaRPr lang="en-US" dirty="0" smtClean="0"/>
              </a:p>
              <a:p>
                <a:pPr marL="0" indent="0">
                  <a:lnSpc>
                    <a:spcPct val="90000"/>
                  </a:lnSpc>
                  <a:buNone/>
                </a:pPr>
                <a:endParaRPr lang="en-US" dirty="0" smtClean="0"/>
              </a:p>
              <a:p>
                <a:pPr>
                  <a:lnSpc>
                    <a:spcPct val="900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de-DE" sz="24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de-DE" sz="2400" i="1">
                            <a:latin typeface="Cambria Math"/>
                          </a:rPr>
                          <m:t>Δ</m:t>
                        </m:r>
                      </m:e>
                      <m:sub>
                        <m:sSub>
                          <m:sSubPr>
                            <m:ctrlPr>
                              <a:rPr lang="de-DE" sz="2400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sz="2400" b="1" i="1" smtClean="0">
                                <a:latin typeface="Cambria Math"/>
                              </a:rPr>
                              <m:t>𝒓𝒆𝒄</m:t>
                            </m:r>
                          </m:e>
                          <m:sub>
                            <m:r>
                              <a:rPr lang="de-DE" sz="2400" b="1" i="1" smtClean="0">
                                <a:latin typeface="Cambria Math"/>
                              </a:rPr>
                              <m:t>𝒏</m:t>
                            </m:r>
                            <m:r>
                              <a:rPr lang="de-DE" sz="2400" b="1" i="1" smtClean="0">
                                <a:latin typeface="Cambria Math"/>
                              </a:rPr>
                              <m:t>−</m:t>
                            </m:r>
                            <m:r>
                              <a:rPr lang="de-DE" sz="2400" b="1" i="1" smtClean="0">
                                <a:latin typeface="Cambria Math"/>
                              </a:rPr>
                              <m:t>𝟏</m:t>
                            </m:r>
                          </m:sub>
                        </m:sSub>
                      </m:sub>
                    </m:sSub>
                  </m:oMath>
                </a14:m>
                <a:r>
                  <a:rPr lang="en-US" sz="2400" dirty="0" smtClean="0"/>
                  <a:t>is model built by RS</a:t>
                </a:r>
                <a:r>
                  <a:rPr lang="en-US" sz="2400" baseline="-25000" dirty="0" smtClean="0"/>
                  <a:t>n-1</a:t>
                </a:r>
                <a:r>
                  <a:rPr lang="en-US" sz="2400" dirty="0" smtClean="0"/>
                  <a:t> exploited by </a:t>
                </a:r>
                <a:r>
                  <a:rPr lang="en-US" sz="2400" dirty="0" err="1" smtClean="0"/>
                  <a:t>RS</a:t>
                </a:r>
                <a:r>
                  <a:rPr lang="en-US" sz="2400" baseline="-25000" dirty="0" err="1" smtClean="0"/>
                  <a:t>n</a:t>
                </a:r>
                <a:r>
                  <a:rPr lang="en-US" sz="2400" dirty="0" smtClean="0"/>
                  <a:t> </a:t>
                </a:r>
              </a:p>
              <a:p>
                <a:pPr>
                  <a:lnSpc>
                    <a:spcPct val="90000"/>
                  </a:lnSpc>
                </a:pPr>
                <a:r>
                  <a:rPr lang="en-US" dirty="0" smtClean="0"/>
                  <a:t>Examples: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n-US" dirty="0" smtClean="0"/>
                  <a:t>Fab system: </a:t>
                </a:r>
                <a:r>
                  <a:rPr lang="en-US" dirty="0"/>
                  <a:t>c</a:t>
                </a:r>
                <a:r>
                  <a:rPr lang="en-US" dirty="0" smtClean="0"/>
                  <a:t>ontent-based</a:t>
                </a:r>
                <a:r>
                  <a:rPr lang="en-US" dirty="0"/>
                  <a:t>, collaborative </a:t>
                </a:r>
                <a:r>
                  <a:rPr lang="en-US" dirty="0" smtClean="0"/>
                  <a:t>recommendation [</a:t>
                </a:r>
                <a:r>
                  <a:rPr lang="en-US" dirty="0"/>
                  <a:t>BS97] </a:t>
                </a:r>
                <a:endParaRPr lang="en-US" dirty="0" smtClean="0"/>
              </a:p>
              <a:p>
                <a:pPr lvl="2">
                  <a:lnSpc>
                    <a:spcPct val="90000"/>
                  </a:lnSpc>
                </a:pPr>
                <a:r>
                  <a:rPr lang="en-US" dirty="0" smtClean="0"/>
                  <a:t>Online news domain</a:t>
                </a:r>
              </a:p>
              <a:p>
                <a:pPr lvl="2">
                  <a:lnSpc>
                    <a:spcPct val="90000"/>
                  </a:lnSpc>
                </a:pPr>
                <a:r>
                  <a:rPr lang="en-US" dirty="0" smtClean="0"/>
                  <a:t>Contend based recommender builds user models based on weighted term vectors</a:t>
                </a:r>
              </a:p>
              <a:p>
                <a:pPr lvl="2">
                  <a:lnSpc>
                    <a:spcPct val="90000"/>
                  </a:lnSpc>
                </a:pPr>
                <a:r>
                  <a:rPr lang="en-US" dirty="0" smtClean="0"/>
                  <a:t>Collaborative  filtering identifies similar peers based on </a:t>
                </a:r>
                <a:r>
                  <a:rPr lang="en-US" dirty="0"/>
                  <a:t>weighted term vectors but </a:t>
                </a:r>
                <a:r>
                  <a:rPr lang="en-US" dirty="0" smtClean="0"/>
                  <a:t>makes recommendations based on ratings</a:t>
                </a:r>
              </a:p>
              <a:p>
                <a:pPr lvl="1">
                  <a:lnSpc>
                    <a:spcPct val="90000"/>
                  </a:lnSpc>
                </a:pPr>
                <a:r>
                  <a:rPr lang="en-US" dirty="0" smtClean="0"/>
                  <a:t>Collaborative, constraint-based meta-level RS</a:t>
                </a:r>
              </a:p>
              <a:p>
                <a:pPr lvl="2">
                  <a:lnSpc>
                    <a:spcPct val="90000"/>
                  </a:lnSpc>
                </a:pPr>
                <a:r>
                  <a:rPr lang="en-US" dirty="0" smtClean="0"/>
                  <a:t>Collaborative filtering identifies similar peers</a:t>
                </a:r>
              </a:p>
              <a:p>
                <a:pPr lvl="2">
                  <a:lnSpc>
                    <a:spcPct val="90000"/>
                  </a:lnSpc>
                </a:pPr>
                <a:r>
                  <a:rPr lang="en-US" dirty="0" smtClean="0"/>
                  <a:t>A constraint base is learned by exploiting the behavior of similar peers</a:t>
                </a:r>
              </a:p>
              <a:p>
                <a:pPr lvl="2">
                  <a:lnSpc>
                    <a:spcPct val="90000"/>
                  </a:lnSpc>
                </a:pPr>
                <a:r>
                  <a:rPr lang="en-US" dirty="0" smtClean="0"/>
                  <a:t>Learned constraints are employed to compute recommendations</a:t>
                </a:r>
              </a:p>
            </p:txBody>
          </p:sp>
        </mc:Choice>
        <mc:Fallback xmlns="">
          <p:sp>
            <p:nvSpPr>
              <p:cNvPr id="63492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457200" y="1323975"/>
                <a:ext cx="8579296" cy="4625305"/>
              </a:xfrm>
              <a:blipFill rotWithShape="1">
                <a:blip r:embed="rId4"/>
                <a:stretch>
                  <a:fillRect l="-924" t="-264" r="-569" b="-44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Grafik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2295" y="1871424"/>
            <a:ext cx="1000124" cy="1000124"/>
          </a:xfrm>
          <a:prstGeom prst="rect">
            <a:avLst/>
          </a:prstGeom>
        </p:spPr>
      </p:pic>
      <p:graphicFrame>
        <p:nvGraphicFramePr>
          <p:cNvPr id="2" name="Objek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0708295"/>
              </p:ext>
            </p:extLst>
          </p:nvPr>
        </p:nvGraphicFramePr>
        <p:xfrm>
          <a:off x="827584" y="1871424"/>
          <a:ext cx="5513387" cy="614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5" name="Formel" r:id="rId6" imgW="2730240" imgH="304560" progId="Equation.3">
                  <p:embed/>
                </p:oleObj>
              </mc:Choice>
              <mc:Fallback>
                <p:oleObj name="Formel" r:id="rId6" imgW="2730240" imgH="3045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584" y="1871424"/>
                        <a:ext cx="5513387" cy="614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8220421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What is the best hybridization strategy?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Only few works that compare strategies from the meta-perspective</a:t>
            </a:r>
          </a:p>
          <a:p>
            <a:pPr lvl="1"/>
            <a:r>
              <a:rPr lang="en-US" dirty="0"/>
              <a:t>F</a:t>
            </a:r>
            <a:r>
              <a:rPr lang="en-US" dirty="0" smtClean="0"/>
              <a:t>or instance, [Burke02]</a:t>
            </a:r>
          </a:p>
          <a:p>
            <a:pPr lvl="1"/>
            <a:r>
              <a:rPr lang="en-US" dirty="0" smtClean="0"/>
              <a:t>Most datasets do not allow to compare different recommendation paradigms</a:t>
            </a:r>
          </a:p>
          <a:p>
            <a:pPr lvl="2"/>
            <a:r>
              <a:rPr lang="en-US" dirty="0"/>
              <a:t>I</a:t>
            </a:r>
            <a:r>
              <a:rPr lang="en-US" dirty="0" smtClean="0"/>
              <a:t>.e. ratings, requirements, item features, domain knowledge, critiques rarely available in a single dataset</a:t>
            </a:r>
          </a:p>
          <a:p>
            <a:pPr lvl="1"/>
            <a:r>
              <a:rPr lang="en-US" dirty="0" smtClean="0"/>
              <a:t>Some conclusions are supported by empirical findings</a:t>
            </a:r>
          </a:p>
          <a:p>
            <a:pPr lvl="2"/>
            <a:r>
              <a:rPr lang="en-US" dirty="0" smtClean="0"/>
              <a:t>Monolithic: preprocessing effort traded-in for more knowledge included </a:t>
            </a:r>
          </a:p>
          <a:p>
            <a:pPr lvl="2"/>
            <a:r>
              <a:rPr lang="en-US" dirty="0" smtClean="0"/>
              <a:t>Parallel: requires careful design of scores from different predictors</a:t>
            </a:r>
          </a:p>
          <a:p>
            <a:pPr lvl="2"/>
            <a:r>
              <a:rPr lang="en-US" dirty="0" smtClean="0"/>
              <a:t>Pipelined: works well for two antithetic approaches</a:t>
            </a:r>
          </a:p>
          <a:p>
            <a:r>
              <a:rPr lang="en-US" dirty="0" smtClean="0"/>
              <a:t>Netflix competition – “stacking” recommender systems </a:t>
            </a:r>
          </a:p>
          <a:p>
            <a:pPr lvl="1"/>
            <a:r>
              <a:rPr lang="en-US" dirty="0" smtClean="0"/>
              <a:t>Weighted design based on &gt;100 predictors – recommendation functions</a:t>
            </a:r>
          </a:p>
          <a:p>
            <a:pPr lvl="1"/>
            <a:r>
              <a:rPr lang="en-US" dirty="0" smtClean="0"/>
              <a:t>Adaptive switching of weights based on user model, parameters </a:t>
            </a:r>
            <a:br>
              <a:rPr lang="en-US" dirty="0" smtClean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2045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46083" name="Inhaltsplatzhalter 2"/>
          <p:cNvSpPr>
            <a:spLocks noGrp="1"/>
          </p:cNvSpPr>
          <p:nvPr>
            <p:ph idx="1"/>
          </p:nvPr>
        </p:nvSpPr>
        <p:spPr>
          <a:xfrm>
            <a:off x="467544" y="1196752"/>
            <a:ext cx="8229600" cy="5040560"/>
          </a:xfrm>
        </p:spPr>
        <p:txBody>
          <a:bodyPr/>
          <a:lstStyle/>
          <a:p>
            <a:pPr>
              <a:spcBef>
                <a:spcPts val="300"/>
              </a:spcBef>
              <a:buNone/>
            </a:pPr>
            <a:r>
              <a:rPr lang="en-US" sz="1100" dirty="0" smtClean="0"/>
              <a:t>[</a:t>
            </a:r>
            <a:r>
              <a:rPr lang="en-US" sz="1100" dirty="0" err="1" smtClean="0"/>
              <a:t>Adomavicius</a:t>
            </a:r>
            <a:r>
              <a:rPr lang="en-US" sz="1100" dirty="0" smtClean="0"/>
              <a:t> &amp; </a:t>
            </a:r>
            <a:r>
              <a:rPr lang="en-US" sz="1100" dirty="0" err="1" smtClean="0"/>
              <a:t>Tuzhilin</a:t>
            </a:r>
            <a:r>
              <a:rPr lang="en-US" sz="1100" dirty="0" smtClean="0"/>
              <a:t>, IEEE TKDE, 2005] </a:t>
            </a:r>
            <a:r>
              <a:rPr lang="en-US" sz="1100" dirty="0" err="1" smtClean="0"/>
              <a:t>Adomavicius</a:t>
            </a:r>
            <a:r>
              <a:rPr lang="en-US" sz="1100" dirty="0" smtClean="0"/>
              <a:t> G., </a:t>
            </a:r>
            <a:r>
              <a:rPr lang="en-US" sz="1100" dirty="0" err="1" smtClean="0"/>
              <a:t>Tuzhilin</a:t>
            </a:r>
            <a:r>
              <a:rPr lang="en-US" sz="1100" dirty="0" smtClean="0"/>
              <a:t>, A. Toward the next generation of recommender systems: a survey of the state-of-the-art and possible extensions, IEEE TKDE, 17(6), 2005, pp.734-749.</a:t>
            </a:r>
          </a:p>
          <a:p>
            <a:pPr>
              <a:spcBef>
                <a:spcPts val="300"/>
              </a:spcBef>
              <a:buNone/>
            </a:pPr>
            <a:r>
              <a:rPr lang="en-US" sz="1100" dirty="0"/>
              <a:t>[ALP03] </a:t>
            </a:r>
            <a:r>
              <a:rPr lang="en-US" sz="1100" dirty="0" err="1"/>
              <a:t>Ariely</a:t>
            </a:r>
            <a:r>
              <a:rPr lang="en-US" sz="1100" dirty="0"/>
              <a:t>, D., </a:t>
            </a:r>
            <a:r>
              <a:rPr lang="en-US" sz="1100" dirty="0" err="1"/>
              <a:t>Loewenstein</a:t>
            </a:r>
            <a:r>
              <a:rPr lang="en-US" sz="1100" dirty="0"/>
              <a:t>, G., </a:t>
            </a:r>
            <a:r>
              <a:rPr lang="en-US" sz="1100" dirty="0" err="1"/>
              <a:t>Prelec</a:t>
            </a:r>
            <a:r>
              <a:rPr lang="en-US" sz="1100" dirty="0"/>
              <a:t>, D.  (2003) “Coherent </a:t>
            </a:r>
            <a:r>
              <a:rPr lang="en-US" sz="1100" dirty="0" err="1"/>
              <a:t>Arbitrainess</a:t>
            </a:r>
            <a:r>
              <a:rPr lang="en-US" sz="1100" dirty="0"/>
              <a:t>”:  Stable Demand Curves Without Stable Preferences. The Quarterly Journal of Economics, February 2003, 73-105</a:t>
            </a:r>
            <a:r>
              <a:rPr lang="en-US" sz="1100" dirty="0" smtClean="0"/>
              <a:t>.</a:t>
            </a:r>
          </a:p>
          <a:p>
            <a:pPr>
              <a:spcBef>
                <a:spcPts val="300"/>
              </a:spcBef>
              <a:buNone/>
            </a:pPr>
            <a:r>
              <a:rPr lang="en-US" sz="1100" dirty="0" smtClean="0"/>
              <a:t>[</a:t>
            </a:r>
            <a:r>
              <a:rPr lang="en-US" sz="1100" dirty="0"/>
              <a:t>BKW+10] </a:t>
            </a:r>
            <a:r>
              <a:rPr lang="en-US" sz="1100" dirty="0" err="1"/>
              <a:t>Bollen</a:t>
            </a:r>
            <a:r>
              <a:rPr lang="en-US" sz="1100" dirty="0"/>
              <a:t>, D., </a:t>
            </a:r>
            <a:r>
              <a:rPr lang="en-US" sz="1100" dirty="0" err="1"/>
              <a:t>Knijnenburg</a:t>
            </a:r>
            <a:r>
              <a:rPr lang="en-US" sz="1100" dirty="0"/>
              <a:t>, B., </a:t>
            </a:r>
            <a:r>
              <a:rPr lang="en-US" sz="1100" dirty="0" err="1"/>
              <a:t>Willemsen</a:t>
            </a:r>
            <a:r>
              <a:rPr lang="en-US" sz="1100" dirty="0"/>
              <a:t>, M., </a:t>
            </a:r>
            <a:r>
              <a:rPr lang="en-US" sz="1100" dirty="0" err="1"/>
              <a:t>Graus</a:t>
            </a:r>
            <a:r>
              <a:rPr lang="en-US" sz="1100" dirty="0"/>
              <a:t>, M.  (2010) Understanding Choice Overload in Recommender Systems. ACM Recommender Systems, 63-70.</a:t>
            </a:r>
          </a:p>
          <a:p>
            <a:pPr>
              <a:spcBef>
                <a:spcPts val="300"/>
              </a:spcBef>
              <a:buFont typeface="Wingdings" pitchFamily="2" charset="2"/>
              <a:buNone/>
            </a:pPr>
            <a:r>
              <a:rPr lang="en-US" sz="1100" dirty="0" smtClean="0"/>
              <a:t>[</a:t>
            </a:r>
            <a:r>
              <a:rPr lang="en-US" sz="1100" dirty="0" err="1" smtClean="0"/>
              <a:t>Brynjolfsson</a:t>
            </a:r>
            <a:r>
              <a:rPr lang="en-US" sz="1100" dirty="0" smtClean="0"/>
              <a:t> et al., Mgt. Science, 2003] </a:t>
            </a:r>
            <a:r>
              <a:rPr lang="en-US" sz="1100" dirty="0" err="1" smtClean="0"/>
              <a:t>Brynjolfsson</a:t>
            </a:r>
            <a:r>
              <a:rPr lang="en-US" sz="1100" dirty="0" smtClean="0"/>
              <a:t>, E., Hu, Y., Smith, M.: Consumer  Surplus in the Digital Economy: Estimating the Value of Increased Product Variety at Online Booksellers, </a:t>
            </a:r>
            <a:r>
              <a:rPr lang="en-US" sz="1100" i="1" dirty="0" smtClean="0"/>
              <a:t>Management Science</a:t>
            </a:r>
            <a:r>
              <a:rPr lang="en-US" sz="1100" dirty="0" smtClean="0"/>
              <a:t>, </a:t>
            </a:r>
            <a:r>
              <a:rPr lang="en-US" sz="1100" dirty="0" err="1" smtClean="0"/>
              <a:t>Vol</a:t>
            </a:r>
            <a:r>
              <a:rPr lang="en-US" sz="1100" dirty="0" smtClean="0"/>
              <a:t> 49(11), 2003, pp. 1580-1596.</a:t>
            </a:r>
          </a:p>
          <a:p>
            <a:pPr>
              <a:spcBef>
                <a:spcPts val="300"/>
              </a:spcBef>
              <a:buNone/>
            </a:pPr>
            <a:r>
              <a:rPr lang="en-US" sz="1100" dirty="0"/>
              <a:t>[BS97] </a:t>
            </a:r>
            <a:r>
              <a:rPr lang="en-US" sz="1100" dirty="0" err="1"/>
              <a:t>Balabanovic</a:t>
            </a:r>
            <a:r>
              <a:rPr lang="en-US" sz="1100" dirty="0"/>
              <a:t>, M., </a:t>
            </a:r>
            <a:r>
              <a:rPr lang="en-US" sz="1100" dirty="0" err="1"/>
              <a:t>Shoham</a:t>
            </a:r>
            <a:r>
              <a:rPr lang="en-US" sz="1100" dirty="0"/>
              <a:t>, Y. (1997) Fab: content-based, collaborative recommendation,  Communications of the ACM, Vol. 40(3), pp. 66-72.</a:t>
            </a:r>
          </a:p>
          <a:p>
            <a:pPr>
              <a:spcBef>
                <a:spcPts val="300"/>
              </a:spcBef>
              <a:buNone/>
            </a:pPr>
            <a:r>
              <a:rPr lang="en-US" sz="1100" dirty="0" smtClean="0"/>
              <a:t>[</a:t>
            </a:r>
            <a:r>
              <a:rPr lang="en-US" sz="1100" dirty="0"/>
              <a:t>FFG+07] Felfernig, A. , Friedrich, G., </a:t>
            </a:r>
            <a:r>
              <a:rPr lang="en-US" sz="1100" dirty="0" err="1"/>
              <a:t>Gula</a:t>
            </a:r>
            <a:r>
              <a:rPr lang="en-US" sz="1100" dirty="0"/>
              <a:t>, B. et al. (2007) Persuasive recommendation: serial position effects in knowledge-based recommender systems. 2nd international conference on Persuasive technology, Springer, 283–294.</a:t>
            </a:r>
          </a:p>
          <a:p>
            <a:pPr>
              <a:spcBef>
                <a:spcPts val="300"/>
              </a:spcBef>
              <a:buNone/>
            </a:pPr>
            <a:r>
              <a:rPr lang="en-US" sz="1100" dirty="0" smtClean="0"/>
              <a:t>[</a:t>
            </a:r>
            <a:r>
              <a:rPr lang="en-US" sz="1100" dirty="0"/>
              <a:t>Friedrich&amp; </a:t>
            </a:r>
            <a:r>
              <a:rPr lang="en-US" sz="1100" dirty="0" err="1"/>
              <a:t>Zanker</a:t>
            </a:r>
            <a:r>
              <a:rPr lang="en-US" sz="1100" dirty="0"/>
              <a:t>, </a:t>
            </a:r>
            <a:r>
              <a:rPr lang="en-US" sz="1100" dirty="0" err="1"/>
              <a:t>AIMag</a:t>
            </a:r>
            <a:r>
              <a:rPr lang="en-US" sz="1100" dirty="0"/>
              <a:t>, 2011] Friedrich, G., </a:t>
            </a:r>
            <a:r>
              <a:rPr lang="en-US" sz="1100" dirty="0" err="1"/>
              <a:t>Zanker</a:t>
            </a:r>
            <a:r>
              <a:rPr lang="en-US" sz="1100" dirty="0"/>
              <a:t>, M.: A Taxonomy for Generating Explanations in Recommender Systems. </a:t>
            </a:r>
            <a:r>
              <a:rPr lang="en-US" sz="1100" i="1" dirty="0"/>
              <a:t>AI Magazine</a:t>
            </a:r>
            <a:r>
              <a:rPr lang="en-US" sz="1100" dirty="0"/>
              <a:t>, Vol. 32(3), 2011</a:t>
            </a:r>
            <a:r>
              <a:rPr lang="en-US" sz="1100" dirty="0" smtClean="0"/>
              <a:t>.</a:t>
            </a:r>
          </a:p>
          <a:p>
            <a:pPr>
              <a:spcBef>
                <a:spcPts val="300"/>
              </a:spcBef>
              <a:buFont typeface="Wingdings" pitchFamily="2" charset="2"/>
              <a:buNone/>
            </a:pPr>
            <a:r>
              <a:rPr lang="en-US" sz="1100" dirty="0" smtClean="0"/>
              <a:t>[</a:t>
            </a:r>
            <a:r>
              <a:rPr lang="en-US" sz="1100" dirty="0" err="1" smtClean="0"/>
              <a:t>Jannach</a:t>
            </a:r>
            <a:r>
              <a:rPr lang="en-US" sz="1100" dirty="0" smtClean="0"/>
              <a:t> et al., CUP, 2010] </a:t>
            </a:r>
            <a:r>
              <a:rPr lang="en-US" sz="1100" dirty="0" err="1" smtClean="0"/>
              <a:t>Jannach</a:t>
            </a:r>
            <a:r>
              <a:rPr lang="en-US" sz="1100" dirty="0" smtClean="0"/>
              <a:t> D., </a:t>
            </a:r>
            <a:r>
              <a:rPr lang="en-US" sz="1100" dirty="0" err="1" smtClean="0"/>
              <a:t>Zanker</a:t>
            </a:r>
            <a:r>
              <a:rPr lang="en-US" sz="1100" dirty="0" smtClean="0"/>
              <a:t> M., Felfernig, A., Friedrich, G.: Recommender Systems an Introduction, Cambridge University Press, 2010.</a:t>
            </a:r>
          </a:p>
          <a:p>
            <a:pPr>
              <a:spcBef>
                <a:spcPts val="300"/>
              </a:spcBef>
              <a:buNone/>
            </a:pPr>
            <a:r>
              <a:rPr lang="en-US" sz="1100" dirty="0" smtClean="0"/>
              <a:t>[</a:t>
            </a:r>
            <a:r>
              <a:rPr lang="en-US" sz="1100" dirty="0" err="1" smtClean="0"/>
              <a:t>Jannach</a:t>
            </a:r>
            <a:r>
              <a:rPr lang="en-US" sz="1100" dirty="0" smtClean="0"/>
              <a:t> et al., JITT, 2009] </a:t>
            </a:r>
            <a:r>
              <a:rPr lang="en-US" sz="1100" dirty="0" err="1" smtClean="0"/>
              <a:t>Jannach</a:t>
            </a:r>
            <a:r>
              <a:rPr lang="en-US" sz="1100" dirty="0" smtClean="0"/>
              <a:t>, D., </a:t>
            </a:r>
            <a:r>
              <a:rPr lang="en-US" sz="1100" dirty="0" err="1" smtClean="0"/>
              <a:t>Zanker</a:t>
            </a:r>
            <a:r>
              <a:rPr lang="en-US" sz="1100" dirty="0" smtClean="0"/>
              <a:t>, M., Fuchs, M.: Constraint-based recommendation in tourism: A multi-perspective case study, </a:t>
            </a:r>
            <a:r>
              <a:rPr lang="en-US" sz="1100" i="1" dirty="0" smtClean="0"/>
              <a:t>Information Technology &amp; Tourism</a:t>
            </a:r>
            <a:r>
              <a:rPr lang="en-US" sz="1100" dirty="0" smtClean="0"/>
              <a:t>, </a:t>
            </a:r>
            <a:r>
              <a:rPr lang="en-US" sz="1100" dirty="0" err="1" smtClean="0"/>
              <a:t>Vol</a:t>
            </a:r>
            <a:r>
              <a:rPr lang="en-US" sz="1100" dirty="0" smtClean="0"/>
              <a:t> 11(2), pp. 139-156.</a:t>
            </a:r>
          </a:p>
          <a:p>
            <a:pPr>
              <a:spcBef>
                <a:spcPts val="300"/>
              </a:spcBef>
              <a:buNone/>
            </a:pPr>
            <a:r>
              <a:rPr lang="en-US" sz="1100" dirty="0"/>
              <a:t>[</a:t>
            </a:r>
            <a:r>
              <a:rPr lang="en-US" sz="1100" dirty="0" err="1"/>
              <a:t>Jannach</a:t>
            </a:r>
            <a:r>
              <a:rPr lang="en-US" sz="1100" dirty="0"/>
              <a:t>, </a:t>
            </a:r>
            <a:r>
              <a:rPr lang="en-US" sz="1100" dirty="0" err="1"/>
              <a:t>Hegelich</a:t>
            </a:r>
            <a:r>
              <a:rPr lang="en-US" sz="1100" dirty="0"/>
              <a:t> 09</a:t>
            </a:r>
            <a:r>
              <a:rPr lang="en-US" sz="1100" dirty="0" smtClean="0"/>
              <a:t>] </a:t>
            </a:r>
            <a:r>
              <a:rPr lang="en-GB" sz="1100" dirty="0" err="1"/>
              <a:t>Jannach</a:t>
            </a:r>
            <a:r>
              <a:rPr lang="en-GB" sz="1100" dirty="0"/>
              <a:t>, D., </a:t>
            </a:r>
            <a:r>
              <a:rPr lang="en-GB" sz="1100" dirty="0" err="1"/>
              <a:t>Hegelich</a:t>
            </a:r>
            <a:r>
              <a:rPr lang="en-GB" sz="1100" dirty="0"/>
              <a:t> K.: A case study on the effectiveness of recommendations in the Mobile Internet, ACM Conference on Recommender Systems, New York, 2009, pp. </a:t>
            </a:r>
            <a:r>
              <a:rPr lang="en-GB" sz="1100" dirty="0" smtClean="0"/>
              <a:t>205-208</a:t>
            </a:r>
            <a:endParaRPr lang="en-US" sz="1100" dirty="0" smtClean="0"/>
          </a:p>
          <a:p>
            <a:pPr>
              <a:spcBef>
                <a:spcPts val="300"/>
              </a:spcBef>
              <a:buNone/>
            </a:pPr>
            <a:r>
              <a:rPr lang="en-US" sz="1100" dirty="0" smtClean="0"/>
              <a:t>[Ricci et al., JITT, 2009] </a:t>
            </a:r>
            <a:r>
              <a:rPr lang="en-US" sz="1100" dirty="0" err="1" smtClean="0"/>
              <a:t>Mahmood</a:t>
            </a:r>
            <a:r>
              <a:rPr lang="en-US" sz="1100" dirty="0" smtClean="0"/>
              <a:t>, T., Ricci, F., </a:t>
            </a:r>
            <a:r>
              <a:rPr lang="en-US" sz="1100" dirty="0" err="1" smtClean="0"/>
              <a:t>Venturini</a:t>
            </a:r>
            <a:r>
              <a:rPr lang="en-US" sz="1100" dirty="0" smtClean="0"/>
              <a:t>, A.: Improving Recommendation Effectiveness by Adapting the Dialogue Strategy in Online Travel Planning. </a:t>
            </a:r>
            <a:r>
              <a:rPr lang="en-US" sz="1100" i="1" dirty="0" smtClean="0"/>
              <a:t>Information Technology &amp; Tourism</a:t>
            </a:r>
            <a:r>
              <a:rPr lang="en-US" sz="1100" dirty="0" smtClean="0"/>
              <a:t>, </a:t>
            </a:r>
            <a:r>
              <a:rPr lang="en-US" sz="1100" dirty="0" err="1" smtClean="0"/>
              <a:t>Vol</a:t>
            </a:r>
            <a:r>
              <a:rPr lang="en-US" sz="1100" dirty="0" smtClean="0"/>
              <a:t> 11(4), 2009, pp. 285-302.</a:t>
            </a:r>
          </a:p>
          <a:p>
            <a:pPr>
              <a:spcBef>
                <a:spcPts val="300"/>
              </a:spcBef>
              <a:buNone/>
            </a:pPr>
            <a:r>
              <a:rPr lang="en-US" sz="1100" dirty="0" smtClean="0"/>
              <a:t>[Teppan&amp; Felfernig, CEC, 2009] Teppan, E., Felfernig, A.: Asymmetric Dominance- and Compromise Effects in the Financial Services Domain. </a:t>
            </a:r>
            <a:r>
              <a:rPr lang="en-US" sz="1100" i="1" dirty="0" smtClean="0"/>
              <a:t>IEEE International Conference on E-Commerce and Enterprise Computing</a:t>
            </a:r>
            <a:r>
              <a:rPr lang="en-US" sz="1100" dirty="0" smtClean="0"/>
              <a:t>, 2009, pp. 57-64</a:t>
            </a:r>
          </a:p>
          <a:p>
            <a:pPr>
              <a:spcBef>
                <a:spcPts val="300"/>
              </a:spcBef>
              <a:buNone/>
            </a:pPr>
            <a:r>
              <a:rPr lang="en-US" sz="1100" dirty="0"/>
              <a:t>[TF09] Teppan, E., Felfernig, A.  (2009)  Impacts  of  decoy  elements  on  result  set  evaluations  in knowledge-based recommendation. Int. J. Adv. </a:t>
            </a:r>
            <a:r>
              <a:rPr lang="en-US" sz="1100" dirty="0" err="1"/>
              <a:t>Intell</a:t>
            </a:r>
            <a:r>
              <a:rPr lang="en-US" sz="1100" dirty="0"/>
              <a:t>. Paradigms 1, 358–373</a:t>
            </a:r>
            <a:r>
              <a:rPr lang="en-US" sz="1100" dirty="0" smtClean="0"/>
              <a:t>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34051899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525963"/>
          </a:xfrm>
        </p:spPr>
        <p:txBody>
          <a:bodyPr/>
          <a:lstStyle/>
          <a:p>
            <a:pPr>
              <a:spcBef>
                <a:spcPts val="300"/>
              </a:spcBef>
              <a:buNone/>
            </a:pPr>
            <a:r>
              <a:rPr lang="en-US" sz="1100" dirty="0" smtClean="0"/>
              <a:t>[Xiao </a:t>
            </a:r>
            <a:r>
              <a:rPr lang="en-US" sz="1100" dirty="0"/>
              <a:t>&amp; </a:t>
            </a:r>
            <a:r>
              <a:rPr lang="en-US" sz="1100" dirty="0" err="1"/>
              <a:t>Benbasat</a:t>
            </a:r>
            <a:r>
              <a:rPr lang="en-US" sz="1100" dirty="0"/>
              <a:t>,  MISQ, 2007] Xiao, B., </a:t>
            </a:r>
            <a:r>
              <a:rPr lang="en-US" sz="1100" dirty="0" err="1"/>
              <a:t>Benbasat</a:t>
            </a:r>
            <a:r>
              <a:rPr lang="en-US" sz="1100" dirty="0"/>
              <a:t>, I.: E-Commerce Product Recommendation Agents: Use, Characteristics, and Impact, </a:t>
            </a:r>
            <a:r>
              <a:rPr lang="en-US" sz="1100" i="1" dirty="0"/>
              <a:t>MIS Quarterly</a:t>
            </a:r>
            <a:r>
              <a:rPr lang="en-US" sz="1100" dirty="0"/>
              <a:t>,</a:t>
            </a:r>
            <a:r>
              <a:rPr lang="en-US" sz="1100" i="1" dirty="0"/>
              <a:t> </a:t>
            </a:r>
            <a:r>
              <a:rPr lang="en-US" sz="1100" dirty="0" err="1"/>
              <a:t>Vol</a:t>
            </a:r>
            <a:r>
              <a:rPr lang="en-US" sz="1100" dirty="0"/>
              <a:t> 31(1), pp. 137-209.</a:t>
            </a:r>
          </a:p>
          <a:p>
            <a:pPr lvl="0">
              <a:spcBef>
                <a:spcPts val="300"/>
              </a:spcBef>
              <a:buNone/>
            </a:pPr>
            <a:r>
              <a:rPr lang="en-US" sz="1100" dirty="0" smtClean="0"/>
              <a:t>[</a:t>
            </a:r>
            <a:r>
              <a:rPr lang="en-US" sz="1100" dirty="0" err="1"/>
              <a:t>Zanker</a:t>
            </a:r>
            <a:r>
              <a:rPr lang="en-US" sz="1100" dirty="0"/>
              <a:t> et al., EC-Web, 2006] </a:t>
            </a:r>
            <a:r>
              <a:rPr lang="en-US" sz="1100" dirty="0" err="1"/>
              <a:t>Zanker</a:t>
            </a:r>
            <a:r>
              <a:rPr lang="en-US" sz="1100" dirty="0"/>
              <a:t>, M., </a:t>
            </a:r>
            <a:r>
              <a:rPr lang="en-US" sz="1100" dirty="0" err="1"/>
              <a:t>Bricman</a:t>
            </a:r>
            <a:r>
              <a:rPr lang="en-US" sz="1100" dirty="0"/>
              <a:t>, M., </a:t>
            </a:r>
            <a:r>
              <a:rPr lang="en-US" sz="1100" dirty="0" err="1"/>
              <a:t>Gordea</a:t>
            </a:r>
            <a:r>
              <a:rPr lang="en-US" sz="1100" dirty="0"/>
              <a:t>, S., </a:t>
            </a:r>
            <a:r>
              <a:rPr lang="en-US" sz="1100" dirty="0" err="1"/>
              <a:t>Jannach</a:t>
            </a:r>
            <a:r>
              <a:rPr lang="en-US" sz="1100" dirty="0"/>
              <a:t>, D., </a:t>
            </a:r>
            <a:r>
              <a:rPr lang="en-US" sz="1100" dirty="0" err="1"/>
              <a:t>Jessenitschnig</a:t>
            </a:r>
            <a:r>
              <a:rPr lang="en-US" sz="1100" dirty="0"/>
              <a:t>, M.: Persuasive online-selling in quality &amp; taste domains, </a:t>
            </a:r>
            <a:r>
              <a:rPr lang="en-US" sz="1100" i="1" dirty="0"/>
              <a:t>7th International Conference on Electronic Commerce and Web Technologies</a:t>
            </a:r>
            <a:r>
              <a:rPr lang="en-US" sz="1100" dirty="0"/>
              <a:t>, 2006, pp. 51-60.</a:t>
            </a:r>
          </a:p>
          <a:p>
            <a:pPr lvl="0">
              <a:spcBef>
                <a:spcPts val="300"/>
              </a:spcBef>
              <a:buNone/>
            </a:pPr>
            <a:r>
              <a:rPr lang="en-US" sz="1100" dirty="0"/>
              <a:t>[</a:t>
            </a:r>
            <a:r>
              <a:rPr lang="en-US" sz="1100" dirty="0" err="1"/>
              <a:t>Zanker</a:t>
            </a:r>
            <a:r>
              <a:rPr lang="en-US" sz="1100" dirty="0"/>
              <a:t>, </a:t>
            </a:r>
            <a:r>
              <a:rPr lang="en-US" sz="1100" dirty="0" err="1"/>
              <a:t>RecSys</a:t>
            </a:r>
            <a:r>
              <a:rPr lang="en-US" sz="1100" dirty="0"/>
              <a:t>, 2008] </a:t>
            </a:r>
            <a:r>
              <a:rPr lang="en-US" sz="1100" dirty="0" err="1"/>
              <a:t>Zanker</a:t>
            </a:r>
            <a:r>
              <a:rPr lang="en-US" sz="1100" dirty="0"/>
              <a:t> M., A Collaborative Constraint-Based Meta-Level Recommender. </a:t>
            </a:r>
            <a:r>
              <a:rPr lang="en-US" sz="1100" i="1" dirty="0"/>
              <a:t>ACM Conference on Recommender Systems,</a:t>
            </a:r>
            <a:r>
              <a:rPr lang="en-US" sz="1100" dirty="0"/>
              <a:t> 2008, pp. 139-146.</a:t>
            </a:r>
          </a:p>
          <a:p>
            <a:pPr lvl="0">
              <a:spcBef>
                <a:spcPts val="300"/>
              </a:spcBef>
              <a:buNone/>
            </a:pPr>
            <a:r>
              <a:rPr lang="en-US" sz="1100" dirty="0"/>
              <a:t>[</a:t>
            </a:r>
            <a:r>
              <a:rPr lang="en-US" sz="1100" dirty="0" err="1"/>
              <a:t>Zanker</a:t>
            </a:r>
            <a:r>
              <a:rPr lang="en-US" sz="1100" dirty="0"/>
              <a:t> et al., UMUAI, 2009] </a:t>
            </a:r>
            <a:r>
              <a:rPr lang="en-US" sz="1100" dirty="0" err="1"/>
              <a:t>Zanker</a:t>
            </a:r>
            <a:r>
              <a:rPr lang="en-US" sz="1100" dirty="0"/>
              <a:t>, M., </a:t>
            </a:r>
            <a:r>
              <a:rPr lang="en-US" sz="1100" dirty="0" err="1"/>
              <a:t>Jessenitschnig</a:t>
            </a:r>
            <a:r>
              <a:rPr lang="en-US" sz="1100" dirty="0"/>
              <a:t>, M., Case-studies on exploiting explicit customer requirements in recommender systems, </a:t>
            </a:r>
            <a:r>
              <a:rPr lang="en-US" sz="1100" i="1" dirty="0"/>
              <a:t>User Modeling and User-Adapted Interaction</a:t>
            </a:r>
            <a:r>
              <a:rPr lang="en-US" sz="1100" dirty="0"/>
              <a:t>, Springer, 2009, pp.133-166.</a:t>
            </a:r>
          </a:p>
          <a:p>
            <a:pPr lvl="0">
              <a:spcBef>
                <a:spcPts val="300"/>
              </a:spcBef>
              <a:buNone/>
            </a:pPr>
            <a:r>
              <a:rPr lang="en-US" sz="1100" dirty="0"/>
              <a:t>[</a:t>
            </a:r>
            <a:r>
              <a:rPr lang="en-US" sz="1100" dirty="0" err="1"/>
              <a:t>Zanker</a:t>
            </a:r>
            <a:r>
              <a:rPr lang="en-US" sz="1100" dirty="0"/>
              <a:t> et al., JITT, 2009] </a:t>
            </a:r>
            <a:r>
              <a:rPr lang="en-US" sz="1100" dirty="0" err="1"/>
              <a:t>Zanker</a:t>
            </a:r>
            <a:r>
              <a:rPr lang="en-US" sz="1100" dirty="0"/>
              <a:t> M., </a:t>
            </a:r>
            <a:r>
              <a:rPr lang="en-US" sz="1100" dirty="0" err="1"/>
              <a:t>Jessenitschnig</a:t>
            </a:r>
            <a:r>
              <a:rPr lang="en-US" sz="1100" dirty="0"/>
              <a:t> M., Fuchs, M.: Automated Semantic Annotations of Tourism Resources Based on Geospatial Data, </a:t>
            </a:r>
            <a:r>
              <a:rPr lang="en-US" sz="1100" i="1" dirty="0"/>
              <a:t>Information Technology &amp; Tourism</a:t>
            </a:r>
            <a:r>
              <a:rPr lang="en-US" sz="1100" dirty="0"/>
              <a:t>, </a:t>
            </a:r>
            <a:r>
              <a:rPr lang="en-US" sz="1100" dirty="0" err="1"/>
              <a:t>Vol</a:t>
            </a:r>
            <a:r>
              <a:rPr lang="en-US" sz="1100" dirty="0"/>
              <a:t> 11(4), 2009, pp. 341-354.</a:t>
            </a:r>
          </a:p>
          <a:p>
            <a:pPr lvl="0">
              <a:spcBef>
                <a:spcPts val="300"/>
              </a:spcBef>
              <a:buNone/>
            </a:pPr>
            <a:r>
              <a:rPr lang="en-US" sz="1100" dirty="0"/>
              <a:t>[</a:t>
            </a:r>
            <a:r>
              <a:rPr lang="en-US" sz="1100" dirty="0" err="1"/>
              <a:t>Zanker</a:t>
            </a:r>
            <a:r>
              <a:rPr lang="en-US" sz="1100" dirty="0"/>
              <a:t> et al., Constraints, 2010] </a:t>
            </a:r>
            <a:r>
              <a:rPr lang="en-US" sz="1100" dirty="0" err="1"/>
              <a:t>Zanker</a:t>
            </a:r>
            <a:r>
              <a:rPr lang="en-US" sz="1100" dirty="0"/>
              <a:t> M., </a:t>
            </a:r>
            <a:r>
              <a:rPr lang="en-US" sz="1100" dirty="0" err="1"/>
              <a:t>Jessenitschnig</a:t>
            </a:r>
            <a:r>
              <a:rPr lang="en-US" sz="1100" dirty="0"/>
              <a:t> M., Schmid W.: Preference reasoning with soft constraints in constraint-based recommender systems. </a:t>
            </a:r>
            <a:r>
              <a:rPr lang="en-US" sz="1100" i="1" dirty="0"/>
              <a:t>Constraints, </a:t>
            </a:r>
            <a:r>
              <a:rPr lang="en-US" sz="1100" dirty="0"/>
              <a:t>Springer, </a:t>
            </a:r>
            <a:r>
              <a:rPr lang="en-US" sz="1100" dirty="0" err="1"/>
              <a:t>Vol</a:t>
            </a:r>
            <a:r>
              <a:rPr lang="en-US" sz="1100" dirty="0"/>
              <a:t> 15(4), 2010, pp. 574-595.</a:t>
            </a:r>
          </a:p>
          <a:p>
            <a:pPr lvl="0">
              <a:spcBef>
                <a:spcPts val="300"/>
              </a:spcBef>
              <a:buNone/>
            </a:pPr>
            <a:endParaRPr lang="en-US" sz="1100" dirty="0"/>
          </a:p>
          <a:p>
            <a:endParaRPr lang="en-US" b="0" dirty="0" smtClean="0"/>
          </a:p>
          <a:p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2875898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7_habv">
  <a:themeElements>
    <a:clrScheme name="17_habv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7_habv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17_habv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7_habv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7_habv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7_habv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7_habv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7_habv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7_habv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7_habv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7_habv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7_habv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7_habv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7_habv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Benutzerdefiniertes Design">
  <a:themeElements>
    <a:clrScheme name="Benutzerdefiniertes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enutzerdefiniertes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Benutzerdefiniertes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nutzerdefiniertes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nutzerdefiniertes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nutzerdefiniertes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nutzerdefiniertes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enutzerdefiniertes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nutzerdefiniertes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nutzerdefiniertes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nutzerdefiniertes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nutzerdefiniertes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nutzerdefiniertes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enutzerdefiniertes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17_habv</Template>
  <TotalTime>3</TotalTime>
  <Words>6291</Words>
  <Application>Microsoft Office PowerPoint</Application>
  <PresentationFormat>On-screen Show (4:3)</PresentationFormat>
  <Paragraphs>1476</Paragraphs>
  <Slides>119</Slides>
  <Notes>102</Notes>
  <HiddenSlides>0</HiddenSlides>
  <MMClips>0</MMClips>
  <ScaleCrop>false</ScaleCrop>
  <HeadingPairs>
    <vt:vector size="8" baseType="variant">
      <vt:variant>
        <vt:lpstr>Fonts Used</vt:lpstr>
      </vt:variant>
      <vt:variant>
        <vt:i4>14</vt:i4>
      </vt:variant>
      <vt:variant>
        <vt:lpstr>Theme</vt:lpstr>
      </vt:variant>
      <vt:variant>
        <vt:i4>3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119</vt:i4>
      </vt:variant>
    </vt:vector>
  </HeadingPairs>
  <TitlesOfParts>
    <vt:vector size="137" baseType="lpstr">
      <vt:lpstr>ＭＳ Ｐゴシック</vt:lpstr>
      <vt:lpstr>Poplar Std</vt:lpstr>
      <vt:lpstr>SimSun</vt:lpstr>
      <vt:lpstr>Times-Roman</vt:lpstr>
      <vt:lpstr>Arial</vt:lpstr>
      <vt:lpstr>Calibri</vt:lpstr>
      <vt:lpstr>Calibri Light</vt:lpstr>
      <vt:lpstr>Cambria Math</vt:lpstr>
      <vt:lpstr>Helvetica</vt:lpstr>
      <vt:lpstr>Symbol</vt:lpstr>
      <vt:lpstr>Times New Roman</vt:lpstr>
      <vt:lpstr>Verdana</vt:lpstr>
      <vt:lpstr>Wingdings</vt:lpstr>
      <vt:lpstr>Wingdings 3</vt:lpstr>
      <vt:lpstr>17_habv</vt:lpstr>
      <vt:lpstr>Benutzerdefiniertes Design</vt:lpstr>
      <vt:lpstr>Office Theme</vt:lpstr>
      <vt:lpstr>Formel</vt:lpstr>
      <vt:lpstr>Recommender Systems  </vt:lpstr>
      <vt:lpstr>PowerPoint Presentation</vt:lpstr>
      <vt:lpstr>Recommender Systems</vt:lpstr>
      <vt:lpstr>In the Social Web</vt:lpstr>
      <vt:lpstr>Even more …</vt:lpstr>
      <vt:lpstr>About the speakers</vt:lpstr>
      <vt:lpstr>Agenda</vt:lpstr>
      <vt:lpstr>PowerPoint Presentation</vt:lpstr>
      <vt:lpstr>Why using Recommender Systems?</vt:lpstr>
      <vt:lpstr>Real-world check</vt:lpstr>
      <vt:lpstr>Problem domain</vt:lpstr>
      <vt:lpstr>Recommender systems </vt:lpstr>
      <vt:lpstr>Paradigms of recommender systems</vt:lpstr>
      <vt:lpstr>Paradigms of recommender systems</vt:lpstr>
      <vt:lpstr>Paradigms of recommender systems</vt:lpstr>
      <vt:lpstr>Paradigms of recommender systems</vt:lpstr>
      <vt:lpstr>Paradigms of recommender systems</vt:lpstr>
      <vt:lpstr>Paradigms of recommender systems</vt:lpstr>
      <vt:lpstr>Recommender systems: basic techniques</vt:lpstr>
      <vt:lpstr>PowerPoint Presentation</vt:lpstr>
      <vt:lpstr>Collaborative Filtering (CF)</vt:lpstr>
      <vt:lpstr>1992:  Using collaborative filtering to weave an information    tapestry, D. Goldberg et al., Communications of the ACM  </vt:lpstr>
      <vt:lpstr>1994:  GroupLens: an open architecture for collaborative filtering of   netnews, P. Resnick et al., ACM CSCW </vt:lpstr>
      <vt:lpstr>User-based nearest-neighbor collaborative filtering (1)</vt:lpstr>
      <vt:lpstr>User-based nearest-neighbor collaborative filtering (2)</vt:lpstr>
      <vt:lpstr>Measuring user similarity</vt:lpstr>
      <vt:lpstr>Pearson correlation</vt:lpstr>
      <vt:lpstr>Making predictions</vt:lpstr>
      <vt:lpstr>Making recommendations</vt:lpstr>
      <vt:lpstr>Improving the metrics  / prediction function</vt:lpstr>
      <vt:lpstr>Memory-based and model-based approaches</vt:lpstr>
      <vt:lpstr>2001:  Item-based collaborative filtering recommendation algorithms, B.    Sarwar et al., WWW 2001</vt:lpstr>
      <vt:lpstr>Item-based collaborative filtering</vt:lpstr>
      <vt:lpstr>The cosine similarity measure</vt:lpstr>
      <vt:lpstr>Pre-processing for item-based filtering</vt:lpstr>
      <vt:lpstr>More on ratings</vt:lpstr>
      <vt:lpstr>Data sparsity problems</vt:lpstr>
      <vt:lpstr>Example algorithms for sparse datasets</vt:lpstr>
      <vt:lpstr>Graph-based methods</vt:lpstr>
      <vt:lpstr>More model-based approaches</vt:lpstr>
      <vt:lpstr>2000:  Application of Dimensionality Reduction in  Recommender System, B. Sarwar et al., WebKDD Workshop</vt:lpstr>
      <vt:lpstr>A picture says …</vt:lpstr>
      <vt:lpstr>Matrix factorization</vt:lpstr>
      <vt:lpstr>Association rule mining</vt:lpstr>
      <vt:lpstr>Probabilistic methods</vt:lpstr>
      <vt:lpstr>2008:  Factorization meets the neighborhood: a multifaceted collaborative   filtering model, Y. Koren, ACM SIGKDD</vt:lpstr>
      <vt:lpstr>2008:  Factorization meets the neighborhood: a multifaceted collaborative   filtering model, Y. Koren, ACM SIGKDD</vt:lpstr>
      <vt:lpstr>Summarizing recent methods</vt:lpstr>
      <vt:lpstr>Collaborative Filtering Issues</vt:lpstr>
      <vt:lpstr>PowerPoint Presentation</vt:lpstr>
      <vt:lpstr>Recommender Systems in e-Commerce</vt:lpstr>
      <vt:lpstr>Recommender Systems in e-Commerce</vt:lpstr>
      <vt:lpstr>Recommender Systems in e-Commerce</vt:lpstr>
      <vt:lpstr>What is a good recommendation?</vt:lpstr>
      <vt:lpstr>Purpose and success criteria (1)</vt:lpstr>
      <vt:lpstr>When does a RS do its job well?</vt:lpstr>
      <vt:lpstr>Purpose and success criteria (2)</vt:lpstr>
      <vt:lpstr>How do we as researchers  know?</vt:lpstr>
      <vt:lpstr>Empirical research</vt:lpstr>
      <vt:lpstr>Research methods</vt:lpstr>
      <vt:lpstr>Experiment designs</vt:lpstr>
      <vt:lpstr>Evaluation in information retrieval (IR)</vt:lpstr>
      <vt:lpstr>Metrics: Precision and Recall</vt:lpstr>
      <vt:lpstr>Dilemma of IR measures in RS</vt:lpstr>
      <vt:lpstr>Metrics: Rank Score – position matters </vt:lpstr>
      <vt:lpstr>Accuracy measures</vt:lpstr>
      <vt:lpstr>Offline experimentation example</vt:lpstr>
      <vt:lpstr>An imperfect world</vt:lpstr>
      <vt:lpstr>Online experimentation example</vt:lpstr>
      <vt:lpstr>Details and results</vt:lpstr>
      <vt:lpstr>Non-experimental research</vt:lpstr>
      <vt:lpstr>Quasi-experimental</vt:lpstr>
      <vt:lpstr>SkiMatcher Results</vt:lpstr>
      <vt:lpstr>Interpreting the Results</vt:lpstr>
      <vt:lpstr>Observational research</vt:lpstr>
      <vt:lpstr>What is popular?</vt:lpstr>
      <vt:lpstr>What are the next topics?</vt:lpstr>
      <vt:lpstr>PowerPoint Presentation</vt:lpstr>
      <vt:lpstr>Content-based recommendation</vt:lpstr>
      <vt:lpstr>Paradigms of recommender systems</vt:lpstr>
      <vt:lpstr>What is the "content"?</vt:lpstr>
      <vt:lpstr>Content representation and item similarities</vt:lpstr>
      <vt:lpstr>Term-Frequency - Inverse Document Frequency (TF-IDF)</vt:lpstr>
      <vt:lpstr>TF-IDF</vt:lpstr>
      <vt:lpstr>Example TF-IDF representation</vt:lpstr>
      <vt:lpstr>More on the vector space model</vt:lpstr>
      <vt:lpstr>Recommending items</vt:lpstr>
      <vt:lpstr>Rocchio details</vt:lpstr>
      <vt:lpstr>Probabilistic methods</vt:lpstr>
      <vt:lpstr>Improvements</vt:lpstr>
      <vt:lpstr>Limitations of content-based recommendation methods</vt:lpstr>
      <vt:lpstr>PowerPoint Presentation</vt:lpstr>
      <vt:lpstr>Why do we need knowledge-based recommendation?</vt:lpstr>
      <vt:lpstr>Knowledge-based recommendation</vt:lpstr>
      <vt:lpstr>Knowledge-based recommendation I</vt:lpstr>
      <vt:lpstr>Knowledge-Based Recommendation II</vt:lpstr>
      <vt:lpstr>Constraint-based recommendation I</vt:lpstr>
      <vt:lpstr>Item ranking</vt:lpstr>
      <vt:lpstr>Customer-specific item utilities with MAUT</vt:lpstr>
      <vt:lpstr>Constraint-based recommendation II</vt:lpstr>
      <vt:lpstr>Example: find minimal relaxations (minimal diagnoses)</vt:lpstr>
      <vt:lpstr>Ask user</vt:lpstr>
      <vt:lpstr>Constraint-based recommendation III</vt:lpstr>
      <vt:lpstr>Conversational strategies</vt:lpstr>
      <vt:lpstr>Example: adaptive strategy selection</vt:lpstr>
      <vt:lpstr>Limitations of knowledge-based recommendation methods</vt:lpstr>
      <vt:lpstr>PowerPoint Presentation</vt:lpstr>
      <vt:lpstr>Hybrid recommender systems</vt:lpstr>
      <vt:lpstr>Monolithic hybridization design</vt:lpstr>
      <vt:lpstr>Monolithic hybridization designs: Feature combination</vt:lpstr>
      <vt:lpstr>Monolithic hybridization designs: Feature augmentation</vt:lpstr>
      <vt:lpstr>Parallelized hybridization design</vt:lpstr>
      <vt:lpstr>Parallelized hybridization design: Switching</vt:lpstr>
      <vt:lpstr>Pipelined hybridization designs</vt:lpstr>
      <vt:lpstr>Pipelined hybridization designs: Cascade</vt:lpstr>
      <vt:lpstr>Pipelined hybridization designs: Meta-level</vt:lpstr>
      <vt:lpstr>What is the best hybridization strategy?</vt:lpstr>
      <vt:lpstr>References</vt:lpstr>
      <vt:lpstr>References</vt:lpstr>
    </vt:vector>
  </TitlesOfParts>
  <Company>-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Recommender Systems</dc:title>
  <dc:creator>markus</dc:creator>
  <cp:lastModifiedBy>Guanghao Yan</cp:lastModifiedBy>
  <cp:revision>1255</cp:revision>
  <dcterms:created xsi:type="dcterms:W3CDTF">2006-04-22T09:23:14Z</dcterms:created>
  <dcterms:modified xsi:type="dcterms:W3CDTF">2015-11-02T13:14:37Z</dcterms:modified>
</cp:coreProperties>
</file>