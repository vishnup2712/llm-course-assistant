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43436-0823-4CE7-94D1-B1000E5731BF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44124-7C2E-432E-ADAE-A8BE7E381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3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951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419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56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211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81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753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8887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051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1242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567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9209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0168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6415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951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3004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19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8553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013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392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720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714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696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854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166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2555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83635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350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8271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1090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8522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4702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9715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81810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7168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1164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6162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0520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26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7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3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8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9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63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1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5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2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1445685" y="1981201"/>
            <a:ext cx="30121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3600">
                <a:solidFill>
                  <a:srgbClr val="FBFCFF"/>
                </a:solidFill>
                <a:latin typeface="Calibri" panose="020F0502020204030204" pitchFamily="34" charset="0"/>
              </a:rPr>
              <a:t>Introduction to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304800"/>
          </a:xfrm>
          <a:prstGeom prst="rect">
            <a:avLst/>
          </a:prstGeom>
          <a:solidFill>
            <a:srgbClr val="139CB7"/>
          </a:solidFill>
          <a:ln w="9525">
            <a:solidFill>
              <a:srgbClr val="406E84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107018" y="2590801"/>
            <a:ext cx="5644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cs typeface="Arial Unicode MS" panose="020B0604020202020204" pitchFamily="34" charset="-128"/>
              </a:defRPr>
            </a:lvl9pPr>
          </a:lstStyle>
          <a:p>
            <a:pPr eaLnBrk="1" hangingPunct="1"/>
            <a:r>
              <a:rPr lang="en-US" altLang="en-US" sz="4800" b="1">
                <a:solidFill>
                  <a:srgbClr val="139CB7"/>
                </a:solidFill>
                <a:latin typeface="Calibri" panose="020F0502020204030204" pitchFamily="34" charset="0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36220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fld id="{4A5EF725-569E-436D-A8FE-C98DE53EC2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31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C0A13-0B1A-4E79-8096-676FA9111CC9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79D46-9A04-478A-BF2B-05228026D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8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Scoring, Term Weighting, and Vector Space Model</a:t>
            </a:r>
          </a:p>
        </p:txBody>
      </p:sp>
    </p:spTree>
    <p:extLst>
      <p:ext uri="{BB962C8B-B14F-4D97-AF65-F5344CB8AC3E}">
        <p14:creationId xmlns:p14="http://schemas.microsoft.com/office/powerpoint/2010/main" val="301587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Binary </a:t>
            </a:r>
            <a:r>
              <a:rPr lang="de-DE" sz="3600" dirty="0" err="1">
                <a:latin typeface="+mj-lt"/>
              </a:rPr>
              <a:t>incidence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matrix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+mj-lt"/>
              </a:rPr>
              <a:t>	Each document is represented as a binary vector ∈ {0, 1}</a:t>
            </a:r>
            <a:r>
              <a:rPr lang="en-US" baseline="30000" dirty="0">
                <a:latin typeface="+mj-lt"/>
              </a:rPr>
              <a:t>|V|.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38282" y="1617356"/>
          <a:ext cx="8524894" cy="3383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7243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Binary </a:t>
            </a:r>
            <a:r>
              <a:rPr lang="de-DE" sz="3600" dirty="0" err="1">
                <a:latin typeface="+mj-lt"/>
              </a:rPr>
              <a:t>incidence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matrix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+mj-lt"/>
              </a:rPr>
              <a:t>     Each document is now represented as a count vector ∈ N</a:t>
            </a:r>
            <a:r>
              <a:rPr lang="en-US" baseline="30000" dirty="0">
                <a:latin typeface="+mj-lt"/>
              </a:rPr>
              <a:t>|</a:t>
            </a:r>
            <a:r>
              <a:rPr lang="en-US" i="1" baseline="30000" dirty="0">
                <a:latin typeface="+mj-lt"/>
              </a:rPr>
              <a:t>V</a:t>
            </a:r>
            <a:r>
              <a:rPr lang="en-US" baseline="30000" dirty="0"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38282" y="1617356"/>
          <a:ext cx="8524894" cy="3383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4</a:t>
                      </a:r>
                    </a:p>
                    <a:p>
                      <a:pPr algn="r"/>
                      <a:r>
                        <a:rPr lang="de-DE" dirty="0"/>
                        <a:t>232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57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73</a:t>
                      </a:r>
                    </a:p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227</a:t>
                      </a:r>
                    </a:p>
                    <a:p>
                      <a:pPr algn="r"/>
                      <a:r>
                        <a:rPr lang="de-DE" dirty="0"/>
                        <a:t>10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3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1557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Bag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of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words</a:t>
            </a:r>
            <a:r>
              <a:rPr lang="de-DE" sz="3600" dirty="0">
                <a:latin typeface="+mj-lt"/>
              </a:rPr>
              <a:t> model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857364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do not consider the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order</a:t>
            </a:r>
            <a:r>
              <a:rPr lang="en-US" dirty="0">
                <a:latin typeface="+mj-lt"/>
              </a:rPr>
              <a:t> of words in a document.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i="1" dirty="0">
                <a:latin typeface="+mj-lt"/>
              </a:rPr>
              <a:t>John is quicker than Mary and Mary is quicker than John </a:t>
            </a:r>
            <a:r>
              <a:rPr lang="en-US" dirty="0">
                <a:latin typeface="+mj-lt"/>
              </a:rPr>
              <a:t>are </a:t>
            </a:r>
            <a:r>
              <a:rPr lang="de-DE" dirty="0" err="1">
                <a:latin typeface="+mj-lt"/>
              </a:rPr>
              <a:t>represented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same </a:t>
            </a:r>
            <a:r>
              <a:rPr lang="de-DE" dirty="0" err="1">
                <a:latin typeface="+mj-lt"/>
              </a:rPr>
              <a:t>way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is called a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bag of words model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 a sense, this is a step back: The positional index was able to distinguish these two documents.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will look at “recovering” positional information later in  </a:t>
            </a:r>
            <a:r>
              <a:rPr lang="de-DE" dirty="0" err="1">
                <a:latin typeface="+mj-lt"/>
              </a:rPr>
              <a:t>this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course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For now: bag of words model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621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Term </a:t>
            </a:r>
            <a:r>
              <a:rPr lang="de-DE" sz="3600" dirty="0" err="1">
                <a:latin typeface="+mj-lt"/>
              </a:rPr>
              <a:t>frequency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tf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57161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term frequency </a:t>
            </a:r>
            <a:r>
              <a:rPr lang="en-US" dirty="0" err="1">
                <a:latin typeface="+mj-lt"/>
              </a:rPr>
              <a:t>tf</a:t>
            </a:r>
            <a:r>
              <a:rPr lang="en-US" i="1" baseline="-25000" dirty="0" err="1">
                <a:latin typeface="+mj-lt"/>
              </a:rPr>
              <a:t>t,d</a:t>
            </a:r>
            <a:r>
              <a:rPr lang="en-US" dirty="0">
                <a:latin typeface="+mj-lt"/>
              </a:rPr>
              <a:t> of term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in document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 is defined as the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number of times that </a:t>
            </a:r>
            <a:r>
              <a:rPr lang="en-US" i="1" dirty="0">
                <a:solidFill>
                  <a:srgbClr val="0070C0"/>
                </a:solidFill>
                <a:latin typeface="+mj-lt"/>
              </a:rPr>
              <a:t>t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occurs in </a:t>
            </a:r>
            <a:r>
              <a:rPr lang="en-US" i="1" dirty="0">
                <a:solidFill>
                  <a:srgbClr val="0070C0"/>
                </a:solidFill>
                <a:latin typeface="+mj-lt"/>
              </a:rPr>
              <a:t>d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to use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 when computing query-document match </a:t>
            </a:r>
            <a:r>
              <a:rPr lang="de-DE" dirty="0" err="1">
                <a:latin typeface="+mj-lt"/>
              </a:rPr>
              <a:t>scores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But </a:t>
            </a:r>
            <a:r>
              <a:rPr lang="de-DE" dirty="0" err="1">
                <a:latin typeface="+mj-lt"/>
              </a:rPr>
              <a:t>how</a:t>
            </a:r>
            <a:r>
              <a:rPr lang="de-DE" dirty="0">
                <a:latin typeface="+mj-lt"/>
              </a:rPr>
              <a:t>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Raw term frequency is not what we want because: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document with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tf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= 10 </a:t>
            </a:r>
            <a:r>
              <a:rPr lang="en-US" dirty="0">
                <a:latin typeface="+mj-lt"/>
              </a:rPr>
              <a:t>occurrences of the term is more relevant than a document with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tf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= 1</a:t>
            </a:r>
            <a:r>
              <a:rPr lang="en-US" dirty="0">
                <a:latin typeface="+mj-lt"/>
              </a:rPr>
              <a:t> occurrence of the term.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But not 10 times more relevant.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Relevance does not increase proportionally with term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822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latin typeface="+mj-lt"/>
              </a:rPr>
              <a:t>Instead of raw frequency: Log frequency weighting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571612"/>
            <a:ext cx="8501122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log frequency weight of term t in d is defined as follows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tf</a:t>
            </a:r>
            <a:r>
              <a:rPr lang="de-DE" i="1" baseline="-25000" dirty="0">
                <a:latin typeface="+mj-lt"/>
              </a:rPr>
              <a:t>t,d</a:t>
            </a:r>
            <a:r>
              <a:rPr lang="de-DE" dirty="0">
                <a:latin typeface="+mj-lt"/>
              </a:rPr>
              <a:t> → w</a:t>
            </a:r>
            <a:r>
              <a:rPr lang="de-DE" i="1" baseline="-25000" dirty="0">
                <a:latin typeface="+mj-lt"/>
              </a:rPr>
              <a:t>t,d</a:t>
            </a:r>
            <a:r>
              <a:rPr lang="de-DE" dirty="0">
                <a:latin typeface="+mj-lt"/>
              </a:rPr>
              <a:t> :    0 → 0, 1 → 1, 2 → 1.3, 10 → 2, 1000 → 4, etc.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Score for a document-query pair: sum over terms t in both </a:t>
            </a:r>
            <a:r>
              <a:rPr lang="en-US" i="1" dirty="0">
                <a:latin typeface="+mj-lt"/>
              </a:rPr>
              <a:t>q</a:t>
            </a:r>
            <a:r>
              <a:rPr lang="en-US" dirty="0">
                <a:latin typeface="+mj-lt"/>
              </a:rPr>
              <a:t>                                                                                                    </a:t>
            </a:r>
            <a:r>
              <a:rPr lang="de-DE" dirty="0">
                <a:latin typeface="+mj-lt"/>
              </a:rPr>
              <a:t>and </a:t>
            </a:r>
            <a:r>
              <a:rPr lang="de-DE" i="1" dirty="0">
                <a:latin typeface="+mj-lt"/>
              </a:rPr>
              <a:t>d</a:t>
            </a:r>
            <a:r>
              <a:rPr lang="de-DE" dirty="0">
                <a:latin typeface="+mj-lt"/>
              </a:rPr>
              <a:t>:  </a:t>
            </a:r>
            <a:r>
              <a:rPr lang="en-US" dirty="0" err="1">
                <a:latin typeface="+mj-lt"/>
              </a:rPr>
              <a:t>tf</a:t>
            </a:r>
            <a:r>
              <a:rPr lang="en-US" dirty="0">
                <a:latin typeface="+mj-lt"/>
              </a:rPr>
              <a:t>-matching-score(</a:t>
            </a:r>
            <a:r>
              <a:rPr lang="en-US" i="1" dirty="0">
                <a:latin typeface="+mj-lt"/>
              </a:rPr>
              <a:t>q</a:t>
            </a:r>
            <a:r>
              <a:rPr lang="en-US" dirty="0">
                <a:latin typeface="+mj-lt"/>
              </a:rPr>
              <a:t>,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) =     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baseline="-25000" dirty="0" err="1">
                <a:latin typeface="+mj-lt"/>
              </a:rPr>
              <a:t>∈</a:t>
            </a:r>
            <a:r>
              <a:rPr lang="en-US" i="1" baseline="-25000" dirty="0" err="1">
                <a:latin typeface="+mj-lt"/>
              </a:rPr>
              <a:t>q</a:t>
            </a:r>
            <a:r>
              <a:rPr lang="en-US" baseline="-25000" dirty="0" err="1">
                <a:latin typeface="+mj-lt"/>
              </a:rPr>
              <a:t>∩</a:t>
            </a:r>
            <a:r>
              <a:rPr lang="en-US" i="1" baseline="-25000" dirty="0" err="1">
                <a:latin typeface="+mj-lt"/>
              </a:rPr>
              <a:t>d</a:t>
            </a:r>
            <a:r>
              <a:rPr lang="en-US" i="1" baseline="-25000" dirty="0">
                <a:latin typeface="+mj-lt"/>
              </a:rPr>
              <a:t> </a:t>
            </a:r>
            <a:r>
              <a:rPr lang="en-US" dirty="0">
                <a:latin typeface="+mj-lt"/>
              </a:rPr>
              <a:t>(1 + log </a:t>
            </a:r>
            <a:r>
              <a:rPr lang="en-US" dirty="0" err="1">
                <a:latin typeface="+mj-lt"/>
              </a:rPr>
              <a:t>tf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baseline="-25000" dirty="0" err="1">
                <a:latin typeface="+mj-lt"/>
              </a:rPr>
              <a:t>,</a:t>
            </a:r>
            <a:r>
              <a:rPr lang="en-US" i="1" baseline="-25000" dirty="0" err="1">
                <a:latin typeface="+mj-lt"/>
              </a:rPr>
              <a:t>d</a:t>
            </a:r>
            <a:r>
              <a:rPr lang="en-US" dirty="0">
                <a:latin typeface="+mj-lt"/>
              </a:rPr>
              <a:t> 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score is 0 if none of the query terms is present in the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8" name="Picture 7" descr="6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034" y="2086829"/>
            <a:ext cx="5189999" cy="90000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5156549" y="3599161"/>
          <a:ext cx="5382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ergelijking" r:id="rId5" imgW="291960" imgH="253800" progId="Equation.3">
                  <p:embed/>
                </p:oleObj>
              </mc:Choice>
              <mc:Fallback>
                <p:oleObj name="Vergelijking" r:id="rId5" imgW="291960" imgH="2538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6549" y="3599161"/>
                        <a:ext cx="538200" cy="46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35116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Frequency in document vs. frequency in collection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228601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 addition, to term frequency (the frequency of the term in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)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.we also want to use the frequency of the term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in the collection</a:t>
            </a:r>
            <a:r>
              <a:rPr lang="en-US" dirty="0">
                <a:latin typeface="+mj-lt"/>
              </a:rPr>
              <a:t> for weighting and ranking.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067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Desired weight for rare terms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228601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Rare terms are more informative than frequent terms.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Consider a term in the query that is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rare </a:t>
            </a:r>
            <a:r>
              <a:rPr lang="en-US" dirty="0">
                <a:latin typeface="+mj-lt"/>
              </a:rPr>
              <a:t>in the collection </a:t>
            </a:r>
            <a:r>
              <a:rPr lang="de-DE" dirty="0">
                <a:latin typeface="+mj-lt"/>
              </a:rPr>
              <a:t>(e.g., </a:t>
            </a:r>
            <a:r>
              <a:rPr lang="de-DE" sz="2200" dirty="0">
                <a:latin typeface="+mj-lt"/>
              </a:rPr>
              <a:t>ARACHNOCENTRIC</a:t>
            </a:r>
            <a:r>
              <a:rPr lang="de-DE" dirty="0">
                <a:latin typeface="+mj-lt"/>
              </a:rPr>
              <a:t>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document containing this term is very likely to be relevant.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→ We want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high weights for rare terms </a:t>
            </a:r>
            <a:r>
              <a:rPr lang="en-US" dirty="0">
                <a:latin typeface="+mj-lt"/>
              </a:rPr>
              <a:t>like</a:t>
            </a:r>
            <a:r>
              <a:rPr lang="en-US" sz="2200" dirty="0">
                <a:latin typeface="+mj-lt"/>
              </a:rPr>
              <a:t> </a:t>
            </a:r>
            <a:r>
              <a:rPr lang="de-DE" sz="2200" dirty="0">
                <a:latin typeface="+mj-lt"/>
              </a:rPr>
              <a:t>ARACHNOCENTRIC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21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Desired weight for frequent terms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785926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Frequent terms are less informative than rare terms.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Consider a term in the query that is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frequent</a:t>
            </a:r>
            <a:r>
              <a:rPr lang="en-US" dirty="0">
                <a:latin typeface="+mj-lt"/>
              </a:rPr>
              <a:t> in the collection </a:t>
            </a:r>
            <a:r>
              <a:rPr lang="de-DE" dirty="0">
                <a:latin typeface="+mj-lt"/>
              </a:rPr>
              <a:t>(e.g., </a:t>
            </a:r>
            <a:r>
              <a:rPr lang="en-US" sz="2200" dirty="0">
                <a:latin typeface="+mj-lt"/>
              </a:rPr>
              <a:t>GOOD, INCREASE, LINE</a:t>
            </a:r>
            <a:r>
              <a:rPr lang="de-DE" dirty="0">
                <a:latin typeface="+mj-lt"/>
              </a:rPr>
              <a:t>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document containing this term is more likely to be relevant than a document that doesn’t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but words like </a:t>
            </a:r>
            <a:r>
              <a:rPr lang="en-US" sz="2200" dirty="0">
                <a:latin typeface="+mj-lt"/>
              </a:rPr>
              <a:t>GOOD, INCREASE </a:t>
            </a:r>
            <a:r>
              <a:rPr lang="en-US" dirty="0">
                <a:latin typeface="+mj-lt"/>
              </a:rPr>
              <a:t>and </a:t>
            </a:r>
            <a:r>
              <a:rPr lang="en-US" sz="2200" dirty="0">
                <a:latin typeface="+mj-lt"/>
              </a:rPr>
              <a:t>LINE</a:t>
            </a:r>
            <a:r>
              <a:rPr lang="en-US" dirty="0">
                <a:latin typeface="+mj-lt"/>
              </a:rPr>
              <a:t> are not sure </a:t>
            </a:r>
            <a:r>
              <a:rPr lang="de-DE" dirty="0" err="1">
                <a:latin typeface="+mj-lt"/>
              </a:rPr>
              <a:t>indicators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relevance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→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For frequent terms </a:t>
            </a:r>
            <a:r>
              <a:rPr lang="en-US" dirty="0">
                <a:latin typeface="+mj-lt"/>
              </a:rPr>
              <a:t>like </a:t>
            </a:r>
            <a:r>
              <a:rPr lang="en-US" sz="2200" dirty="0">
                <a:latin typeface="+mj-lt"/>
              </a:rPr>
              <a:t>GOOD, INCREASE </a:t>
            </a:r>
            <a:r>
              <a:rPr lang="en-US" dirty="0">
                <a:latin typeface="+mj-lt"/>
              </a:rPr>
              <a:t>and </a:t>
            </a:r>
            <a:r>
              <a:rPr lang="en-US" sz="2200" dirty="0">
                <a:latin typeface="+mj-lt"/>
              </a:rPr>
              <a:t>LINE</a:t>
            </a:r>
            <a:r>
              <a:rPr lang="en-US" dirty="0">
                <a:latin typeface="+mj-lt"/>
              </a:rPr>
              <a:t>, we </a:t>
            </a:r>
            <a:r>
              <a:rPr lang="de-DE" dirty="0" err="1">
                <a:latin typeface="+mj-lt"/>
              </a:rPr>
              <a:t>want</a:t>
            </a:r>
            <a:r>
              <a:rPr lang="de-DE" dirty="0">
                <a:latin typeface="+mj-lt"/>
              </a:rPr>
              <a:t> positive </a:t>
            </a:r>
            <a:r>
              <a:rPr lang="de-DE" dirty="0" err="1">
                <a:latin typeface="+mj-lt"/>
              </a:rPr>
              <a:t>weights</a:t>
            </a:r>
            <a:r>
              <a:rPr lang="de-DE" dirty="0">
                <a:latin typeface="+mj-lt"/>
              </a:rPr>
              <a:t>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but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lower weights </a:t>
            </a:r>
            <a:r>
              <a:rPr lang="en-US" dirty="0">
                <a:latin typeface="+mj-lt"/>
              </a:rPr>
              <a:t>than for rare terms.</a:t>
            </a:r>
            <a:endParaRPr lang="en-US" dirty="0">
              <a:solidFill>
                <a:srgbClr val="0070C0"/>
              </a:solidFill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253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Document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frequency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857388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high weights for rare terms </a:t>
            </a:r>
            <a:r>
              <a:rPr lang="en-US" dirty="0">
                <a:latin typeface="+mj-lt"/>
              </a:rPr>
              <a:t>like </a:t>
            </a:r>
            <a:r>
              <a:rPr lang="en-US" sz="2200" dirty="0">
                <a:latin typeface="+mj-lt"/>
              </a:rPr>
              <a:t>ARACHNOCENTRIC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low (positive) weights for frequent words </a:t>
            </a:r>
            <a:r>
              <a:rPr lang="en-US" dirty="0">
                <a:latin typeface="+mj-lt"/>
              </a:rPr>
              <a:t>like </a:t>
            </a:r>
            <a:r>
              <a:rPr lang="en-US" sz="2200" dirty="0">
                <a:latin typeface="+mj-lt"/>
              </a:rPr>
              <a:t>GOOD, INCREASE </a:t>
            </a:r>
            <a:r>
              <a:rPr lang="en-US" dirty="0">
                <a:latin typeface="+mj-lt"/>
              </a:rPr>
              <a:t>and</a:t>
            </a:r>
            <a:r>
              <a:rPr lang="en-US" sz="2800" dirty="0">
                <a:latin typeface="+mj-lt"/>
              </a:rPr>
              <a:t> </a:t>
            </a:r>
            <a:r>
              <a:rPr lang="en-US" sz="2200" dirty="0">
                <a:latin typeface="+mj-lt"/>
              </a:rPr>
              <a:t>LINE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will use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document frequency </a:t>
            </a:r>
            <a:r>
              <a:rPr lang="en-US" dirty="0">
                <a:latin typeface="+mj-lt"/>
              </a:rPr>
              <a:t>to factor this into computing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matching</a:t>
            </a:r>
            <a:r>
              <a:rPr lang="de-DE" dirty="0">
                <a:latin typeface="+mj-lt"/>
              </a:rPr>
              <a:t> score.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document frequency is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the number of documents in the collection that the term occurs in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313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idf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weight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57161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is the document frequency, the number of documents that</a:t>
            </a:r>
            <a:r>
              <a:rPr lang="en-US" i="1" dirty="0">
                <a:latin typeface="+mj-lt"/>
              </a:rPr>
              <a:t> </a:t>
            </a:r>
            <a:r>
              <a:rPr lang="de-DE" i="1" dirty="0">
                <a:latin typeface="+mj-lt"/>
              </a:rPr>
              <a:t>t </a:t>
            </a:r>
            <a:r>
              <a:rPr lang="de-DE" dirty="0" err="1">
                <a:latin typeface="+mj-lt"/>
              </a:rPr>
              <a:t>occurs</a:t>
            </a:r>
            <a:r>
              <a:rPr lang="de-DE" dirty="0">
                <a:latin typeface="+mj-lt"/>
              </a:rPr>
              <a:t> in.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solidFill>
                  <a:srgbClr val="0070C0"/>
                </a:solidFill>
                <a:latin typeface="+mj-lt"/>
              </a:rPr>
              <a:t>df</a:t>
            </a:r>
            <a:r>
              <a:rPr lang="en-US" i="1" baseline="-25000" dirty="0" err="1">
                <a:solidFill>
                  <a:srgbClr val="0070C0"/>
                </a:solidFill>
                <a:latin typeface="+mj-lt"/>
              </a:rPr>
              <a:t>t</a:t>
            </a:r>
            <a:r>
              <a:rPr lang="en-US" dirty="0">
                <a:latin typeface="+mj-lt"/>
              </a:rPr>
              <a:t> is an inverse measure of the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informativeness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dirty="0">
                <a:latin typeface="+mj-lt"/>
              </a:rPr>
              <a:t>of term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define the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idf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weight </a:t>
            </a:r>
            <a:r>
              <a:rPr lang="en-US" dirty="0">
                <a:latin typeface="+mj-lt"/>
              </a:rPr>
              <a:t>of term t as follows: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dirty="0">
                <a:latin typeface="+mj-lt"/>
              </a:rPr>
              <a:t>    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 is the number of documents in the collection.)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solidFill>
                  <a:srgbClr val="0070C0"/>
                </a:solidFill>
                <a:latin typeface="+mj-lt"/>
              </a:rPr>
              <a:t>idf</a:t>
            </a:r>
            <a:r>
              <a:rPr lang="en-US" i="1" baseline="-25000" dirty="0" err="1">
                <a:solidFill>
                  <a:srgbClr val="0070C0"/>
                </a:solidFill>
                <a:latin typeface="+mj-lt"/>
              </a:rPr>
              <a:t>t</a:t>
            </a:r>
            <a:r>
              <a:rPr lang="en-US" dirty="0">
                <a:latin typeface="+mj-lt"/>
              </a:rPr>
              <a:t> is a measure of the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informativeness</a:t>
            </a:r>
            <a:r>
              <a:rPr lang="en-US" dirty="0">
                <a:latin typeface="+mj-lt"/>
              </a:rPr>
              <a:t> of the term.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[log 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] instead of [</a:t>
            </a:r>
            <a:r>
              <a:rPr lang="en-US" i="1" dirty="0">
                <a:latin typeface="+mj-lt"/>
              </a:rPr>
              <a:t>N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df</a:t>
            </a:r>
            <a:r>
              <a:rPr lang="en-US" i="1" baseline="-25000" dirty="0" err="1">
                <a:latin typeface="+mj-lt"/>
              </a:rPr>
              <a:t>t</a:t>
            </a:r>
            <a:r>
              <a:rPr lang="en-US" dirty="0">
                <a:latin typeface="+mj-lt"/>
              </a:rPr>
              <a:t> ] to “dampen” the effect of </a:t>
            </a:r>
            <a:r>
              <a:rPr lang="en-US" dirty="0" err="1">
                <a:latin typeface="+mj-lt"/>
              </a:rPr>
              <a:t>idf</a:t>
            </a:r>
            <a:endParaRPr lang="en-US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Note that we use the log transformation for both term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8" name="Picture 7" descr="6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663" y="2615298"/>
            <a:ext cx="2155653" cy="8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9455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Examples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for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idf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57161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Compute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idf</a:t>
            </a:r>
            <a:r>
              <a:rPr lang="en-US" i="1" baseline="-25000" dirty="0" err="1">
                <a:solidFill>
                  <a:srgbClr val="00B050"/>
                </a:solidFill>
                <a:latin typeface="+mj-lt"/>
              </a:rPr>
              <a:t>t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 using the formula:</a:t>
            </a: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24100" y="2258692"/>
          <a:ext cx="5072098" cy="2743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de-DE" sz="2400" b="0" kern="1200" baseline="0" dirty="0" err="1"/>
                        <a:t>term</a:t>
                      </a:r>
                      <a:endParaRPr lang="de-DE" sz="2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b="0" dirty="0" err="1"/>
                        <a:t>df</a:t>
                      </a:r>
                      <a:r>
                        <a:rPr lang="de-DE" sz="2400" b="0" i="1" baseline="-25000" dirty="0" err="1"/>
                        <a:t>t</a:t>
                      </a:r>
                      <a:endParaRPr lang="de-DE" sz="2400" b="0" i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b="0" dirty="0" err="1"/>
                        <a:t>idf</a:t>
                      </a:r>
                      <a:r>
                        <a:rPr lang="de-DE" sz="2400" b="0" i="1" baseline="-25000" dirty="0" err="1"/>
                        <a:t>t</a:t>
                      </a:r>
                      <a:endParaRPr lang="de-DE" sz="2400" b="0" i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de-DE" sz="2400" kern="1200" baseline="0" dirty="0" err="1"/>
                        <a:t>calpurnia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animal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sunday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fly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under</a:t>
                      </a:r>
                      <a:endParaRPr lang="de-DE" sz="2400" kern="1200" baseline="0" dirty="0"/>
                    </a:p>
                    <a:p>
                      <a:pPr rtl="0"/>
                      <a:r>
                        <a:rPr lang="de-DE" sz="2400" kern="1200" baseline="0" dirty="0" err="1"/>
                        <a:t>the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dirty="0"/>
                        <a:t>1</a:t>
                      </a:r>
                    </a:p>
                    <a:p>
                      <a:pPr algn="r" rtl="0"/>
                      <a:r>
                        <a:rPr lang="de-DE" sz="2400" dirty="0"/>
                        <a:t>100</a:t>
                      </a:r>
                    </a:p>
                    <a:p>
                      <a:pPr algn="r" rtl="0"/>
                      <a:r>
                        <a:rPr lang="de-DE" sz="2400" dirty="0"/>
                        <a:t>1000</a:t>
                      </a:r>
                    </a:p>
                    <a:p>
                      <a:pPr algn="r" rtl="0"/>
                      <a:r>
                        <a:rPr lang="de-DE" sz="2400" dirty="0"/>
                        <a:t>10,000</a:t>
                      </a:r>
                    </a:p>
                    <a:p>
                      <a:pPr algn="r" rtl="0"/>
                      <a:r>
                        <a:rPr lang="de-DE" sz="2400" dirty="0"/>
                        <a:t>100,000</a:t>
                      </a:r>
                    </a:p>
                    <a:p>
                      <a:pPr algn="r" rtl="0"/>
                      <a:r>
                        <a:rPr lang="de-DE" sz="2400" dirty="0"/>
                        <a:t>1,000,000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de-DE" sz="2400" dirty="0"/>
                        <a:t>6</a:t>
                      </a:r>
                    </a:p>
                    <a:p>
                      <a:pPr algn="r" rtl="0"/>
                      <a:r>
                        <a:rPr lang="de-DE" sz="2400" dirty="0"/>
                        <a:t>4</a:t>
                      </a:r>
                    </a:p>
                    <a:p>
                      <a:pPr algn="r" rtl="0"/>
                      <a:r>
                        <a:rPr lang="de-DE" sz="2400" dirty="0"/>
                        <a:t>3</a:t>
                      </a:r>
                    </a:p>
                    <a:p>
                      <a:pPr algn="r" rtl="0"/>
                      <a:r>
                        <a:rPr lang="de-DE" sz="2400" dirty="0"/>
                        <a:t>2</a:t>
                      </a:r>
                    </a:p>
                    <a:p>
                      <a:pPr algn="r" rtl="0"/>
                      <a:r>
                        <a:rPr lang="de-DE" sz="2400" dirty="0"/>
                        <a:t>1</a:t>
                      </a:r>
                    </a:p>
                    <a:p>
                      <a:pPr algn="r" rtl="0"/>
                      <a:r>
                        <a:rPr lang="de-DE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 descr="6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20" y="1571612"/>
            <a:ext cx="2558514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88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Effect of </a:t>
            </a:r>
            <a:r>
              <a:rPr lang="en-US" sz="3600" dirty="0" err="1">
                <a:latin typeface="+mj-lt"/>
              </a:rPr>
              <a:t>idf</a:t>
            </a:r>
            <a:r>
              <a:rPr lang="en-US" sz="3600" dirty="0">
                <a:latin typeface="+mj-lt"/>
              </a:rPr>
              <a:t> on ranking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2071702"/>
            <a:ext cx="8286808" cy="5429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affects the ranking of documents for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queries with at least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two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terms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For example, in the query “</a:t>
            </a:r>
            <a:r>
              <a:rPr lang="en-US" dirty="0" err="1">
                <a:latin typeface="+mj-lt"/>
              </a:rPr>
              <a:t>arachnocentric</a:t>
            </a:r>
            <a:r>
              <a:rPr lang="en-US" dirty="0">
                <a:latin typeface="+mj-lt"/>
              </a:rPr>
              <a:t> line”, </a:t>
            </a: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weighting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increases</a:t>
            </a:r>
            <a:r>
              <a:rPr lang="en-US" dirty="0">
                <a:latin typeface="+mj-lt"/>
              </a:rPr>
              <a:t> the relative weight of </a:t>
            </a:r>
            <a:r>
              <a:rPr lang="en-US" sz="2200" dirty="0">
                <a:latin typeface="+mj-lt"/>
              </a:rPr>
              <a:t>ARACHNOCENTRIC</a:t>
            </a:r>
            <a:r>
              <a:rPr lang="en-US" dirty="0">
                <a:latin typeface="+mj-lt"/>
              </a:rPr>
              <a:t> and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decreases</a:t>
            </a:r>
            <a:r>
              <a:rPr lang="en-US" dirty="0">
                <a:latin typeface="+mj-lt"/>
              </a:rPr>
              <a:t> the relative weight of </a:t>
            </a:r>
            <a:r>
              <a:rPr lang="en-US" sz="2200" dirty="0">
                <a:latin typeface="+mj-lt"/>
              </a:rPr>
              <a:t>LINE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 has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little effect </a:t>
            </a:r>
            <a:r>
              <a:rPr lang="en-US" dirty="0">
                <a:latin typeface="+mj-lt"/>
              </a:rPr>
              <a:t>on ranking for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one-term queries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99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400" dirty="0" err="1">
                <a:latin typeface="+mj-lt"/>
              </a:rPr>
              <a:t>Collection</a:t>
            </a:r>
            <a:r>
              <a:rPr lang="de-DE" sz="3400" dirty="0">
                <a:latin typeface="+mj-lt"/>
              </a:rPr>
              <a:t> </a:t>
            </a:r>
            <a:r>
              <a:rPr lang="de-DE" sz="3400" dirty="0" err="1">
                <a:latin typeface="+mj-lt"/>
              </a:rPr>
              <a:t>frequency</a:t>
            </a:r>
            <a:r>
              <a:rPr lang="de-DE" sz="3400" dirty="0">
                <a:latin typeface="+mj-lt"/>
              </a:rPr>
              <a:t> vs. </a:t>
            </a:r>
            <a:r>
              <a:rPr lang="de-DE" sz="3400" dirty="0" err="1">
                <a:latin typeface="+mj-lt"/>
              </a:rPr>
              <a:t>Document</a:t>
            </a:r>
            <a:r>
              <a:rPr lang="de-DE" sz="3400" dirty="0">
                <a:latin typeface="+mj-lt"/>
              </a:rPr>
              <a:t> </a:t>
            </a:r>
            <a:r>
              <a:rPr lang="de-DE" sz="3400" dirty="0" err="1">
                <a:latin typeface="+mj-lt"/>
              </a:rPr>
              <a:t>frequency</a:t>
            </a:r>
            <a:endParaRPr lang="en-US" sz="34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3071810"/>
            <a:ext cx="8286808" cy="400052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Collection frequency of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: number of tokens of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in the </a:t>
            </a:r>
            <a:r>
              <a:rPr lang="de-DE" dirty="0" err="1">
                <a:latin typeface="+mj-lt"/>
              </a:rPr>
              <a:t>collection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Document frequency of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: number of documents </a:t>
            </a:r>
            <a:r>
              <a:rPr lang="en-US" i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occurs in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solidFill>
                  <a:srgbClr val="00B050"/>
                </a:solidFill>
                <a:latin typeface="+mj-lt"/>
              </a:rPr>
              <a:t>Why</a:t>
            </a:r>
            <a:r>
              <a:rPr lang="de-DE" dirty="0">
                <a:solidFill>
                  <a:srgbClr val="00B05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B050"/>
                </a:solidFill>
                <a:latin typeface="+mj-lt"/>
              </a:rPr>
              <a:t>these</a:t>
            </a:r>
            <a:r>
              <a:rPr lang="de-DE" dirty="0">
                <a:solidFill>
                  <a:srgbClr val="00B05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B050"/>
                </a:solidFill>
                <a:latin typeface="+mj-lt"/>
              </a:rPr>
              <a:t>numbers</a:t>
            </a:r>
            <a:r>
              <a:rPr lang="de-DE" dirty="0">
                <a:solidFill>
                  <a:srgbClr val="00B050"/>
                </a:solidFill>
                <a:latin typeface="+mj-lt"/>
              </a:rPr>
              <a:t>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Which word is a better search term (and should get a higher </a:t>
            </a:r>
            <a:r>
              <a:rPr lang="de-DE" dirty="0" err="1">
                <a:solidFill>
                  <a:srgbClr val="00B050"/>
                </a:solidFill>
                <a:latin typeface="+mj-lt"/>
              </a:rPr>
              <a:t>weight</a:t>
            </a:r>
            <a:r>
              <a:rPr lang="de-DE" dirty="0">
                <a:solidFill>
                  <a:srgbClr val="00B050"/>
                </a:solidFill>
                <a:latin typeface="+mj-lt"/>
              </a:rPr>
              <a:t>)?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example suggests that </a:t>
            </a:r>
            <a:r>
              <a:rPr lang="en-US" dirty="0" err="1">
                <a:latin typeface="+mj-lt"/>
              </a:rPr>
              <a:t>df</a:t>
            </a:r>
            <a:r>
              <a:rPr lang="en-US" dirty="0">
                <a:latin typeface="+mj-lt"/>
              </a:rPr>
              <a:t> (and </a:t>
            </a:r>
            <a:r>
              <a:rPr lang="en-US" dirty="0" err="1">
                <a:latin typeface="+mj-lt"/>
              </a:rPr>
              <a:t>idf</a:t>
            </a:r>
            <a:r>
              <a:rPr lang="en-US" dirty="0">
                <a:latin typeface="+mj-lt"/>
              </a:rPr>
              <a:t>) is better for weighting </a:t>
            </a:r>
            <a:r>
              <a:rPr lang="de-DE" dirty="0" err="1">
                <a:latin typeface="+mj-lt"/>
              </a:rPr>
              <a:t>than</a:t>
            </a:r>
            <a:r>
              <a:rPr lang="de-DE" dirty="0">
                <a:latin typeface="+mj-lt"/>
              </a:rPr>
              <a:t> cf (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“</a:t>
            </a:r>
            <a:r>
              <a:rPr lang="de-DE" dirty="0" err="1">
                <a:latin typeface="+mj-lt"/>
              </a:rPr>
              <a:t>icf</a:t>
            </a:r>
            <a:r>
              <a:rPr lang="de-DE" dirty="0">
                <a:latin typeface="+mj-lt"/>
              </a:rPr>
              <a:t>”).</a:t>
            </a: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1225" y="1615750"/>
          <a:ext cx="7643865" cy="141859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5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3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6592">
                <a:tc>
                  <a:txBody>
                    <a:bodyPr/>
                    <a:lstStyle/>
                    <a:p>
                      <a:r>
                        <a:rPr lang="de-DE" sz="2200" b="0" dirty="0" err="1"/>
                        <a:t>word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b="0" dirty="0" err="1"/>
                        <a:t>collection</a:t>
                      </a:r>
                      <a:r>
                        <a:rPr lang="de-DE" sz="2200" b="0" baseline="0" dirty="0"/>
                        <a:t> </a:t>
                      </a:r>
                      <a:r>
                        <a:rPr lang="de-DE" sz="2200" b="0" baseline="0" dirty="0" err="1"/>
                        <a:t>frequency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b="0" dirty="0" err="1"/>
                        <a:t>document</a:t>
                      </a:r>
                      <a:r>
                        <a:rPr lang="de-DE" sz="2200" b="0" dirty="0"/>
                        <a:t>  </a:t>
                      </a:r>
                      <a:r>
                        <a:rPr lang="de-DE" sz="2200" b="0" dirty="0" err="1"/>
                        <a:t>frequency</a:t>
                      </a:r>
                      <a:endParaRPr lang="de-DE" sz="22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92">
                <a:tc>
                  <a:txBody>
                    <a:bodyPr/>
                    <a:lstStyle/>
                    <a:p>
                      <a:r>
                        <a:rPr lang="de-DE" sz="2200" dirty="0"/>
                        <a:t>INSURANCE</a:t>
                      </a:r>
                    </a:p>
                    <a:p>
                      <a:r>
                        <a:rPr lang="de-DE" sz="2200" dirty="0"/>
                        <a:t>TRY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10440</a:t>
                      </a:r>
                    </a:p>
                    <a:p>
                      <a:pPr algn="r"/>
                      <a:r>
                        <a:rPr lang="de-DE" sz="2200" dirty="0"/>
                        <a:t>10422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3997</a:t>
                      </a:r>
                    </a:p>
                    <a:p>
                      <a:pPr algn="r"/>
                      <a:r>
                        <a:rPr lang="de-DE" sz="2200" dirty="0"/>
                        <a:t>8760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4288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tf-idf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weighting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1643050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weight of a term is the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product of its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tf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weight and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its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idf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weight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sz="14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sz="14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sz="14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tf-weight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idf-weight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Best known weighting scheme in information retrieval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Note: the “-” in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is a hyphen, not a minus sign!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Alternative </a:t>
            </a:r>
            <a:r>
              <a:rPr lang="de-DE" dirty="0" err="1">
                <a:latin typeface="+mj-lt"/>
              </a:rPr>
              <a:t>names</a:t>
            </a:r>
            <a:r>
              <a:rPr lang="de-DE" dirty="0">
                <a:latin typeface="+mj-lt"/>
              </a:rPr>
              <a:t>: tf.idf, </a:t>
            </a:r>
            <a:r>
              <a:rPr lang="de-DE" dirty="0" err="1">
                <a:latin typeface="+mj-lt"/>
              </a:rPr>
              <a:t>tf</a:t>
            </a:r>
            <a:r>
              <a:rPr lang="de-DE" dirty="0">
                <a:latin typeface="+mj-lt"/>
              </a:rPr>
              <a:t> x </a:t>
            </a:r>
            <a:r>
              <a:rPr lang="de-DE" dirty="0" err="1">
                <a:latin typeface="+mj-lt"/>
              </a:rPr>
              <a:t>idf</a:t>
            </a: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9" name="Picture 8" descr="6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078674"/>
            <a:ext cx="396000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577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Summary</a:t>
            </a:r>
            <a:r>
              <a:rPr lang="de-DE" sz="3600" dirty="0">
                <a:latin typeface="+mj-lt"/>
              </a:rPr>
              <a:t>: </a:t>
            </a:r>
            <a:r>
              <a:rPr lang="de-DE" sz="3600" dirty="0" err="1">
                <a:latin typeface="+mj-lt"/>
              </a:rPr>
              <a:t>tf-idf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000240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Assign a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weight for each term t in each document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The </a:t>
            </a:r>
            <a:r>
              <a:rPr lang="de-DE" dirty="0" err="1">
                <a:latin typeface="+mj-lt"/>
              </a:rPr>
              <a:t>tf-idf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</a:t>
            </a:r>
            <a:r>
              <a:rPr lang="de-DE" dirty="0">
                <a:latin typeface="+mj-lt"/>
              </a:rPr>
              <a:t> . . 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. . . increases with the number of occurrences within a </a:t>
            </a:r>
            <a:r>
              <a:rPr lang="de-DE" sz="2200" dirty="0" err="1">
                <a:latin typeface="+mj-lt"/>
              </a:rPr>
              <a:t>document</a:t>
            </a:r>
            <a:r>
              <a:rPr lang="de-DE" sz="2200" dirty="0">
                <a:latin typeface="+mj-lt"/>
              </a:rPr>
              <a:t>. (</a:t>
            </a:r>
            <a:r>
              <a:rPr lang="de-DE" sz="2200" dirty="0" err="1">
                <a:latin typeface="+mj-lt"/>
              </a:rPr>
              <a:t>term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frequency</a:t>
            </a:r>
            <a:r>
              <a:rPr lang="de-DE" sz="2200" dirty="0">
                <a:latin typeface="+mj-lt"/>
              </a:rPr>
              <a:t>)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. . . increases with the rarity of the term in the collection. </a:t>
            </a:r>
            <a:r>
              <a:rPr lang="de-DE" sz="2200" dirty="0">
                <a:latin typeface="+mj-lt"/>
              </a:rPr>
              <a:t>(inverse </a:t>
            </a:r>
            <a:r>
              <a:rPr lang="de-DE" sz="2200" dirty="0" err="1">
                <a:latin typeface="+mj-lt"/>
              </a:rPr>
              <a:t>document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frequency</a:t>
            </a:r>
            <a:r>
              <a:rPr lang="de-DE" sz="2200" dirty="0">
                <a:latin typeface="+mj-lt"/>
              </a:rPr>
              <a:t>)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8" name="Picture 7" descr="6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445" y="2341807"/>
            <a:ext cx="3647366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348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1738313" y="104776"/>
            <a:ext cx="8223250" cy="1306513"/>
          </a:xfrm>
        </p:spPr>
        <p:txBody>
          <a:bodyPr/>
          <a:lstStyle/>
          <a:p>
            <a:r>
              <a:rPr lang="en-US" dirty="0"/>
              <a:t>Outline</a:t>
            </a:r>
            <a:endParaRPr lang="de-DE" dirty="0"/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662114" y="1714488"/>
            <a:ext cx="8505825" cy="47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BDD3E9"/>
              </a:buClr>
              <a:buSzPct val="70000"/>
              <a:buFont typeface="Calibri" charset="0"/>
              <a:buChar char="❶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3200" dirty="0">
                <a:solidFill>
                  <a:srgbClr val="BDD3E9"/>
                </a:solidFill>
                <a:latin typeface="Calibri" charset="0"/>
              </a:rPr>
              <a:t> Recap 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BDD3E9"/>
              </a:buClr>
              <a:buSzPct val="70000"/>
              <a:buFont typeface="Calibri" charset="0"/>
              <a:buChar char="❷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3200" dirty="0">
                <a:solidFill>
                  <a:srgbClr val="336699"/>
                </a:solidFill>
                <a:latin typeface="Calibri" charset="0"/>
              </a:rPr>
              <a:t> </a:t>
            </a:r>
            <a:r>
              <a:rPr lang="en-US" sz="3200" dirty="0">
                <a:solidFill>
                  <a:srgbClr val="BDD3E9"/>
                </a:solidFill>
                <a:latin typeface="Calibri" charset="0"/>
              </a:rPr>
              <a:t>Why ranked retrieval? 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BDD3E9"/>
              </a:buClr>
              <a:buSzPct val="70000"/>
              <a:buFont typeface="Calibri" charset="0"/>
              <a:buChar char="❸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3200" dirty="0">
                <a:solidFill>
                  <a:srgbClr val="BDD3E9"/>
                </a:solidFill>
                <a:latin typeface="Calibri" charset="0"/>
              </a:rPr>
              <a:t> Term frequency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BDD3E9"/>
              </a:buClr>
              <a:buSzPct val="70000"/>
              <a:buFont typeface="Calibri" charset="0"/>
              <a:buChar char="❹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3200" dirty="0">
                <a:solidFill>
                  <a:srgbClr val="BDD3E9"/>
                </a:solidFill>
                <a:latin typeface="Calibri" charset="0"/>
              </a:rPr>
              <a:t> </a:t>
            </a:r>
            <a:r>
              <a:rPr lang="en-US" sz="3200" dirty="0" err="1">
                <a:solidFill>
                  <a:srgbClr val="BDD3E9"/>
                </a:solidFill>
                <a:latin typeface="Calibri" charset="0"/>
              </a:rPr>
              <a:t>tf-idf</a:t>
            </a:r>
            <a:r>
              <a:rPr lang="en-US" sz="3200" dirty="0">
                <a:solidFill>
                  <a:srgbClr val="BDD3E9"/>
                </a:solidFill>
                <a:latin typeface="Calibri" charset="0"/>
              </a:rPr>
              <a:t> weighting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70000"/>
              <a:buFont typeface="Calibri" pitchFamily="34" charset="0"/>
              <a:buChar char="❺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sz="3200" dirty="0">
                <a:solidFill>
                  <a:srgbClr val="BDD3E9"/>
                </a:solidFill>
                <a:latin typeface="Calibri" charset="0"/>
              </a:rPr>
              <a:t> </a:t>
            </a:r>
            <a:r>
              <a:rPr lang="en-US" sz="3200" dirty="0">
                <a:solidFill>
                  <a:srgbClr val="336699"/>
                </a:solidFill>
                <a:latin typeface="Calibri" charset="0"/>
              </a:rPr>
              <a:t>The vector space model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80000"/>
              <a:buFont typeface="Calibri" pitchFamily="34" charset="0"/>
              <a:buChar char="❺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sz="3200" dirty="0">
              <a:solidFill>
                <a:srgbClr val="336699"/>
              </a:solidFill>
              <a:latin typeface="Calibri" charset="0"/>
            </a:endParaRP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80000"/>
              <a:buFont typeface="Calibri" pitchFamily="34" charset="0"/>
              <a:buChar char="❺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sz="3200" dirty="0">
              <a:solidFill>
                <a:srgbClr val="336699"/>
              </a:solidFill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6231DFBC-2454-451B-9C42-04D7F724382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39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19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Binary </a:t>
            </a:r>
            <a:r>
              <a:rPr lang="de-DE" sz="3600" dirty="0" err="1">
                <a:latin typeface="+mj-lt"/>
              </a:rPr>
              <a:t>incidence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matrix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+mj-lt"/>
              </a:rPr>
              <a:t>	Each document is represented as a binary vector ∈ {0, 1}</a:t>
            </a:r>
            <a:r>
              <a:rPr lang="en-US" baseline="30000" dirty="0">
                <a:latin typeface="+mj-lt"/>
              </a:rPr>
              <a:t>|</a:t>
            </a:r>
            <a:r>
              <a:rPr lang="en-US" i="1" baseline="30000" dirty="0">
                <a:latin typeface="+mj-lt"/>
              </a:rPr>
              <a:t>V</a:t>
            </a:r>
            <a:r>
              <a:rPr lang="en-US" baseline="30000" dirty="0"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38282" y="1617356"/>
          <a:ext cx="8524894" cy="3383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423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Count </a:t>
            </a:r>
            <a:r>
              <a:rPr lang="de-DE" sz="3600" dirty="0" err="1">
                <a:latin typeface="+mj-lt"/>
              </a:rPr>
              <a:t>matrix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+mj-lt"/>
              </a:rPr>
              <a:t>     Each document is now represented as a count vector ∈ N</a:t>
            </a:r>
            <a:r>
              <a:rPr lang="en-US" baseline="30000" dirty="0">
                <a:latin typeface="+mj-lt"/>
              </a:rPr>
              <a:t>|</a:t>
            </a:r>
            <a:r>
              <a:rPr lang="en-US" i="1" baseline="30000" dirty="0">
                <a:latin typeface="+mj-lt"/>
              </a:rPr>
              <a:t>V</a:t>
            </a:r>
            <a:r>
              <a:rPr lang="en-US" baseline="30000" dirty="0"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38282" y="1617356"/>
          <a:ext cx="8524894" cy="3383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4</a:t>
                      </a:r>
                    </a:p>
                    <a:p>
                      <a:pPr algn="r"/>
                      <a:r>
                        <a:rPr lang="de-DE" dirty="0"/>
                        <a:t>232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57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73</a:t>
                      </a:r>
                    </a:p>
                    <a:p>
                      <a:pPr algn="r"/>
                      <a:r>
                        <a:rPr lang="de-DE" dirty="0"/>
                        <a:t>157</a:t>
                      </a:r>
                    </a:p>
                    <a:p>
                      <a:pPr algn="r"/>
                      <a:r>
                        <a:rPr lang="de-DE" dirty="0"/>
                        <a:t>227</a:t>
                      </a:r>
                    </a:p>
                    <a:p>
                      <a:pPr algn="r"/>
                      <a:r>
                        <a:rPr lang="de-DE" dirty="0"/>
                        <a:t>10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3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2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1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0</a:t>
                      </a:r>
                    </a:p>
                    <a:p>
                      <a:pPr algn="r"/>
                      <a:r>
                        <a:rPr lang="de-DE" dirty="0"/>
                        <a:t>8</a:t>
                      </a:r>
                    </a:p>
                    <a:p>
                      <a:pPr algn="r"/>
                      <a:r>
                        <a:rPr lang="de-DE" dirty="0"/>
                        <a:t>5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0158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Binary → </a:t>
            </a:r>
            <a:r>
              <a:rPr lang="de-DE" sz="3600" dirty="0" err="1">
                <a:latin typeface="+mj-lt"/>
              </a:rPr>
              <a:t>count</a:t>
            </a:r>
            <a:r>
              <a:rPr lang="de-DE" sz="3600" dirty="0">
                <a:latin typeface="+mj-lt"/>
              </a:rPr>
              <a:t> → </a:t>
            </a:r>
            <a:r>
              <a:rPr lang="de-DE" sz="3600" dirty="0" err="1">
                <a:latin typeface="+mj-lt"/>
              </a:rPr>
              <a:t>weight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matrix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5143536"/>
            <a:ext cx="8572560" cy="17144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dirty="0">
                <a:latin typeface="+mj-lt"/>
              </a:rPr>
              <a:t>	Each document is now represented as a real-valued vector of </a:t>
            </a:r>
            <a:r>
              <a:rPr lang="en-US" dirty="0" err="1">
                <a:latin typeface="+mj-lt"/>
              </a:rPr>
              <a:t>tfidf</a:t>
            </a:r>
            <a:r>
              <a:rPr lang="en-US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weights</a:t>
            </a:r>
            <a:r>
              <a:rPr lang="de-DE" dirty="0">
                <a:latin typeface="+mj-lt"/>
              </a:rPr>
              <a:t> </a:t>
            </a:r>
            <a:r>
              <a:rPr lang="en-US" dirty="0">
                <a:latin typeface="+mj-lt"/>
              </a:rPr>
              <a:t>∈ R</a:t>
            </a:r>
            <a:r>
              <a:rPr lang="en-US" baseline="30000" dirty="0">
                <a:latin typeface="+mj-lt"/>
              </a:rPr>
              <a:t>|</a:t>
            </a:r>
            <a:r>
              <a:rPr lang="en-US" i="1" baseline="30000" dirty="0">
                <a:latin typeface="+mj-lt"/>
              </a:rPr>
              <a:t>V</a:t>
            </a:r>
            <a:r>
              <a:rPr lang="en-US" baseline="30000" dirty="0">
                <a:latin typeface="+mj-lt"/>
              </a:rPr>
              <a:t>|.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38282" y="1617356"/>
          <a:ext cx="8524894" cy="3383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7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Anthony </a:t>
                      </a:r>
                      <a:r>
                        <a:rPr lang="de-DE" sz="2200" b="0" kern="1200" baseline="0" dirty="0" err="1"/>
                        <a:t>and</a:t>
                      </a:r>
                      <a:r>
                        <a:rPr lang="de-DE" sz="2200" b="0" kern="1200" baseline="0" dirty="0"/>
                        <a:t>  Cleopatra</a:t>
                      </a:r>
                      <a:endParaRPr lang="de-DE" sz="2200" b="0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Julius </a:t>
                      </a:r>
                      <a:r>
                        <a:rPr lang="de-DE" sz="2200" b="0" kern="1200" baseline="0" dirty="0"/>
                        <a:t>Caesar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The  </a:t>
                      </a:r>
                      <a:r>
                        <a:rPr lang="de-DE" sz="2200" b="0" kern="1200" baseline="0" dirty="0"/>
                        <a:t>Tempest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Hamlet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kern="1200" baseline="0" dirty="0"/>
                        <a:t>Othello </a:t>
                      </a:r>
                      <a:endParaRPr lang="de-DE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baseline="0" dirty="0"/>
                        <a:t>Macbeth . . .</a:t>
                      </a:r>
                    </a:p>
                    <a:p>
                      <a:endParaRPr lang="de-DE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ANTHONY</a:t>
                      </a:r>
                    </a:p>
                    <a:p>
                      <a:r>
                        <a:rPr lang="de-DE" dirty="0"/>
                        <a:t>BRUTUS</a:t>
                      </a:r>
                      <a:r>
                        <a:rPr lang="de-DE" baseline="0" dirty="0"/>
                        <a:t> </a:t>
                      </a:r>
                    </a:p>
                    <a:p>
                      <a:r>
                        <a:rPr lang="de-DE" baseline="0" dirty="0"/>
                        <a:t>CAESAR</a:t>
                      </a:r>
                    </a:p>
                    <a:p>
                      <a:r>
                        <a:rPr lang="de-DE" baseline="0" dirty="0"/>
                        <a:t>CALPURNIA</a:t>
                      </a:r>
                    </a:p>
                    <a:p>
                      <a:r>
                        <a:rPr lang="de-DE" baseline="0" dirty="0"/>
                        <a:t>CLEOPATRA</a:t>
                      </a:r>
                    </a:p>
                    <a:p>
                      <a:r>
                        <a:rPr lang="de-DE" baseline="0" dirty="0"/>
                        <a:t>MERCY</a:t>
                      </a:r>
                    </a:p>
                    <a:p>
                      <a:r>
                        <a:rPr lang="de-DE" baseline="0" dirty="0"/>
                        <a:t>WORSER</a:t>
                      </a:r>
                    </a:p>
                    <a:p>
                      <a:r>
                        <a:rPr lang="de-DE" baseline="0" dirty="0"/>
                        <a:t>. . .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5.25</a:t>
                      </a:r>
                    </a:p>
                    <a:p>
                      <a:pPr algn="r"/>
                      <a:r>
                        <a:rPr lang="de-DE" dirty="0"/>
                        <a:t>1.21</a:t>
                      </a:r>
                    </a:p>
                    <a:p>
                      <a:pPr algn="r"/>
                      <a:r>
                        <a:rPr lang="de-DE" dirty="0"/>
                        <a:t>8.59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2.85</a:t>
                      </a:r>
                    </a:p>
                    <a:p>
                      <a:pPr algn="r"/>
                      <a:r>
                        <a:rPr lang="de-DE" dirty="0"/>
                        <a:t>1.51</a:t>
                      </a:r>
                    </a:p>
                    <a:p>
                      <a:pPr algn="r"/>
                      <a:r>
                        <a:rPr lang="de-DE" dirty="0"/>
                        <a:t>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3.18</a:t>
                      </a:r>
                    </a:p>
                    <a:p>
                      <a:pPr algn="r"/>
                      <a:r>
                        <a:rPr lang="de-DE" dirty="0"/>
                        <a:t>6.10</a:t>
                      </a:r>
                    </a:p>
                    <a:p>
                      <a:pPr algn="r"/>
                      <a:r>
                        <a:rPr lang="de-DE" dirty="0"/>
                        <a:t>2.54</a:t>
                      </a:r>
                    </a:p>
                    <a:p>
                      <a:pPr algn="r"/>
                      <a:r>
                        <a:rPr lang="de-DE" dirty="0"/>
                        <a:t>1.54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1.90</a:t>
                      </a:r>
                    </a:p>
                    <a:p>
                      <a:pPr algn="r"/>
                      <a:r>
                        <a:rPr lang="de-DE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1.0</a:t>
                      </a:r>
                    </a:p>
                    <a:p>
                      <a:pPr algn="r"/>
                      <a:r>
                        <a:rPr lang="de-DE" dirty="0"/>
                        <a:t>1.51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0.12</a:t>
                      </a:r>
                    </a:p>
                    <a:p>
                      <a:pPr algn="r"/>
                      <a:r>
                        <a:rPr lang="de-DE" dirty="0"/>
                        <a:t>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0.25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5.25</a:t>
                      </a:r>
                    </a:p>
                    <a:p>
                      <a:pPr algn="r"/>
                      <a:r>
                        <a:rPr lang="de-DE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0.35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0.0</a:t>
                      </a:r>
                    </a:p>
                    <a:p>
                      <a:pPr algn="r"/>
                      <a:r>
                        <a:rPr lang="de-DE" dirty="0"/>
                        <a:t>0.88</a:t>
                      </a:r>
                    </a:p>
                    <a:p>
                      <a:pPr algn="r"/>
                      <a:r>
                        <a:rPr lang="de-DE" dirty="0"/>
                        <a:t>1.95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4743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Documents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as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vectors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1857364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document is now represented as a real-valued vector of </a:t>
            </a:r>
            <a:r>
              <a:rPr lang="de-DE" dirty="0" err="1">
                <a:latin typeface="+mj-lt"/>
              </a:rPr>
              <a:t>tf-idf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weights</a:t>
            </a:r>
            <a:r>
              <a:rPr lang="de-DE" dirty="0">
                <a:latin typeface="+mj-lt"/>
              </a:rPr>
              <a:t> ∈ R</a:t>
            </a:r>
            <a:r>
              <a:rPr lang="de-DE" baseline="30000" dirty="0">
                <a:latin typeface="+mj-lt"/>
              </a:rPr>
              <a:t>|</a:t>
            </a:r>
            <a:r>
              <a:rPr lang="de-DE" i="1" baseline="30000" dirty="0">
                <a:latin typeface="+mj-lt"/>
              </a:rPr>
              <a:t>V</a:t>
            </a:r>
            <a:r>
              <a:rPr lang="de-DE" baseline="30000" dirty="0">
                <a:latin typeface="+mj-lt"/>
              </a:rPr>
              <a:t>|.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So we have a |</a:t>
            </a:r>
            <a:r>
              <a:rPr lang="en-US" i="1" dirty="0">
                <a:latin typeface="+mj-lt"/>
              </a:rPr>
              <a:t>V</a:t>
            </a:r>
            <a:r>
              <a:rPr lang="en-US" dirty="0">
                <a:latin typeface="+mj-lt"/>
              </a:rPr>
              <a:t>|-dimensional real-valued vector space.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Terms are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axes</a:t>
            </a:r>
            <a:r>
              <a:rPr lang="en-US" dirty="0">
                <a:latin typeface="+mj-lt"/>
              </a:rPr>
              <a:t> of the space.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Documents are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points</a:t>
            </a:r>
            <a:r>
              <a:rPr lang="en-US" dirty="0">
                <a:latin typeface="+mj-lt"/>
              </a:rPr>
              <a:t> or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vectors</a:t>
            </a:r>
            <a:r>
              <a:rPr lang="en-US" dirty="0">
                <a:latin typeface="+mj-lt"/>
              </a:rPr>
              <a:t> in this space.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Very high-dimensional: tens of millions of dimensions when you apply this to web search engines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vector is very sparse - most entries are zero.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894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Queries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as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vectors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1643050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Key idea 1: do the same for queries: represent them as vectors in the high-dimensional space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Key idea 2: Rank documents according to their proximity to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query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proximity</a:t>
            </a:r>
            <a:r>
              <a:rPr lang="de-DE" dirty="0">
                <a:latin typeface="+mj-lt"/>
              </a:rPr>
              <a:t> = </a:t>
            </a:r>
            <a:r>
              <a:rPr lang="de-DE" dirty="0" err="1">
                <a:latin typeface="+mj-lt"/>
              </a:rPr>
              <a:t>similarity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proximity</a:t>
            </a:r>
            <a:r>
              <a:rPr lang="de-DE" dirty="0">
                <a:latin typeface="+mj-lt"/>
              </a:rPr>
              <a:t> ≈ negative </a:t>
            </a:r>
            <a:r>
              <a:rPr lang="de-DE" dirty="0" err="1">
                <a:latin typeface="+mj-lt"/>
              </a:rPr>
              <a:t>distance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Recall: We’re doing this because we want to get away from the you’re-either-in-or-out, feast-or-famine Boolean model.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Instead: rank relevant documents higher than </a:t>
            </a:r>
            <a:r>
              <a:rPr lang="en-US" dirty="0" err="1">
                <a:latin typeface="+mj-lt"/>
              </a:rPr>
              <a:t>nonrelevant</a:t>
            </a:r>
            <a:r>
              <a:rPr lang="en-US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documents</a:t>
            </a: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02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How do we formalize vector space similarity?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214554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First cut: (negative) distance between two points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( = distance between the end points of the two vectors)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Euclidean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distance</a:t>
            </a:r>
            <a:r>
              <a:rPr lang="de-DE" dirty="0">
                <a:latin typeface="+mj-lt"/>
              </a:rPr>
              <a:t>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Euclidean distance is a bad idea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because Euclidean distance is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large</a:t>
            </a:r>
            <a:r>
              <a:rPr lang="en-US" dirty="0">
                <a:latin typeface="+mj-lt"/>
              </a:rPr>
              <a:t> for vectors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of different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lengths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291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Why distance is a bad idea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5143512"/>
            <a:ext cx="8286808" cy="135732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sz="2200" dirty="0">
                <a:latin typeface="+mj-lt"/>
              </a:rPr>
              <a:t>The </a:t>
            </a:r>
            <a:r>
              <a:rPr lang="de-DE" sz="2200" dirty="0" err="1">
                <a:latin typeface="+mj-lt"/>
              </a:rPr>
              <a:t>Euclidean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distance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of</a:t>
            </a:r>
            <a:r>
              <a:rPr lang="de-DE" sz="2200" dirty="0">
                <a:latin typeface="+mj-lt"/>
              </a:rPr>
              <a:t>      </a:t>
            </a:r>
            <a:r>
              <a:rPr lang="en-US" sz="2200" dirty="0">
                <a:latin typeface="+mj-lt"/>
              </a:rPr>
              <a:t>and       is large although the distribution of terms in the query </a:t>
            </a:r>
            <a:r>
              <a:rPr lang="en-US" sz="2200" i="1" dirty="0">
                <a:latin typeface="+mj-lt"/>
              </a:rPr>
              <a:t>q</a:t>
            </a:r>
          </a:p>
          <a:p>
            <a:r>
              <a:rPr lang="en-US" sz="2200" dirty="0">
                <a:latin typeface="+mj-lt"/>
              </a:rPr>
              <a:t>and the distribution of terms in the document </a:t>
            </a:r>
            <a:r>
              <a:rPr lang="en-US" sz="2200" i="1" dirty="0">
                <a:latin typeface="+mj-lt"/>
              </a:rPr>
              <a:t>d</a:t>
            </a:r>
            <a:r>
              <a:rPr lang="en-US" sz="2200" baseline="-25000" dirty="0">
                <a:latin typeface="+mj-lt"/>
              </a:rPr>
              <a:t>2</a:t>
            </a:r>
            <a:r>
              <a:rPr lang="en-US" sz="2200" dirty="0">
                <a:latin typeface="+mj-lt"/>
              </a:rPr>
              <a:t> are very similar.</a:t>
            </a:r>
          </a:p>
          <a:p>
            <a:r>
              <a:rPr lang="en-US" sz="2200" dirty="0">
                <a:solidFill>
                  <a:srgbClr val="00B050"/>
                </a:solidFill>
                <a:latin typeface="+mj-lt"/>
              </a:rPr>
              <a:t>Questions about basic vector space setup?</a:t>
            </a:r>
            <a:endParaRPr lang="de-DE" sz="2200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9" name="Picture 8" descr="Pictur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035" y="1500175"/>
            <a:ext cx="7215238" cy="3452691"/>
          </a:xfrm>
          <a:prstGeom prst="rect">
            <a:avLst/>
          </a:prstGeom>
        </p:spPr>
      </p:pic>
      <p:pic>
        <p:nvPicPr>
          <p:cNvPr id="11" name="Picture 10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270" y="5140140"/>
            <a:ext cx="302399" cy="432000"/>
          </a:xfrm>
          <a:prstGeom prst="rect">
            <a:avLst/>
          </a:prstGeom>
        </p:spPr>
      </p:pic>
      <p:pic>
        <p:nvPicPr>
          <p:cNvPr id="12" name="Picture 11" descr="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73" y="5140702"/>
            <a:ext cx="269999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03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Use angle instead of distance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214554"/>
            <a:ext cx="828680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Rank documents according to angle with query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Thought experiment: take a document d and append it to itself. Call this document </a:t>
            </a:r>
            <a:r>
              <a:rPr lang="en-US" i="1" dirty="0">
                <a:latin typeface="+mj-lt"/>
              </a:rPr>
              <a:t>d′</a:t>
            </a:r>
            <a:r>
              <a:rPr lang="en-US" dirty="0">
                <a:latin typeface="+mj-lt"/>
              </a:rPr>
              <a:t>. </a:t>
            </a:r>
            <a:r>
              <a:rPr lang="en-US" i="1" dirty="0">
                <a:latin typeface="+mj-lt"/>
              </a:rPr>
              <a:t>d′ </a:t>
            </a:r>
            <a:r>
              <a:rPr lang="en-US" dirty="0">
                <a:latin typeface="+mj-lt"/>
              </a:rPr>
              <a:t>is twice as long as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“Semantically”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 and </a:t>
            </a:r>
            <a:r>
              <a:rPr lang="en-US" i="1" dirty="0">
                <a:latin typeface="+mj-lt"/>
              </a:rPr>
              <a:t>d′</a:t>
            </a:r>
            <a:r>
              <a:rPr lang="en-US" dirty="0">
                <a:latin typeface="+mj-lt"/>
              </a:rPr>
              <a:t> have the same content.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angle between the two documents is 0, corresponding to </a:t>
            </a:r>
            <a:r>
              <a:rPr lang="de-DE" dirty="0">
                <a:latin typeface="+mj-lt"/>
              </a:rPr>
              <a:t>maximal </a:t>
            </a:r>
            <a:r>
              <a:rPr lang="de-DE" dirty="0" err="1">
                <a:latin typeface="+mj-lt"/>
              </a:rPr>
              <a:t>similarity</a:t>
            </a:r>
            <a:r>
              <a:rPr lang="de-DE" dirty="0">
                <a:latin typeface="+mj-lt"/>
              </a:rPr>
              <a:t>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even though the Euclidean distance between the two documents can be quite large.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409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From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angles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to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cosines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14311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following two notions are equivalent.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Rank documents according to the </a:t>
            </a:r>
            <a:r>
              <a:rPr lang="en-US" sz="2200" dirty="0">
                <a:solidFill>
                  <a:srgbClr val="0070C0"/>
                </a:solidFill>
                <a:latin typeface="+mj-lt"/>
              </a:rPr>
              <a:t>angle</a:t>
            </a:r>
            <a:r>
              <a:rPr lang="en-US" sz="2200" dirty="0">
                <a:latin typeface="+mj-lt"/>
              </a:rPr>
              <a:t> between query and </a:t>
            </a:r>
            <a:r>
              <a:rPr lang="de-DE" sz="2200" dirty="0" err="1">
                <a:latin typeface="+mj-lt"/>
              </a:rPr>
              <a:t>document</a:t>
            </a:r>
            <a:r>
              <a:rPr lang="de-DE" sz="2200" dirty="0">
                <a:latin typeface="+mj-lt"/>
              </a:rPr>
              <a:t> in </a:t>
            </a:r>
            <a:r>
              <a:rPr lang="de-DE" sz="2200" dirty="0" err="1">
                <a:latin typeface="+mj-lt"/>
              </a:rPr>
              <a:t>decreasing</a:t>
            </a:r>
            <a:r>
              <a:rPr lang="de-DE" sz="2200" dirty="0">
                <a:latin typeface="+mj-lt"/>
              </a:rPr>
              <a:t> order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latin typeface="+mj-lt"/>
              </a:rPr>
              <a:t>Rank </a:t>
            </a:r>
            <a:r>
              <a:rPr lang="de-DE" sz="2200" dirty="0" err="1">
                <a:latin typeface="+mj-lt"/>
              </a:rPr>
              <a:t>documents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according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to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solidFill>
                  <a:srgbClr val="0070C0"/>
                </a:solidFill>
                <a:latin typeface="+mj-lt"/>
              </a:rPr>
              <a:t>cosine</a:t>
            </a:r>
            <a:r>
              <a:rPr lang="de-DE" sz="2200" dirty="0">
                <a:latin typeface="+mj-lt"/>
              </a:rPr>
              <a:t>(</a:t>
            </a:r>
            <a:r>
              <a:rPr lang="de-DE" sz="2200" dirty="0" err="1">
                <a:latin typeface="+mj-lt"/>
              </a:rPr>
              <a:t>query,document</a:t>
            </a:r>
            <a:r>
              <a:rPr lang="de-DE" sz="2200" dirty="0">
                <a:latin typeface="+mj-lt"/>
              </a:rPr>
              <a:t>) in </a:t>
            </a:r>
            <a:r>
              <a:rPr lang="de-DE" sz="2200" dirty="0" err="1">
                <a:latin typeface="+mj-lt"/>
              </a:rPr>
              <a:t>increasing</a:t>
            </a:r>
            <a:r>
              <a:rPr lang="de-DE" sz="2200" dirty="0">
                <a:latin typeface="+mj-lt"/>
              </a:rPr>
              <a:t> order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Cosine is a monotonically decreasing function of the angle for 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interval</a:t>
            </a:r>
            <a:r>
              <a:rPr lang="de-DE" dirty="0">
                <a:latin typeface="+mj-lt"/>
              </a:rPr>
              <a:t> [0</a:t>
            </a:r>
            <a:r>
              <a:rPr lang="de-DE" baseline="30000" dirty="0">
                <a:latin typeface="+mj-lt"/>
              </a:rPr>
              <a:t>◦</a:t>
            </a:r>
            <a:r>
              <a:rPr lang="de-DE" dirty="0">
                <a:latin typeface="+mj-lt"/>
              </a:rPr>
              <a:t>, 180</a:t>
            </a:r>
            <a:r>
              <a:rPr lang="de-DE" baseline="30000" dirty="0">
                <a:latin typeface="+mj-lt"/>
              </a:rPr>
              <a:t>◦</a:t>
            </a:r>
            <a:r>
              <a:rPr lang="de-DE" dirty="0">
                <a:latin typeface="+mj-lt"/>
              </a:rPr>
              <a:t>]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524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Cosine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14311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8" name="Picture 7" descr="6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11" y="2000240"/>
            <a:ext cx="6274591" cy="392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338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Length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normalization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1500174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How do we compute the cosine?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vector can be (length-) normalized by dividing each of its components by its length – here we use the </a:t>
            </a:r>
            <a:r>
              <a:rPr lang="en-US" i="1" dirty="0">
                <a:latin typeface="+mj-lt"/>
              </a:rPr>
              <a:t>L</a:t>
            </a:r>
            <a:r>
              <a:rPr lang="en-US" baseline="-25000" dirty="0">
                <a:latin typeface="+mj-lt"/>
              </a:rPr>
              <a:t>2</a:t>
            </a:r>
            <a:r>
              <a:rPr lang="en-US" dirty="0">
                <a:latin typeface="+mj-lt"/>
              </a:rPr>
              <a:t> norm: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endParaRPr lang="en-US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maps vectors onto the unit sphere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since after normalization: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As a result, longer documents and shorter documents have weights of the same order of magnitude.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Effect on the two documents 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 and </a:t>
            </a:r>
            <a:r>
              <a:rPr lang="en-US" i="1" dirty="0">
                <a:latin typeface="+mj-lt"/>
              </a:rPr>
              <a:t>d′ </a:t>
            </a:r>
            <a:r>
              <a:rPr lang="en-US" dirty="0">
                <a:latin typeface="+mj-lt"/>
              </a:rPr>
              <a:t>(</a:t>
            </a:r>
            <a:r>
              <a:rPr lang="en-US" i="1" dirty="0">
                <a:latin typeface="+mj-lt"/>
              </a:rPr>
              <a:t>d</a:t>
            </a:r>
            <a:r>
              <a:rPr lang="en-US" dirty="0">
                <a:latin typeface="+mj-lt"/>
              </a:rPr>
              <a:t> appended to itself) from earlier slide: they have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identical vectors </a:t>
            </a:r>
            <a:r>
              <a:rPr lang="en-US" dirty="0">
                <a:latin typeface="+mj-lt"/>
              </a:rPr>
              <a:t>after </a:t>
            </a:r>
            <a:r>
              <a:rPr lang="de-DE" dirty="0" err="1">
                <a:latin typeface="+mj-lt"/>
              </a:rPr>
              <a:t>length-normalization</a:t>
            </a:r>
            <a:r>
              <a:rPr lang="de-DE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8" name="Picture 7" descr="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376" y="2389980"/>
            <a:ext cx="2294999" cy="612000"/>
          </a:xfrm>
          <a:prstGeom prst="rect">
            <a:avLst/>
          </a:prstGeom>
        </p:spPr>
      </p:pic>
      <p:pic>
        <p:nvPicPr>
          <p:cNvPr id="9" name="Picture 8" descr="6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399" y="3086104"/>
            <a:ext cx="3005602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753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Cosine similarity between query and document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3429000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i="1" dirty="0" err="1">
                <a:latin typeface="+mj-lt"/>
              </a:rPr>
              <a:t>q</a:t>
            </a:r>
            <a:r>
              <a:rPr lang="en-US" i="1" baseline="-25000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is the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weight of term</a:t>
            </a:r>
            <a:r>
              <a:rPr lang="en-US" i="1" dirty="0">
                <a:latin typeface="+mj-lt"/>
              </a:rPr>
              <a:t> </a:t>
            </a:r>
            <a:r>
              <a:rPr lang="en-US" i="1" dirty="0" err="1">
                <a:latin typeface="+mj-lt"/>
              </a:rPr>
              <a:t>i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in the query.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i="1" dirty="0" err="1">
                <a:latin typeface="+mj-lt"/>
              </a:rPr>
              <a:t>d</a:t>
            </a:r>
            <a:r>
              <a:rPr lang="en-US" i="1" baseline="-25000" dirty="0" err="1">
                <a:latin typeface="+mj-lt"/>
              </a:rPr>
              <a:t>i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is the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weight of term</a:t>
            </a:r>
            <a:r>
              <a:rPr lang="en-US" i="1" dirty="0">
                <a:latin typeface="+mj-lt"/>
              </a:rPr>
              <a:t> </a:t>
            </a:r>
            <a:r>
              <a:rPr lang="en-US" i="1" dirty="0" err="1">
                <a:latin typeface="+mj-lt"/>
              </a:rPr>
              <a:t>i</a:t>
            </a:r>
            <a:r>
              <a:rPr lang="en-US" i="1" dirty="0">
                <a:latin typeface="+mj-lt"/>
              </a:rPr>
              <a:t> </a:t>
            </a:r>
            <a:r>
              <a:rPr lang="en-US" dirty="0">
                <a:latin typeface="+mj-lt"/>
              </a:rPr>
              <a:t>in the document.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is the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cosine similarity </a:t>
            </a:r>
            <a:r>
              <a:rPr lang="en-US" dirty="0">
                <a:latin typeface="+mj-lt"/>
              </a:rPr>
              <a:t>of      and      . . . . . . or, equivalently, the cosine of the angle between      and </a:t>
            </a: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10" name="Picture 9" descr="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00" y="1884934"/>
            <a:ext cx="6645180" cy="1080000"/>
          </a:xfrm>
          <a:prstGeom prst="rect">
            <a:avLst/>
          </a:prstGeom>
        </p:spPr>
      </p:pic>
      <p:pic>
        <p:nvPicPr>
          <p:cNvPr id="13" name="Picture 12" descr="6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384" y="4086071"/>
            <a:ext cx="317031" cy="468000"/>
          </a:xfrm>
          <a:prstGeom prst="rect">
            <a:avLst/>
          </a:prstGeom>
        </p:spPr>
      </p:pic>
      <p:pic>
        <p:nvPicPr>
          <p:cNvPr id="14" name="Picture 13" descr="65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472" y="4476950"/>
            <a:ext cx="317031" cy="468000"/>
          </a:xfrm>
          <a:prstGeom prst="rect">
            <a:avLst/>
          </a:prstGeom>
        </p:spPr>
      </p:pic>
      <p:pic>
        <p:nvPicPr>
          <p:cNvPr id="16" name="Picture 15" descr="6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8317" y="4458950"/>
            <a:ext cx="366547" cy="504000"/>
          </a:xfrm>
          <a:prstGeom prst="rect">
            <a:avLst/>
          </a:prstGeom>
        </p:spPr>
      </p:pic>
      <p:pic>
        <p:nvPicPr>
          <p:cNvPr id="17" name="Picture 16" descr="65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773" y="4086071"/>
            <a:ext cx="34036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177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Cosine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for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normalized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vectors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50030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For normalized vectors, the cosine is equivalent to the dot </a:t>
            </a:r>
            <a:r>
              <a:rPr lang="de-DE" dirty="0" err="1">
                <a:latin typeface="+mj-lt"/>
              </a:rPr>
              <a:t>product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scalar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product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(if      and       are length-normalized).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12" name="Picture 11" descr="65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633" y="3712525"/>
            <a:ext cx="317031" cy="468000"/>
          </a:xfrm>
          <a:prstGeom prst="rect">
            <a:avLst/>
          </a:prstGeom>
        </p:spPr>
      </p:pic>
      <p:pic>
        <p:nvPicPr>
          <p:cNvPr id="19" name="Picture 18" descr="Pict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600" y="3694525"/>
            <a:ext cx="388803" cy="504000"/>
          </a:xfrm>
          <a:prstGeom prst="rect">
            <a:avLst/>
          </a:prstGeom>
        </p:spPr>
      </p:pic>
      <p:pic>
        <p:nvPicPr>
          <p:cNvPr id="29" name="Picture 28" descr="6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793" y="3130562"/>
            <a:ext cx="4367646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065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Cosine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similarity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illustrated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14311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8" name="Picture 7" descr="6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538" y="1928802"/>
            <a:ext cx="5160694" cy="389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890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Cosine</a:t>
            </a:r>
            <a:r>
              <a:rPr lang="de-DE" sz="3600" dirty="0">
                <a:latin typeface="+mj-lt"/>
              </a:rPr>
              <a:t>: </a:t>
            </a:r>
            <a:r>
              <a:rPr lang="de-DE" sz="3600" dirty="0" err="1">
                <a:latin typeface="+mj-lt"/>
              </a:rPr>
              <a:t>Example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81158" y="1714488"/>
            <a:ext cx="8143932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latin typeface="+mj-lt"/>
              </a:rPr>
              <a:t>                                                          </a:t>
            </a:r>
            <a:r>
              <a:rPr lang="de-DE" dirty="0" err="1">
                <a:latin typeface="+mj-lt"/>
              </a:rPr>
              <a:t>term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frequencies</a:t>
            </a:r>
            <a:r>
              <a:rPr lang="de-DE" dirty="0">
                <a:latin typeface="+mj-lt"/>
              </a:rPr>
              <a:t> (</a:t>
            </a:r>
            <a:r>
              <a:rPr lang="de-DE" dirty="0" err="1">
                <a:latin typeface="+mj-lt"/>
              </a:rPr>
              <a:t>counts</a:t>
            </a:r>
            <a:r>
              <a:rPr lang="de-DE" dirty="0">
                <a:latin typeface="+mj-lt"/>
              </a:rPr>
              <a:t>)</a:t>
            </a:r>
          </a:p>
          <a:p>
            <a:endParaRPr lang="de-DE" dirty="0">
              <a:latin typeface="+mj-lt"/>
            </a:endParaRPr>
          </a:p>
          <a:p>
            <a:pPr lvl="1"/>
            <a:r>
              <a:rPr lang="de-DE" dirty="0" err="1">
                <a:latin typeface="+mj-lt"/>
              </a:rPr>
              <a:t>How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similar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are</a:t>
            </a:r>
            <a:endParaRPr lang="de-DE" dirty="0">
              <a:latin typeface="+mj-lt"/>
            </a:endParaRPr>
          </a:p>
          <a:p>
            <a:pPr lvl="1"/>
            <a:r>
              <a:rPr lang="de-DE" dirty="0" err="1">
                <a:latin typeface="+mj-lt"/>
              </a:rPr>
              <a:t>these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novels</a:t>
            </a:r>
            <a:r>
              <a:rPr lang="de-DE" dirty="0">
                <a:latin typeface="+mj-lt"/>
              </a:rPr>
              <a:t>? </a:t>
            </a:r>
            <a:r>
              <a:rPr lang="de-DE" dirty="0" err="1">
                <a:latin typeface="+mj-lt"/>
              </a:rPr>
              <a:t>SaS</a:t>
            </a:r>
            <a:r>
              <a:rPr lang="de-DE" dirty="0">
                <a:latin typeface="+mj-lt"/>
              </a:rPr>
              <a:t>:</a:t>
            </a:r>
          </a:p>
          <a:p>
            <a:pPr lvl="1"/>
            <a:r>
              <a:rPr lang="de-DE" dirty="0">
                <a:latin typeface="+mj-lt"/>
              </a:rPr>
              <a:t>Sense </a:t>
            </a:r>
            <a:r>
              <a:rPr lang="de-DE" dirty="0" err="1">
                <a:latin typeface="+mj-lt"/>
              </a:rPr>
              <a:t>and</a:t>
            </a:r>
            <a:endParaRPr lang="de-DE" dirty="0">
              <a:latin typeface="+mj-lt"/>
            </a:endParaRPr>
          </a:p>
          <a:p>
            <a:pPr lvl="1"/>
            <a:r>
              <a:rPr lang="de-DE" dirty="0" err="1">
                <a:latin typeface="+mj-lt"/>
              </a:rPr>
              <a:t>Sensibility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PaP</a:t>
            </a:r>
            <a:r>
              <a:rPr lang="de-DE" dirty="0">
                <a:latin typeface="+mj-lt"/>
              </a:rPr>
              <a:t>:</a:t>
            </a:r>
          </a:p>
          <a:p>
            <a:pPr lvl="1"/>
            <a:r>
              <a:rPr lang="de-DE" dirty="0">
                <a:latin typeface="+mj-lt"/>
              </a:rPr>
              <a:t>Pride </a:t>
            </a:r>
            <a:r>
              <a:rPr lang="de-DE" dirty="0" err="1">
                <a:latin typeface="+mj-lt"/>
              </a:rPr>
              <a:t>and</a:t>
            </a:r>
            <a:endParaRPr lang="de-DE" dirty="0">
              <a:latin typeface="+mj-lt"/>
            </a:endParaRPr>
          </a:p>
          <a:p>
            <a:pPr lvl="1"/>
            <a:r>
              <a:rPr lang="de-DE" dirty="0" err="1">
                <a:latin typeface="+mj-lt"/>
              </a:rPr>
              <a:t>Prejudice</a:t>
            </a:r>
            <a:r>
              <a:rPr lang="de-DE" dirty="0">
                <a:latin typeface="+mj-lt"/>
              </a:rPr>
              <a:t> WH:</a:t>
            </a:r>
          </a:p>
          <a:p>
            <a:pPr lvl="1"/>
            <a:r>
              <a:rPr lang="de-DE" dirty="0">
                <a:latin typeface="+mj-lt"/>
              </a:rPr>
              <a:t>Wuthering</a:t>
            </a:r>
          </a:p>
          <a:p>
            <a:pPr lvl="1"/>
            <a:r>
              <a:rPr lang="de-DE" dirty="0">
                <a:latin typeface="+mj-lt"/>
              </a:rPr>
              <a:t>Heights</a:t>
            </a: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10182" y="2417452"/>
          <a:ext cx="4643438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725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115</a:t>
                      </a:r>
                    </a:p>
                    <a:p>
                      <a:pPr algn="r"/>
                      <a:r>
                        <a:rPr lang="de-DE" sz="2400" dirty="0"/>
                        <a:t>10</a:t>
                      </a:r>
                    </a:p>
                    <a:p>
                      <a:pPr algn="r"/>
                      <a:r>
                        <a:rPr lang="de-DE" sz="2400" dirty="0"/>
                        <a:t>2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58</a:t>
                      </a:r>
                    </a:p>
                    <a:p>
                      <a:pPr algn="r"/>
                      <a:r>
                        <a:rPr lang="de-DE" sz="2400" dirty="0"/>
                        <a:t>7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20</a:t>
                      </a:r>
                    </a:p>
                    <a:p>
                      <a:pPr algn="r"/>
                      <a:r>
                        <a:rPr lang="de-DE" sz="2400" dirty="0"/>
                        <a:t>11</a:t>
                      </a:r>
                    </a:p>
                    <a:p>
                      <a:pPr algn="r"/>
                      <a:r>
                        <a:rPr lang="de-DE" sz="2400" dirty="0"/>
                        <a:t>6</a:t>
                      </a:r>
                    </a:p>
                    <a:p>
                      <a:pPr algn="r"/>
                      <a:r>
                        <a:rPr lang="de-DE" sz="2400" dirty="0"/>
                        <a:t>38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9849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Cosine</a:t>
            </a:r>
            <a:r>
              <a:rPr lang="de-DE" sz="3600" dirty="0">
                <a:latin typeface="+mj-lt"/>
              </a:rPr>
              <a:t>: </a:t>
            </a:r>
            <a:r>
              <a:rPr lang="de-DE" sz="3600" dirty="0" err="1">
                <a:latin typeface="+mj-lt"/>
              </a:rPr>
              <a:t>Example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81158" y="1714488"/>
            <a:ext cx="8143932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latin typeface="+mj-lt"/>
              </a:rPr>
              <a:t>         </a:t>
            </a:r>
            <a:r>
              <a:rPr lang="de-DE" dirty="0" err="1">
                <a:latin typeface="+mj-lt"/>
              </a:rPr>
              <a:t>term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frequencies</a:t>
            </a:r>
            <a:r>
              <a:rPr lang="de-DE" dirty="0">
                <a:latin typeface="+mj-lt"/>
              </a:rPr>
              <a:t> (</a:t>
            </a:r>
            <a:r>
              <a:rPr lang="de-DE" dirty="0" err="1">
                <a:latin typeface="+mj-lt"/>
              </a:rPr>
              <a:t>counts</a:t>
            </a:r>
            <a:r>
              <a:rPr lang="de-DE" dirty="0">
                <a:latin typeface="+mj-lt"/>
              </a:rPr>
              <a:t>)               log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weighting</a:t>
            </a:r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r>
              <a:rPr lang="de-DE" dirty="0">
                <a:latin typeface="+mj-lt"/>
              </a:rPr>
              <a:t>   </a:t>
            </a:r>
          </a:p>
          <a:p>
            <a:r>
              <a:rPr lang="de-DE" dirty="0">
                <a:latin typeface="+mj-lt"/>
              </a:rPr>
              <a:t>       (To simplify this example, we don</a:t>
            </a:r>
            <a:r>
              <a:rPr lang="de-DE" baseline="30000" dirty="0">
                <a:latin typeface="Calibri"/>
                <a:cs typeface="Calibri"/>
              </a:rPr>
              <a:t>'</a:t>
            </a:r>
            <a:r>
              <a:rPr lang="de-DE" dirty="0">
                <a:latin typeface="+mj-lt"/>
              </a:rPr>
              <a:t>t do idf weighting.)</a:t>
            </a:r>
          </a:p>
          <a:p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67439" y="2417452"/>
          <a:ext cx="4214841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44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3.06</a:t>
                      </a:r>
                    </a:p>
                    <a:p>
                      <a:pPr algn="r"/>
                      <a:r>
                        <a:rPr lang="de-DE" sz="2400" dirty="0"/>
                        <a:t>2.0</a:t>
                      </a:r>
                    </a:p>
                    <a:p>
                      <a:pPr algn="r"/>
                      <a:r>
                        <a:rPr lang="de-DE" sz="2400" dirty="0"/>
                        <a:t>1.30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  <a:endParaRPr lang="de-DE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2.76</a:t>
                      </a:r>
                    </a:p>
                    <a:p>
                      <a:pPr algn="r"/>
                      <a:r>
                        <a:rPr lang="de-DE" sz="2400" dirty="0"/>
                        <a:t>1.85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2.30</a:t>
                      </a:r>
                    </a:p>
                    <a:p>
                      <a:pPr algn="r"/>
                      <a:r>
                        <a:rPr lang="de-DE" sz="2400" dirty="0"/>
                        <a:t>2.04</a:t>
                      </a:r>
                    </a:p>
                    <a:p>
                      <a:pPr algn="r"/>
                      <a:r>
                        <a:rPr lang="de-DE" sz="2400" dirty="0"/>
                        <a:t>1.78</a:t>
                      </a:r>
                    </a:p>
                    <a:p>
                      <a:pPr algn="r"/>
                      <a:r>
                        <a:rPr lang="de-DE" sz="2400" dirty="0"/>
                        <a:t>2.58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09786" y="2428868"/>
          <a:ext cx="3714776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44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115</a:t>
                      </a:r>
                    </a:p>
                    <a:p>
                      <a:pPr algn="r"/>
                      <a:r>
                        <a:rPr lang="de-DE" sz="2400" dirty="0"/>
                        <a:t>10</a:t>
                      </a:r>
                    </a:p>
                    <a:p>
                      <a:pPr algn="r"/>
                      <a:r>
                        <a:rPr lang="de-DE" sz="2400" dirty="0"/>
                        <a:t>2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58</a:t>
                      </a:r>
                    </a:p>
                    <a:p>
                      <a:pPr algn="r"/>
                      <a:r>
                        <a:rPr lang="de-DE" sz="2400" dirty="0"/>
                        <a:t>7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  <a:p>
                      <a:pPr algn="r"/>
                      <a:r>
                        <a:rPr lang="de-DE" sz="24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dirty="0"/>
                        <a:t>20</a:t>
                      </a:r>
                    </a:p>
                    <a:p>
                      <a:pPr algn="r"/>
                      <a:r>
                        <a:rPr lang="de-DE" sz="2400" dirty="0"/>
                        <a:t>11</a:t>
                      </a:r>
                    </a:p>
                    <a:p>
                      <a:pPr algn="r"/>
                      <a:r>
                        <a:rPr lang="de-DE" sz="2400" dirty="0"/>
                        <a:t>6</a:t>
                      </a:r>
                    </a:p>
                    <a:p>
                      <a:pPr algn="r"/>
                      <a:r>
                        <a:rPr lang="de-DE" sz="2400" dirty="0"/>
                        <a:t>38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6437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Cosine</a:t>
            </a:r>
            <a:r>
              <a:rPr lang="de-DE" sz="3600" dirty="0">
                <a:latin typeface="+mj-lt"/>
              </a:rPr>
              <a:t>: </a:t>
            </a:r>
            <a:r>
              <a:rPr lang="de-DE" sz="3600" dirty="0" err="1">
                <a:latin typeface="+mj-lt"/>
              </a:rPr>
              <a:t>Example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81158" y="1714488"/>
            <a:ext cx="8501122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latin typeface="+mj-lt"/>
              </a:rPr>
              <a:t>   log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weighting</a:t>
            </a:r>
            <a:r>
              <a:rPr lang="de-DE" dirty="0">
                <a:latin typeface="+mj-lt"/>
              </a:rPr>
              <a:t>                     log </a:t>
            </a:r>
            <a:r>
              <a:rPr lang="de-DE" dirty="0" err="1">
                <a:latin typeface="+mj-lt"/>
              </a:rPr>
              <a:t>frequency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weighting</a:t>
            </a:r>
            <a:r>
              <a:rPr lang="de-DE" dirty="0">
                <a:latin typeface="+mj-lt"/>
              </a:rPr>
              <a:t> &amp;</a:t>
            </a:r>
          </a:p>
          <a:p>
            <a:r>
              <a:rPr lang="de-DE" dirty="0">
                <a:latin typeface="+mj-lt"/>
              </a:rPr>
              <a:t>                                                                        </a:t>
            </a:r>
            <a:r>
              <a:rPr lang="de-DE" dirty="0" err="1">
                <a:latin typeface="+mj-lt"/>
              </a:rPr>
              <a:t>cosine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normalization</a:t>
            </a:r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endParaRPr lang="de-DE" dirty="0">
              <a:latin typeface="+mj-lt"/>
            </a:endParaRPr>
          </a:p>
          <a:p>
            <a:r>
              <a:rPr lang="de-DE" dirty="0">
                <a:latin typeface="+mj-lt"/>
              </a:rPr>
              <a:t>          </a:t>
            </a:r>
          </a:p>
          <a:p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81159" y="2417452"/>
          <a:ext cx="4000528" cy="20116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6697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98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3.06</a:t>
                      </a:r>
                    </a:p>
                    <a:p>
                      <a:pPr algn="r"/>
                      <a:r>
                        <a:rPr lang="de-DE" sz="2200" dirty="0"/>
                        <a:t>2.0</a:t>
                      </a:r>
                    </a:p>
                    <a:p>
                      <a:pPr algn="r"/>
                      <a:r>
                        <a:rPr lang="de-DE" sz="2200" dirty="0"/>
                        <a:t>1.30</a:t>
                      </a:r>
                    </a:p>
                    <a:p>
                      <a:pPr algn="r"/>
                      <a:r>
                        <a:rPr lang="de-DE" sz="2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2.76</a:t>
                      </a:r>
                    </a:p>
                    <a:p>
                      <a:pPr algn="r"/>
                      <a:r>
                        <a:rPr lang="de-DE" sz="2200" dirty="0"/>
                        <a:t>1.85</a:t>
                      </a:r>
                    </a:p>
                    <a:p>
                      <a:pPr algn="r"/>
                      <a:r>
                        <a:rPr lang="de-DE" sz="2200" dirty="0"/>
                        <a:t>0</a:t>
                      </a:r>
                    </a:p>
                    <a:p>
                      <a:pPr algn="r"/>
                      <a:r>
                        <a:rPr lang="de-DE" sz="22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2.30</a:t>
                      </a:r>
                    </a:p>
                    <a:p>
                      <a:pPr algn="r"/>
                      <a:r>
                        <a:rPr lang="de-DE" sz="2200" dirty="0"/>
                        <a:t>2.04</a:t>
                      </a:r>
                    </a:p>
                    <a:p>
                      <a:pPr algn="r"/>
                      <a:r>
                        <a:rPr lang="de-DE" sz="2200" dirty="0"/>
                        <a:t>1.78</a:t>
                      </a:r>
                    </a:p>
                    <a:p>
                      <a:pPr algn="r"/>
                      <a:r>
                        <a:rPr lang="de-DE" sz="2200" dirty="0"/>
                        <a:t>2.58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24563" y="2467934"/>
          <a:ext cx="4357718" cy="18897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43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44">
                <a:tc>
                  <a:txBody>
                    <a:bodyPr/>
                    <a:lstStyle/>
                    <a:p>
                      <a:r>
                        <a:rPr lang="de-DE" sz="2400" b="0" dirty="0" err="1"/>
                        <a:t>term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SaS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 err="1"/>
                        <a:t>PaP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400" b="0" dirty="0"/>
                        <a:t>WH</a:t>
                      </a:r>
                      <a:endParaRPr lang="de-DE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473">
                <a:tc>
                  <a:txBody>
                    <a:bodyPr/>
                    <a:lstStyle/>
                    <a:p>
                      <a:r>
                        <a:rPr lang="de-DE" sz="2200" dirty="0"/>
                        <a:t>AFFECTION</a:t>
                      </a:r>
                    </a:p>
                    <a:p>
                      <a:r>
                        <a:rPr lang="de-DE" sz="2200" dirty="0"/>
                        <a:t>JEALOUS</a:t>
                      </a:r>
                    </a:p>
                    <a:p>
                      <a:r>
                        <a:rPr lang="de-DE" sz="2200" dirty="0"/>
                        <a:t>GOSSIP</a:t>
                      </a:r>
                    </a:p>
                    <a:p>
                      <a:r>
                        <a:rPr lang="de-DE" sz="2200" dirty="0"/>
                        <a:t>WUTHERING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2200" dirty="0"/>
                        <a:t>0.789</a:t>
                      </a:r>
                    </a:p>
                    <a:p>
                      <a:pPr algn="r"/>
                      <a:r>
                        <a:rPr lang="de-DE" sz="2200" dirty="0"/>
                        <a:t>0.515</a:t>
                      </a:r>
                    </a:p>
                    <a:p>
                      <a:pPr algn="r"/>
                      <a:r>
                        <a:rPr lang="de-DE" sz="2200" dirty="0"/>
                        <a:t>0.335</a:t>
                      </a:r>
                    </a:p>
                    <a:p>
                      <a:pPr algn="r"/>
                      <a:r>
                        <a:rPr lang="de-DE" sz="2200" dirty="0"/>
                        <a:t>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dirty="0"/>
                        <a:t>0.832</a:t>
                      </a:r>
                    </a:p>
                    <a:p>
                      <a:r>
                        <a:rPr lang="de-DE" sz="2200" dirty="0"/>
                        <a:t>0.555</a:t>
                      </a:r>
                    </a:p>
                    <a:p>
                      <a:r>
                        <a:rPr lang="de-DE" sz="2200" dirty="0"/>
                        <a:t>0.0</a:t>
                      </a:r>
                    </a:p>
                    <a:p>
                      <a:r>
                        <a:rPr lang="de-DE" sz="2200" dirty="0"/>
                        <a:t>0.0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2200" dirty="0"/>
                        <a:t>0.524</a:t>
                      </a:r>
                    </a:p>
                    <a:p>
                      <a:r>
                        <a:rPr lang="de-DE" sz="2200" dirty="0"/>
                        <a:t>0.465</a:t>
                      </a:r>
                    </a:p>
                    <a:p>
                      <a:r>
                        <a:rPr lang="de-DE" sz="2200" dirty="0"/>
                        <a:t>0.405</a:t>
                      </a:r>
                    </a:p>
                    <a:p>
                      <a:r>
                        <a:rPr lang="de-DE" sz="2200" dirty="0"/>
                        <a:t>0.588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952596" y="4429132"/>
            <a:ext cx="85011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Normalization example:“AFFECTION“ </a:t>
            </a:r>
            <a:r>
              <a:rPr lang="de-DE">
                <a:latin typeface="+mj-lt"/>
              </a:rPr>
              <a:t>– 3.06/sqrt(3.06^2+2^2+1.3^2)</a:t>
            </a:r>
            <a:endParaRPr lang="de-DE" dirty="0">
              <a:latin typeface="+mj-lt"/>
            </a:endParaRP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cos(SaS,PaP) ≈   0.789 ∗ 0.832 + 0.515 ∗ 0.555 + 0.335 ∗ 0.0 + 0.0 ∗ 0.0 ≈ 0.94.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cos(</a:t>
            </a:r>
            <a:r>
              <a:rPr lang="de-DE" dirty="0" err="1">
                <a:latin typeface="+mj-lt"/>
              </a:rPr>
              <a:t>SaS,WH</a:t>
            </a:r>
            <a:r>
              <a:rPr lang="de-DE" dirty="0">
                <a:latin typeface="+mj-lt"/>
              </a:rPr>
              <a:t>) ≈ 0.79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cos(</a:t>
            </a:r>
            <a:r>
              <a:rPr lang="de-DE" dirty="0" err="1">
                <a:latin typeface="+mj-lt"/>
              </a:rPr>
              <a:t>PaP,WH</a:t>
            </a:r>
            <a:r>
              <a:rPr lang="de-DE" dirty="0">
                <a:latin typeface="+mj-lt"/>
              </a:rPr>
              <a:t>) ≈ 0.69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Why do we have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cos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SaS,PaP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) &gt;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cos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(SAS,WH)?</a:t>
            </a:r>
            <a:endParaRPr lang="de-DE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45010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Computing </a:t>
            </a:r>
            <a:r>
              <a:rPr lang="de-DE" sz="3600" dirty="0" err="1">
                <a:latin typeface="+mj-lt"/>
              </a:rPr>
              <a:t>the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cosine</a:t>
            </a:r>
            <a:r>
              <a:rPr lang="de-DE" sz="3600" dirty="0">
                <a:latin typeface="+mj-lt"/>
              </a:rPr>
              <a:t> score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500306"/>
            <a:ext cx="8286808" cy="36433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10" name="Picture 9" descr="6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034" y="1785926"/>
            <a:ext cx="6166419" cy="400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762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Components </a:t>
            </a:r>
            <a:r>
              <a:rPr lang="de-DE" sz="3600" dirty="0" err="1">
                <a:latin typeface="+mj-lt"/>
              </a:rPr>
              <a:t>of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tf-idf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weighting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9" name="Picture 8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82" y="2143118"/>
            <a:ext cx="8728422" cy="342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285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tf-idf example: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428736"/>
            <a:ext cx="9144000" cy="7143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200" dirty="0">
                <a:latin typeface="+mj-lt"/>
              </a:rPr>
              <a:t>Query: “</a:t>
            </a:r>
            <a:r>
              <a:rPr lang="de-DE" sz="2200" dirty="0" err="1">
                <a:latin typeface="+mj-lt"/>
              </a:rPr>
              <a:t>best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car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insurance</a:t>
            </a:r>
            <a:r>
              <a:rPr lang="de-DE" sz="2200" dirty="0">
                <a:latin typeface="+mj-lt"/>
              </a:rPr>
              <a:t>”. </a:t>
            </a:r>
            <a:r>
              <a:rPr lang="de-DE" sz="2200" dirty="0" err="1">
                <a:latin typeface="+mj-lt"/>
              </a:rPr>
              <a:t>Document</a:t>
            </a:r>
            <a:r>
              <a:rPr lang="de-DE" sz="2200" dirty="0">
                <a:latin typeface="+mj-lt"/>
              </a:rPr>
              <a:t>: “</a:t>
            </a:r>
            <a:r>
              <a:rPr lang="de-DE" sz="2200" dirty="0" err="1">
                <a:latin typeface="+mj-lt"/>
              </a:rPr>
              <a:t>car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insurance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auto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insurance</a:t>
            </a:r>
            <a:r>
              <a:rPr lang="de-DE" sz="2200" dirty="0">
                <a:latin typeface="+mj-lt"/>
              </a:rPr>
              <a:t>”.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8" name="Picture 7" descr="6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314" y="1802406"/>
            <a:ext cx="8643966" cy="1698033"/>
          </a:xfrm>
          <a:prstGeom prst="rect">
            <a:avLst/>
          </a:prstGeom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81158" y="3357562"/>
            <a:ext cx="8939242" cy="7143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en-US" sz="2200" dirty="0">
                <a:latin typeface="+mj-lt"/>
              </a:rPr>
              <a:t>Key to columns: </a:t>
            </a:r>
            <a:r>
              <a:rPr lang="en-US" sz="2200" dirty="0" err="1">
                <a:latin typeface="+mj-lt"/>
              </a:rPr>
              <a:t>tf</a:t>
            </a:r>
            <a:r>
              <a:rPr lang="en-US" sz="2200" dirty="0">
                <a:latin typeface="+mj-lt"/>
              </a:rPr>
              <a:t>-raw: raw (</a:t>
            </a:r>
            <a:r>
              <a:rPr lang="en-US" sz="2200" dirty="0" err="1">
                <a:latin typeface="+mj-lt"/>
              </a:rPr>
              <a:t>unweighted</a:t>
            </a:r>
            <a:r>
              <a:rPr lang="en-US" sz="2200" dirty="0">
                <a:latin typeface="+mj-lt"/>
              </a:rPr>
              <a:t>) term frequency, </a:t>
            </a:r>
            <a:r>
              <a:rPr lang="en-US" sz="2200" dirty="0" err="1">
                <a:latin typeface="+mj-lt"/>
              </a:rPr>
              <a:t>tf-wght</a:t>
            </a:r>
            <a:r>
              <a:rPr lang="en-US" sz="2200" dirty="0">
                <a:latin typeface="+mj-lt"/>
              </a:rPr>
              <a:t>: logarithmically weighted term frequency, </a:t>
            </a:r>
            <a:r>
              <a:rPr lang="en-US" sz="2200" dirty="0" err="1">
                <a:latin typeface="+mj-lt"/>
              </a:rPr>
              <a:t>df</a:t>
            </a:r>
            <a:r>
              <a:rPr lang="en-US" sz="2200" dirty="0">
                <a:latin typeface="+mj-lt"/>
              </a:rPr>
              <a:t>: document frequency, </a:t>
            </a:r>
            <a:r>
              <a:rPr lang="en-US" sz="2200" dirty="0" err="1">
                <a:latin typeface="+mj-lt"/>
              </a:rPr>
              <a:t>idf</a:t>
            </a:r>
            <a:r>
              <a:rPr lang="en-US" sz="2200" dirty="0">
                <a:latin typeface="+mj-lt"/>
              </a:rPr>
              <a:t>: inverse document frequency, weight: the final weight of the term in the query or document, </a:t>
            </a:r>
            <a:r>
              <a:rPr lang="en-US" sz="2200" dirty="0" err="1">
                <a:latin typeface="+mj-lt"/>
              </a:rPr>
              <a:t>n’lized</a:t>
            </a:r>
            <a:r>
              <a:rPr lang="en-US" sz="2200" dirty="0">
                <a:latin typeface="+mj-lt"/>
              </a:rPr>
              <a:t>: document weights after cosine normalization, product: the product of final query weight and final document weight</a:t>
            </a:r>
          </a:p>
          <a:p>
            <a:endParaRPr lang="de-DE" sz="2200" dirty="0">
              <a:latin typeface="+mj-lt"/>
            </a:endParaRPr>
          </a:p>
        </p:txBody>
      </p:sp>
      <p:pic>
        <p:nvPicPr>
          <p:cNvPr id="11" name="Picture 10" descr="Pict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82" y="5000636"/>
            <a:ext cx="3182402" cy="46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881158" y="5447758"/>
            <a:ext cx="8429684" cy="1124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200" dirty="0">
                <a:latin typeface="+mj-lt"/>
              </a:rPr>
              <a:t>1/1.92 ≈ 0.52</a:t>
            </a:r>
          </a:p>
          <a:p>
            <a:r>
              <a:rPr lang="en-US" sz="2200" dirty="0">
                <a:latin typeface="+mj-lt"/>
              </a:rPr>
              <a:t>1.3/1.92 ≈ 0.68 Final similarity score between query and</a:t>
            </a:r>
          </a:p>
          <a:p>
            <a:r>
              <a:rPr lang="de-DE" sz="2200" dirty="0">
                <a:latin typeface="+mj-lt"/>
              </a:rPr>
              <a:t>document:        </a:t>
            </a:r>
            <a:r>
              <a:rPr lang="de-DE" sz="2200" i="1" baseline="-25000" dirty="0">
                <a:latin typeface="+mj-lt"/>
              </a:rPr>
              <a:t>i </a:t>
            </a:r>
            <a:r>
              <a:rPr lang="de-DE" sz="2200" i="1" dirty="0">
                <a:latin typeface="+mj-lt"/>
              </a:rPr>
              <a:t>w</a:t>
            </a:r>
            <a:r>
              <a:rPr lang="de-DE" sz="2200" i="1" baseline="-25000" dirty="0">
                <a:latin typeface="+mj-lt"/>
              </a:rPr>
              <a:t>qi</a:t>
            </a:r>
            <a:r>
              <a:rPr lang="de-DE" sz="2200" i="1" dirty="0">
                <a:latin typeface="+mj-lt"/>
              </a:rPr>
              <a:t> · w</a:t>
            </a:r>
            <a:r>
              <a:rPr lang="de-DE" sz="2200" i="1" baseline="-25000" dirty="0">
                <a:latin typeface="+mj-lt"/>
              </a:rPr>
              <a:t>di</a:t>
            </a:r>
            <a:r>
              <a:rPr lang="de-DE" sz="2200" i="1" dirty="0">
                <a:latin typeface="+mj-lt"/>
              </a:rPr>
              <a:t> </a:t>
            </a:r>
            <a:r>
              <a:rPr lang="de-DE" sz="2200" dirty="0">
                <a:latin typeface="+mj-lt"/>
              </a:rPr>
              <a:t>= 0 + 0 + 1.04 + 2.04 = 3.08</a:t>
            </a:r>
            <a:endParaRPr lang="de-DE" sz="22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3381356" y="6140834"/>
          <a:ext cx="414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ergelijking" r:id="rId6" imgW="291960" imgH="253800" progId="Equation.3">
                  <p:embed/>
                </p:oleObj>
              </mc:Choice>
              <mc:Fallback>
                <p:oleObj name="Vergelijking" r:id="rId6" imgW="291960" imgH="2538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56" y="6140834"/>
                        <a:ext cx="414000" cy="36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1661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2100" y="69368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D1: “new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york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times” </a:t>
            </a:r>
          </a:p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D2: “new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york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post” </a:t>
            </a:r>
          </a:p>
          <a:p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D3: “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los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SimSun" panose="02010600030101010101" pitchFamily="2" charset="-122"/>
              </a:rPr>
              <a:t>angeles</a:t>
            </a: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 times”</a:t>
            </a:r>
            <a:endParaRPr lang="en-US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917698" y="2025993"/>
          <a:ext cx="7048500" cy="1968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angeles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df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500" y="1679486"/>
            <a:ext cx="491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Count raw </a:t>
            </a:r>
            <a:r>
              <a:rPr lang="en-US" dirty="0" err="1"/>
              <a:t>tf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044699" y="4505067"/>
          <a:ext cx="7048500" cy="157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angeles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44600" y="4034136"/>
            <a:ext cx="491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Calculate weighted </a:t>
            </a:r>
            <a:r>
              <a:rPr lang="en-US" dirty="0" err="1"/>
              <a:t>tf</a:t>
            </a:r>
            <a:r>
              <a:rPr lang="en-US" dirty="0"/>
              <a:t> = 1+log(</a:t>
            </a:r>
            <a:r>
              <a:rPr lang="en-US" dirty="0" err="1"/>
              <a:t>raw_tf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19047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7900" y="825500"/>
            <a:ext cx="379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Calculate IDF=log(N/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257300" y="1354666"/>
          <a:ext cx="41275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angeles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Log3=0.477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Log1.5=0.176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52900" y="825500"/>
            <a:ext cx="176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739540"/>
            <a:ext cx="589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Calculate </a:t>
            </a:r>
            <a:r>
              <a:rPr lang="en-US" dirty="0" err="1"/>
              <a:t>tf-idf</a:t>
            </a:r>
            <a:r>
              <a:rPr lang="en-US" dirty="0"/>
              <a:t>=</a:t>
            </a:r>
            <a:r>
              <a:rPr lang="en-US" dirty="0" err="1"/>
              <a:t>tf</a:t>
            </a:r>
            <a:r>
              <a:rPr lang="en-US" dirty="0"/>
              <a:t>*</a:t>
            </a:r>
            <a:r>
              <a:rPr lang="en-US" dirty="0" err="1"/>
              <a:t>idf</a:t>
            </a:r>
            <a:r>
              <a:rPr lang="en-US" dirty="0"/>
              <a:t>=(1+log(</a:t>
            </a:r>
            <a:r>
              <a:rPr lang="en-US" dirty="0" err="1"/>
              <a:t>raw_tf</a:t>
            </a:r>
            <a:r>
              <a:rPr lang="en-US" dirty="0"/>
              <a:t>))*log(N/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1250950" y="4268706"/>
          <a:ext cx="7048500" cy="1574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6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angeles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new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post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0.477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0.477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0.477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0.176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509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7600" y="736600"/>
            <a:ext cx="743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Calculate cosine similarity  </a:t>
            </a:r>
          </a:p>
        </p:txBody>
      </p:sp>
      <p:pic>
        <p:nvPicPr>
          <p:cNvPr id="4" name="Picture 3" descr="6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50" y="542252"/>
            <a:ext cx="4664100" cy="75802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663700" y="4191000"/>
          <a:ext cx="6362699" cy="1460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3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Cosine similarity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2B68B34-E2E0-4DE6-A2B0-C61C1458E4B2}"/>
              </a:ext>
            </a:extLst>
          </p:cNvPr>
          <p:cNvSpPr txBox="1"/>
          <p:nvPr/>
        </p:nvSpPr>
        <p:spPr>
          <a:xfrm>
            <a:off x="1483360" y="1309960"/>
            <a:ext cx="1004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Cosine(D1,D2)=(0.176*0.176+0.176*0.176)/(sqrt(0.176^2*3)*sqrt(0.176^2*2+0.477^2))</a:t>
            </a:r>
          </a:p>
        </p:txBody>
      </p:sp>
    </p:spTree>
    <p:extLst>
      <p:ext uri="{BB962C8B-B14F-4D97-AF65-F5344CB8AC3E}">
        <p14:creationId xmlns:p14="http://schemas.microsoft.com/office/powerpoint/2010/main" val="2137320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latin typeface="+mj-lt"/>
              </a:rPr>
              <a:t>Summary: Ranked retrieval in the vector space model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285992"/>
            <a:ext cx="864399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Represent the query as a weighted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vector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Represent each document as a weighted </a:t>
            </a:r>
            <a:r>
              <a:rPr lang="en-US" dirty="0" err="1">
                <a:latin typeface="+mj-lt"/>
              </a:rPr>
              <a:t>tf-idf</a:t>
            </a:r>
            <a:r>
              <a:rPr lang="en-US" dirty="0">
                <a:latin typeface="+mj-lt"/>
              </a:rPr>
              <a:t> vector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Compute the cosine similarity between the query vector and </a:t>
            </a:r>
            <a:r>
              <a:rPr lang="de-DE" dirty="0" err="1">
                <a:latin typeface="+mj-lt"/>
              </a:rPr>
              <a:t>each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vector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Rank documents with respect to the query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Return the top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 (e.g., </a:t>
            </a:r>
            <a:r>
              <a:rPr lang="en-US" i="1" dirty="0">
                <a:latin typeface="+mj-lt"/>
              </a:rPr>
              <a:t>K</a:t>
            </a:r>
            <a:r>
              <a:rPr lang="en-US" dirty="0">
                <a:latin typeface="+mj-lt"/>
              </a:rPr>
              <a:t> = 10) to the user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793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Take-</a:t>
            </a:r>
            <a:r>
              <a:rPr lang="de-DE" sz="3600" dirty="0" err="1">
                <a:latin typeface="+mj-lt"/>
              </a:rPr>
              <a:t>away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today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143116"/>
            <a:ext cx="8643998" cy="46434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Ranking</a:t>
            </a:r>
            <a:r>
              <a:rPr lang="en-US" dirty="0">
                <a:latin typeface="+mj-lt"/>
              </a:rPr>
              <a:t> search results: why it is important (as opposed to just presenting a set of unordered Boolean results)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Term frequency</a:t>
            </a:r>
            <a:r>
              <a:rPr lang="en-US" dirty="0">
                <a:latin typeface="+mj-lt"/>
              </a:rPr>
              <a:t>: This is a key ingredient for ranking.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 err="1">
                <a:solidFill>
                  <a:srgbClr val="0070C0"/>
                </a:solidFill>
                <a:latin typeface="+mj-lt"/>
              </a:rPr>
              <a:t>Tf-idf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 ranking</a:t>
            </a:r>
            <a:r>
              <a:rPr lang="en-US" dirty="0">
                <a:latin typeface="+mj-lt"/>
              </a:rPr>
              <a:t>: best known traditional ranking scheme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Vector space model</a:t>
            </a:r>
            <a:r>
              <a:rPr lang="en-US" dirty="0">
                <a:latin typeface="+mj-lt"/>
              </a:rPr>
              <a:t>: One of the most important formal models for information retrieval (along with Boolean and </a:t>
            </a:r>
            <a:r>
              <a:rPr lang="de-DE" dirty="0" err="1">
                <a:latin typeface="+mj-lt"/>
              </a:rPr>
              <a:t>probabilistic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models</a:t>
            </a:r>
            <a:r>
              <a:rPr lang="de-DE" dirty="0">
                <a:latin typeface="+mj-lt"/>
              </a:rPr>
              <a:t>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302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2544</Words>
  <Application>Microsoft Office PowerPoint</Application>
  <PresentationFormat>Widescreen</PresentationFormat>
  <Paragraphs>863</Paragraphs>
  <Slides>43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 Unicode MS</vt:lpstr>
      <vt:lpstr>ＭＳ Ｐゴシック</vt:lpstr>
      <vt:lpstr>SimSun</vt:lpstr>
      <vt:lpstr>Arial</vt:lpstr>
      <vt:lpstr>Calibri</vt:lpstr>
      <vt:lpstr>Calibri Light</vt:lpstr>
      <vt:lpstr>Times New Roman</vt:lpstr>
      <vt:lpstr>Wingdings</vt:lpstr>
      <vt:lpstr>Office Theme</vt:lpstr>
      <vt:lpstr>Vergelijking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Florida 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Dingding Wang</dc:creator>
  <cp:lastModifiedBy>Dingding Wang</cp:lastModifiedBy>
  <cp:revision>1</cp:revision>
  <dcterms:created xsi:type="dcterms:W3CDTF">2024-01-09T23:25:11Z</dcterms:created>
  <dcterms:modified xsi:type="dcterms:W3CDTF">2024-01-09T23:25:58Z</dcterms:modified>
</cp:coreProperties>
</file>